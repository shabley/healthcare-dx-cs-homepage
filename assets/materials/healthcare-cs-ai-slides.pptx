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5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1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4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</p:sldIdLst>
  <p:sldSz cx="18288000" cy="10287000"/>
  <p:notesSz cx="6858000" cy="9144000"/>
  <p:embeddedFontLst>
    <p:embeddedFont>
      <p:font typeface="210 도시락" panose="020B0600000101010101" charset="-127"/>
      <p:regular r:id="rId76"/>
    </p:embeddedFont>
    <p:embeddedFont>
      <p:font typeface="TDTD와이드" panose="020B0600000101010101" charset="-127"/>
      <p:regular r:id="rId77"/>
    </p:embeddedFont>
    <p:embeddedFont>
      <p:font typeface="Arial" panose="020B0604020202020204" pitchFamily="34" charset="0"/>
      <p:regular r:id="rId78"/>
    </p:embeddedFont>
    <p:embeddedFont>
      <p:font typeface="Arial Bold" panose="020B0704020202020204" pitchFamily="34" charset="0"/>
      <p:regular r:id="rId79"/>
      <p:bold r:id="rId80"/>
    </p:embeddedFont>
    <p:embeddedFont>
      <p:font typeface="Arial Italics" panose="020B0600000101010101" charset="0"/>
      <p:regular r:id="rId81"/>
    </p:embeddedFont>
    <p:embeddedFont>
      <p:font typeface="Arimo" panose="020B0600000101010101" charset="0"/>
      <p:regular r:id="rId82"/>
    </p:embeddedFont>
    <p:embeddedFont>
      <p:font typeface="Arimo Bold" panose="020B0600000101010101" charset="0"/>
      <p:regular r:id="rId83"/>
    </p:embeddedFont>
    <p:embeddedFont>
      <p:font typeface="Calibri" panose="020F0502020204030204" pitchFamily="34" charset="0"/>
      <p:regular r:id="rId84"/>
      <p:bold r:id="rId85"/>
      <p:italic r:id="rId86"/>
      <p:boldItalic r:id="rId87"/>
    </p:embeddedFont>
    <p:embeddedFont>
      <p:font typeface="Calibri (MS)" panose="020B0600000101010101" charset="0"/>
      <p:regular r:id="rId88"/>
    </p:embeddedFont>
    <p:embeddedFont>
      <p:font typeface="Calibri (MS) Bold" panose="020B0600000101010101" charset="0"/>
      <p:regular r:id="rId89"/>
    </p:embeddedFont>
    <p:embeddedFont>
      <p:font typeface="Calibri (MS) Italics" panose="020B0600000101010101" charset="0"/>
      <p:regular r:id="rId90"/>
    </p:embeddedFont>
    <p:embeddedFont>
      <p:font typeface="Courier New" panose="02070309020205020404" pitchFamily="49" charset="0"/>
      <p:regular r:id="rId91"/>
    </p:embeddedFont>
    <p:embeddedFont>
      <p:font typeface="Mandali" panose="020B0600000101010101" charset="0"/>
      <p:regular r:id="rId9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9.fntdata"/><Relationship Id="rId89" Type="http://schemas.openxmlformats.org/officeDocument/2006/relationships/font" Target="fonts/font1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4.fntdata"/><Relationship Id="rId5" Type="http://schemas.openxmlformats.org/officeDocument/2006/relationships/slide" Target="slides/slide4.xml"/><Relationship Id="rId90" Type="http://schemas.openxmlformats.org/officeDocument/2006/relationships/font" Target="fonts/font15.fntdata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5.fntdata"/><Relationship Id="rId85" Type="http://schemas.openxmlformats.org/officeDocument/2006/relationships/font" Target="fonts/font10.fntdata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83" Type="http://schemas.openxmlformats.org/officeDocument/2006/relationships/font" Target="fonts/font8.fntdata"/><Relationship Id="rId88" Type="http://schemas.openxmlformats.org/officeDocument/2006/relationships/font" Target="fonts/font13.fntdata"/><Relationship Id="rId91" Type="http://schemas.openxmlformats.org/officeDocument/2006/relationships/font" Target="fonts/font16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3.fntdata"/><Relationship Id="rId81" Type="http://schemas.openxmlformats.org/officeDocument/2006/relationships/font" Target="fonts/font6.fntdata"/><Relationship Id="rId86" Type="http://schemas.openxmlformats.org/officeDocument/2006/relationships/font" Target="fonts/font11.fntdata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2.fntdata"/><Relationship Id="rId61" Type="http://schemas.openxmlformats.org/officeDocument/2006/relationships/slide" Target="slides/slide60.xml"/><Relationship Id="rId82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75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mayoclinic.org/?utm_source=chatgpt.com" TargetMode="External"/><Relationship Id="rId4" Type="http://schemas.openxmlformats.org/officeDocument/2006/relationships/hyperlink" Target="https://chatbot.ajoumc.or.kr/chatbot/index.html?projectId=4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1375029"/>
            </a:xfrm>
            <a:custGeom>
              <a:avLst/>
              <a:gdLst/>
              <a:ahLst/>
              <a:cxnLst/>
              <a:rect l="l" t="t" r="r" b="b"/>
              <a:pathLst>
                <a:path w="24417910" h="1375029">
                  <a:moveTo>
                    <a:pt x="0" y="0"/>
                  </a:moveTo>
                  <a:lnTo>
                    <a:pt x="24417910" y="0"/>
                  </a:lnTo>
                  <a:lnTo>
                    <a:pt x="24417910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31520" y="182880"/>
            <a:ext cx="16824960" cy="658368"/>
            <a:chOff x="0" y="0"/>
            <a:chExt cx="22433280" cy="8778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877824"/>
            </a:xfrm>
            <a:custGeom>
              <a:avLst/>
              <a:gdLst/>
              <a:ahLst/>
              <a:cxnLst/>
              <a:rect l="l" t="t" r="r" b="b"/>
              <a:pathLst>
                <a:path w="22433280" h="877824">
                  <a:moveTo>
                    <a:pt x="0" y="0"/>
                  </a:moveTo>
                  <a:lnTo>
                    <a:pt x="22433280" y="0"/>
                  </a:lnTo>
                  <a:lnTo>
                    <a:pt x="224332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7950" b="-4479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433280" cy="9063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📋  과정 개요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16607" y="1237231"/>
            <a:ext cx="16654777" cy="817369"/>
            <a:chOff x="0" y="0"/>
            <a:chExt cx="22206369" cy="10898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206331" cy="1089787"/>
            </a:xfrm>
            <a:custGeom>
              <a:avLst/>
              <a:gdLst/>
              <a:ahLst/>
              <a:cxnLst/>
              <a:rect l="l" t="t" r="r" b="b"/>
              <a:pathLst>
                <a:path w="22206331" h="1089787">
                  <a:moveTo>
                    <a:pt x="0" y="0"/>
                  </a:moveTo>
                  <a:lnTo>
                    <a:pt x="22206331" y="0"/>
                  </a:lnTo>
                  <a:lnTo>
                    <a:pt x="22206331" y="1089787"/>
                  </a:lnTo>
                  <a:lnTo>
                    <a:pt x="0" y="1089787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10263" y="1230887"/>
            <a:ext cx="2951483" cy="830075"/>
            <a:chOff x="0" y="0"/>
            <a:chExt cx="3935311" cy="11067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35349" cy="1106805"/>
            </a:xfrm>
            <a:custGeom>
              <a:avLst/>
              <a:gdLst/>
              <a:ahLst/>
              <a:cxnLst/>
              <a:rect l="l" t="t" r="r" b="b"/>
              <a:pathLst>
                <a:path w="3935349" h="1106805">
                  <a:moveTo>
                    <a:pt x="0" y="0"/>
                  </a:moveTo>
                  <a:lnTo>
                    <a:pt x="3935349" y="0"/>
                  </a:lnTo>
                  <a:lnTo>
                    <a:pt x="393534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822960" y="1243584"/>
            <a:ext cx="2926080" cy="804672"/>
            <a:chOff x="0" y="0"/>
            <a:chExt cx="3901440" cy="1072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01440" cy="1072896"/>
            </a:xfrm>
            <a:custGeom>
              <a:avLst/>
              <a:gdLst/>
              <a:ahLst/>
              <a:cxnLst/>
              <a:rect l="l" t="t" r="r" b="b"/>
              <a:pathLst>
                <a:path w="3901440" h="1072896">
                  <a:moveTo>
                    <a:pt x="0" y="0"/>
                  </a:moveTo>
                  <a:lnTo>
                    <a:pt x="3901440" y="0"/>
                  </a:lnTo>
                  <a:lnTo>
                    <a:pt x="3901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54" b="-2085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390144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과정명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31920" y="1243584"/>
            <a:ext cx="13350240" cy="804672"/>
            <a:chOff x="0" y="0"/>
            <a:chExt cx="17800320" cy="10728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800320" cy="1072896"/>
            </a:xfrm>
            <a:custGeom>
              <a:avLst/>
              <a:gdLst/>
              <a:ahLst/>
              <a:cxnLst/>
              <a:rect l="l" t="t" r="r" b="b"/>
              <a:pathLst>
                <a:path w="17800320" h="1072896">
                  <a:moveTo>
                    <a:pt x="0" y="0"/>
                  </a:moveTo>
                  <a:lnTo>
                    <a:pt x="17800320" y="0"/>
                  </a:lnTo>
                  <a:lnTo>
                    <a:pt x="17800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274" b="-27327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7800320" cy="1091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고객응대·민원처리 AI 실무 활용 (CS반 심화과정 B)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16607" y="2115055"/>
            <a:ext cx="16654777" cy="817369"/>
            <a:chOff x="0" y="0"/>
            <a:chExt cx="22206369" cy="10898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206331" cy="1089787"/>
            </a:xfrm>
            <a:custGeom>
              <a:avLst/>
              <a:gdLst/>
              <a:ahLst/>
              <a:cxnLst/>
              <a:rect l="l" t="t" r="r" b="b"/>
              <a:pathLst>
                <a:path w="22206331" h="1089787">
                  <a:moveTo>
                    <a:pt x="0" y="0"/>
                  </a:moveTo>
                  <a:lnTo>
                    <a:pt x="22206331" y="0"/>
                  </a:lnTo>
                  <a:lnTo>
                    <a:pt x="22206331" y="1089787"/>
                  </a:lnTo>
                  <a:lnTo>
                    <a:pt x="0" y="1089787"/>
                  </a:lnTo>
                  <a:close/>
                </a:path>
              </a:pathLst>
            </a:custGeom>
            <a:solidFill>
              <a:srgbClr val="EFF6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10263" y="2108711"/>
            <a:ext cx="2951483" cy="830075"/>
            <a:chOff x="0" y="0"/>
            <a:chExt cx="3935311" cy="11067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35349" cy="1106805"/>
            </a:xfrm>
            <a:custGeom>
              <a:avLst/>
              <a:gdLst/>
              <a:ahLst/>
              <a:cxnLst/>
              <a:rect l="l" t="t" r="r" b="b"/>
              <a:pathLst>
                <a:path w="3935349" h="1106805">
                  <a:moveTo>
                    <a:pt x="0" y="0"/>
                  </a:moveTo>
                  <a:lnTo>
                    <a:pt x="3935349" y="0"/>
                  </a:lnTo>
                  <a:lnTo>
                    <a:pt x="393534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22960" y="2121408"/>
            <a:ext cx="2926080" cy="804672"/>
            <a:chOff x="0" y="0"/>
            <a:chExt cx="3901440" cy="10728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01440" cy="1072896"/>
            </a:xfrm>
            <a:custGeom>
              <a:avLst/>
              <a:gdLst/>
              <a:ahLst/>
              <a:cxnLst/>
              <a:rect l="l" t="t" r="r" b="b"/>
              <a:pathLst>
                <a:path w="3901440" h="1072896">
                  <a:moveTo>
                    <a:pt x="0" y="0"/>
                  </a:moveTo>
                  <a:lnTo>
                    <a:pt x="3901440" y="0"/>
                  </a:lnTo>
                  <a:lnTo>
                    <a:pt x="3901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54" b="-20854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390144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교육 대상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931920" y="2121408"/>
            <a:ext cx="13350240" cy="804672"/>
            <a:chOff x="0" y="0"/>
            <a:chExt cx="17800320" cy="107289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800320" cy="1072896"/>
            </a:xfrm>
            <a:custGeom>
              <a:avLst/>
              <a:gdLst/>
              <a:ahLst/>
              <a:cxnLst/>
              <a:rect l="l" t="t" r="r" b="b"/>
              <a:pathLst>
                <a:path w="17800320" h="1072896">
                  <a:moveTo>
                    <a:pt x="0" y="0"/>
                  </a:moveTo>
                  <a:lnTo>
                    <a:pt x="17800320" y="0"/>
                  </a:lnTo>
                  <a:lnTo>
                    <a:pt x="17800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274" b="-273274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7800320" cy="1091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기초과정 이수 병원 CS·원무·민원처리·고객지원 담당자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16607" y="2992879"/>
            <a:ext cx="16654777" cy="817369"/>
            <a:chOff x="0" y="0"/>
            <a:chExt cx="22206369" cy="10898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206331" cy="1089787"/>
            </a:xfrm>
            <a:custGeom>
              <a:avLst/>
              <a:gdLst/>
              <a:ahLst/>
              <a:cxnLst/>
              <a:rect l="l" t="t" r="r" b="b"/>
              <a:pathLst>
                <a:path w="22206331" h="1089787">
                  <a:moveTo>
                    <a:pt x="0" y="0"/>
                  </a:moveTo>
                  <a:lnTo>
                    <a:pt x="22206331" y="0"/>
                  </a:lnTo>
                  <a:lnTo>
                    <a:pt x="22206331" y="1089787"/>
                  </a:lnTo>
                  <a:lnTo>
                    <a:pt x="0" y="1089787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810263" y="2986535"/>
            <a:ext cx="2951483" cy="830075"/>
            <a:chOff x="0" y="0"/>
            <a:chExt cx="3935311" cy="110676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935349" cy="1106805"/>
            </a:xfrm>
            <a:custGeom>
              <a:avLst/>
              <a:gdLst/>
              <a:ahLst/>
              <a:cxnLst/>
              <a:rect l="l" t="t" r="r" b="b"/>
              <a:pathLst>
                <a:path w="3935349" h="1106805">
                  <a:moveTo>
                    <a:pt x="0" y="0"/>
                  </a:moveTo>
                  <a:lnTo>
                    <a:pt x="3935349" y="0"/>
                  </a:lnTo>
                  <a:lnTo>
                    <a:pt x="393534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22960" y="2999232"/>
            <a:ext cx="2926080" cy="804672"/>
            <a:chOff x="0" y="0"/>
            <a:chExt cx="3901440" cy="10728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901440" cy="1072896"/>
            </a:xfrm>
            <a:custGeom>
              <a:avLst/>
              <a:gdLst/>
              <a:ahLst/>
              <a:cxnLst/>
              <a:rect l="l" t="t" r="r" b="b"/>
              <a:pathLst>
                <a:path w="3901440" h="1072896">
                  <a:moveTo>
                    <a:pt x="0" y="0"/>
                  </a:moveTo>
                  <a:lnTo>
                    <a:pt x="3901440" y="0"/>
                  </a:lnTo>
                  <a:lnTo>
                    <a:pt x="3901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54" b="-2085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390144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총 교육시간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931920" y="2999232"/>
            <a:ext cx="13350240" cy="804672"/>
            <a:chOff x="0" y="0"/>
            <a:chExt cx="17800320" cy="107289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7800320" cy="1072896"/>
            </a:xfrm>
            <a:custGeom>
              <a:avLst/>
              <a:gdLst/>
              <a:ahLst/>
              <a:cxnLst/>
              <a:rect l="l" t="t" r="r" b="b"/>
              <a:pathLst>
                <a:path w="17800320" h="1072896">
                  <a:moveTo>
                    <a:pt x="0" y="0"/>
                  </a:moveTo>
                  <a:lnTo>
                    <a:pt x="17800320" y="0"/>
                  </a:lnTo>
                  <a:lnTo>
                    <a:pt x="17800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274" b="-273274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17800320" cy="1091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8시간 (5차시)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6607" y="3870703"/>
            <a:ext cx="16654777" cy="817369"/>
            <a:chOff x="0" y="0"/>
            <a:chExt cx="22206369" cy="108982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2206331" cy="1089787"/>
            </a:xfrm>
            <a:custGeom>
              <a:avLst/>
              <a:gdLst/>
              <a:ahLst/>
              <a:cxnLst/>
              <a:rect l="l" t="t" r="r" b="b"/>
              <a:pathLst>
                <a:path w="22206331" h="1089787">
                  <a:moveTo>
                    <a:pt x="0" y="0"/>
                  </a:moveTo>
                  <a:lnTo>
                    <a:pt x="22206331" y="0"/>
                  </a:lnTo>
                  <a:lnTo>
                    <a:pt x="22206331" y="1089787"/>
                  </a:lnTo>
                  <a:lnTo>
                    <a:pt x="0" y="1089787"/>
                  </a:lnTo>
                  <a:close/>
                </a:path>
              </a:pathLst>
            </a:custGeom>
            <a:solidFill>
              <a:srgbClr val="EFF6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810263" y="3864359"/>
            <a:ext cx="2951483" cy="830075"/>
            <a:chOff x="0" y="0"/>
            <a:chExt cx="3935311" cy="110676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35349" cy="1106805"/>
            </a:xfrm>
            <a:custGeom>
              <a:avLst/>
              <a:gdLst/>
              <a:ahLst/>
              <a:cxnLst/>
              <a:rect l="l" t="t" r="r" b="b"/>
              <a:pathLst>
                <a:path w="3935349" h="1106805">
                  <a:moveTo>
                    <a:pt x="0" y="0"/>
                  </a:moveTo>
                  <a:lnTo>
                    <a:pt x="3935349" y="0"/>
                  </a:lnTo>
                  <a:lnTo>
                    <a:pt x="393534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822960" y="3877056"/>
            <a:ext cx="2926080" cy="804672"/>
            <a:chOff x="0" y="0"/>
            <a:chExt cx="3901440" cy="107289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901440" cy="1072896"/>
            </a:xfrm>
            <a:custGeom>
              <a:avLst/>
              <a:gdLst/>
              <a:ahLst/>
              <a:cxnLst/>
              <a:rect l="l" t="t" r="r" b="b"/>
              <a:pathLst>
                <a:path w="3901440" h="1072896">
                  <a:moveTo>
                    <a:pt x="0" y="0"/>
                  </a:moveTo>
                  <a:lnTo>
                    <a:pt x="3901440" y="0"/>
                  </a:lnTo>
                  <a:lnTo>
                    <a:pt x="3901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54" b="-20854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390144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교육 방식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931920" y="3877056"/>
            <a:ext cx="13350240" cy="804672"/>
            <a:chOff x="0" y="0"/>
            <a:chExt cx="17800320" cy="107289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7800320" cy="1072896"/>
            </a:xfrm>
            <a:custGeom>
              <a:avLst/>
              <a:gdLst/>
              <a:ahLst/>
              <a:cxnLst/>
              <a:rect l="l" t="t" r="r" b="b"/>
              <a:pathLst>
                <a:path w="17800320" h="1072896">
                  <a:moveTo>
                    <a:pt x="0" y="0"/>
                  </a:moveTo>
                  <a:lnTo>
                    <a:pt x="17800320" y="0"/>
                  </a:lnTo>
                  <a:lnTo>
                    <a:pt x="17800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274" b="-27327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17800320" cy="1091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강의 35% + 프롬프트 실습 45% + 역할극·팀 실습 20%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6607" y="4748527"/>
            <a:ext cx="16654777" cy="817369"/>
            <a:chOff x="0" y="0"/>
            <a:chExt cx="22206369" cy="108982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2206331" cy="1089787"/>
            </a:xfrm>
            <a:custGeom>
              <a:avLst/>
              <a:gdLst/>
              <a:ahLst/>
              <a:cxnLst/>
              <a:rect l="l" t="t" r="r" b="b"/>
              <a:pathLst>
                <a:path w="22206331" h="1089787">
                  <a:moveTo>
                    <a:pt x="0" y="0"/>
                  </a:moveTo>
                  <a:lnTo>
                    <a:pt x="22206331" y="0"/>
                  </a:lnTo>
                  <a:lnTo>
                    <a:pt x="22206331" y="1089787"/>
                  </a:lnTo>
                  <a:lnTo>
                    <a:pt x="0" y="1089787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810263" y="4742183"/>
            <a:ext cx="2951483" cy="830075"/>
            <a:chOff x="0" y="0"/>
            <a:chExt cx="3935311" cy="110676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935349" cy="1106805"/>
            </a:xfrm>
            <a:custGeom>
              <a:avLst/>
              <a:gdLst/>
              <a:ahLst/>
              <a:cxnLst/>
              <a:rect l="l" t="t" r="r" b="b"/>
              <a:pathLst>
                <a:path w="3935349" h="1106805">
                  <a:moveTo>
                    <a:pt x="0" y="0"/>
                  </a:moveTo>
                  <a:lnTo>
                    <a:pt x="3935349" y="0"/>
                  </a:lnTo>
                  <a:lnTo>
                    <a:pt x="393534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822960" y="4754880"/>
            <a:ext cx="2926080" cy="804672"/>
            <a:chOff x="0" y="0"/>
            <a:chExt cx="3901440" cy="107289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901440" cy="1072896"/>
            </a:xfrm>
            <a:custGeom>
              <a:avLst/>
              <a:gdLst/>
              <a:ahLst/>
              <a:cxnLst/>
              <a:rect l="l" t="t" r="r" b="b"/>
              <a:pathLst>
                <a:path w="3901440" h="1072896">
                  <a:moveTo>
                    <a:pt x="0" y="0"/>
                  </a:moveTo>
                  <a:lnTo>
                    <a:pt x="3901440" y="0"/>
                  </a:lnTo>
                  <a:lnTo>
                    <a:pt x="3901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54" b="-20854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390144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선수 과정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931920" y="4754880"/>
            <a:ext cx="13350240" cy="804672"/>
            <a:chOff x="0" y="0"/>
            <a:chExt cx="17800320" cy="107289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7800320" cy="1072896"/>
            </a:xfrm>
            <a:custGeom>
              <a:avLst/>
              <a:gdLst/>
              <a:ahLst/>
              <a:cxnLst/>
              <a:rect l="l" t="t" r="r" b="b"/>
              <a:pathLst>
                <a:path w="17800320" h="1072896">
                  <a:moveTo>
                    <a:pt x="0" y="0"/>
                  </a:moveTo>
                  <a:lnTo>
                    <a:pt x="17800320" y="0"/>
                  </a:lnTo>
                  <a:lnTo>
                    <a:pt x="17800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274" b="-273274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17800320" cy="1091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AI 기반 보건의료 DX 기초과정 이수 필수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10263" y="5711447"/>
            <a:ext cx="16667483" cy="2494283"/>
            <a:chOff x="0" y="0"/>
            <a:chExt cx="22223311" cy="332571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223349" cy="3325749"/>
            </a:xfrm>
            <a:custGeom>
              <a:avLst/>
              <a:gdLst/>
              <a:ahLst/>
              <a:cxnLst/>
              <a:rect l="l" t="t" r="r" b="b"/>
              <a:pathLst>
                <a:path w="22223349" h="3325749">
                  <a:moveTo>
                    <a:pt x="0" y="0"/>
                  </a:moveTo>
                  <a:lnTo>
                    <a:pt x="22223349" y="0"/>
                  </a:lnTo>
                  <a:lnTo>
                    <a:pt x="2222334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810263" y="5711447"/>
            <a:ext cx="16667483" cy="610619"/>
            <a:chOff x="0" y="0"/>
            <a:chExt cx="22223311" cy="81415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2223349" cy="814197"/>
            </a:xfrm>
            <a:custGeom>
              <a:avLst/>
              <a:gdLst/>
              <a:ahLst/>
              <a:cxnLst/>
              <a:rect l="l" t="t" r="r" b="b"/>
              <a:pathLst>
                <a:path w="22223349" h="814197">
                  <a:moveTo>
                    <a:pt x="0" y="0"/>
                  </a:moveTo>
                  <a:lnTo>
                    <a:pt x="22223349" y="0"/>
                  </a:lnTo>
                  <a:lnTo>
                    <a:pt x="2222334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097280" y="5724144"/>
            <a:ext cx="16093440" cy="585216"/>
            <a:chOff x="0" y="0"/>
            <a:chExt cx="21457920" cy="78028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1457920" cy="780288"/>
            </a:xfrm>
            <a:custGeom>
              <a:avLst/>
              <a:gdLst/>
              <a:ahLst/>
              <a:cxnLst/>
              <a:rect l="l" t="t" r="r" b="b"/>
              <a:pathLst>
                <a:path w="21457920" h="780288">
                  <a:moveTo>
                    <a:pt x="0" y="0"/>
                  </a:moveTo>
                  <a:lnTo>
                    <a:pt x="21457920" y="0"/>
                  </a:lnTo>
                  <a:lnTo>
                    <a:pt x="21457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838" b="-485838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21457920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🎯 학습 목표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88720" y="6400800"/>
            <a:ext cx="15910560" cy="402336"/>
            <a:chOff x="0" y="0"/>
            <a:chExt cx="21214080" cy="53644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1214080" cy="536448"/>
            </a:xfrm>
            <a:custGeom>
              <a:avLst/>
              <a:gdLst/>
              <a:ahLst/>
              <a:cxnLst/>
              <a:rect l="l" t="t" r="r" b="b"/>
              <a:pathLst>
                <a:path w="21214080" h="536448">
                  <a:moveTo>
                    <a:pt x="0" y="0"/>
                  </a:moveTo>
                  <a:lnTo>
                    <a:pt x="21214080" y="0"/>
                  </a:lnTo>
                  <a:lnTo>
                    <a:pt x="212140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0544" b="-720544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9525"/>
              <a:ext cx="21214080" cy="545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1. AI로 민원 유형별 맞춤 응대 스크립트를 즉시 생성할 수 있다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88720" y="6839712"/>
            <a:ext cx="15910560" cy="402336"/>
            <a:chOff x="0" y="0"/>
            <a:chExt cx="21214080" cy="53644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1214080" cy="536448"/>
            </a:xfrm>
            <a:custGeom>
              <a:avLst/>
              <a:gdLst/>
              <a:ahLst/>
              <a:cxnLst/>
              <a:rect l="l" t="t" r="r" b="b"/>
              <a:pathLst>
                <a:path w="21214080" h="536448">
                  <a:moveTo>
                    <a:pt x="0" y="0"/>
                  </a:moveTo>
                  <a:lnTo>
                    <a:pt x="21214080" y="0"/>
                  </a:lnTo>
                  <a:lnTo>
                    <a:pt x="212140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0544" b="-720544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9525"/>
              <a:ext cx="21214080" cy="545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2. 강성민원 공감언어를 AI로 생성하고 감정노동 부담을 줄일 수 있다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188720" y="7278624"/>
            <a:ext cx="15910560" cy="402336"/>
            <a:chOff x="0" y="0"/>
            <a:chExt cx="21214080" cy="53644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1214080" cy="536448"/>
            </a:xfrm>
            <a:custGeom>
              <a:avLst/>
              <a:gdLst/>
              <a:ahLst/>
              <a:cxnLst/>
              <a:rect l="l" t="t" r="r" b="b"/>
              <a:pathLst>
                <a:path w="21214080" h="536448">
                  <a:moveTo>
                    <a:pt x="0" y="0"/>
                  </a:moveTo>
                  <a:lnTo>
                    <a:pt x="21214080" y="0"/>
                  </a:lnTo>
                  <a:lnTo>
                    <a:pt x="212140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0544" b="-720544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9525"/>
              <a:ext cx="21214080" cy="545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3. 상담 기록을 AI로 자동 요약하고 환자 FAQ를 자동 생성할 수 있다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188720" y="7717536"/>
            <a:ext cx="15910560" cy="402336"/>
            <a:chOff x="0" y="0"/>
            <a:chExt cx="21214080" cy="53644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1214080" cy="536448"/>
            </a:xfrm>
            <a:custGeom>
              <a:avLst/>
              <a:gdLst/>
              <a:ahLst/>
              <a:cxnLst/>
              <a:rect l="l" t="t" r="r" b="b"/>
              <a:pathLst>
                <a:path w="21214080" h="536448">
                  <a:moveTo>
                    <a:pt x="0" y="0"/>
                  </a:moveTo>
                  <a:lnTo>
                    <a:pt x="21214080" y="0"/>
                  </a:lnTo>
                  <a:lnTo>
                    <a:pt x="212140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0544" b="-720544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9525"/>
              <a:ext cx="21214080" cy="545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4. 코딩 없이 병원 특화 AI 챗봇(GPTs)을 직접 설계·구현하고 Action Plan을 수립할 수 있다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CS반 | 과정 개요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031243"/>
            <a:chOff x="0" y="0"/>
            <a:chExt cx="24417871" cy="13749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1375029"/>
            </a:xfrm>
            <a:custGeom>
              <a:avLst/>
              <a:gdLst/>
              <a:ahLst/>
              <a:cxnLst/>
              <a:rect l="l" t="t" r="r" b="b"/>
              <a:pathLst>
                <a:path w="24417910" h="1375029">
                  <a:moveTo>
                    <a:pt x="0" y="0"/>
                  </a:moveTo>
                  <a:lnTo>
                    <a:pt x="24417910" y="0"/>
                  </a:lnTo>
                  <a:lnTo>
                    <a:pt x="24417910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31520" y="182880"/>
            <a:ext cx="16824960" cy="658368"/>
            <a:chOff x="0" y="0"/>
            <a:chExt cx="22433280" cy="8778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877824"/>
            </a:xfrm>
            <a:custGeom>
              <a:avLst/>
              <a:gdLst/>
              <a:ahLst/>
              <a:cxnLst/>
              <a:rect l="l" t="t" r="r" b="b"/>
              <a:pathLst>
                <a:path w="22433280" h="877824">
                  <a:moveTo>
                    <a:pt x="0" y="0"/>
                  </a:moveTo>
                  <a:lnTo>
                    <a:pt x="22433280" y="0"/>
                  </a:lnTo>
                  <a:lnTo>
                    <a:pt x="224332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7950" b="-4479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433280" cy="9063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🕐  5차시 교육 시간표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10263" y="1176023"/>
            <a:ext cx="1671323" cy="647195"/>
            <a:chOff x="0" y="0"/>
            <a:chExt cx="2228431" cy="8629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28469" cy="862965"/>
            </a:xfrm>
            <a:custGeom>
              <a:avLst/>
              <a:gdLst/>
              <a:ahLst/>
              <a:cxnLst/>
              <a:rect l="l" t="t" r="r" b="b"/>
              <a:pathLst>
                <a:path w="2228469" h="862965">
                  <a:moveTo>
                    <a:pt x="0" y="0"/>
                  </a:moveTo>
                  <a:lnTo>
                    <a:pt x="2228469" y="0"/>
                  </a:lnTo>
                  <a:lnTo>
                    <a:pt x="2228469" y="862965"/>
                  </a:lnTo>
                  <a:lnTo>
                    <a:pt x="0" y="862965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22960" y="1188720"/>
            <a:ext cx="1645920" cy="621792"/>
            <a:chOff x="0" y="0"/>
            <a:chExt cx="2194560" cy="8290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" cy="829056"/>
            </a:xfrm>
            <a:custGeom>
              <a:avLst/>
              <a:gdLst/>
              <a:ahLst/>
              <a:cxnLst/>
              <a:rect l="l" t="t" r="r" b="b"/>
              <a:pathLst>
                <a:path w="2194560" h="829056">
                  <a:moveTo>
                    <a:pt x="0" y="0"/>
                  </a:moveTo>
                  <a:lnTo>
                    <a:pt x="2194560" y="0"/>
                  </a:lnTo>
                  <a:lnTo>
                    <a:pt x="21945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8" b="-157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194560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차시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56183" y="1176023"/>
            <a:ext cx="2219963" cy="647195"/>
            <a:chOff x="0" y="0"/>
            <a:chExt cx="2959951" cy="8629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59989" cy="862965"/>
            </a:xfrm>
            <a:custGeom>
              <a:avLst/>
              <a:gdLst/>
              <a:ahLst/>
              <a:cxnLst/>
              <a:rect l="l" t="t" r="r" b="b"/>
              <a:pathLst>
                <a:path w="2959989" h="862965">
                  <a:moveTo>
                    <a:pt x="0" y="0"/>
                  </a:moveTo>
                  <a:lnTo>
                    <a:pt x="2959989" y="0"/>
                  </a:lnTo>
                  <a:lnTo>
                    <a:pt x="2959989" y="862965"/>
                  </a:lnTo>
                  <a:lnTo>
                    <a:pt x="0" y="862965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2468880" y="1188720"/>
            <a:ext cx="2194560" cy="621792"/>
            <a:chOff x="0" y="0"/>
            <a:chExt cx="2926080" cy="8290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26080" cy="829056"/>
            </a:xfrm>
            <a:custGeom>
              <a:avLst/>
              <a:gdLst/>
              <a:ahLst/>
              <a:cxnLst/>
              <a:rect l="l" t="t" r="r" b="b"/>
              <a:pathLst>
                <a:path w="2926080" h="829056">
                  <a:moveTo>
                    <a:pt x="0" y="0"/>
                  </a:moveTo>
                  <a:lnTo>
                    <a:pt x="2926080" y="0"/>
                  </a:lnTo>
                  <a:lnTo>
                    <a:pt x="29260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770" b="-1877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926080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시간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650743" y="1176023"/>
            <a:ext cx="5146043" cy="647195"/>
            <a:chOff x="0" y="0"/>
            <a:chExt cx="6861391" cy="86292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61429" cy="862965"/>
            </a:xfrm>
            <a:custGeom>
              <a:avLst/>
              <a:gdLst/>
              <a:ahLst/>
              <a:cxnLst/>
              <a:rect l="l" t="t" r="r" b="b"/>
              <a:pathLst>
                <a:path w="6861429" h="862965">
                  <a:moveTo>
                    <a:pt x="0" y="0"/>
                  </a:moveTo>
                  <a:lnTo>
                    <a:pt x="6861429" y="0"/>
                  </a:lnTo>
                  <a:lnTo>
                    <a:pt x="6861429" y="862965"/>
                  </a:lnTo>
                  <a:lnTo>
                    <a:pt x="0" y="862965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663440" y="1188720"/>
            <a:ext cx="5120640" cy="621792"/>
            <a:chOff x="0" y="0"/>
            <a:chExt cx="6827520" cy="8290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27520" cy="829056"/>
            </a:xfrm>
            <a:custGeom>
              <a:avLst/>
              <a:gdLst/>
              <a:ahLst/>
              <a:cxnLst/>
              <a:rect l="l" t="t" r="r" b="b"/>
              <a:pathLst>
                <a:path w="6827520" h="829056">
                  <a:moveTo>
                    <a:pt x="0" y="0"/>
                  </a:moveTo>
                  <a:lnTo>
                    <a:pt x="6827520" y="0"/>
                  </a:lnTo>
                  <a:lnTo>
                    <a:pt x="6827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465" b="-110465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6827520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핵심 주제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1383" y="1176023"/>
            <a:ext cx="7797803" cy="647195"/>
            <a:chOff x="0" y="0"/>
            <a:chExt cx="10397071" cy="86292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7109" cy="862965"/>
            </a:xfrm>
            <a:custGeom>
              <a:avLst/>
              <a:gdLst/>
              <a:ahLst/>
              <a:cxnLst/>
              <a:rect l="l" t="t" r="r" b="b"/>
              <a:pathLst>
                <a:path w="10397109" h="862965">
                  <a:moveTo>
                    <a:pt x="0" y="0"/>
                  </a:moveTo>
                  <a:lnTo>
                    <a:pt x="10397109" y="0"/>
                  </a:lnTo>
                  <a:lnTo>
                    <a:pt x="10397109" y="862965"/>
                  </a:lnTo>
                  <a:lnTo>
                    <a:pt x="0" y="862965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9784080" y="1188720"/>
            <a:ext cx="7772400" cy="621792"/>
            <a:chOff x="0" y="0"/>
            <a:chExt cx="10363200" cy="8290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363200" cy="829056"/>
            </a:xfrm>
            <a:custGeom>
              <a:avLst/>
              <a:gdLst/>
              <a:ahLst/>
              <a:cxnLst/>
              <a:rect l="l" t="t" r="r" b="b"/>
              <a:pathLst>
                <a:path w="10363200" h="829056">
                  <a:moveTo>
                    <a:pt x="0" y="0"/>
                  </a:moveTo>
                  <a:lnTo>
                    <a:pt x="10363200" y="0"/>
                  </a:lnTo>
                  <a:lnTo>
                    <a:pt x="103632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0363200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주요 내용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10263" y="1889255"/>
            <a:ext cx="1671323" cy="1378715"/>
            <a:chOff x="0" y="0"/>
            <a:chExt cx="2228431" cy="183828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28469" cy="1838325"/>
            </a:xfrm>
            <a:custGeom>
              <a:avLst/>
              <a:gdLst/>
              <a:ahLst/>
              <a:cxnLst/>
              <a:rect l="l" t="t" r="r" b="b"/>
              <a:pathLst>
                <a:path w="2228469" h="1838325">
                  <a:moveTo>
                    <a:pt x="0" y="0"/>
                  </a:moveTo>
                  <a:lnTo>
                    <a:pt x="2228469" y="0"/>
                  </a:lnTo>
                  <a:lnTo>
                    <a:pt x="2228469" y="1838325"/>
                  </a:lnTo>
                  <a:lnTo>
                    <a:pt x="0" y="1838325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810263" y="1994668"/>
            <a:ext cx="1645920" cy="1353312"/>
            <a:chOff x="0" y="0"/>
            <a:chExt cx="2194560" cy="180441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94560" cy="1804416"/>
            </a:xfrm>
            <a:custGeom>
              <a:avLst/>
              <a:gdLst/>
              <a:ahLst/>
              <a:cxnLst/>
              <a:rect l="l" t="t" r="r" b="b"/>
              <a:pathLst>
                <a:path w="2194560" h="1804416">
                  <a:moveTo>
                    <a:pt x="0" y="0"/>
                  </a:moveTo>
                  <a:lnTo>
                    <a:pt x="2194560" y="0"/>
                  </a:lnTo>
                  <a:lnTo>
                    <a:pt x="219456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494" r="-55494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2194560" cy="1823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1차시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462527" y="1895599"/>
            <a:ext cx="2207257" cy="1366009"/>
            <a:chOff x="0" y="0"/>
            <a:chExt cx="2943009" cy="182134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942971" cy="1821307"/>
            </a:xfrm>
            <a:custGeom>
              <a:avLst/>
              <a:gdLst/>
              <a:ahLst/>
              <a:cxnLst/>
              <a:rect l="l" t="t" r="r" b="b"/>
              <a:pathLst>
                <a:path w="2942971" h="1821307">
                  <a:moveTo>
                    <a:pt x="0" y="0"/>
                  </a:moveTo>
                  <a:lnTo>
                    <a:pt x="2942971" y="0"/>
                  </a:lnTo>
                  <a:lnTo>
                    <a:pt x="2942971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468880" y="1901952"/>
            <a:ext cx="2194560" cy="1353312"/>
            <a:chOff x="0" y="0"/>
            <a:chExt cx="2926080" cy="180441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926080" cy="1804416"/>
            </a:xfrm>
            <a:custGeom>
              <a:avLst/>
              <a:gdLst/>
              <a:ahLst/>
              <a:cxnLst/>
              <a:rect l="l" t="t" r="r" b="b"/>
              <a:pathLst>
                <a:path w="2926080" h="1804416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120" r="-2912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2926080" cy="1823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369A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1H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657087" y="1895599"/>
            <a:ext cx="4757024" cy="1366009"/>
            <a:chOff x="0" y="0"/>
            <a:chExt cx="6342698" cy="182134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342663" cy="1821307"/>
            </a:xfrm>
            <a:custGeom>
              <a:avLst/>
              <a:gdLst/>
              <a:ahLst/>
              <a:cxnLst/>
              <a:rect l="l" t="t" r="r" b="b"/>
              <a:pathLst>
                <a:path w="6342663" h="1821307">
                  <a:moveTo>
                    <a:pt x="0" y="0"/>
                  </a:moveTo>
                  <a:lnTo>
                    <a:pt x="6342663" y="0"/>
                  </a:lnTo>
                  <a:lnTo>
                    <a:pt x="6342663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EFF6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4846320" y="1901952"/>
            <a:ext cx="4567790" cy="1353312"/>
            <a:chOff x="0" y="0"/>
            <a:chExt cx="6090387" cy="180441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090387" cy="1804416"/>
            </a:xfrm>
            <a:custGeom>
              <a:avLst/>
              <a:gdLst/>
              <a:ahLst/>
              <a:cxnLst/>
              <a:rect l="l" t="t" r="r" b="b"/>
              <a:pathLst>
                <a:path w="6090387" h="1804416">
                  <a:moveTo>
                    <a:pt x="0" y="0"/>
                  </a:moveTo>
                  <a:lnTo>
                    <a:pt x="6090387" y="0"/>
                  </a:lnTo>
                  <a:lnTo>
                    <a:pt x="6090387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77" r="-6097" b="-1977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6090387" cy="18139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CS 업무와 AI 도입 이해 이해(개요 및 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트렌드)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595085" y="1895599"/>
            <a:ext cx="7967738" cy="1366009"/>
            <a:chOff x="0" y="0"/>
            <a:chExt cx="10623651" cy="182134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623612" cy="1821307"/>
            </a:xfrm>
            <a:custGeom>
              <a:avLst/>
              <a:gdLst/>
              <a:ahLst/>
              <a:cxnLst/>
              <a:rect l="l" t="t" r="r" b="b"/>
              <a:pathLst>
                <a:path w="10623612" h="1821307">
                  <a:moveTo>
                    <a:pt x="0" y="0"/>
                  </a:moveTo>
                  <a:lnTo>
                    <a:pt x="10623612" y="0"/>
                  </a:lnTo>
                  <a:lnTo>
                    <a:pt x="10623612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9595085" y="1994668"/>
            <a:ext cx="7869955" cy="1353312"/>
            <a:chOff x="0" y="0"/>
            <a:chExt cx="10493273" cy="180441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493273" cy="1804416"/>
            </a:xfrm>
            <a:custGeom>
              <a:avLst/>
              <a:gdLst/>
              <a:ahLst/>
              <a:cxnLst/>
              <a:rect l="l" t="t" r="r" b="b"/>
              <a:pathLst>
                <a:path w="10493273" h="1804416">
                  <a:moveTo>
                    <a:pt x="0" y="0"/>
                  </a:moveTo>
                  <a:lnTo>
                    <a:pt x="10493273" y="0"/>
                  </a:lnTo>
                  <a:lnTo>
                    <a:pt x="10493273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957" r="4725" b="-57957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10493273" cy="1823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보건의료·헬스케어 CS 현장의 주요 고충과 AI 도입 필요성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국내외 의료기관 CS AI 활용 사례 소개 (챗봇, 자동응답, 감성분석 등)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생성형 AI가 CS 업무에 미치는 변화와 기회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AI  활용 CS 업무 윤리 및 환자정보 보호 가이드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0263" y="3388871"/>
            <a:ext cx="1671323" cy="1378715"/>
            <a:chOff x="0" y="0"/>
            <a:chExt cx="2228431" cy="183828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228469" cy="1838325"/>
            </a:xfrm>
            <a:custGeom>
              <a:avLst/>
              <a:gdLst/>
              <a:ahLst/>
              <a:cxnLst/>
              <a:rect l="l" t="t" r="r" b="b"/>
              <a:pathLst>
                <a:path w="2228469" h="1838325">
                  <a:moveTo>
                    <a:pt x="0" y="0"/>
                  </a:moveTo>
                  <a:lnTo>
                    <a:pt x="2228469" y="0"/>
                  </a:lnTo>
                  <a:lnTo>
                    <a:pt x="2228469" y="1838325"/>
                  </a:lnTo>
                  <a:lnTo>
                    <a:pt x="0" y="1838325"/>
                  </a:lnTo>
                  <a:close/>
                </a:path>
              </a:pathLst>
            </a:custGeom>
            <a:solidFill>
              <a:srgbClr val="0A7B83"/>
            </a:solidFill>
            <a:ln w="25400" cap="sq">
              <a:solidFill>
                <a:srgbClr val="047857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835666" y="3407912"/>
            <a:ext cx="1645920" cy="1353312"/>
            <a:chOff x="0" y="0"/>
            <a:chExt cx="2194560" cy="180441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94560" cy="1804416"/>
            </a:xfrm>
            <a:custGeom>
              <a:avLst/>
              <a:gdLst/>
              <a:ahLst/>
              <a:cxnLst/>
              <a:rect l="l" t="t" r="r" b="b"/>
              <a:pathLst>
                <a:path w="2194560" h="1804416">
                  <a:moveTo>
                    <a:pt x="0" y="0"/>
                  </a:moveTo>
                  <a:lnTo>
                    <a:pt x="2194560" y="0"/>
                  </a:lnTo>
                  <a:lnTo>
                    <a:pt x="219456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494" r="-55494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2194560" cy="1823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2차시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462527" y="3395215"/>
            <a:ext cx="2207257" cy="1366009"/>
            <a:chOff x="0" y="0"/>
            <a:chExt cx="2943009" cy="182134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942971" cy="1821307"/>
            </a:xfrm>
            <a:custGeom>
              <a:avLst/>
              <a:gdLst/>
              <a:ahLst/>
              <a:cxnLst/>
              <a:rect l="l" t="t" r="r" b="b"/>
              <a:pathLst>
                <a:path w="2942971" h="1821307">
                  <a:moveTo>
                    <a:pt x="0" y="0"/>
                  </a:moveTo>
                  <a:lnTo>
                    <a:pt x="2942971" y="0"/>
                  </a:lnTo>
                  <a:lnTo>
                    <a:pt x="2942971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2468880" y="3401568"/>
            <a:ext cx="2194560" cy="1353312"/>
            <a:chOff x="0" y="0"/>
            <a:chExt cx="2926080" cy="180441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926080" cy="1804416"/>
            </a:xfrm>
            <a:custGeom>
              <a:avLst/>
              <a:gdLst/>
              <a:ahLst/>
              <a:cxnLst/>
              <a:rect l="l" t="t" r="r" b="b"/>
              <a:pathLst>
                <a:path w="2926080" h="1804416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120" r="-29120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2926080" cy="1823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478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1.5H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657087" y="3395215"/>
            <a:ext cx="4757024" cy="1366009"/>
            <a:chOff x="0" y="0"/>
            <a:chExt cx="6342698" cy="182134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342663" cy="1821307"/>
            </a:xfrm>
            <a:custGeom>
              <a:avLst/>
              <a:gdLst/>
              <a:ahLst/>
              <a:cxnLst/>
              <a:rect l="l" t="t" r="r" b="b"/>
              <a:pathLst>
                <a:path w="6342663" h="1821307">
                  <a:moveTo>
                    <a:pt x="0" y="0"/>
                  </a:moveTo>
                  <a:lnTo>
                    <a:pt x="6342663" y="0"/>
                  </a:lnTo>
                  <a:lnTo>
                    <a:pt x="6342663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F0FDF4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4846320" y="3401568"/>
            <a:ext cx="4567790" cy="1353312"/>
            <a:chOff x="0" y="0"/>
            <a:chExt cx="6090387" cy="180441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090387" cy="1804416"/>
            </a:xfrm>
            <a:custGeom>
              <a:avLst/>
              <a:gdLst/>
              <a:ahLst/>
              <a:cxnLst/>
              <a:rect l="l" t="t" r="r" b="b"/>
              <a:pathLst>
                <a:path w="6090387" h="1804416">
                  <a:moveTo>
                    <a:pt x="0" y="0"/>
                  </a:moveTo>
                  <a:lnTo>
                    <a:pt x="6090387" y="0"/>
                  </a:lnTo>
                  <a:lnTo>
                    <a:pt x="6090387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77" r="-6097" b="-19777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6090387" cy="18139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4785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민원·상담 응대 스크립트 AI 작성 및 최적화</a:t>
              </a:r>
            </a:p>
            <a:p>
              <a:pPr algn="l">
                <a:lnSpc>
                  <a:spcPts val="2520"/>
                </a:lnSpc>
              </a:pPr>
              <a:endParaRPr lang="en-US" sz="2100" b="1">
                <a:solidFill>
                  <a:srgbClr val="047857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595085" y="3395215"/>
            <a:ext cx="7967738" cy="1366009"/>
            <a:chOff x="0" y="0"/>
            <a:chExt cx="10623651" cy="1821345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623612" cy="1821307"/>
            </a:xfrm>
            <a:custGeom>
              <a:avLst/>
              <a:gdLst/>
              <a:ahLst/>
              <a:cxnLst/>
              <a:rect l="l" t="t" r="r" b="b"/>
              <a:pathLst>
                <a:path w="10623612" h="1821307">
                  <a:moveTo>
                    <a:pt x="0" y="0"/>
                  </a:moveTo>
                  <a:lnTo>
                    <a:pt x="10623612" y="0"/>
                  </a:lnTo>
                  <a:lnTo>
                    <a:pt x="10623612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9692640" y="3347333"/>
            <a:ext cx="7498080" cy="1353312"/>
            <a:chOff x="0" y="0"/>
            <a:chExt cx="9997440" cy="180441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997440" cy="1804416"/>
            </a:xfrm>
            <a:custGeom>
              <a:avLst/>
              <a:gdLst/>
              <a:ahLst/>
              <a:cxnLst/>
              <a:rect l="l" t="t" r="r" b="b"/>
              <a:pathLst>
                <a:path w="9997440" h="1804416">
                  <a:moveTo>
                    <a:pt x="0" y="0"/>
                  </a:moveTo>
                  <a:lnTo>
                    <a:pt x="9997440" y="0"/>
                  </a:lnTo>
                  <a:lnTo>
                    <a:pt x="999744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957" b="-57957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9997440" cy="1823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자주 발생하는 민원 유형 분류 및 AI 대응 시나리오 설계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AI를 활용한 응대 스크립트 초안 작성 실습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강성 민원·감정적 고객 응대를 위한 공감 언어 프롬프팅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 -  기관별 톤앤매너 반영 스크립트 커스터마이징 실습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10263" y="4888487"/>
            <a:ext cx="1671323" cy="1378715"/>
            <a:chOff x="0" y="0"/>
            <a:chExt cx="2228431" cy="1838287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228469" cy="1838325"/>
            </a:xfrm>
            <a:custGeom>
              <a:avLst/>
              <a:gdLst/>
              <a:ahLst/>
              <a:cxnLst/>
              <a:rect l="l" t="t" r="r" b="b"/>
              <a:pathLst>
                <a:path w="2228469" h="1838325">
                  <a:moveTo>
                    <a:pt x="0" y="0"/>
                  </a:moveTo>
                  <a:lnTo>
                    <a:pt x="2228469" y="0"/>
                  </a:lnTo>
                  <a:lnTo>
                    <a:pt x="2228469" y="1838325"/>
                  </a:lnTo>
                  <a:lnTo>
                    <a:pt x="0" y="1838325"/>
                  </a:lnTo>
                  <a:close/>
                </a:path>
              </a:pathLst>
            </a:custGeom>
            <a:solidFill>
              <a:srgbClr val="1A7A4A"/>
            </a:solidFill>
            <a:ln w="25400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835666" y="4888487"/>
            <a:ext cx="1645920" cy="1353312"/>
            <a:chOff x="0" y="0"/>
            <a:chExt cx="2194560" cy="180441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194560" cy="1804416"/>
            </a:xfrm>
            <a:custGeom>
              <a:avLst/>
              <a:gdLst/>
              <a:ahLst/>
              <a:cxnLst/>
              <a:rect l="l" t="t" r="r" b="b"/>
              <a:pathLst>
                <a:path w="2194560" h="1804416">
                  <a:moveTo>
                    <a:pt x="0" y="0"/>
                  </a:moveTo>
                  <a:lnTo>
                    <a:pt x="2194560" y="0"/>
                  </a:lnTo>
                  <a:lnTo>
                    <a:pt x="219456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494" r="-55494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19050"/>
              <a:ext cx="2194560" cy="1823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3차시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462527" y="4894831"/>
            <a:ext cx="2207257" cy="1366009"/>
            <a:chOff x="0" y="0"/>
            <a:chExt cx="2943009" cy="182134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942971" cy="1821307"/>
            </a:xfrm>
            <a:custGeom>
              <a:avLst/>
              <a:gdLst/>
              <a:ahLst/>
              <a:cxnLst/>
              <a:rect l="l" t="t" r="r" b="b"/>
              <a:pathLst>
                <a:path w="2942971" h="1821307">
                  <a:moveTo>
                    <a:pt x="0" y="0"/>
                  </a:moveTo>
                  <a:lnTo>
                    <a:pt x="2942971" y="0"/>
                  </a:lnTo>
                  <a:lnTo>
                    <a:pt x="2942971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2468880" y="4901184"/>
            <a:ext cx="2194560" cy="1353312"/>
            <a:chOff x="0" y="0"/>
            <a:chExt cx="2926080" cy="180441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926080" cy="1804416"/>
            </a:xfrm>
            <a:custGeom>
              <a:avLst/>
              <a:gdLst/>
              <a:ahLst/>
              <a:cxnLst/>
              <a:rect l="l" t="t" r="r" b="b"/>
              <a:pathLst>
                <a:path w="2926080" h="1804416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120" r="-29120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19050"/>
              <a:ext cx="2926080" cy="1823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16A3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1.5H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4657087" y="4894831"/>
            <a:ext cx="4757024" cy="1366009"/>
            <a:chOff x="0" y="0"/>
            <a:chExt cx="6342698" cy="1821345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342663" cy="1821307"/>
            </a:xfrm>
            <a:custGeom>
              <a:avLst/>
              <a:gdLst/>
              <a:ahLst/>
              <a:cxnLst/>
              <a:rect l="l" t="t" r="r" b="b"/>
              <a:pathLst>
                <a:path w="6342663" h="1821307">
                  <a:moveTo>
                    <a:pt x="0" y="0"/>
                  </a:moveTo>
                  <a:lnTo>
                    <a:pt x="6342663" y="0"/>
                  </a:lnTo>
                  <a:lnTo>
                    <a:pt x="6342663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FFFBEB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4846320" y="4901184"/>
            <a:ext cx="4567790" cy="1353312"/>
            <a:chOff x="0" y="0"/>
            <a:chExt cx="6090387" cy="180441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090387" cy="1804416"/>
            </a:xfrm>
            <a:custGeom>
              <a:avLst/>
              <a:gdLst/>
              <a:ahLst/>
              <a:cxnLst/>
              <a:rect l="l" t="t" r="r" b="b"/>
              <a:pathLst>
                <a:path w="6090387" h="1804416">
                  <a:moveTo>
                    <a:pt x="0" y="0"/>
                  </a:moveTo>
                  <a:lnTo>
                    <a:pt x="6090387" y="0"/>
                  </a:lnTo>
                  <a:lnTo>
                    <a:pt x="6090387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77" r="-6097" b="-19777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9525"/>
              <a:ext cx="6090387" cy="18139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6A3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상담 기록 자동화 및 민원 문서화 지원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595085" y="4894831"/>
            <a:ext cx="7967738" cy="1366009"/>
            <a:chOff x="0" y="0"/>
            <a:chExt cx="10623651" cy="1821345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0623612" cy="1821307"/>
            </a:xfrm>
            <a:custGeom>
              <a:avLst/>
              <a:gdLst/>
              <a:ahLst/>
              <a:cxnLst/>
              <a:rect l="l" t="t" r="r" b="b"/>
              <a:pathLst>
                <a:path w="10623612" h="1821307">
                  <a:moveTo>
                    <a:pt x="0" y="0"/>
                  </a:moveTo>
                  <a:lnTo>
                    <a:pt x="10623612" y="0"/>
                  </a:lnTo>
                  <a:lnTo>
                    <a:pt x="10623612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9692640" y="4901184"/>
            <a:ext cx="7498080" cy="1353312"/>
            <a:chOff x="0" y="0"/>
            <a:chExt cx="9997440" cy="180441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9997440" cy="1804416"/>
            </a:xfrm>
            <a:custGeom>
              <a:avLst/>
              <a:gdLst/>
              <a:ahLst/>
              <a:cxnLst/>
              <a:rect l="l" t="t" r="r" b="b"/>
              <a:pathLst>
                <a:path w="9997440" h="1804416">
                  <a:moveTo>
                    <a:pt x="0" y="0"/>
                  </a:moveTo>
                  <a:lnTo>
                    <a:pt x="9997440" y="0"/>
                  </a:lnTo>
                  <a:lnTo>
                    <a:pt x="999744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957" b="-57957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9525"/>
              <a:ext cx="9997440" cy="18139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상담 내용 AI 요약 및 민원 처리 기록 자동 생성 실습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음성 녹취 → 텍스트 변환 → AI 요약 파이프라인 이해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반복 민원 패턴 분석 및 FAQ 자동 생성 실습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민원처리 결과 보고서 자동화 초안 작성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10263" y="6388103"/>
            <a:ext cx="1671323" cy="1378715"/>
            <a:chOff x="0" y="0"/>
            <a:chExt cx="2228431" cy="1838287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228469" cy="1838325"/>
            </a:xfrm>
            <a:custGeom>
              <a:avLst/>
              <a:gdLst/>
              <a:ahLst/>
              <a:cxnLst/>
              <a:rect l="l" t="t" r="r" b="b"/>
              <a:pathLst>
                <a:path w="2228469" h="1838325">
                  <a:moveTo>
                    <a:pt x="0" y="0"/>
                  </a:moveTo>
                  <a:lnTo>
                    <a:pt x="2228469" y="0"/>
                  </a:lnTo>
                  <a:lnTo>
                    <a:pt x="2228469" y="1838325"/>
                  </a:lnTo>
                  <a:lnTo>
                    <a:pt x="0" y="1838325"/>
                  </a:lnTo>
                  <a:close/>
                </a:path>
              </a:pathLst>
            </a:custGeom>
            <a:solidFill>
              <a:srgbClr val="D05A00"/>
            </a:solidFill>
            <a:ln w="25400" cap="sq">
              <a:solidFill>
                <a:srgbClr val="6D28D9"/>
              </a:solidFill>
              <a:prstDash val="solid"/>
              <a:miter/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810263" y="6346565"/>
            <a:ext cx="1645920" cy="1353312"/>
            <a:chOff x="0" y="0"/>
            <a:chExt cx="2194560" cy="1804416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194560" cy="1804416"/>
            </a:xfrm>
            <a:custGeom>
              <a:avLst/>
              <a:gdLst/>
              <a:ahLst/>
              <a:cxnLst/>
              <a:rect l="l" t="t" r="r" b="b"/>
              <a:pathLst>
                <a:path w="2194560" h="1804416">
                  <a:moveTo>
                    <a:pt x="0" y="0"/>
                  </a:moveTo>
                  <a:lnTo>
                    <a:pt x="2194560" y="0"/>
                  </a:lnTo>
                  <a:lnTo>
                    <a:pt x="219456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494" r="-55494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19050"/>
              <a:ext cx="2194560" cy="1823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4차시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2462527" y="6394447"/>
            <a:ext cx="2207257" cy="1366009"/>
            <a:chOff x="0" y="0"/>
            <a:chExt cx="2943009" cy="1821345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2942971" cy="1821307"/>
            </a:xfrm>
            <a:custGeom>
              <a:avLst/>
              <a:gdLst/>
              <a:ahLst/>
              <a:cxnLst/>
              <a:rect l="l" t="t" r="r" b="b"/>
              <a:pathLst>
                <a:path w="2942971" h="1821307">
                  <a:moveTo>
                    <a:pt x="0" y="0"/>
                  </a:moveTo>
                  <a:lnTo>
                    <a:pt x="2942971" y="0"/>
                  </a:lnTo>
                  <a:lnTo>
                    <a:pt x="2942971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94" name="Group 94"/>
          <p:cNvGrpSpPr/>
          <p:nvPr/>
        </p:nvGrpSpPr>
        <p:grpSpPr>
          <a:xfrm>
            <a:off x="2468880" y="6400800"/>
            <a:ext cx="2194560" cy="1353312"/>
            <a:chOff x="0" y="0"/>
            <a:chExt cx="2926080" cy="180441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2926080" cy="1804416"/>
            </a:xfrm>
            <a:custGeom>
              <a:avLst/>
              <a:gdLst/>
              <a:ahLst/>
              <a:cxnLst/>
              <a:rect l="l" t="t" r="r" b="b"/>
              <a:pathLst>
                <a:path w="2926080" h="1804416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120" r="-29120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19050"/>
              <a:ext cx="2926080" cy="1823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2H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4657087" y="6394447"/>
            <a:ext cx="4757024" cy="1366009"/>
            <a:chOff x="0" y="0"/>
            <a:chExt cx="6342698" cy="1821345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6342663" cy="1821307"/>
            </a:xfrm>
            <a:custGeom>
              <a:avLst/>
              <a:gdLst/>
              <a:ahLst/>
              <a:cxnLst/>
              <a:rect l="l" t="t" r="r" b="b"/>
              <a:pathLst>
                <a:path w="6342663" h="1821307">
                  <a:moveTo>
                    <a:pt x="0" y="0"/>
                  </a:moveTo>
                  <a:lnTo>
                    <a:pt x="6342663" y="0"/>
                  </a:lnTo>
                  <a:lnTo>
                    <a:pt x="6342663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FAF5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99" name="Group 99"/>
          <p:cNvGrpSpPr/>
          <p:nvPr/>
        </p:nvGrpSpPr>
        <p:grpSpPr>
          <a:xfrm>
            <a:off x="4846320" y="6400800"/>
            <a:ext cx="4567790" cy="1353312"/>
            <a:chOff x="0" y="0"/>
            <a:chExt cx="6090387" cy="1804416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090387" cy="1804416"/>
            </a:xfrm>
            <a:custGeom>
              <a:avLst/>
              <a:gdLst/>
              <a:ahLst/>
              <a:cxnLst/>
              <a:rect l="l" t="t" r="r" b="b"/>
              <a:pathLst>
                <a:path w="6090387" h="1804416">
                  <a:moveTo>
                    <a:pt x="0" y="0"/>
                  </a:moveTo>
                  <a:lnTo>
                    <a:pt x="6090387" y="0"/>
                  </a:lnTo>
                  <a:lnTo>
                    <a:pt x="6090387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77" r="-6097" b="-19777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-9525"/>
              <a:ext cx="6090387" cy="18139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CS 맞춤형 FAQ 챗봇 구축 실습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595085" y="6394447"/>
            <a:ext cx="7967738" cy="1366009"/>
            <a:chOff x="0" y="0"/>
            <a:chExt cx="10623651" cy="1821345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0623612" cy="1821307"/>
            </a:xfrm>
            <a:custGeom>
              <a:avLst/>
              <a:gdLst/>
              <a:ahLst/>
              <a:cxnLst/>
              <a:rect l="l" t="t" r="r" b="b"/>
              <a:pathLst>
                <a:path w="10623612" h="1821307">
                  <a:moveTo>
                    <a:pt x="0" y="0"/>
                  </a:moveTo>
                  <a:lnTo>
                    <a:pt x="10623612" y="0"/>
                  </a:lnTo>
                  <a:lnTo>
                    <a:pt x="10623612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04" name="Group 104"/>
          <p:cNvGrpSpPr/>
          <p:nvPr/>
        </p:nvGrpSpPr>
        <p:grpSpPr>
          <a:xfrm>
            <a:off x="9692640" y="6346565"/>
            <a:ext cx="7498080" cy="1353312"/>
            <a:chOff x="0" y="0"/>
            <a:chExt cx="9997440" cy="1804416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9997440" cy="1804416"/>
            </a:xfrm>
            <a:custGeom>
              <a:avLst/>
              <a:gdLst/>
              <a:ahLst/>
              <a:cxnLst/>
              <a:rect l="l" t="t" r="r" b="b"/>
              <a:pathLst>
                <a:path w="9997440" h="1804416">
                  <a:moveTo>
                    <a:pt x="0" y="0"/>
                  </a:moveTo>
                  <a:lnTo>
                    <a:pt x="9997440" y="0"/>
                  </a:lnTo>
                  <a:lnTo>
                    <a:pt x="999744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957" b="-57957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9525"/>
              <a:ext cx="9997440" cy="18139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기관 CS 특화 FAQ 챗봇 설계 원리 및 구조 이해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실제 민원 Q&amp;A 데이터 기반 챗봇 시나리오 작성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ChatGPT GPTs를 활용한 기관 안내·민원 응답 챗봇 제작 실습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 -  챗봇 테스트·오류 수정 및 개인정보 처리 주의사항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10263" y="7887719"/>
            <a:ext cx="1671323" cy="1378715"/>
            <a:chOff x="0" y="0"/>
            <a:chExt cx="2228431" cy="1838287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2228469" cy="1838325"/>
            </a:xfrm>
            <a:custGeom>
              <a:avLst/>
              <a:gdLst/>
              <a:ahLst/>
              <a:cxnLst/>
              <a:rect l="l" t="t" r="r" b="b"/>
              <a:pathLst>
                <a:path w="2228469" h="1838325">
                  <a:moveTo>
                    <a:pt x="0" y="0"/>
                  </a:moveTo>
                  <a:lnTo>
                    <a:pt x="2228469" y="0"/>
                  </a:lnTo>
                  <a:lnTo>
                    <a:pt x="2228469" y="1838325"/>
                  </a:lnTo>
                  <a:lnTo>
                    <a:pt x="0" y="1838325"/>
                  </a:lnTo>
                  <a:close/>
                </a:path>
              </a:pathLst>
            </a:custGeom>
            <a:solidFill>
              <a:srgbClr val="5B3A8C"/>
            </a:solidFill>
            <a:ln w="2540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id="109" name="Group 109"/>
          <p:cNvGrpSpPr/>
          <p:nvPr/>
        </p:nvGrpSpPr>
        <p:grpSpPr>
          <a:xfrm>
            <a:off x="810263" y="7904988"/>
            <a:ext cx="1645920" cy="1353312"/>
            <a:chOff x="0" y="0"/>
            <a:chExt cx="2194560" cy="1804416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2194560" cy="1804416"/>
            </a:xfrm>
            <a:custGeom>
              <a:avLst/>
              <a:gdLst/>
              <a:ahLst/>
              <a:cxnLst/>
              <a:rect l="l" t="t" r="r" b="b"/>
              <a:pathLst>
                <a:path w="2194560" h="1804416">
                  <a:moveTo>
                    <a:pt x="0" y="0"/>
                  </a:moveTo>
                  <a:lnTo>
                    <a:pt x="2194560" y="0"/>
                  </a:lnTo>
                  <a:lnTo>
                    <a:pt x="219456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494" r="-55494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19050"/>
              <a:ext cx="2194560" cy="1823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5차시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2462527" y="7894063"/>
            <a:ext cx="2207257" cy="1366009"/>
            <a:chOff x="0" y="0"/>
            <a:chExt cx="2943009" cy="1821345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2942971" cy="1821307"/>
            </a:xfrm>
            <a:custGeom>
              <a:avLst/>
              <a:gdLst/>
              <a:ahLst/>
              <a:cxnLst/>
              <a:rect l="l" t="t" r="r" b="b"/>
              <a:pathLst>
                <a:path w="2942971" h="1821307">
                  <a:moveTo>
                    <a:pt x="0" y="0"/>
                  </a:moveTo>
                  <a:lnTo>
                    <a:pt x="2942971" y="0"/>
                  </a:lnTo>
                  <a:lnTo>
                    <a:pt x="2942971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14" name="Group 114"/>
          <p:cNvGrpSpPr/>
          <p:nvPr/>
        </p:nvGrpSpPr>
        <p:grpSpPr>
          <a:xfrm>
            <a:off x="2468880" y="7900416"/>
            <a:ext cx="2194560" cy="1353312"/>
            <a:chOff x="0" y="0"/>
            <a:chExt cx="2926080" cy="1804416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2926080" cy="1804416"/>
            </a:xfrm>
            <a:custGeom>
              <a:avLst/>
              <a:gdLst/>
              <a:ahLst/>
              <a:cxnLst/>
              <a:rect l="l" t="t" r="r" b="b"/>
              <a:pathLst>
                <a:path w="2926080" h="1804416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120" r="-29120"/>
              </a:stretch>
            </a:blipFill>
          </p:spPr>
        </p:sp>
        <p:sp>
          <p:nvSpPr>
            <p:cNvPr id="116" name="TextBox 116"/>
            <p:cNvSpPr txBox="1"/>
            <p:nvPr/>
          </p:nvSpPr>
          <p:spPr>
            <a:xfrm>
              <a:off x="0" y="-19050"/>
              <a:ext cx="2926080" cy="1823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5B3A8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2H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4657087" y="7894063"/>
            <a:ext cx="4757024" cy="1366009"/>
            <a:chOff x="0" y="0"/>
            <a:chExt cx="6342698" cy="1821345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6342663" cy="1821307"/>
            </a:xfrm>
            <a:custGeom>
              <a:avLst/>
              <a:gdLst/>
              <a:ahLst/>
              <a:cxnLst/>
              <a:rect l="l" t="t" r="r" b="b"/>
              <a:pathLst>
                <a:path w="6342663" h="1821307">
                  <a:moveTo>
                    <a:pt x="0" y="0"/>
                  </a:moveTo>
                  <a:lnTo>
                    <a:pt x="6342663" y="0"/>
                  </a:lnTo>
                  <a:lnTo>
                    <a:pt x="6342663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F0FDFA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19" name="Group 119"/>
          <p:cNvGrpSpPr/>
          <p:nvPr/>
        </p:nvGrpSpPr>
        <p:grpSpPr>
          <a:xfrm>
            <a:off x="4846320" y="7900416"/>
            <a:ext cx="4567790" cy="1353312"/>
            <a:chOff x="0" y="0"/>
            <a:chExt cx="6090387" cy="1804416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6090387" cy="1804416"/>
            </a:xfrm>
            <a:custGeom>
              <a:avLst/>
              <a:gdLst/>
              <a:ahLst/>
              <a:cxnLst/>
              <a:rect l="l" t="t" r="r" b="b"/>
              <a:pathLst>
                <a:path w="6090387" h="1804416">
                  <a:moveTo>
                    <a:pt x="0" y="0"/>
                  </a:moveTo>
                  <a:lnTo>
                    <a:pt x="6090387" y="0"/>
                  </a:lnTo>
                  <a:lnTo>
                    <a:pt x="6090387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77" r="-6097" b="-19777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9525"/>
              <a:ext cx="6090387" cy="18139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5B3A8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CS 업무 통합 실습 및 현장 적용 계획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9595085" y="7894063"/>
            <a:ext cx="7967738" cy="1366009"/>
            <a:chOff x="0" y="0"/>
            <a:chExt cx="10623651" cy="1821345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0623612" cy="1821307"/>
            </a:xfrm>
            <a:custGeom>
              <a:avLst/>
              <a:gdLst/>
              <a:ahLst/>
              <a:cxnLst/>
              <a:rect l="l" t="t" r="r" b="b"/>
              <a:pathLst>
                <a:path w="10623612" h="1821307">
                  <a:moveTo>
                    <a:pt x="0" y="0"/>
                  </a:moveTo>
                  <a:lnTo>
                    <a:pt x="10623612" y="0"/>
                  </a:lnTo>
                  <a:lnTo>
                    <a:pt x="10623612" y="1821307"/>
                  </a:lnTo>
                  <a:lnTo>
                    <a:pt x="0" y="1821307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24" name="Group 124"/>
          <p:cNvGrpSpPr/>
          <p:nvPr/>
        </p:nvGrpSpPr>
        <p:grpSpPr>
          <a:xfrm>
            <a:off x="9692640" y="7900416"/>
            <a:ext cx="7498080" cy="1618585"/>
            <a:chOff x="0" y="0"/>
            <a:chExt cx="9997440" cy="2158113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9997440" cy="2158113"/>
            </a:xfrm>
            <a:custGeom>
              <a:avLst/>
              <a:gdLst/>
              <a:ahLst/>
              <a:cxnLst/>
              <a:rect l="l" t="t" r="r" b="b"/>
              <a:pathLst>
                <a:path w="9997440" h="2158113">
                  <a:moveTo>
                    <a:pt x="0" y="0"/>
                  </a:moveTo>
                  <a:lnTo>
                    <a:pt x="9997440" y="0"/>
                  </a:lnTo>
                  <a:lnTo>
                    <a:pt x="9997440" y="2158113"/>
                  </a:lnTo>
                  <a:lnTo>
                    <a:pt x="0" y="21581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458" b="-32069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9525"/>
              <a:ext cx="9997440" cy="21676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CS 업무 전반에 AI 적용 시나리오 통합 점검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팀별 현장 적용 미니 사례 발표 (3분/팀)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도구별 장단점 정리 및 지속 활용 방안 논의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-   수료 후 Action Plan 작성 및 제출</a:t>
              </a:r>
            </a:p>
            <a:p>
              <a:pPr algn="l">
                <a:lnSpc>
                  <a:spcPts val="2400"/>
                </a:lnSpc>
              </a:pPr>
              <a:endParaRPr lang="en-US" sz="20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29" name="Group 129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31" name="TextBox 131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CS반 | 5차시 교육 시간표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34" name="TextBox 134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본 과정에서 활용하는 주요 AI 도구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2011680"/>
            <a:ext cx="5303520" cy="3108960"/>
            <a:chOff x="0" y="0"/>
            <a:chExt cx="7071360" cy="41452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71360" cy="4145280"/>
            </a:xfrm>
            <a:custGeom>
              <a:avLst/>
              <a:gdLst/>
              <a:ahLst/>
              <a:cxnLst/>
              <a:rect l="l" t="t" r="r" b="b"/>
              <a:pathLst>
                <a:path w="7071360" h="4145280">
                  <a:moveTo>
                    <a:pt x="0" y="0"/>
                  </a:moveTo>
                  <a:lnTo>
                    <a:pt x="7071360" y="0"/>
                  </a:lnTo>
                  <a:lnTo>
                    <a:pt x="70713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0080" y="2011680"/>
            <a:ext cx="5303520" cy="914400"/>
            <a:chOff x="0" y="0"/>
            <a:chExt cx="7071360" cy="121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71360" cy="1219200"/>
            </a:xfrm>
            <a:custGeom>
              <a:avLst/>
              <a:gdLst/>
              <a:ahLst/>
              <a:cxnLst/>
              <a:rect l="l" t="t" r="r" b="b"/>
              <a:pathLst>
                <a:path w="7071360" h="121920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86384" y="2011680"/>
            <a:ext cx="5029200" cy="914400"/>
            <a:chOff x="0" y="0"/>
            <a:chExt cx="6705600" cy="1219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705600" cy="1219200"/>
            </a:xfrm>
            <a:custGeom>
              <a:avLst/>
              <a:gdLst/>
              <a:ahLst/>
              <a:cxnLst/>
              <a:rect l="l" t="t" r="r" b="b"/>
              <a:pathLst>
                <a:path w="6705600" h="1219200">
                  <a:moveTo>
                    <a:pt x="0" y="0"/>
                  </a:moveTo>
                  <a:lnTo>
                    <a:pt x="6705600" y="0"/>
                  </a:lnTo>
                  <a:lnTo>
                    <a:pt x="670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67056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🤖  ChatGPT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37181" y="3093720"/>
            <a:ext cx="4902203" cy="1793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스크립트 작성·챗봇 구축(GPTs)·문서 요약·FAQ 생성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400800" y="2011680"/>
            <a:ext cx="5303520" cy="3108960"/>
            <a:chOff x="0" y="0"/>
            <a:chExt cx="7071360" cy="41452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71360" cy="4145280"/>
            </a:xfrm>
            <a:custGeom>
              <a:avLst/>
              <a:gdLst/>
              <a:ahLst/>
              <a:cxnLst/>
              <a:rect l="l" t="t" r="r" b="b"/>
              <a:pathLst>
                <a:path w="7071360" h="4145280">
                  <a:moveTo>
                    <a:pt x="0" y="0"/>
                  </a:moveTo>
                  <a:lnTo>
                    <a:pt x="7071360" y="0"/>
                  </a:lnTo>
                  <a:lnTo>
                    <a:pt x="70713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6400800" y="2011680"/>
            <a:ext cx="5303520" cy="914400"/>
            <a:chOff x="0" y="0"/>
            <a:chExt cx="7071360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071360" cy="1219200"/>
            </a:xfrm>
            <a:custGeom>
              <a:avLst/>
              <a:gdLst/>
              <a:ahLst/>
              <a:cxnLst/>
              <a:rect l="l" t="t" r="r" b="b"/>
              <a:pathLst>
                <a:path w="7071360" h="121920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6547104" y="2011680"/>
            <a:ext cx="5029200" cy="914400"/>
            <a:chOff x="0" y="0"/>
            <a:chExt cx="670560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705600" cy="1219200"/>
            </a:xfrm>
            <a:custGeom>
              <a:avLst/>
              <a:gdLst/>
              <a:ahLst/>
              <a:cxnLst/>
              <a:rect l="l" t="t" r="r" b="b"/>
              <a:pathLst>
                <a:path w="6705600" h="1219200">
                  <a:moveTo>
                    <a:pt x="0" y="0"/>
                  </a:moveTo>
                  <a:lnTo>
                    <a:pt x="6705600" y="0"/>
                  </a:lnTo>
                  <a:lnTo>
                    <a:pt x="670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67056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✨  Claude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597901" y="3093720"/>
            <a:ext cx="4902203" cy="1793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민원 분석·보고서 초안·긴 문서 처리·감성 응대 문구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161520" y="2011680"/>
            <a:ext cx="5303520" cy="3108960"/>
            <a:chOff x="0" y="0"/>
            <a:chExt cx="7071360" cy="41452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071360" cy="4145280"/>
            </a:xfrm>
            <a:custGeom>
              <a:avLst/>
              <a:gdLst/>
              <a:ahLst/>
              <a:cxnLst/>
              <a:rect l="l" t="t" r="r" b="b"/>
              <a:pathLst>
                <a:path w="7071360" h="4145280">
                  <a:moveTo>
                    <a:pt x="0" y="0"/>
                  </a:moveTo>
                  <a:lnTo>
                    <a:pt x="7071360" y="0"/>
                  </a:lnTo>
                  <a:lnTo>
                    <a:pt x="70713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2161520" y="2011680"/>
            <a:ext cx="5303520" cy="914400"/>
            <a:chOff x="0" y="0"/>
            <a:chExt cx="7071360" cy="1219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071360" cy="1219200"/>
            </a:xfrm>
            <a:custGeom>
              <a:avLst/>
              <a:gdLst/>
              <a:ahLst/>
              <a:cxnLst/>
              <a:rect l="l" t="t" r="r" b="b"/>
              <a:pathLst>
                <a:path w="7071360" h="121920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2307824" y="2011680"/>
            <a:ext cx="5029200" cy="914400"/>
            <a:chOff x="0" y="0"/>
            <a:chExt cx="6705600" cy="1219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705600" cy="1219200"/>
            </a:xfrm>
            <a:custGeom>
              <a:avLst/>
              <a:gdLst/>
              <a:ahLst/>
              <a:cxnLst/>
              <a:rect l="l" t="t" r="r" b="b"/>
              <a:pathLst>
                <a:path w="6705600" h="1219200">
                  <a:moveTo>
                    <a:pt x="0" y="0"/>
                  </a:moveTo>
                  <a:lnTo>
                    <a:pt x="6705600" y="0"/>
                  </a:lnTo>
                  <a:lnTo>
                    <a:pt x="670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67056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🔍  Gemini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358621" y="3093720"/>
            <a:ext cx="4902203" cy="1793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실시간 검색 연동·Google 문서 활용·번역 지원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40080" y="5577840"/>
            <a:ext cx="5303520" cy="3108960"/>
            <a:chOff x="0" y="0"/>
            <a:chExt cx="7071360" cy="41452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071360" cy="4145280"/>
            </a:xfrm>
            <a:custGeom>
              <a:avLst/>
              <a:gdLst/>
              <a:ahLst/>
              <a:cxnLst/>
              <a:rect l="l" t="t" r="r" b="b"/>
              <a:pathLst>
                <a:path w="7071360" h="4145280">
                  <a:moveTo>
                    <a:pt x="0" y="0"/>
                  </a:moveTo>
                  <a:lnTo>
                    <a:pt x="7071360" y="0"/>
                  </a:lnTo>
                  <a:lnTo>
                    <a:pt x="70713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640080" y="5577840"/>
            <a:ext cx="5303520" cy="914400"/>
            <a:chOff x="0" y="0"/>
            <a:chExt cx="7071360" cy="1219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071360" cy="1219200"/>
            </a:xfrm>
            <a:custGeom>
              <a:avLst/>
              <a:gdLst/>
              <a:ahLst/>
              <a:cxnLst/>
              <a:rect l="l" t="t" r="r" b="b"/>
              <a:pathLst>
                <a:path w="7071360" h="121920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786384" y="5577840"/>
            <a:ext cx="5029200" cy="914400"/>
            <a:chOff x="0" y="0"/>
            <a:chExt cx="6705600" cy="1219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705600" cy="1219200"/>
            </a:xfrm>
            <a:custGeom>
              <a:avLst/>
              <a:gdLst/>
              <a:ahLst/>
              <a:cxnLst/>
              <a:rect l="l" t="t" r="r" b="b"/>
              <a:pathLst>
                <a:path w="6705600" h="1219200">
                  <a:moveTo>
                    <a:pt x="0" y="0"/>
                  </a:moveTo>
                  <a:lnTo>
                    <a:pt x="6705600" y="0"/>
                  </a:lnTo>
                  <a:lnTo>
                    <a:pt x="670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67056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🎙️  클로바 Note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837181" y="6659880"/>
            <a:ext cx="4902203" cy="1793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음성 녹취 → 텍스트 자동 변환 → 상담 기록 생성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400800" y="5577840"/>
            <a:ext cx="5303520" cy="3108960"/>
            <a:chOff x="0" y="0"/>
            <a:chExt cx="7071360" cy="41452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071360" cy="4145280"/>
            </a:xfrm>
            <a:custGeom>
              <a:avLst/>
              <a:gdLst/>
              <a:ahLst/>
              <a:cxnLst/>
              <a:rect l="l" t="t" r="r" b="b"/>
              <a:pathLst>
                <a:path w="7071360" h="4145280">
                  <a:moveTo>
                    <a:pt x="0" y="0"/>
                  </a:moveTo>
                  <a:lnTo>
                    <a:pt x="7071360" y="0"/>
                  </a:lnTo>
                  <a:lnTo>
                    <a:pt x="70713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6400800" y="5577840"/>
            <a:ext cx="5303520" cy="914400"/>
            <a:chOff x="0" y="0"/>
            <a:chExt cx="7071360" cy="1219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071360" cy="1219200"/>
            </a:xfrm>
            <a:custGeom>
              <a:avLst/>
              <a:gdLst/>
              <a:ahLst/>
              <a:cxnLst/>
              <a:rect l="l" t="t" r="r" b="b"/>
              <a:pathLst>
                <a:path w="7071360" h="121920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6547104" y="5577840"/>
            <a:ext cx="5029200" cy="914400"/>
            <a:chOff x="0" y="0"/>
            <a:chExt cx="6705600" cy="12192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705600" cy="1219200"/>
            </a:xfrm>
            <a:custGeom>
              <a:avLst/>
              <a:gdLst/>
              <a:ahLst/>
              <a:cxnLst/>
              <a:rect l="l" t="t" r="r" b="b"/>
              <a:pathLst>
                <a:path w="6705600" h="1219200">
                  <a:moveTo>
                    <a:pt x="0" y="0"/>
                  </a:moveTo>
                  <a:lnTo>
                    <a:pt x="6705600" y="0"/>
                  </a:lnTo>
                  <a:lnTo>
                    <a:pt x="670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67056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📚  NotebookLM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6597901" y="6659880"/>
            <a:ext cx="4902203" cy="1793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업로드 자료 기반 FAQ 자동 생성·반복 민원 분석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2161520" y="5577840"/>
            <a:ext cx="5303520" cy="3108960"/>
            <a:chOff x="0" y="0"/>
            <a:chExt cx="7071360" cy="41452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071360" cy="4145280"/>
            </a:xfrm>
            <a:custGeom>
              <a:avLst/>
              <a:gdLst/>
              <a:ahLst/>
              <a:cxnLst/>
              <a:rect l="l" t="t" r="r" b="b"/>
              <a:pathLst>
                <a:path w="7071360" h="4145280">
                  <a:moveTo>
                    <a:pt x="0" y="0"/>
                  </a:moveTo>
                  <a:lnTo>
                    <a:pt x="7071360" y="0"/>
                  </a:lnTo>
                  <a:lnTo>
                    <a:pt x="70713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2161520" y="5577840"/>
            <a:ext cx="5303520" cy="914400"/>
            <a:chOff x="0" y="0"/>
            <a:chExt cx="7071360" cy="12192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071360" cy="1219200"/>
            </a:xfrm>
            <a:custGeom>
              <a:avLst/>
              <a:gdLst/>
              <a:ahLst/>
              <a:cxnLst/>
              <a:rect l="l" t="t" r="r" b="b"/>
              <a:pathLst>
                <a:path w="7071360" h="121920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2307824" y="5577840"/>
            <a:ext cx="5029200" cy="914400"/>
            <a:chOff x="0" y="0"/>
            <a:chExt cx="6705600" cy="1219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705600" cy="1219200"/>
            </a:xfrm>
            <a:custGeom>
              <a:avLst/>
              <a:gdLst/>
              <a:ahLst/>
              <a:cxnLst/>
              <a:rect l="l" t="t" r="r" b="b"/>
              <a:pathLst>
                <a:path w="6705600" h="1219200">
                  <a:moveTo>
                    <a:pt x="0" y="0"/>
                  </a:moveTo>
                  <a:lnTo>
                    <a:pt x="6705600" y="0"/>
                  </a:lnTo>
                  <a:lnTo>
                    <a:pt x="670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67056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⚙️  ChatGPT GPTs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2358621" y="6659880"/>
            <a:ext cx="4902203" cy="1793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무코딩 맞춤형 챗봇 제작·기관 민원 응답 시스템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67360" y="-1463040"/>
            <a:ext cx="8229600" cy="8229600"/>
            <a:chOff x="0" y="0"/>
            <a:chExt cx="109728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10972800"/>
            </a:xfrm>
            <a:custGeom>
              <a:avLst/>
              <a:gdLst/>
              <a:ahLst/>
              <a:cxnLst/>
              <a:rect l="l" t="t" r="r" b="b"/>
              <a:pathLst>
                <a:path w="10972800" h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0A7B83">
                <a:alpha val="5882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264640" y="4572000"/>
            <a:ext cx="5486400" cy="5486400"/>
            <a:chOff x="0" y="0"/>
            <a:chExt cx="7315200" cy="731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9A84C">
                <a:alpha val="392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53586" y="1341558"/>
            <a:ext cx="5486400" cy="914400"/>
            <a:chOff x="0" y="0"/>
            <a:chExt cx="7315200" cy="121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15200" cy="1219200"/>
            </a:xfrm>
            <a:custGeom>
              <a:avLst/>
              <a:gdLst/>
              <a:ahLst/>
              <a:cxnLst/>
              <a:rect l="l" t="t" r="r" b="b"/>
              <a:pathLst>
                <a:path w="7315200" h="1219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7315200" cy="1209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spc="12">
                  <a:solidFill>
                    <a:srgbClr val="F0D080"/>
                  </a:solidFill>
                  <a:latin typeface="Mandali"/>
                  <a:ea typeface="Mandali"/>
                  <a:cs typeface="Mandali"/>
                  <a:sym typeface="Mandali"/>
                </a:rPr>
                <a:t>1차시 | 1H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04392" y="2097405"/>
            <a:ext cx="13589003" cy="242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spc="24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CS 업무와 AI 도입 이해</a:t>
            </a:r>
          </a:p>
          <a:p>
            <a:pPr algn="l">
              <a:lnSpc>
                <a:spcPts val="7680"/>
              </a:lnSpc>
            </a:pPr>
            <a:r>
              <a:rPr lang="en-US" sz="6400" spc="24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개요 및 트렌드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97280" y="7991856"/>
            <a:ext cx="4572000" cy="109728"/>
            <a:chOff x="0" y="0"/>
            <a:chExt cx="6096000" cy="1463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096000" cy="146304"/>
            </a:xfrm>
            <a:custGeom>
              <a:avLst/>
              <a:gdLst/>
              <a:ahLst/>
              <a:cxnLst/>
              <a:rect l="l" t="t" r="r" b="b"/>
              <a:pathLst>
                <a:path w="6096000" h="146304">
                  <a:moveTo>
                    <a:pt x="0" y="0"/>
                  </a:moveTo>
                  <a:lnTo>
                    <a:pt x="6096000" y="0"/>
                  </a:lnTo>
                  <a:lnTo>
                    <a:pt x="6096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53586" y="4846792"/>
            <a:ext cx="13716000" cy="2468408"/>
            <a:chOff x="0" y="0"/>
            <a:chExt cx="18288000" cy="32912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3291211"/>
            </a:xfrm>
            <a:custGeom>
              <a:avLst/>
              <a:gdLst/>
              <a:ahLst/>
              <a:cxnLst/>
              <a:rect l="l" t="t" r="r" b="b"/>
              <a:pathLst>
                <a:path w="18288000" h="3291211">
                  <a:moveTo>
                    <a:pt x="0" y="0"/>
                  </a:moveTo>
                  <a:lnTo>
                    <a:pt x="18288000" y="0"/>
                  </a:lnTo>
                  <a:lnTo>
                    <a:pt x="18288000" y="3291211"/>
                  </a:lnTo>
                  <a:lnTo>
                    <a:pt x="0" y="32912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898" b="-1864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09550"/>
              <a:ext cx="18288000" cy="35007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1339" lvl="1" indent="-280669" algn="l">
                <a:lnSpc>
                  <a:spcPts val="5147"/>
                </a:lnSpc>
                <a:buAutoNum type="arabicPeriod"/>
              </a:pPr>
              <a:r>
                <a:rPr lang="en-US" sz="2599">
                  <a:solidFill>
                    <a:srgbClr val="C8DFEF"/>
                  </a:solidFill>
                  <a:latin typeface="Arimo"/>
                  <a:ea typeface="Arimo"/>
                  <a:cs typeface="Arimo"/>
                  <a:sym typeface="Arimo"/>
                </a:rPr>
                <a:t>보건의료·헬스케어 CS 현장의 주요 고충과 AI 도입 필요성</a:t>
              </a:r>
            </a:p>
            <a:p>
              <a:pPr algn="l">
                <a:lnSpc>
                  <a:spcPts val="5147"/>
                </a:lnSpc>
              </a:pPr>
              <a:r>
                <a:rPr lang="en-US" sz="2599">
                  <a:solidFill>
                    <a:srgbClr val="C8DFEF"/>
                  </a:solidFill>
                  <a:latin typeface="Arimo"/>
                  <a:ea typeface="Arimo"/>
                  <a:cs typeface="Arimo"/>
                  <a:sym typeface="Arimo"/>
                </a:rPr>
                <a:t>   2. 국내외 의료기관 CS AI 활용 사례 소개 (챗봇, 자동응답, 감성분석 등)</a:t>
              </a:r>
            </a:p>
            <a:p>
              <a:pPr algn="l">
                <a:lnSpc>
                  <a:spcPts val="5147"/>
                </a:lnSpc>
              </a:pPr>
              <a:r>
                <a:rPr lang="en-US" sz="2599">
                  <a:solidFill>
                    <a:srgbClr val="C8DFEF"/>
                  </a:solidFill>
                  <a:latin typeface="Arimo"/>
                  <a:ea typeface="Arimo"/>
                  <a:cs typeface="Arimo"/>
                  <a:sym typeface="Arimo"/>
                </a:rPr>
                <a:t>   3. 생성형 AI가 CS 업무에 미치는 변화와 기회</a:t>
              </a:r>
            </a:p>
            <a:p>
              <a:pPr algn="l">
                <a:lnSpc>
                  <a:spcPts val="5147"/>
                </a:lnSpc>
              </a:pPr>
              <a:r>
                <a:rPr lang="en-US" sz="2599">
                  <a:solidFill>
                    <a:srgbClr val="C8DFEF"/>
                  </a:solidFill>
                  <a:latin typeface="Arimo"/>
                  <a:ea typeface="Arimo"/>
                  <a:cs typeface="Arimo"/>
                  <a:sym typeface="Arimo"/>
                </a:rPr>
                <a:t>   4. AI 활용 CS 업무 윤리 및 환자정보 보호 가이드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 | CS 업무와 AI 도입 이해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1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5" name="Freeform 1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6" name="Group 1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7" name="Freeform 1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" name="TextBox 1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 | CS 업무와 AI 도입 이해</a:t>
              </a:r>
            </a:p>
          </p:txBody>
        </p:sp>
      </p:grpSp>
      <p:grpSp>
        <p:nvGrpSpPr>
          <p:cNvPr id="9" name="Group 2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0" name="Freeform 2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1" name="TextBox 2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34073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1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5" name="Freeform 1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6" name="Group 1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7" name="Freeform 1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" name="TextBox 1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 | CS 업무와 AI 도입 이해</a:t>
              </a:r>
            </a:p>
          </p:txBody>
        </p:sp>
      </p:grpSp>
      <p:grpSp>
        <p:nvGrpSpPr>
          <p:cNvPr id="9" name="Group 2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0" name="Freeform 2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1" name="TextBox 2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1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5" name="Freeform 1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6" name="Group 1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7" name="Freeform 1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" name="TextBox 1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 | CS 업무와 AI 도입 이해</a:t>
              </a:r>
            </a:p>
          </p:txBody>
        </p:sp>
      </p:grpSp>
      <p:grpSp>
        <p:nvGrpSpPr>
          <p:cNvPr id="9" name="Group 2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0" name="Freeform 2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1" name="TextBox 2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056229" y="1210187"/>
            <a:ext cx="19572829" cy="8345800"/>
            <a:chOff x="0" y="0"/>
            <a:chExt cx="24384000" cy="10397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397271"/>
            </a:xfrm>
            <a:custGeom>
              <a:avLst/>
              <a:gdLst/>
              <a:ahLst/>
              <a:cxnLst/>
              <a:rect l="l" t="t" r="r" b="b"/>
              <a:pathLst>
                <a:path w="24384000" h="10397271">
                  <a:moveTo>
                    <a:pt x="0" y="0"/>
                  </a:moveTo>
                  <a:lnTo>
                    <a:pt x="24384000" y="0"/>
                  </a:lnTo>
                  <a:lnTo>
                    <a:pt x="24384000" y="10397271"/>
                  </a:lnTo>
                  <a:lnTo>
                    <a:pt x="0" y="10397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5959" b="-1595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0" y="56390"/>
            <a:ext cx="12356728" cy="1153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AX 시대에 실제로 바뀌는 5가지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1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0" name="Freeform 1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1" name="Group 1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2" name="Freeform 1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3" name="TextBox 1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 | CS 업무와 AI 도입 이해</a:t>
              </a:r>
            </a:p>
          </p:txBody>
        </p:sp>
      </p:grpSp>
      <p:grpSp>
        <p:nvGrpSpPr>
          <p:cNvPr id="14" name="Group 2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5" name="Freeform 2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6" name="TextBox 2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1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5" name="Freeform 1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6" name="Group 1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7" name="Freeform 1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" name="TextBox 1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 | CS 업무와 AI 도입 이해</a:t>
              </a:r>
            </a:p>
          </p:txBody>
        </p:sp>
      </p:grpSp>
      <p:grpSp>
        <p:nvGrpSpPr>
          <p:cNvPr id="9" name="Group 2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0" name="Freeform 2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1" name="TextBox 2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0263" y="856831"/>
            <a:ext cx="3500123" cy="537467"/>
            <a:chOff x="0" y="0"/>
            <a:chExt cx="4666831" cy="7166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6869" cy="716661"/>
            </a:xfrm>
            <a:custGeom>
              <a:avLst/>
              <a:gdLst/>
              <a:ahLst/>
              <a:cxnLst/>
              <a:rect l="l" t="t" r="r" b="b"/>
              <a:pathLst>
                <a:path w="4666869" h="716661">
                  <a:moveTo>
                    <a:pt x="0" y="0"/>
                  </a:moveTo>
                  <a:lnTo>
                    <a:pt x="4666869" y="0"/>
                  </a:lnTo>
                  <a:lnTo>
                    <a:pt x="466686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822960" y="869528"/>
            <a:ext cx="3474720" cy="512064"/>
            <a:chOff x="0" y="0"/>
            <a:chExt cx="4632960" cy="6827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32960" cy="682752"/>
            </a:xfrm>
            <a:custGeom>
              <a:avLst/>
              <a:gdLst/>
              <a:ahLst/>
              <a:cxnLst/>
              <a:rect l="l" t="t" r="r" b="b"/>
              <a:pathLst>
                <a:path w="4632960" h="682752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219" b="-8221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463296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1차시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527896"/>
            <a:ext cx="16642080" cy="1316736"/>
            <a:chOff x="0" y="0"/>
            <a:chExt cx="22189440" cy="17556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9439" cy="1755648"/>
            </a:xfrm>
            <a:custGeom>
              <a:avLst/>
              <a:gdLst/>
              <a:ahLst/>
              <a:cxnLst/>
              <a:rect l="l" t="t" r="r" b="b"/>
              <a:pathLst>
                <a:path w="22189439" h="1755648">
                  <a:moveTo>
                    <a:pt x="0" y="0"/>
                  </a:moveTo>
                  <a:lnTo>
                    <a:pt x="22189439" y="0"/>
                  </a:lnTo>
                  <a:lnTo>
                    <a:pt x="221894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269" b="-19626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2189440" cy="1774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의료기관 CS 업무와 AI 도입 이해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0263" y="2868511"/>
            <a:ext cx="2219963" cy="107699"/>
            <a:chOff x="0" y="0"/>
            <a:chExt cx="2959951" cy="1435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59989" cy="143637"/>
            </a:xfrm>
            <a:custGeom>
              <a:avLst/>
              <a:gdLst/>
              <a:ahLst/>
              <a:cxnLst/>
              <a:rect l="l" t="t" r="r" b="b"/>
              <a:pathLst>
                <a:path w="2959989" h="143637">
                  <a:moveTo>
                    <a:pt x="0" y="0"/>
                  </a:moveTo>
                  <a:lnTo>
                    <a:pt x="2959989" y="0"/>
                  </a:lnTo>
                  <a:lnTo>
                    <a:pt x="2959989" y="143637"/>
                  </a:lnTo>
                  <a:lnTo>
                    <a:pt x="0" y="14363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2960" y="3064088"/>
            <a:ext cx="16642080" cy="548640"/>
            <a:chOff x="0" y="0"/>
            <a:chExt cx="2218944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21894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rimo"/>
                  <a:ea typeface="Arimo"/>
                  <a:cs typeface="Arimo"/>
                  <a:sym typeface="Arimo"/>
                </a:rPr>
                <a:t>병원 CS의 특수성 &amp; AI 활용 국내외 사례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6607" y="3167472"/>
            <a:ext cx="8150857" cy="4804153"/>
            <a:chOff x="0" y="0"/>
            <a:chExt cx="10867809" cy="64055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67771" cy="6405499"/>
            </a:xfrm>
            <a:custGeom>
              <a:avLst/>
              <a:gdLst/>
              <a:ahLst/>
              <a:cxnLst/>
              <a:rect l="l" t="t" r="r" b="b"/>
              <a:pathLst>
                <a:path w="10867771" h="6405499">
                  <a:moveTo>
                    <a:pt x="0" y="0"/>
                  </a:moveTo>
                  <a:lnTo>
                    <a:pt x="10867771" y="0"/>
                  </a:lnTo>
                  <a:lnTo>
                    <a:pt x="1086777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10263" y="3161119"/>
            <a:ext cx="135131" cy="4816859"/>
            <a:chOff x="0" y="0"/>
            <a:chExt cx="180175" cy="642247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152144" y="3411560"/>
            <a:ext cx="7680960" cy="548640"/>
            <a:chOff x="0" y="0"/>
            <a:chExt cx="1024128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🏥 병원 CS 업무의 특수성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52144" y="4051640"/>
            <a:ext cx="7680960" cy="3730752"/>
            <a:chOff x="0" y="0"/>
            <a:chExt cx="10241280" cy="49743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41280" cy="4974336"/>
            </a:xfrm>
            <a:custGeom>
              <a:avLst/>
              <a:gdLst/>
              <a:ahLst/>
              <a:cxnLst/>
              <a:rect l="l" t="t" r="r" b="b"/>
              <a:pathLst>
                <a:path w="10241280" h="4974336">
                  <a:moveTo>
                    <a:pt x="0" y="0"/>
                  </a:moveTo>
                  <a:lnTo>
                    <a:pt x="10241280" y="0"/>
                  </a:lnTo>
                  <a:lnTo>
                    <a:pt x="1024128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18" r="-1231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024128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감정노동 강도 매우 높음 (환자·보호자 민감 반응)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개인정보·의료정보 처리 규정 준수 필수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민원이 행정·임상·수납 등 복합적으로 연결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24시간 응대 수요 vs 인력 부족 문제 상존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기록→보고→후속 조치까지 연결되는 업무 구조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29087" y="3167472"/>
            <a:ext cx="8242297" cy="4804153"/>
            <a:chOff x="0" y="0"/>
            <a:chExt cx="10989729" cy="64055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89691" cy="6405499"/>
            </a:xfrm>
            <a:custGeom>
              <a:avLst/>
              <a:gdLst/>
              <a:ahLst/>
              <a:cxnLst/>
              <a:rect l="l" t="t" r="r" b="b"/>
              <a:pathLst>
                <a:path w="10989691" h="6405499">
                  <a:moveTo>
                    <a:pt x="0" y="0"/>
                  </a:moveTo>
                  <a:lnTo>
                    <a:pt x="10989691" y="0"/>
                  </a:lnTo>
                  <a:lnTo>
                    <a:pt x="1098969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222743" y="3161119"/>
            <a:ext cx="135131" cy="4816859"/>
            <a:chOff x="0" y="0"/>
            <a:chExt cx="180175" cy="642247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047857"/>
            </a:solidFill>
            <a:ln w="25400" cap="sq">
              <a:solidFill>
                <a:srgbClr val="047857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564624" y="3411560"/>
            <a:ext cx="7772400" cy="548640"/>
            <a:chOff x="0" y="0"/>
            <a:chExt cx="1036320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363200" cy="731520"/>
            </a:xfrm>
            <a:custGeom>
              <a:avLst/>
              <a:gdLst/>
              <a:ahLst/>
              <a:cxnLst/>
              <a:rect l="l" t="t" r="r" b="b"/>
              <a:pathLst>
                <a:path w="10363200" h="731520">
                  <a:moveTo>
                    <a:pt x="0" y="0"/>
                  </a:moveTo>
                  <a:lnTo>
                    <a:pt x="10363200" y="0"/>
                  </a:lnTo>
                  <a:lnTo>
                    <a:pt x="1036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038" b="-22603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103632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🌍 국내외 의료기관 AI 활용 사례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64624" y="4051640"/>
            <a:ext cx="7772400" cy="3730752"/>
            <a:chOff x="0" y="0"/>
            <a:chExt cx="10363200" cy="497433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363200" cy="4974336"/>
            </a:xfrm>
            <a:custGeom>
              <a:avLst/>
              <a:gdLst/>
              <a:ahLst/>
              <a:cxnLst/>
              <a:rect l="l" t="t" r="r" b="b"/>
              <a:pathLst>
                <a:path w="10363200" h="4974336">
                  <a:moveTo>
                    <a:pt x="0" y="0"/>
                  </a:moveTo>
                  <a:lnTo>
                    <a:pt x="10363200" y="0"/>
                  </a:lnTo>
                  <a:lnTo>
                    <a:pt x="1036320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r="-1158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036320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✅ AI 챗봇으로 외래 예약·문의 자동 응대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✅ AI 음성인식으로 상담 내용 자동 요약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✅ AI 감정분석으로 강성민원 조기 탐지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✅ AI FAQ 생성으로 반복 질문 처리 80% 절감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✅ ChatGPT GPTs로 부서별 맞춤 챗봇 운영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0263" y="8245183"/>
            <a:ext cx="17033243" cy="1176690"/>
            <a:chOff x="0" y="0"/>
            <a:chExt cx="22710991" cy="15689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711029" cy="1568958"/>
            </a:xfrm>
            <a:custGeom>
              <a:avLst/>
              <a:gdLst/>
              <a:ahLst/>
              <a:cxnLst/>
              <a:rect l="l" t="t" r="r" b="b"/>
              <a:pathLst>
                <a:path w="22711029" h="1568958">
                  <a:moveTo>
                    <a:pt x="0" y="0"/>
                  </a:moveTo>
                  <a:lnTo>
                    <a:pt x="22711029" y="0"/>
                  </a:lnTo>
                  <a:lnTo>
                    <a:pt x="22711029" y="1568958"/>
                  </a:lnTo>
                  <a:lnTo>
                    <a:pt x="0" y="1568958"/>
                  </a:lnTo>
                  <a:close/>
                </a:path>
              </a:pathLst>
            </a:custGeom>
            <a:solidFill>
              <a:srgbClr val="FEF2F2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810263" y="8245183"/>
            <a:ext cx="135131" cy="976379"/>
            <a:chOff x="0" y="0"/>
            <a:chExt cx="180175" cy="13018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80213" cy="1301877"/>
            </a:xfrm>
            <a:custGeom>
              <a:avLst/>
              <a:gdLst/>
              <a:ahLst/>
              <a:cxnLst/>
              <a:rect l="l" t="t" r="r" b="b"/>
              <a:pathLst>
                <a:path w="180213" h="1301877">
                  <a:moveTo>
                    <a:pt x="0" y="0"/>
                  </a:moveTo>
                  <a:lnTo>
                    <a:pt x="180213" y="0"/>
                  </a:lnTo>
                  <a:lnTo>
                    <a:pt x="180213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078992" y="8349320"/>
            <a:ext cx="16605504" cy="365760"/>
            <a:chOff x="0" y="0"/>
            <a:chExt cx="22140672" cy="4876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140672" cy="487680"/>
            </a:xfrm>
            <a:custGeom>
              <a:avLst/>
              <a:gdLst/>
              <a:ahLst/>
              <a:cxnLst/>
              <a:rect l="l" t="t" r="r" b="b"/>
              <a:pathLst>
                <a:path w="22140672" h="487680">
                  <a:moveTo>
                    <a:pt x="0" y="0"/>
                  </a:moveTo>
                  <a:lnTo>
                    <a:pt x="22140672" y="0"/>
                  </a:lnTo>
                  <a:lnTo>
                    <a:pt x="22140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4620" b="-83462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22140672" cy="497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⚠️  주의사항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33293" y="8715080"/>
            <a:ext cx="16605504" cy="670353"/>
            <a:chOff x="0" y="0"/>
            <a:chExt cx="22140672" cy="89380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140672" cy="893804"/>
            </a:xfrm>
            <a:custGeom>
              <a:avLst/>
              <a:gdLst/>
              <a:ahLst/>
              <a:cxnLst/>
              <a:rect l="l" t="t" r="r" b="b"/>
              <a:pathLst>
                <a:path w="22140672" h="893804">
                  <a:moveTo>
                    <a:pt x="0" y="0"/>
                  </a:moveTo>
                  <a:lnTo>
                    <a:pt x="22140672" y="0"/>
                  </a:lnTo>
                  <a:lnTo>
                    <a:pt x="22140672" y="893804"/>
                  </a:lnTo>
                  <a:lnTo>
                    <a:pt x="0" y="8938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60" b="-412678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22140672" cy="9033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환자 이름·생년월일·진단명 등 개인정보는 AI에 직접 입력 금지 — 익명 처리 후 사용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AI 응답은 최종 확인 후 활용 | 의료적 판단·법적 효력이 있는 내용은 담당자가 반드시 검토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1차시-01 | 의료기관 CS 업무와 AI 도입 이해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53" name="AutoShape 53"/>
          <p:cNvSpPr/>
          <p:nvPr/>
        </p:nvSpPr>
        <p:spPr>
          <a:xfrm rot="6540">
            <a:off x="-792166" y="836190"/>
            <a:ext cx="6705552" cy="0"/>
          </a:xfrm>
          <a:prstGeom prst="line">
            <a:avLst/>
          </a:prstGeom>
          <a:ln w="9525" cap="rnd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보건의료 CS 현장의 주요 고충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48640" y="2011680"/>
            <a:ext cx="8229600" cy="2194560"/>
            <a:chOff x="0" y="0"/>
            <a:chExt cx="10972800" cy="29260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72800" cy="2926080"/>
            </a:xfrm>
            <a:custGeom>
              <a:avLst/>
              <a:gdLst/>
              <a:ahLst/>
              <a:cxnLst/>
              <a:rect l="l" t="t" r="r" b="b"/>
              <a:pathLst>
                <a:path w="10972800" h="2926080">
                  <a:moveTo>
                    <a:pt x="0" y="0"/>
                  </a:moveTo>
                  <a:lnTo>
                    <a:pt x="10972800" y="0"/>
                  </a:lnTo>
                  <a:lnTo>
                    <a:pt x="10972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48640" y="2011680"/>
            <a:ext cx="822960" cy="2194560"/>
            <a:chOff x="0" y="0"/>
            <a:chExt cx="1097280" cy="29260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7280" cy="2926080"/>
            </a:xfrm>
            <a:custGeom>
              <a:avLst/>
              <a:gdLst/>
              <a:ahLst/>
              <a:cxnLst/>
              <a:rect l="l" t="t" r="r" b="b"/>
              <a:pathLst>
                <a:path w="1097280" h="2926080">
                  <a:moveTo>
                    <a:pt x="0" y="0"/>
                  </a:moveTo>
                  <a:lnTo>
                    <a:pt x="1097280" y="0"/>
                  </a:lnTo>
                  <a:lnTo>
                    <a:pt x="1097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48640" y="2011680"/>
            <a:ext cx="822960" cy="2194560"/>
            <a:chOff x="0" y="0"/>
            <a:chExt cx="1097280" cy="29260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7280" cy="2926080"/>
            </a:xfrm>
            <a:custGeom>
              <a:avLst/>
              <a:gdLst/>
              <a:ahLst/>
              <a:cxnLst/>
              <a:rect l="l" t="t" r="r" b="b"/>
              <a:pathLst>
                <a:path w="1097280" h="2926080">
                  <a:moveTo>
                    <a:pt x="0" y="0"/>
                  </a:moveTo>
                  <a:lnTo>
                    <a:pt x="1097280" y="0"/>
                  </a:lnTo>
                  <a:lnTo>
                    <a:pt x="10972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2142" r="-29214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097280" cy="2926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①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54480" y="2103120"/>
            <a:ext cx="7040880" cy="640080"/>
            <a:chOff x="0" y="0"/>
            <a:chExt cx="9387840" cy="8534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387840" cy="853440"/>
            </a:xfrm>
            <a:custGeom>
              <a:avLst/>
              <a:gdLst/>
              <a:ahLst/>
              <a:cxnLst/>
              <a:rect l="l" t="t" r="r" b="b"/>
              <a:pathLst>
                <a:path w="9387840" h="8534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938784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업무량 과다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05277" y="2819400"/>
            <a:ext cx="6913883" cy="124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1인 직원이 하루 수십 건 이상 응대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→ 기록·처리 지연 반복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326880" y="2011680"/>
            <a:ext cx="8229600" cy="2194560"/>
            <a:chOff x="0" y="0"/>
            <a:chExt cx="10972800" cy="29260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972800" cy="2926080"/>
            </a:xfrm>
            <a:custGeom>
              <a:avLst/>
              <a:gdLst/>
              <a:ahLst/>
              <a:cxnLst/>
              <a:rect l="l" t="t" r="r" b="b"/>
              <a:pathLst>
                <a:path w="10972800" h="2926080">
                  <a:moveTo>
                    <a:pt x="0" y="0"/>
                  </a:moveTo>
                  <a:lnTo>
                    <a:pt x="10972800" y="0"/>
                  </a:lnTo>
                  <a:lnTo>
                    <a:pt x="10972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326880" y="2011680"/>
            <a:ext cx="822960" cy="2194560"/>
            <a:chOff x="0" y="0"/>
            <a:chExt cx="1097280" cy="29260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7280" cy="2926080"/>
            </a:xfrm>
            <a:custGeom>
              <a:avLst/>
              <a:gdLst/>
              <a:ahLst/>
              <a:cxnLst/>
              <a:rect l="l" t="t" r="r" b="b"/>
              <a:pathLst>
                <a:path w="1097280" h="2926080">
                  <a:moveTo>
                    <a:pt x="0" y="0"/>
                  </a:moveTo>
                  <a:lnTo>
                    <a:pt x="1097280" y="0"/>
                  </a:lnTo>
                  <a:lnTo>
                    <a:pt x="1097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326880" y="2011680"/>
            <a:ext cx="822960" cy="2194560"/>
            <a:chOff x="0" y="0"/>
            <a:chExt cx="1097280" cy="29260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7280" cy="2926080"/>
            </a:xfrm>
            <a:custGeom>
              <a:avLst/>
              <a:gdLst/>
              <a:ahLst/>
              <a:cxnLst/>
              <a:rect l="l" t="t" r="r" b="b"/>
              <a:pathLst>
                <a:path w="1097280" h="2926080">
                  <a:moveTo>
                    <a:pt x="0" y="0"/>
                  </a:moveTo>
                  <a:lnTo>
                    <a:pt x="1097280" y="0"/>
                  </a:lnTo>
                  <a:lnTo>
                    <a:pt x="10972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2142" r="-29214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097280" cy="2926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②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332720" y="2103120"/>
            <a:ext cx="7040880" cy="640080"/>
            <a:chOff x="0" y="0"/>
            <a:chExt cx="9387840" cy="8534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387840" cy="853440"/>
            </a:xfrm>
            <a:custGeom>
              <a:avLst/>
              <a:gdLst/>
              <a:ahLst/>
              <a:cxnLst/>
              <a:rect l="l" t="t" r="r" b="b"/>
              <a:pathLst>
                <a:path w="9387840" h="8534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938784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감정노동 심화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383517" y="2819400"/>
            <a:ext cx="6913883" cy="124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강성 민원·고성·불만 응대 빈번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→ 소진(번아웃) 위험 증가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48640" y="4572000"/>
            <a:ext cx="8229600" cy="2194560"/>
            <a:chOff x="0" y="0"/>
            <a:chExt cx="10972800" cy="29260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972800" cy="2926080"/>
            </a:xfrm>
            <a:custGeom>
              <a:avLst/>
              <a:gdLst/>
              <a:ahLst/>
              <a:cxnLst/>
              <a:rect l="l" t="t" r="r" b="b"/>
              <a:pathLst>
                <a:path w="10972800" h="2926080">
                  <a:moveTo>
                    <a:pt x="0" y="0"/>
                  </a:moveTo>
                  <a:lnTo>
                    <a:pt x="10972800" y="0"/>
                  </a:lnTo>
                  <a:lnTo>
                    <a:pt x="10972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548640" y="4572000"/>
            <a:ext cx="822960" cy="2194560"/>
            <a:chOff x="0" y="0"/>
            <a:chExt cx="1097280" cy="29260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97280" cy="2926080"/>
            </a:xfrm>
            <a:custGeom>
              <a:avLst/>
              <a:gdLst/>
              <a:ahLst/>
              <a:cxnLst/>
              <a:rect l="l" t="t" r="r" b="b"/>
              <a:pathLst>
                <a:path w="1097280" h="2926080">
                  <a:moveTo>
                    <a:pt x="0" y="0"/>
                  </a:moveTo>
                  <a:lnTo>
                    <a:pt x="1097280" y="0"/>
                  </a:lnTo>
                  <a:lnTo>
                    <a:pt x="1097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548640" y="4572000"/>
            <a:ext cx="822960" cy="2194560"/>
            <a:chOff x="0" y="0"/>
            <a:chExt cx="1097280" cy="29260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7280" cy="2926080"/>
            </a:xfrm>
            <a:custGeom>
              <a:avLst/>
              <a:gdLst/>
              <a:ahLst/>
              <a:cxnLst/>
              <a:rect l="l" t="t" r="r" b="b"/>
              <a:pathLst>
                <a:path w="1097280" h="2926080">
                  <a:moveTo>
                    <a:pt x="0" y="0"/>
                  </a:moveTo>
                  <a:lnTo>
                    <a:pt x="1097280" y="0"/>
                  </a:lnTo>
                  <a:lnTo>
                    <a:pt x="10972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2142" r="-29214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1097280" cy="2926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③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554480" y="4663440"/>
            <a:ext cx="7040880" cy="640080"/>
            <a:chOff x="0" y="0"/>
            <a:chExt cx="9387840" cy="8534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387840" cy="853440"/>
            </a:xfrm>
            <a:custGeom>
              <a:avLst/>
              <a:gdLst/>
              <a:ahLst/>
              <a:cxnLst/>
              <a:rect l="l" t="t" r="r" b="b"/>
              <a:pathLst>
                <a:path w="9387840" h="8534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938784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기록 불일치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605277" y="5379720"/>
            <a:ext cx="6913883" cy="124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수기 기록·구두 전달로 인한 오류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→ 민원 재발 및 책임 소재 불분명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326880" y="4572000"/>
            <a:ext cx="8229600" cy="2194560"/>
            <a:chOff x="0" y="0"/>
            <a:chExt cx="10972800" cy="292608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972800" cy="2926080"/>
            </a:xfrm>
            <a:custGeom>
              <a:avLst/>
              <a:gdLst/>
              <a:ahLst/>
              <a:cxnLst/>
              <a:rect l="l" t="t" r="r" b="b"/>
              <a:pathLst>
                <a:path w="10972800" h="2926080">
                  <a:moveTo>
                    <a:pt x="0" y="0"/>
                  </a:moveTo>
                  <a:lnTo>
                    <a:pt x="10972800" y="0"/>
                  </a:lnTo>
                  <a:lnTo>
                    <a:pt x="10972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9326880" y="4572000"/>
            <a:ext cx="822960" cy="2194560"/>
            <a:chOff x="0" y="0"/>
            <a:chExt cx="1097280" cy="29260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97280" cy="2926080"/>
            </a:xfrm>
            <a:custGeom>
              <a:avLst/>
              <a:gdLst/>
              <a:ahLst/>
              <a:cxnLst/>
              <a:rect l="l" t="t" r="r" b="b"/>
              <a:pathLst>
                <a:path w="1097280" h="2926080">
                  <a:moveTo>
                    <a:pt x="0" y="0"/>
                  </a:moveTo>
                  <a:lnTo>
                    <a:pt x="1097280" y="0"/>
                  </a:lnTo>
                  <a:lnTo>
                    <a:pt x="1097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9326880" y="4572000"/>
            <a:ext cx="822960" cy="2194560"/>
            <a:chOff x="0" y="0"/>
            <a:chExt cx="1097280" cy="29260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97280" cy="2926080"/>
            </a:xfrm>
            <a:custGeom>
              <a:avLst/>
              <a:gdLst/>
              <a:ahLst/>
              <a:cxnLst/>
              <a:rect l="l" t="t" r="r" b="b"/>
              <a:pathLst>
                <a:path w="1097280" h="2926080">
                  <a:moveTo>
                    <a:pt x="0" y="0"/>
                  </a:moveTo>
                  <a:lnTo>
                    <a:pt x="1097280" y="0"/>
                  </a:lnTo>
                  <a:lnTo>
                    <a:pt x="10972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2142" r="-292142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1097280" cy="2926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④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332720" y="4663440"/>
            <a:ext cx="7040880" cy="640080"/>
            <a:chOff x="0" y="0"/>
            <a:chExt cx="9387840" cy="8534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387840" cy="853440"/>
            </a:xfrm>
            <a:custGeom>
              <a:avLst/>
              <a:gdLst/>
              <a:ahLst/>
              <a:cxnLst/>
              <a:rect l="l" t="t" r="r" b="b"/>
              <a:pathLst>
                <a:path w="9387840" h="8534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938784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반복 문의 누적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0383517" y="5379720"/>
            <a:ext cx="6913883" cy="124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동일 문의 반복 응대로 비효율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→ FAQ·챗봇 부재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548640" y="7132320"/>
            <a:ext cx="8229600" cy="2194560"/>
            <a:chOff x="0" y="0"/>
            <a:chExt cx="10972800" cy="29260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972800" cy="2926080"/>
            </a:xfrm>
            <a:custGeom>
              <a:avLst/>
              <a:gdLst/>
              <a:ahLst/>
              <a:cxnLst/>
              <a:rect l="l" t="t" r="r" b="b"/>
              <a:pathLst>
                <a:path w="10972800" h="2926080">
                  <a:moveTo>
                    <a:pt x="0" y="0"/>
                  </a:moveTo>
                  <a:lnTo>
                    <a:pt x="10972800" y="0"/>
                  </a:lnTo>
                  <a:lnTo>
                    <a:pt x="10972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548640" y="7132320"/>
            <a:ext cx="822960" cy="2194560"/>
            <a:chOff x="0" y="0"/>
            <a:chExt cx="1097280" cy="292608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97280" cy="2926080"/>
            </a:xfrm>
            <a:custGeom>
              <a:avLst/>
              <a:gdLst/>
              <a:ahLst/>
              <a:cxnLst/>
              <a:rect l="l" t="t" r="r" b="b"/>
              <a:pathLst>
                <a:path w="1097280" h="2926080">
                  <a:moveTo>
                    <a:pt x="0" y="0"/>
                  </a:moveTo>
                  <a:lnTo>
                    <a:pt x="1097280" y="0"/>
                  </a:lnTo>
                  <a:lnTo>
                    <a:pt x="1097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548640" y="7132320"/>
            <a:ext cx="822960" cy="2194560"/>
            <a:chOff x="0" y="0"/>
            <a:chExt cx="1097280" cy="292608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097280" cy="2926080"/>
            </a:xfrm>
            <a:custGeom>
              <a:avLst/>
              <a:gdLst/>
              <a:ahLst/>
              <a:cxnLst/>
              <a:rect l="l" t="t" r="r" b="b"/>
              <a:pathLst>
                <a:path w="1097280" h="2926080">
                  <a:moveTo>
                    <a:pt x="0" y="0"/>
                  </a:moveTo>
                  <a:lnTo>
                    <a:pt x="1097280" y="0"/>
                  </a:lnTo>
                  <a:lnTo>
                    <a:pt x="10972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2142" r="-29214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1097280" cy="2926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⑤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54480" y="7223760"/>
            <a:ext cx="7040880" cy="640080"/>
            <a:chOff x="0" y="0"/>
            <a:chExt cx="9387840" cy="85344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387840" cy="853440"/>
            </a:xfrm>
            <a:custGeom>
              <a:avLst/>
              <a:gdLst/>
              <a:ahLst/>
              <a:cxnLst/>
              <a:rect l="l" t="t" r="r" b="b"/>
              <a:pathLst>
                <a:path w="9387840" h="8534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938784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야간·긴급 대응 한계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605277" y="7940040"/>
            <a:ext cx="6913883" cy="124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근무 외 시간 민원 처리 불가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→ 고객 불만족 가중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9326880" y="7132320"/>
            <a:ext cx="8229600" cy="2194560"/>
            <a:chOff x="0" y="0"/>
            <a:chExt cx="10972800" cy="29260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972800" cy="2926080"/>
            </a:xfrm>
            <a:custGeom>
              <a:avLst/>
              <a:gdLst/>
              <a:ahLst/>
              <a:cxnLst/>
              <a:rect l="l" t="t" r="r" b="b"/>
              <a:pathLst>
                <a:path w="10972800" h="2926080">
                  <a:moveTo>
                    <a:pt x="0" y="0"/>
                  </a:moveTo>
                  <a:lnTo>
                    <a:pt x="10972800" y="0"/>
                  </a:lnTo>
                  <a:lnTo>
                    <a:pt x="10972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9326880" y="7132320"/>
            <a:ext cx="822960" cy="2194560"/>
            <a:chOff x="0" y="0"/>
            <a:chExt cx="1097280" cy="29260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97280" cy="2926080"/>
            </a:xfrm>
            <a:custGeom>
              <a:avLst/>
              <a:gdLst/>
              <a:ahLst/>
              <a:cxnLst/>
              <a:rect l="l" t="t" r="r" b="b"/>
              <a:pathLst>
                <a:path w="1097280" h="2926080">
                  <a:moveTo>
                    <a:pt x="0" y="0"/>
                  </a:moveTo>
                  <a:lnTo>
                    <a:pt x="1097280" y="0"/>
                  </a:lnTo>
                  <a:lnTo>
                    <a:pt x="1097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9326880" y="7132320"/>
            <a:ext cx="822960" cy="2194560"/>
            <a:chOff x="0" y="0"/>
            <a:chExt cx="1097280" cy="292608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97280" cy="2926080"/>
            </a:xfrm>
            <a:custGeom>
              <a:avLst/>
              <a:gdLst/>
              <a:ahLst/>
              <a:cxnLst/>
              <a:rect l="l" t="t" r="r" b="b"/>
              <a:pathLst>
                <a:path w="1097280" h="2926080">
                  <a:moveTo>
                    <a:pt x="0" y="0"/>
                  </a:moveTo>
                  <a:lnTo>
                    <a:pt x="1097280" y="0"/>
                  </a:lnTo>
                  <a:lnTo>
                    <a:pt x="10972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2142" r="-29214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1097280" cy="2926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⑥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332720" y="7223760"/>
            <a:ext cx="7040880" cy="640080"/>
            <a:chOff x="0" y="0"/>
            <a:chExt cx="9387840" cy="8534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9387840" cy="853440"/>
            </a:xfrm>
            <a:custGeom>
              <a:avLst/>
              <a:gdLst/>
              <a:ahLst/>
              <a:cxnLst/>
              <a:rect l="l" t="t" r="r" b="b"/>
              <a:pathLst>
                <a:path w="9387840" h="8534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938784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디지털 전환 역량 부족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0383517" y="7940040"/>
            <a:ext cx="6913883" cy="124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AI·디지털 도구 활용 교육 부재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→ 업무 혁신 기회 미활용</a:t>
            </a:r>
          </a:p>
        </p:txBody>
      </p:sp>
      <p:grpSp>
        <p:nvGrpSpPr>
          <p:cNvPr id="75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76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77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78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79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1차시-01 | 의료기관 CS 업무와 AI 도입 이해</a:t>
              </a:r>
            </a:p>
          </p:txBody>
        </p:sp>
      </p:grpSp>
      <p:grpSp>
        <p:nvGrpSpPr>
          <p:cNvPr id="80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81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82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AI 도입 전 vs 후 – CS 업무 변화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48640" y="1920240"/>
            <a:ext cx="4754880" cy="768096"/>
            <a:chOff x="0" y="0"/>
            <a:chExt cx="6339840" cy="1024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39840" cy="1024128"/>
            </a:xfrm>
            <a:custGeom>
              <a:avLst/>
              <a:gdLst/>
              <a:ahLst/>
              <a:cxnLst/>
              <a:rect l="l" t="t" r="r" b="b"/>
              <a:pathLst>
                <a:path w="6339840" h="1024128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6B7A8D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577840" y="1920240"/>
            <a:ext cx="6035040" cy="768096"/>
            <a:chOff x="0" y="0"/>
            <a:chExt cx="8046720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046720" cy="1024128"/>
            </a:xfrm>
            <a:custGeom>
              <a:avLst/>
              <a:gdLst/>
              <a:ahLst/>
              <a:cxnLst/>
              <a:rect l="l" t="t" r="r" b="b"/>
              <a:pathLst>
                <a:path w="8046720" h="1024128">
                  <a:moveTo>
                    <a:pt x="0" y="0"/>
                  </a:moveTo>
                  <a:lnTo>
                    <a:pt x="8046720" y="0"/>
                  </a:lnTo>
                  <a:lnTo>
                    <a:pt x="80467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1887200" y="1920240"/>
            <a:ext cx="5852160" cy="768096"/>
            <a:chOff x="0" y="0"/>
            <a:chExt cx="7802880" cy="102412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02880" cy="1024128"/>
            </a:xfrm>
            <a:custGeom>
              <a:avLst/>
              <a:gdLst/>
              <a:ahLst/>
              <a:cxnLst/>
              <a:rect l="l" t="t" r="r" b="b"/>
              <a:pathLst>
                <a:path w="7802880" h="1024128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548640" y="1920240"/>
            <a:ext cx="4754880" cy="768096"/>
            <a:chOff x="0" y="0"/>
            <a:chExt cx="6339840" cy="10241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39840" cy="1024128"/>
            </a:xfrm>
            <a:custGeom>
              <a:avLst/>
              <a:gdLst/>
              <a:ahLst/>
              <a:cxnLst/>
              <a:rect l="l" t="t" r="r" b="b"/>
              <a:pathLst>
                <a:path w="6339840" h="1024128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621" b="-7062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633984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업무 항목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77840" y="1920240"/>
            <a:ext cx="6035040" cy="768096"/>
            <a:chOff x="0" y="0"/>
            <a:chExt cx="8046720" cy="10241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046720" cy="1024128"/>
            </a:xfrm>
            <a:custGeom>
              <a:avLst/>
              <a:gdLst/>
              <a:ahLst/>
              <a:cxnLst/>
              <a:rect l="l" t="t" r="r" b="b"/>
              <a:pathLst>
                <a:path w="8046720" h="1024128">
                  <a:moveTo>
                    <a:pt x="0" y="0"/>
                  </a:moveTo>
                  <a:lnTo>
                    <a:pt x="8046720" y="0"/>
                  </a:lnTo>
                  <a:lnTo>
                    <a:pt x="8046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096" b="-10309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8046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❌ AI 도입 전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887200" y="1920240"/>
            <a:ext cx="5852160" cy="768096"/>
            <a:chOff x="0" y="0"/>
            <a:chExt cx="7802880" cy="10241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802880" cy="1024128"/>
            </a:xfrm>
            <a:custGeom>
              <a:avLst/>
              <a:gdLst/>
              <a:ahLst/>
              <a:cxnLst/>
              <a:rect l="l" t="t" r="r" b="b"/>
              <a:pathLst>
                <a:path w="7802880" h="1024128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457" b="-9845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780288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✅ AI 도입 후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48640" y="2834640"/>
            <a:ext cx="17190720" cy="1133856"/>
            <a:chOff x="0" y="0"/>
            <a:chExt cx="22920960" cy="151180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920961" cy="1511808"/>
            </a:xfrm>
            <a:custGeom>
              <a:avLst/>
              <a:gdLst/>
              <a:ahLst/>
              <a:cxnLst/>
              <a:rect l="l" t="t" r="r" b="b"/>
              <a:pathLst>
                <a:path w="22920961" h="1511808">
                  <a:moveTo>
                    <a:pt x="0" y="0"/>
                  </a:moveTo>
                  <a:lnTo>
                    <a:pt x="22920961" y="0"/>
                  </a:lnTo>
                  <a:lnTo>
                    <a:pt x="22920961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31520" y="2834640"/>
            <a:ext cx="4572000" cy="1133856"/>
            <a:chOff x="0" y="0"/>
            <a:chExt cx="6096000" cy="151180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096000" cy="1511808"/>
            </a:xfrm>
            <a:custGeom>
              <a:avLst/>
              <a:gdLst/>
              <a:ahLst/>
              <a:cxnLst/>
              <a:rect l="l" t="t" r="r" b="b"/>
              <a:pathLst>
                <a:path w="6096000" h="1511808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568" b="-28568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6096000" cy="1502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민원 스크립트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577840" y="2834640"/>
            <a:ext cx="5852160" cy="1133856"/>
            <a:chOff x="0" y="0"/>
            <a:chExt cx="7802880" cy="151180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802880" cy="1511808"/>
            </a:xfrm>
            <a:custGeom>
              <a:avLst/>
              <a:gdLst/>
              <a:ahLst/>
              <a:cxnLst/>
              <a:rect l="l" t="t" r="r" b="b"/>
              <a:pathLst>
                <a:path w="7802880" h="1511808">
                  <a:moveTo>
                    <a:pt x="0" y="0"/>
                  </a:moveTo>
                  <a:lnTo>
                    <a:pt x="7802880" y="0"/>
                  </a:lnTo>
                  <a:lnTo>
                    <a:pt x="78028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567" b="-50567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780288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수기 작성·개인 역량 의존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887200" y="2834640"/>
            <a:ext cx="5760720" cy="1133856"/>
            <a:chOff x="0" y="0"/>
            <a:chExt cx="7680960" cy="151180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680960" cy="1511808"/>
            </a:xfrm>
            <a:custGeom>
              <a:avLst/>
              <a:gdLst/>
              <a:ahLst/>
              <a:cxnLst/>
              <a:rect l="l" t="t" r="r" b="b"/>
              <a:pathLst>
                <a:path w="7680960" h="1511808">
                  <a:moveTo>
                    <a:pt x="0" y="0"/>
                  </a:moveTo>
                  <a:lnTo>
                    <a:pt x="7680960" y="0"/>
                  </a:lnTo>
                  <a:lnTo>
                    <a:pt x="76809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996" b="-4899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768096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AI로 즉시 생성·맞춤 수정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48640" y="4078224"/>
            <a:ext cx="17190720" cy="1133856"/>
            <a:chOff x="0" y="0"/>
            <a:chExt cx="22920960" cy="151180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920961" cy="1511808"/>
            </a:xfrm>
            <a:custGeom>
              <a:avLst/>
              <a:gdLst/>
              <a:ahLst/>
              <a:cxnLst/>
              <a:rect l="l" t="t" r="r" b="b"/>
              <a:pathLst>
                <a:path w="22920961" h="1511808">
                  <a:moveTo>
                    <a:pt x="0" y="0"/>
                  </a:moveTo>
                  <a:lnTo>
                    <a:pt x="22920961" y="0"/>
                  </a:lnTo>
                  <a:lnTo>
                    <a:pt x="22920961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731520" y="4078224"/>
            <a:ext cx="4572000" cy="1133856"/>
            <a:chOff x="0" y="0"/>
            <a:chExt cx="6096000" cy="151180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096000" cy="1511808"/>
            </a:xfrm>
            <a:custGeom>
              <a:avLst/>
              <a:gdLst/>
              <a:ahLst/>
              <a:cxnLst/>
              <a:rect l="l" t="t" r="r" b="b"/>
              <a:pathLst>
                <a:path w="6096000" h="1511808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568" b="-28568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9525"/>
              <a:ext cx="6096000" cy="1502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상담 기록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577840" y="4078224"/>
            <a:ext cx="5852160" cy="1133856"/>
            <a:chOff x="0" y="0"/>
            <a:chExt cx="7802880" cy="151180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802880" cy="1511808"/>
            </a:xfrm>
            <a:custGeom>
              <a:avLst/>
              <a:gdLst/>
              <a:ahLst/>
              <a:cxnLst/>
              <a:rect l="l" t="t" r="r" b="b"/>
              <a:pathLst>
                <a:path w="7802880" h="1511808">
                  <a:moveTo>
                    <a:pt x="0" y="0"/>
                  </a:moveTo>
                  <a:lnTo>
                    <a:pt x="7802880" y="0"/>
                  </a:lnTo>
                  <a:lnTo>
                    <a:pt x="78028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567" b="-50567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780288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통화 후 수동 입력·누락 빈번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887200" y="4078224"/>
            <a:ext cx="5760720" cy="1133856"/>
            <a:chOff x="0" y="0"/>
            <a:chExt cx="7680960" cy="151180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680960" cy="1511808"/>
            </a:xfrm>
            <a:custGeom>
              <a:avLst/>
              <a:gdLst/>
              <a:ahLst/>
              <a:cxnLst/>
              <a:rect l="l" t="t" r="r" b="b"/>
              <a:pathLst>
                <a:path w="7680960" h="1511808">
                  <a:moveTo>
                    <a:pt x="0" y="0"/>
                  </a:moveTo>
                  <a:lnTo>
                    <a:pt x="7680960" y="0"/>
                  </a:lnTo>
                  <a:lnTo>
                    <a:pt x="76809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996" b="-48996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768096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음성→자동 텍스트→AI 요약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48640" y="5321808"/>
            <a:ext cx="17190720" cy="1133856"/>
            <a:chOff x="0" y="0"/>
            <a:chExt cx="22920960" cy="151180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920961" cy="1511808"/>
            </a:xfrm>
            <a:custGeom>
              <a:avLst/>
              <a:gdLst/>
              <a:ahLst/>
              <a:cxnLst/>
              <a:rect l="l" t="t" r="r" b="b"/>
              <a:pathLst>
                <a:path w="22920961" h="1511808">
                  <a:moveTo>
                    <a:pt x="0" y="0"/>
                  </a:moveTo>
                  <a:lnTo>
                    <a:pt x="22920961" y="0"/>
                  </a:lnTo>
                  <a:lnTo>
                    <a:pt x="22920961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731520" y="5321808"/>
            <a:ext cx="4572000" cy="1133856"/>
            <a:chOff x="0" y="0"/>
            <a:chExt cx="6096000" cy="151180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096000" cy="1511808"/>
            </a:xfrm>
            <a:custGeom>
              <a:avLst/>
              <a:gdLst/>
              <a:ahLst/>
              <a:cxnLst/>
              <a:rect l="l" t="t" r="r" b="b"/>
              <a:pathLst>
                <a:path w="6096000" h="1511808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568" b="-28568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9525"/>
              <a:ext cx="6096000" cy="1502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FAQ 응대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77840" y="5321808"/>
            <a:ext cx="5852160" cy="1133856"/>
            <a:chOff x="0" y="0"/>
            <a:chExt cx="7802880" cy="151180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802880" cy="1511808"/>
            </a:xfrm>
            <a:custGeom>
              <a:avLst/>
              <a:gdLst/>
              <a:ahLst/>
              <a:cxnLst/>
              <a:rect l="l" t="t" r="r" b="b"/>
              <a:pathLst>
                <a:path w="7802880" h="1511808">
                  <a:moveTo>
                    <a:pt x="0" y="0"/>
                  </a:moveTo>
                  <a:lnTo>
                    <a:pt x="7802880" y="0"/>
                  </a:lnTo>
                  <a:lnTo>
                    <a:pt x="78028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567" b="-50567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780288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매번 직접 설명·반복 응대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887200" y="5321808"/>
            <a:ext cx="5760720" cy="1133856"/>
            <a:chOff x="0" y="0"/>
            <a:chExt cx="7680960" cy="151180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680960" cy="1511808"/>
            </a:xfrm>
            <a:custGeom>
              <a:avLst/>
              <a:gdLst/>
              <a:ahLst/>
              <a:cxnLst/>
              <a:rect l="l" t="t" r="r" b="b"/>
              <a:pathLst>
                <a:path w="7680960" h="1511808">
                  <a:moveTo>
                    <a:pt x="0" y="0"/>
                  </a:moveTo>
                  <a:lnTo>
                    <a:pt x="7680960" y="0"/>
                  </a:lnTo>
                  <a:lnTo>
                    <a:pt x="76809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996" b="-48996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768096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챗봇 자동 응답·24시간 운영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8640" y="6565392"/>
            <a:ext cx="17190720" cy="1133856"/>
            <a:chOff x="0" y="0"/>
            <a:chExt cx="22920960" cy="151180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920961" cy="1511808"/>
            </a:xfrm>
            <a:custGeom>
              <a:avLst/>
              <a:gdLst/>
              <a:ahLst/>
              <a:cxnLst/>
              <a:rect l="l" t="t" r="r" b="b"/>
              <a:pathLst>
                <a:path w="22920961" h="1511808">
                  <a:moveTo>
                    <a:pt x="0" y="0"/>
                  </a:moveTo>
                  <a:lnTo>
                    <a:pt x="22920961" y="0"/>
                  </a:lnTo>
                  <a:lnTo>
                    <a:pt x="22920961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731520" y="6565392"/>
            <a:ext cx="4572000" cy="1133856"/>
            <a:chOff x="0" y="0"/>
            <a:chExt cx="6096000" cy="151180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096000" cy="1511808"/>
            </a:xfrm>
            <a:custGeom>
              <a:avLst/>
              <a:gdLst/>
              <a:ahLst/>
              <a:cxnLst/>
              <a:rect l="l" t="t" r="r" b="b"/>
              <a:pathLst>
                <a:path w="6096000" h="1511808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568" b="-28568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9525"/>
              <a:ext cx="6096000" cy="1502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민원 문서화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577840" y="6565392"/>
            <a:ext cx="5852160" cy="1133856"/>
            <a:chOff x="0" y="0"/>
            <a:chExt cx="7802880" cy="151180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802880" cy="1511808"/>
            </a:xfrm>
            <a:custGeom>
              <a:avLst/>
              <a:gdLst/>
              <a:ahLst/>
              <a:cxnLst/>
              <a:rect l="l" t="t" r="r" b="b"/>
              <a:pathLst>
                <a:path w="7802880" h="1511808">
                  <a:moveTo>
                    <a:pt x="0" y="0"/>
                  </a:moveTo>
                  <a:lnTo>
                    <a:pt x="7802880" y="0"/>
                  </a:lnTo>
                  <a:lnTo>
                    <a:pt x="78028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567" b="-50567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780288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개인 메모·통일 양식 없음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1887200" y="6565392"/>
            <a:ext cx="5760720" cy="1133856"/>
            <a:chOff x="0" y="0"/>
            <a:chExt cx="7680960" cy="151180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680960" cy="1511808"/>
            </a:xfrm>
            <a:custGeom>
              <a:avLst/>
              <a:gdLst/>
              <a:ahLst/>
              <a:cxnLst/>
              <a:rect l="l" t="t" r="r" b="b"/>
              <a:pathLst>
                <a:path w="7680960" h="1511808">
                  <a:moveTo>
                    <a:pt x="0" y="0"/>
                  </a:moveTo>
                  <a:lnTo>
                    <a:pt x="7680960" y="0"/>
                  </a:lnTo>
                  <a:lnTo>
                    <a:pt x="76809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996" b="-48996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768096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AI 보고서 자동 초안 생성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48640" y="7808976"/>
            <a:ext cx="17190720" cy="1133856"/>
            <a:chOff x="0" y="0"/>
            <a:chExt cx="22920960" cy="151180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2920961" cy="1511808"/>
            </a:xfrm>
            <a:custGeom>
              <a:avLst/>
              <a:gdLst/>
              <a:ahLst/>
              <a:cxnLst/>
              <a:rect l="l" t="t" r="r" b="b"/>
              <a:pathLst>
                <a:path w="22920961" h="1511808">
                  <a:moveTo>
                    <a:pt x="0" y="0"/>
                  </a:moveTo>
                  <a:lnTo>
                    <a:pt x="22920961" y="0"/>
                  </a:lnTo>
                  <a:lnTo>
                    <a:pt x="22920961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731520" y="7808976"/>
            <a:ext cx="4572000" cy="1133856"/>
            <a:chOff x="0" y="0"/>
            <a:chExt cx="6096000" cy="151180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096000" cy="1511808"/>
            </a:xfrm>
            <a:custGeom>
              <a:avLst/>
              <a:gdLst/>
              <a:ahLst/>
              <a:cxnLst/>
              <a:rect l="l" t="t" r="r" b="b"/>
              <a:pathLst>
                <a:path w="6096000" h="1511808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568" b="-28568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9525"/>
              <a:ext cx="6096000" cy="1502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감정 대응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577840" y="7808976"/>
            <a:ext cx="5852160" cy="1133856"/>
            <a:chOff x="0" y="0"/>
            <a:chExt cx="7802880" cy="151180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802880" cy="1511808"/>
            </a:xfrm>
            <a:custGeom>
              <a:avLst/>
              <a:gdLst/>
              <a:ahLst/>
              <a:cxnLst/>
              <a:rect l="l" t="t" r="r" b="b"/>
              <a:pathLst>
                <a:path w="7802880" h="1511808">
                  <a:moveTo>
                    <a:pt x="0" y="0"/>
                  </a:moveTo>
                  <a:lnTo>
                    <a:pt x="7802880" y="0"/>
                  </a:lnTo>
                  <a:lnTo>
                    <a:pt x="78028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567" b="-50567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0"/>
              <a:ext cx="780288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개인 경험에 의존한 응대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887200" y="7808976"/>
            <a:ext cx="5760720" cy="1133856"/>
            <a:chOff x="0" y="0"/>
            <a:chExt cx="7680960" cy="1511808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7680960" cy="1511808"/>
            </a:xfrm>
            <a:custGeom>
              <a:avLst/>
              <a:gdLst/>
              <a:ahLst/>
              <a:cxnLst/>
              <a:rect l="l" t="t" r="r" b="b"/>
              <a:pathLst>
                <a:path w="7680960" h="1511808">
                  <a:moveTo>
                    <a:pt x="0" y="0"/>
                  </a:moveTo>
                  <a:lnTo>
                    <a:pt x="7680960" y="0"/>
                  </a:lnTo>
                  <a:lnTo>
                    <a:pt x="76809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996" b="-48996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768096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AI 공감 언어 프롬프트 활용</a:t>
              </a:r>
            </a:p>
          </p:txBody>
        </p:sp>
      </p:grpSp>
      <p:grpSp>
        <p:nvGrpSpPr>
          <p:cNvPr id="79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80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81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82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3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1차시-01 | 의료기관 CS 업무와 AI 도입 이해</a:t>
              </a:r>
            </a:p>
          </p:txBody>
        </p:sp>
      </p:grpSp>
      <p:grpSp>
        <p:nvGrpSpPr>
          <p:cNvPr id="84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85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86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국내외 의료기관 AI CS 활용 사례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48640" y="2011680"/>
            <a:ext cx="8321040" cy="3291840"/>
            <a:chOff x="0" y="0"/>
            <a:chExt cx="11094720" cy="4389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094720" cy="4389120"/>
            </a:xfrm>
            <a:custGeom>
              <a:avLst/>
              <a:gdLst/>
              <a:ahLst/>
              <a:cxnLst/>
              <a:rect l="l" t="t" r="r" b="b"/>
              <a:pathLst>
                <a:path w="11094720" h="4389120">
                  <a:moveTo>
                    <a:pt x="0" y="0"/>
                  </a:moveTo>
                  <a:lnTo>
                    <a:pt x="11094720" y="0"/>
                  </a:lnTo>
                  <a:lnTo>
                    <a:pt x="1109472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48640" y="2011680"/>
            <a:ext cx="8321040" cy="877824"/>
            <a:chOff x="0" y="0"/>
            <a:chExt cx="11094720" cy="11704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094720" cy="1170432"/>
            </a:xfrm>
            <a:custGeom>
              <a:avLst/>
              <a:gdLst/>
              <a:ahLst/>
              <a:cxnLst/>
              <a:rect l="l" t="t" r="r" b="b"/>
              <a:pathLst>
                <a:path w="11094720" h="1170432">
                  <a:moveTo>
                    <a:pt x="0" y="0"/>
                  </a:moveTo>
                  <a:lnTo>
                    <a:pt x="11094720" y="0"/>
                  </a:lnTo>
                  <a:lnTo>
                    <a:pt x="110947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68096" y="2011680"/>
            <a:ext cx="7863840" cy="877824"/>
            <a:chOff x="0" y="0"/>
            <a:chExt cx="10485120" cy="117043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85120" cy="1170432"/>
            </a:xfrm>
            <a:custGeom>
              <a:avLst/>
              <a:gdLst/>
              <a:ahLst/>
              <a:cxnLst/>
              <a:rect l="l" t="t" r="r" b="b"/>
              <a:pathLst>
                <a:path w="10485120" h="1170432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553" b="-12455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0485120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🏥  서울아산병원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73757" y="3038856"/>
            <a:ext cx="7553963" cy="2067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AI 챗봇 '아산챗봇' – 진료예약·외래 안내 자동응답</a:t>
            </a:r>
          </a:p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→ 반복 문의 60% 자동 처리, 야간 응대 가능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418320" y="2011680"/>
            <a:ext cx="8321040" cy="3291840"/>
            <a:chOff x="0" y="0"/>
            <a:chExt cx="11094720" cy="43891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094720" cy="4389120"/>
            </a:xfrm>
            <a:custGeom>
              <a:avLst/>
              <a:gdLst/>
              <a:ahLst/>
              <a:cxnLst/>
              <a:rect l="l" t="t" r="r" b="b"/>
              <a:pathLst>
                <a:path w="11094720" h="4389120">
                  <a:moveTo>
                    <a:pt x="0" y="0"/>
                  </a:moveTo>
                  <a:lnTo>
                    <a:pt x="11094720" y="0"/>
                  </a:lnTo>
                  <a:lnTo>
                    <a:pt x="1109472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418320" y="2011680"/>
            <a:ext cx="8321040" cy="877824"/>
            <a:chOff x="0" y="0"/>
            <a:chExt cx="11094720" cy="117043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094720" cy="1170432"/>
            </a:xfrm>
            <a:custGeom>
              <a:avLst/>
              <a:gdLst/>
              <a:ahLst/>
              <a:cxnLst/>
              <a:rect l="l" t="t" r="r" b="b"/>
              <a:pathLst>
                <a:path w="11094720" h="1170432">
                  <a:moveTo>
                    <a:pt x="0" y="0"/>
                  </a:moveTo>
                  <a:lnTo>
                    <a:pt x="11094720" y="0"/>
                  </a:lnTo>
                  <a:lnTo>
                    <a:pt x="110947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637776" y="2011680"/>
            <a:ext cx="7863840" cy="877824"/>
            <a:chOff x="0" y="0"/>
            <a:chExt cx="10485120" cy="117043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85120" cy="1170432"/>
            </a:xfrm>
            <a:custGeom>
              <a:avLst/>
              <a:gdLst/>
              <a:ahLst/>
              <a:cxnLst/>
              <a:rect l="l" t="t" r="r" b="b"/>
              <a:pathLst>
                <a:path w="10485120" h="1170432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553" b="-12455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0485120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 dirty="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🌐  </a:t>
              </a:r>
              <a:r>
                <a:rPr lang="en-US" altLang="ko-KR" sz="2600" u="sng" spc="10" dirty="0" err="1">
                  <a:solidFill>
                    <a:schemeClr val="bg1"/>
                  </a:solidFill>
                  <a:latin typeface="Mandali"/>
                  <a:ea typeface="Mandali"/>
                  <a:cs typeface="Mandali"/>
                  <a:sym typeface="Mandali"/>
                  <a:hlinkClick r:id="rId4" tooltip="https://chatbot.ajoumc.or.kr/chatbot/index.html?projectId=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아주대학교병원</a:t>
              </a:r>
              <a:r>
                <a:rPr lang="en-US" altLang="ko-KR" sz="2600" u="sng" spc="10" dirty="0">
                  <a:solidFill>
                    <a:schemeClr val="bg1"/>
                  </a:solidFill>
                  <a:latin typeface="Mandali"/>
                  <a:ea typeface="Mandali"/>
                  <a:cs typeface="Mandali"/>
                  <a:sym typeface="Mandali"/>
                  <a:hlinkClick r:id="rId4" tooltip="https://chatbot.ajoumc.or.kr/chatbot/index.html?projectId=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</a:t>
              </a:r>
              <a:r>
                <a:rPr lang="en-US" altLang="ko-KR" sz="2600" u="sng" spc="10" dirty="0" err="1">
                  <a:solidFill>
                    <a:schemeClr val="bg1"/>
                  </a:solidFill>
                  <a:latin typeface="Mandali"/>
                  <a:ea typeface="Mandali"/>
                  <a:cs typeface="Mandali"/>
                  <a:sym typeface="Mandali"/>
                  <a:hlinkClick r:id="rId4" tooltip="https://chatbot.ajoumc.or.kr/chatbot/index.html?projectId=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챗</a:t>
              </a:r>
              <a:r>
                <a:rPr lang="en-US" altLang="ko-KR" sz="2600" spc="10" dirty="0" err="1">
                  <a:solidFill>
                    <a:schemeClr val="bg1"/>
                  </a:solidFill>
                  <a:latin typeface="Mandali"/>
                  <a:ea typeface="Mandali"/>
                  <a:cs typeface="Mandali"/>
                  <a:sym typeface="Mandali"/>
                </a:rPr>
                <a:t>봇</a:t>
              </a:r>
              <a:endParaRPr lang="en-US" sz="2600" spc="10" dirty="0">
                <a:solidFill>
                  <a:schemeClr val="bg1"/>
                </a:solidFill>
                <a:latin typeface="Mandali"/>
                <a:ea typeface="Mandali"/>
                <a:cs typeface="Mandali"/>
                <a:sym typeface="Mandali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743437" y="3038856"/>
            <a:ext cx="7553963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endParaRPr lang="ko-KR" altLang="en-US" sz="2400" dirty="0"/>
          </a:p>
          <a:p>
            <a:pPr algn="l">
              <a:lnSpc>
                <a:spcPts val="2760"/>
              </a:lnSpc>
            </a:pPr>
            <a:r>
              <a:rPr lang="ko-KR" altLang="en-US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병원 이용 안내</a:t>
            </a:r>
            <a:r>
              <a:rPr lang="en-US" altLang="ko-KR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, </a:t>
            </a:r>
            <a:r>
              <a:rPr lang="ko-KR" altLang="en-US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진료 관련 문의</a:t>
            </a:r>
            <a:r>
              <a:rPr lang="en-US" altLang="ko-KR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, </a:t>
            </a:r>
          </a:p>
          <a:p>
            <a:pPr algn="l">
              <a:lnSpc>
                <a:spcPts val="2760"/>
              </a:lnSpc>
            </a:pPr>
            <a:r>
              <a:rPr lang="ko-KR" altLang="en-US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예약</a:t>
            </a:r>
            <a:r>
              <a:rPr lang="en-US" altLang="ko-KR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·</a:t>
            </a:r>
            <a:r>
              <a:rPr lang="ko-KR" altLang="en-US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절차 안내 지원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48640" y="5669280"/>
            <a:ext cx="8321040" cy="3291840"/>
            <a:chOff x="0" y="0"/>
            <a:chExt cx="11094720" cy="43891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094720" cy="4389120"/>
            </a:xfrm>
            <a:custGeom>
              <a:avLst/>
              <a:gdLst/>
              <a:ahLst/>
              <a:cxnLst/>
              <a:rect l="l" t="t" r="r" b="b"/>
              <a:pathLst>
                <a:path w="11094720" h="4389120">
                  <a:moveTo>
                    <a:pt x="0" y="0"/>
                  </a:moveTo>
                  <a:lnTo>
                    <a:pt x="11094720" y="0"/>
                  </a:lnTo>
                  <a:lnTo>
                    <a:pt x="1109472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548640" y="5669280"/>
            <a:ext cx="8321040" cy="877824"/>
            <a:chOff x="0" y="0"/>
            <a:chExt cx="11094720" cy="117043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094720" cy="1170432"/>
            </a:xfrm>
            <a:custGeom>
              <a:avLst/>
              <a:gdLst/>
              <a:ahLst/>
              <a:cxnLst/>
              <a:rect l="l" t="t" r="r" b="b"/>
              <a:pathLst>
                <a:path w="11094720" h="1170432">
                  <a:moveTo>
                    <a:pt x="0" y="0"/>
                  </a:moveTo>
                  <a:lnTo>
                    <a:pt x="11094720" y="0"/>
                  </a:lnTo>
                  <a:lnTo>
                    <a:pt x="110947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768096" y="5669280"/>
            <a:ext cx="7863840" cy="877824"/>
            <a:chOff x="0" y="0"/>
            <a:chExt cx="10485120" cy="117043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485120" cy="1170432"/>
            </a:xfrm>
            <a:custGeom>
              <a:avLst/>
              <a:gdLst/>
              <a:ahLst/>
              <a:cxnLst/>
              <a:rect l="l" t="t" r="r" b="b"/>
              <a:pathLst>
                <a:path w="10485120" h="1170432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553" b="-12455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10485120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altLang="ko-KR" sz="2600" u="sng" spc="7" dirty="0">
                  <a:solidFill>
                    <a:schemeClr val="bg1"/>
                  </a:solidFill>
                  <a:latin typeface="Mandali"/>
                  <a:ea typeface="Mandali"/>
                  <a:cs typeface="Mandali"/>
                  <a:sym typeface="Mandali"/>
                  <a:hlinkClick r:id="rId5" tooltip="https://www.mayoclinic.org/?utm_source=chatgpt.com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📋  Mayo Clinic(</a:t>
              </a:r>
              <a:r>
                <a:rPr lang="en-US" altLang="ko-KR" sz="2600" u="sng" spc="7" dirty="0" err="1">
                  <a:solidFill>
                    <a:schemeClr val="bg1"/>
                  </a:solidFill>
                  <a:latin typeface="Mandali"/>
                  <a:ea typeface="Mandali"/>
                  <a:cs typeface="Mandali"/>
                  <a:sym typeface="Mandali"/>
                  <a:hlinkClick r:id="rId5" tooltip="https://www.mayoclinic.org/?utm_source=chatgpt.com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미국</a:t>
              </a:r>
              <a:r>
                <a:rPr lang="en-US" altLang="ko-KR" sz="2600" u="sng" spc="7" dirty="0">
                  <a:solidFill>
                    <a:schemeClr val="bg1"/>
                  </a:solidFill>
                  <a:latin typeface="Mandali"/>
                  <a:ea typeface="Mandali"/>
                  <a:cs typeface="Mandali"/>
                  <a:sym typeface="Mandali"/>
                  <a:hlinkClick r:id="rId5" tooltip="https://www.mayoclinic.org/?utm_source=chatgpt.com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)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873757" y="6696456"/>
            <a:ext cx="7553963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altLang="ko-KR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AI </a:t>
            </a:r>
            <a:r>
              <a:rPr lang="en-US" altLang="ko-KR" sz="2300" spc="6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증상평가</a:t>
            </a:r>
            <a:r>
              <a:rPr lang="en-US" altLang="ko-KR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6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도구</a:t>
            </a:r>
            <a:r>
              <a:rPr lang="en-US" altLang="ko-KR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‘Ask Mayo Clinic Online’ – </a:t>
            </a:r>
            <a:r>
              <a:rPr lang="en-US" altLang="ko-KR" sz="2300" spc="6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증상</a:t>
            </a:r>
            <a:r>
              <a:rPr lang="en-US" altLang="ko-KR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6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입력</a:t>
            </a:r>
            <a:r>
              <a:rPr lang="en-US" altLang="ko-KR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6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기반</a:t>
            </a:r>
            <a:r>
              <a:rPr lang="en-US" altLang="ko-KR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6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진료</a:t>
            </a:r>
            <a:r>
              <a:rPr lang="en-US" altLang="ko-KR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6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필요성·응급</a:t>
            </a:r>
            <a:r>
              <a:rPr lang="en-US" altLang="ko-KR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6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여부</a:t>
            </a:r>
            <a:r>
              <a:rPr lang="en-US" altLang="ko-KR" sz="2300" spc="6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6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안내</a:t>
            </a:r>
            <a:endParaRPr lang="en-US" altLang="ko-KR" sz="2300" spc="6" dirty="0">
              <a:solidFill>
                <a:srgbClr val="1A2533"/>
              </a:solidFill>
              <a:latin typeface="Mandali"/>
              <a:ea typeface="Mandali"/>
              <a:cs typeface="Mandali"/>
              <a:sym typeface="Mandali"/>
            </a:endParaRPr>
          </a:p>
          <a:p>
            <a:pPr algn="l">
              <a:lnSpc>
                <a:spcPts val="2760"/>
              </a:lnSpc>
            </a:pP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→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초기</a:t>
            </a: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문진과</a:t>
            </a: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반복</a:t>
            </a: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상담</a:t>
            </a: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부담을</a:t>
            </a: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줄이고</a:t>
            </a: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,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환자가</a:t>
            </a: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병원</a:t>
            </a: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방문</a:t>
            </a: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전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적절한</a:t>
            </a: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다음</a:t>
            </a: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조치를</a:t>
            </a: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빠르게</a:t>
            </a: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판단하도록</a:t>
            </a:r>
            <a:r>
              <a:rPr lang="en-US" altLang="ko-KR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altLang="ko-KR" sz="2300" spc="8" dirty="0" err="1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지원</a:t>
            </a:r>
            <a:endParaRPr lang="en-US" altLang="ko-KR" sz="2300" spc="8" dirty="0">
              <a:solidFill>
                <a:srgbClr val="1A2533"/>
              </a:solidFill>
              <a:latin typeface="Mandali"/>
              <a:ea typeface="Mandali"/>
              <a:cs typeface="Mandali"/>
              <a:sym typeface="Mandali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9418320" y="5669280"/>
            <a:ext cx="8321040" cy="3291840"/>
            <a:chOff x="0" y="0"/>
            <a:chExt cx="11094720" cy="43891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094720" cy="4389120"/>
            </a:xfrm>
            <a:custGeom>
              <a:avLst/>
              <a:gdLst/>
              <a:ahLst/>
              <a:cxnLst/>
              <a:rect l="l" t="t" r="r" b="b"/>
              <a:pathLst>
                <a:path w="11094720" h="4389120">
                  <a:moveTo>
                    <a:pt x="0" y="0"/>
                  </a:moveTo>
                  <a:lnTo>
                    <a:pt x="11094720" y="0"/>
                  </a:lnTo>
                  <a:lnTo>
                    <a:pt x="1109472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9418320" y="5669280"/>
            <a:ext cx="8321040" cy="877824"/>
            <a:chOff x="0" y="0"/>
            <a:chExt cx="11094720" cy="117043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094720" cy="1170432"/>
            </a:xfrm>
            <a:custGeom>
              <a:avLst/>
              <a:gdLst/>
              <a:ahLst/>
              <a:cxnLst/>
              <a:rect l="l" t="t" r="r" b="b"/>
              <a:pathLst>
                <a:path w="11094720" h="1170432">
                  <a:moveTo>
                    <a:pt x="0" y="0"/>
                  </a:moveTo>
                  <a:lnTo>
                    <a:pt x="11094720" y="0"/>
                  </a:lnTo>
                  <a:lnTo>
                    <a:pt x="110947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637776" y="5669280"/>
            <a:ext cx="7863840" cy="877824"/>
            <a:chOff x="0" y="0"/>
            <a:chExt cx="10485120" cy="117043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485120" cy="1170432"/>
            </a:xfrm>
            <a:custGeom>
              <a:avLst/>
              <a:gdLst/>
              <a:ahLst/>
              <a:cxnLst/>
              <a:rect l="l" t="t" r="r" b="b"/>
              <a:pathLst>
                <a:path w="10485120" h="1170432">
                  <a:moveTo>
                    <a:pt x="0" y="0"/>
                  </a:moveTo>
                  <a:lnTo>
                    <a:pt x="10485120" y="0"/>
                  </a:lnTo>
                  <a:lnTo>
                    <a:pt x="10485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553" b="-12455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10485120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💊  건강보험공단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743437" y="6696456"/>
            <a:ext cx="7553963" cy="2067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GPT 기반 FAQ 챗봇 시범 운영</a:t>
            </a:r>
          </a:p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→ 전화 상담 건수 30% 감소, 민원 해결률 향상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548640" y="8639051"/>
            <a:ext cx="17190720" cy="548640"/>
            <a:chOff x="0" y="0"/>
            <a:chExt cx="22920960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D2340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731520" y="8639051"/>
            <a:ext cx="16824960" cy="548640"/>
            <a:chOff x="0" y="0"/>
            <a:chExt cx="22433280" cy="7315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2433280" cy="731520"/>
            </a:xfrm>
            <a:custGeom>
              <a:avLst/>
              <a:gdLst/>
              <a:ahLst/>
              <a:cxnLst/>
              <a:rect l="l" t="t" r="r" b="b"/>
              <a:pathLst>
                <a:path w="22433280" h="73152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7541" b="-547541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2243328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✔ 핵심 메시지: AI는 CS 직원을 대체하는 것이 아니라, 반복·기계적 업무를 맡아 직원이 더 중요한 응대에 집중하도록 지원합니다.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47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48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49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50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1차시-01 | 의료기관 CS 업무와 AI 도입 이해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52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53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생성형 AI란 무엇인가? – CS 관점에서 이해하기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31520" y="1920240"/>
            <a:ext cx="16824960" cy="768096"/>
            <a:chOff x="0" y="0"/>
            <a:chExt cx="22433280" cy="1024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33280" cy="1024128"/>
            </a:xfrm>
            <a:custGeom>
              <a:avLst/>
              <a:gdLst/>
              <a:ahLst/>
              <a:cxnLst/>
              <a:rect l="l" t="t" r="r" b="b"/>
              <a:pathLst>
                <a:path w="22433280" h="1024128">
                  <a:moveTo>
                    <a:pt x="0" y="0"/>
                  </a:moveTo>
                  <a:lnTo>
                    <a:pt x="22433280" y="0"/>
                  </a:lnTo>
                  <a:lnTo>
                    <a:pt x="22433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15" b="-37681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2433280" cy="1014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spc="10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💡 생성형 AI(Generative AI) = "질문하면 문장을 생성해 답하는 AI"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48640" y="2926080"/>
            <a:ext cx="3931920" cy="5120640"/>
            <a:chOff x="0" y="0"/>
            <a:chExt cx="5242560" cy="6827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42560" cy="6827520"/>
            </a:xfrm>
            <a:custGeom>
              <a:avLst/>
              <a:gdLst/>
              <a:ahLst/>
              <a:cxnLst/>
              <a:rect l="l" t="t" r="r" b="b"/>
              <a:pathLst>
                <a:path w="5242560" h="6827520">
                  <a:moveTo>
                    <a:pt x="0" y="0"/>
                  </a:moveTo>
                  <a:lnTo>
                    <a:pt x="5242560" y="0"/>
                  </a:lnTo>
                  <a:lnTo>
                    <a:pt x="524256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48640" y="2926080"/>
            <a:ext cx="3931920" cy="822960"/>
            <a:chOff x="0" y="0"/>
            <a:chExt cx="5242560" cy="10972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548640" y="2926080"/>
            <a:ext cx="3931920" cy="822960"/>
            <a:chOff x="0" y="0"/>
            <a:chExt cx="5242560" cy="10972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95" b="-4309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524256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1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2317" y="3953256"/>
            <a:ext cx="3439163" cy="787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0A7B83"/>
                </a:solidFill>
                <a:latin typeface="Mandali"/>
                <a:ea typeface="Mandali"/>
                <a:cs typeface="Mandali"/>
                <a:sym typeface="Mandali"/>
              </a:rPr>
              <a:t>사용자 입력 (프롬프트)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2317" y="4922520"/>
            <a:ext cx="3439163" cy="298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"환자가 진료 지연에 화가 났을 때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공감하며 응대하는 스크립트를 작성해줘"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480560" y="4937760"/>
            <a:ext cx="365760" cy="731520"/>
            <a:chOff x="0" y="0"/>
            <a:chExt cx="487680" cy="975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7680" cy="975360"/>
            </a:xfrm>
            <a:custGeom>
              <a:avLst/>
              <a:gdLst/>
              <a:ahLst/>
              <a:cxnLst/>
              <a:rect l="l" t="t" r="r" b="b"/>
              <a:pathLst>
                <a:path w="487680" h="97536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r="-20660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48768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46320" y="2926080"/>
            <a:ext cx="3931920" cy="5120640"/>
            <a:chOff x="0" y="0"/>
            <a:chExt cx="5242560" cy="6827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242560" cy="6827520"/>
            </a:xfrm>
            <a:custGeom>
              <a:avLst/>
              <a:gdLst/>
              <a:ahLst/>
              <a:cxnLst/>
              <a:rect l="l" t="t" r="r" b="b"/>
              <a:pathLst>
                <a:path w="5242560" h="6827520">
                  <a:moveTo>
                    <a:pt x="0" y="0"/>
                  </a:moveTo>
                  <a:lnTo>
                    <a:pt x="5242560" y="0"/>
                  </a:lnTo>
                  <a:lnTo>
                    <a:pt x="524256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4846320" y="2926080"/>
            <a:ext cx="3931920" cy="822960"/>
            <a:chOff x="0" y="0"/>
            <a:chExt cx="5242560" cy="10972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4846320" y="2926080"/>
            <a:ext cx="3931920" cy="822960"/>
            <a:chOff x="0" y="0"/>
            <a:chExt cx="5242560" cy="10972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95" b="-4309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524256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2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079997" y="3953256"/>
            <a:ext cx="3439163" cy="787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1E3A5F"/>
                </a:solidFill>
                <a:latin typeface="Mandali"/>
                <a:ea typeface="Mandali"/>
                <a:cs typeface="Mandali"/>
                <a:sym typeface="Mandali"/>
              </a:rPr>
              <a:t>AI 언어 모델 처리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079997" y="4922520"/>
            <a:ext cx="3439163" cy="298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학습된 수억 건의 텍스트 패턴을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분석하여 최적의 응답 생성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778240" y="4937760"/>
            <a:ext cx="365760" cy="731520"/>
            <a:chOff x="0" y="0"/>
            <a:chExt cx="487680" cy="9753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7680" cy="975360"/>
            </a:xfrm>
            <a:custGeom>
              <a:avLst/>
              <a:gdLst/>
              <a:ahLst/>
              <a:cxnLst/>
              <a:rect l="l" t="t" r="r" b="b"/>
              <a:pathLst>
                <a:path w="487680" h="97536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r="-206607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48768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→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44000" y="2926080"/>
            <a:ext cx="3931920" cy="5120640"/>
            <a:chOff x="0" y="0"/>
            <a:chExt cx="5242560" cy="6827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242560" cy="6827520"/>
            </a:xfrm>
            <a:custGeom>
              <a:avLst/>
              <a:gdLst/>
              <a:ahLst/>
              <a:cxnLst/>
              <a:rect l="l" t="t" r="r" b="b"/>
              <a:pathLst>
                <a:path w="5242560" h="6827520">
                  <a:moveTo>
                    <a:pt x="0" y="0"/>
                  </a:moveTo>
                  <a:lnTo>
                    <a:pt x="5242560" y="0"/>
                  </a:lnTo>
                  <a:lnTo>
                    <a:pt x="524256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9144000" y="2926080"/>
            <a:ext cx="3931920" cy="822960"/>
            <a:chOff x="0" y="0"/>
            <a:chExt cx="5242560" cy="10972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9144000" y="2926080"/>
            <a:ext cx="3931920" cy="822960"/>
            <a:chOff x="0" y="0"/>
            <a:chExt cx="5242560" cy="10972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95" b="-4309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9525"/>
              <a:ext cx="524256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3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9377677" y="3953256"/>
            <a:ext cx="3439163" cy="787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1A7A4A"/>
                </a:solidFill>
                <a:latin typeface="Mandali"/>
                <a:ea typeface="Mandali"/>
                <a:cs typeface="Mandali"/>
                <a:sym typeface="Mandali"/>
              </a:rPr>
              <a:t>AI 응답 생성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77677" y="4922520"/>
            <a:ext cx="3439163" cy="298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공감 언어 포함 응대 스크립트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즉시 출력 (수초 이내)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3075920" y="4937760"/>
            <a:ext cx="365760" cy="731520"/>
            <a:chOff x="0" y="0"/>
            <a:chExt cx="487680" cy="97536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87680" cy="975360"/>
            </a:xfrm>
            <a:custGeom>
              <a:avLst/>
              <a:gdLst/>
              <a:ahLst/>
              <a:cxnLst/>
              <a:rect l="l" t="t" r="r" b="b"/>
              <a:pathLst>
                <a:path w="487680" h="97536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r="-206607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48768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→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441680" y="2926080"/>
            <a:ext cx="3931920" cy="5120640"/>
            <a:chOff x="0" y="0"/>
            <a:chExt cx="5242560" cy="68275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242560" cy="6827520"/>
            </a:xfrm>
            <a:custGeom>
              <a:avLst/>
              <a:gdLst/>
              <a:ahLst/>
              <a:cxnLst/>
              <a:rect l="l" t="t" r="r" b="b"/>
              <a:pathLst>
                <a:path w="5242560" h="6827520">
                  <a:moveTo>
                    <a:pt x="0" y="0"/>
                  </a:moveTo>
                  <a:lnTo>
                    <a:pt x="5242560" y="0"/>
                  </a:lnTo>
                  <a:lnTo>
                    <a:pt x="524256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3441680" y="2926080"/>
            <a:ext cx="3931920" cy="822960"/>
            <a:chOff x="0" y="0"/>
            <a:chExt cx="5242560" cy="10972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3441680" y="2926080"/>
            <a:ext cx="3931920" cy="822960"/>
            <a:chOff x="0" y="0"/>
            <a:chExt cx="5242560" cy="109728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0"/>
                  </a:moveTo>
                  <a:lnTo>
                    <a:pt x="5242560" y="0"/>
                  </a:lnTo>
                  <a:lnTo>
                    <a:pt x="5242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95" b="-43095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9525"/>
              <a:ext cx="524256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4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3675357" y="3953256"/>
            <a:ext cx="3439163" cy="787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D05A00"/>
                </a:solidFill>
                <a:latin typeface="Mandali"/>
                <a:ea typeface="Mandali"/>
                <a:cs typeface="Mandali"/>
                <a:sym typeface="Mandali"/>
              </a:rPr>
              <a:t>직원 검토·적용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675357" y="4922520"/>
            <a:ext cx="3439163" cy="298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생성된 스크립트 검토·수정 후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실제 응대에 활용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502920" y="8001000"/>
            <a:ext cx="17190720" cy="1280160"/>
            <a:chOff x="0" y="0"/>
            <a:chExt cx="22920960" cy="170688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920961" cy="1706880"/>
            </a:xfrm>
            <a:custGeom>
              <a:avLst/>
              <a:gdLst/>
              <a:ahLst/>
              <a:cxnLst/>
              <a:rect l="l" t="t" r="r" b="b"/>
              <a:pathLst>
                <a:path w="22920961" h="1706880">
                  <a:moveTo>
                    <a:pt x="0" y="0"/>
                  </a:moveTo>
                  <a:lnTo>
                    <a:pt x="22920961" y="0"/>
                  </a:lnTo>
                  <a:lnTo>
                    <a:pt x="22920961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777240" y="8001000"/>
            <a:ext cx="16733520" cy="1280160"/>
            <a:chOff x="0" y="0"/>
            <a:chExt cx="22311360" cy="170688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2311361" cy="1706880"/>
            </a:xfrm>
            <a:custGeom>
              <a:avLst/>
              <a:gdLst/>
              <a:ahLst/>
              <a:cxnLst/>
              <a:rect l="l" t="t" r="r" b="b"/>
              <a:pathLst>
                <a:path w="22311361" h="1706880">
                  <a:moveTo>
                    <a:pt x="0" y="0"/>
                  </a:moveTo>
                  <a:lnTo>
                    <a:pt x="22311361" y="0"/>
                  </a:lnTo>
                  <a:lnTo>
                    <a:pt x="22311361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4697" b="-204697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2231136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📌 ChatGPT · Claude · Gemini 모두 동일한 원리 적용   |   인터넷 연결 + 브라우저만 있으면 즉시 사용 가능   |   스마트폰에서도 활용 가능 – 별도 설치 불필요</a:t>
              </a:r>
            </a:p>
          </p:txBody>
        </p:sp>
      </p:grpSp>
      <p:grpSp>
        <p:nvGrpSpPr>
          <p:cNvPr id="70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71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72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73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74" name="TextBox 73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1차시-01 | 의료기관 CS 업무와 AI 도입 이해</a:t>
              </a:r>
            </a:p>
          </p:txBody>
        </p:sp>
      </p:grpSp>
      <p:grpSp>
        <p:nvGrpSpPr>
          <p:cNvPr id="75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76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77" name="TextBox 76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23742" y="2033924"/>
            <a:ext cx="18964779" cy="7409729"/>
            <a:chOff x="0" y="0"/>
            <a:chExt cx="24384000" cy="95270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9527072"/>
            </a:xfrm>
            <a:custGeom>
              <a:avLst/>
              <a:gdLst/>
              <a:ahLst/>
              <a:cxnLst/>
              <a:rect l="l" t="t" r="r" b="b"/>
              <a:pathLst>
                <a:path w="24384000" h="9527072">
                  <a:moveTo>
                    <a:pt x="0" y="0"/>
                  </a:moveTo>
                  <a:lnTo>
                    <a:pt x="24384000" y="0"/>
                  </a:lnTo>
                  <a:lnTo>
                    <a:pt x="24384000" y="9527072"/>
                  </a:lnTo>
                  <a:lnTo>
                    <a:pt x="0" y="9527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1984" b="-2198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spc="2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AI의 진화 단계: 도구에서 동료로</a:t>
              </a:r>
            </a:p>
          </p:txBody>
        </p:sp>
      </p:grpSp>
      <p:grpSp>
        <p:nvGrpSpPr>
          <p:cNvPr id="11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2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3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4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5" name="TextBox 1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1차시-01 | 의료기관 CS 업무와 AI 도입 이해</a:t>
              </a:r>
            </a:p>
          </p:txBody>
        </p:sp>
      </p:grpSp>
      <p:grpSp>
        <p:nvGrpSpPr>
          <p:cNvPr id="16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7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8" name="TextBox 1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8200" y="1409700"/>
            <a:ext cx="19646104" cy="7884975"/>
            <a:chOff x="0" y="0"/>
            <a:chExt cx="24384000" cy="97865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9786532"/>
            </a:xfrm>
            <a:custGeom>
              <a:avLst/>
              <a:gdLst/>
              <a:ahLst/>
              <a:cxnLst/>
              <a:rect l="l" t="t" r="r" b="b"/>
              <a:pathLst>
                <a:path w="24384000" h="9786532">
                  <a:moveTo>
                    <a:pt x="0" y="0"/>
                  </a:moveTo>
                  <a:lnTo>
                    <a:pt x="24384000" y="0"/>
                  </a:lnTo>
                  <a:lnTo>
                    <a:pt x="24384000" y="9786532"/>
                  </a:lnTo>
                  <a:lnTo>
                    <a:pt x="0" y="9786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075" b="-2007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spc="2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AI 에이전트란?</a:t>
              </a:r>
            </a:p>
          </p:txBody>
        </p:sp>
      </p:grpSp>
      <p:grpSp>
        <p:nvGrpSpPr>
          <p:cNvPr id="11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2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3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4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5" name="TextBox 1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1차시-01 | 의료기관 CS 업무와 AI 도입 이해</a:t>
              </a:r>
            </a:p>
          </p:txBody>
        </p:sp>
      </p:grpSp>
      <p:grpSp>
        <p:nvGrpSpPr>
          <p:cNvPr id="16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7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8" name="TextBox 1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85955" y="253635"/>
            <a:ext cx="20059910" cy="10033365"/>
            <a:chOff x="0" y="0"/>
            <a:chExt cx="24384000" cy="121961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2196145"/>
            </a:xfrm>
            <a:custGeom>
              <a:avLst/>
              <a:gdLst/>
              <a:ahLst/>
              <a:cxnLst/>
              <a:rect l="l" t="t" r="r" b="b"/>
              <a:pathLst>
                <a:path w="24384000" h="12196145">
                  <a:moveTo>
                    <a:pt x="0" y="0"/>
                  </a:moveTo>
                  <a:lnTo>
                    <a:pt x="24384000" y="0"/>
                  </a:lnTo>
                  <a:lnTo>
                    <a:pt x="24384000" y="12196145"/>
                  </a:lnTo>
                  <a:lnTo>
                    <a:pt x="0" y="1219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230" b="-623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spc="2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기존 챗봇 vs AI 에이전트</a:t>
              </a:r>
            </a:p>
          </p:txBody>
        </p:sp>
      </p:grpSp>
      <p:grpSp>
        <p:nvGrpSpPr>
          <p:cNvPr id="11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2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3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4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5" name="TextBox 1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1차시-01 | 의료기관 CS 업무와 AI 도입 이해</a:t>
              </a:r>
            </a:p>
          </p:txBody>
        </p:sp>
      </p:grpSp>
      <p:grpSp>
        <p:nvGrpSpPr>
          <p:cNvPr id="16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7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8" name="TextBox 1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400" y="1740626"/>
            <a:ext cx="18288000" cy="7617928"/>
            <a:chOff x="0" y="0"/>
            <a:chExt cx="24384000" cy="101572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57237"/>
            </a:xfrm>
            <a:custGeom>
              <a:avLst/>
              <a:gdLst/>
              <a:ahLst/>
              <a:cxnLst/>
              <a:rect l="l" t="t" r="r" b="b"/>
              <a:pathLst>
                <a:path w="24384000" h="10157237">
                  <a:moveTo>
                    <a:pt x="0" y="0"/>
                  </a:moveTo>
                  <a:lnTo>
                    <a:pt x="24384000" y="0"/>
                  </a:lnTo>
                  <a:lnTo>
                    <a:pt x="24384000" y="10157237"/>
                  </a:lnTo>
                  <a:lnTo>
                    <a:pt x="0" y="10157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7518" b="-1751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spc="2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범용 AI 모델의 종류와 특징</a:t>
              </a:r>
            </a:p>
          </p:txBody>
        </p:sp>
      </p:grpSp>
      <p:grpSp>
        <p:nvGrpSpPr>
          <p:cNvPr id="11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2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3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4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5" name="TextBox 1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1차시-01 | 의료기관 CS 업무와 AI 도입 이해</a:t>
              </a:r>
            </a:p>
          </p:txBody>
        </p:sp>
      </p:grpSp>
      <p:grpSp>
        <p:nvGrpSpPr>
          <p:cNvPr id="16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7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8" name="TextBox 1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AI 활용 CS 업무 윤리 및 환자정보 보호 가이드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2011680"/>
            <a:ext cx="1097280" cy="1133856"/>
            <a:chOff x="0" y="0"/>
            <a:chExt cx="1463040" cy="15118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3040" cy="1511808"/>
            </a:xfrm>
            <a:custGeom>
              <a:avLst/>
              <a:gdLst/>
              <a:ahLst/>
              <a:cxnLst/>
              <a:rect l="l" t="t" r="r" b="b"/>
              <a:pathLst>
                <a:path w="1463040" h="1511808">
                  <a:moveTo>
                    <a:pt x="0" y="0"/>
                  </a:moveTo>
                  <a:lnTo>
                    <a:pt x="1463040" y="0"/>
                  </a:lnTo>
                  <a:lnTo>
                    <a:pt x="14630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0080" y="2011680"/>
            <a:ext cx="1097280" cy="1133856"/>
            <a:chOff x="0" y="0"/>
            <a:chExt cx="1463040" cy="15118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040" cy="1511808"/>
            </a:xfrm>
            <a:custGeom>
              <a:avLst/>
              <a:gdLst/>
              <a:ahLst/>
              <a:cxnLst/>
              <a:rect l="l" t="t" r="r" b="b"/>
              <a:pathLst>
                <a:path w="1463040" h="1511808">
                  <a:moveTo>
                    <a:pt x="0" y="0"/>
                  </a:moveTo>
                  <a:lnTo>
                    <a:pt x="1463040" y="0"/>
                  </a:lnTo>
                  <a:lnTo>
                    <a:pt x="14630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580" r="-8258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46304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spc="1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⚠️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20240" y="2011680"/>
            <a:ext cx="15727680" cy="1133856"/>
            <a:chOff x="0" y="0"/>
            <a:chExt cx="20970240" cy="15118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70239" cy="1511808"/>
            </a:xfrm>
            <a:custGeom>
              <a:avLst/>
              <a:gdLst/>
              <a:ahLst/>
              <a:cxnLst/>
              <a:rect l="l" t="t" r="r" b="b"/>
              <a:pathLst>
                <a:path w="20970239" h="1511808">
                  <a:moveTo>
                    <a:pt x="0" y="0"/>
                  </a:moveTo>
                  <a:lnTo>
                    <a:pt x="20970239" y="0"/>
                  </a:lnTo>
                  <a:lnTo>
                    <a:pt x="2097023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2103120" y="2011680"/>
            <a:ext cx="3657600" cy="1133856"/>
            <a:chOff x="0" y="0"/>
            <a:chExt cx="4876800" cy="1511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76800" cy="1511808"/>
            </a:xfrm>
            <a:custGeom>
              <a:avLst/>
              <a:gdLst/>
              <a:ahLst/>
              <a:cxnLst/>
              <a:rect l="l" t="t" r="r" b="b"/>
              <a:pathLst>
                <a:path w="4876800" h="1511808">
                  <a:moveTo>
                    <a:pt x="0" y="0"/>
                  </a:moveTo>
                  <a:lnTo>
                    <a:pt x="4876800" y="0"/>
                  </a:lnTo>
                  <a:lnTo>
                    <a:pt x="48768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54" b="-12854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4876800" cy="1502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spc="9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개인정보 입력 금지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43600" y="2011680"/>
            <a:ext cx="11521440" cy="1133856"/>
            <a:chOff x="0" y="0"/>
            <a:chExt cx="15361920" cy="1511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361920" cy="1511808"/>
            </a:xfrm>
            <a:custGeom>
              <a:avLst/>
              <a:gdLst/>
              <a:ahLst/>
              <a:cxnLst/>
              <a:rect l="l" t="t" r="r" b="b"/>
              <a:pathLst>
                <a:path w="15361920" h="1511808">
                  <a:moveTo>
                    <a:pt x="0" y="0"/>
                  </a:moveTo>
                  <a:lnTo>
                    <a:pt x="15361920" y="0"/>
                  </a:lnTo>
                  <a:lnTo>
                    <a:pt x="15361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993" b="-147993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1536192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환자명·주민번호·연락처·진료기록 등 개인식별 정보를 AI에 직접 입력하지 않는다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40080" y="3511296"/>
            <a:ext cx="1097280" cy="1133856"/>
            <a:chOff x="0" y="0"/>
            <a:chExt cx="1463040" cy="1511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63040" cy="1511808"/>
            </a:xfrm>
            <a:custGeom>
              <a:avLst/>
              <a:gdLst/>
              <a:ahLst/>
              <a:cxnLst/>
              <a:rect l="l" t="t" r="r" b="b"/>
              <a:pathLst>
                <a:path w="1463040" h="1511808">
                  <a:moveTo>
                    <a:pt x="0" y="0"/>
                  </a:moveTo>
                  <a:lnTo>
                    <a:pt x="1463040" y="0"/>
                  </a:lnTo>
                  <a:lnTo>
                    <a:pt x="14630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40080" y="3511296"/>
            <a:ext cx="1097280" cy="1133856"/>
            <a:chOff x="0" y="0"/>
            <a:chExt cx="1463040" cy="151180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63040" cy="1511808"/>
            </a:xfrm>
            <a:custGeom>
              <a:avLst/>
              <a:gdLst/>
              <a:ahLst/>
              <a:cxnLst/>
              <a:rect l="l" t="t" r="r" b="b"/>
              <a:pathLst>
                <a:path w="1463040" h="1511808">
                  <a:moveTo>
                    <a:pt x="0" y="0"/>
                  </a:moveTo>
                  <a:lnTo>
                    <a:pt x="1463040" y="0"/>
                  </a:lnTo>
                  <a:lnTo>
                    <a:pt x="14630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580" r="-8258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46304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spc="1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🔒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20240" y="3511296"/>
            <a:ext cx="15727680" cy="1133856"/>
            <a:chOff x="0" y="0"/>
            <a:chExt cx="20970240" cy="151180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970239" cy="1511808"/>
            </a:xfrm>
            <a:custGeom>
              <a:avLst/>
              <a:gdLst/>
              <a:ahLst/>
              <a:cxnLst/>
              <a:rect l="l" t="t" r="r" b="b"/>
              <a:pathLst>
                <a:path w="20970239" h="1511808">
                  <a:moveTo>
                    <a:pt x="0" y="0"/>
                  </a:moveTo>
                  <a:lnTo>
                    <a:pt x="20970239" y="0"/>
                  </a:lnTo>
                  <a:lnTo>
                    <a:pt x="2097023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2103120" y="3511296"/>
            <a:ext cx="3657600" cy="1133856"/>
            <a:chOff x="0" y="0"/>
            <a:chExt cx="4876800" cy="151180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76800" cy="1511808"/>
            </a:xfrm>
            <a:custGeom>
              <a:avLst/>
              <a:gdLst/>
              <a:ahLst/>
              <a:cxnLst/>
              <a:rect l="l" t="t" r="r" b="b"/>
              <a:pathLst>
                <a:path w="4876800" h="1511808">
                  <a:moveTo>
                    <a:pt x="0" y="0"/>
                  </a:moveTo>
                  <a:lnTo>
                    <a:pt x="4876800" y="0"/>
                  </a:lnTo>
                  <a:lnTo>
                    <a:pt x="48768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54" b="-12854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4876800" cy="1502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spc="9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익명화 처리 원칙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943600" y="3511296"/>
            <a:ext cx="11521440" cy="1133856"/>
            <a:chOff x="0" y="0"/>
            <a:chExt cx="15361920" cy="151180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361920" cy="1511808"/>
            </a:xfrm>
            <a:custGeom>
              <a:avLst/>
              <a:gdLst/>
              <a:ahLst/>
              <a:cxnLst/>
              <a:rect l="l" t="t" r="r" b="b"/>
              <a:pathLst>
                <a:path w="15361920" h="1511808">
                  <a:moveTo>
                    <a:pt x="0" y="0"/>
                  </a:moveTo>
                  <a:lnTo>
                    <a:pt x="15361920" y="0"/>
                  </a:lnTo>
                  <a:lnTo>
                    <a:pt x="15361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993" b="-14799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1536192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'환자 A' 등으로 익명화하거나 가상 사례로 대체하여 프롬프트 작성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0080" y="5010912"/>
            <a:ext cx="1097280" cy="1133856"/>
            <a:chOff x="0" y="0"/>
            <a:chExt cx="1463040" cy="151180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63040" cy="1511808"/>
            </a:xfrm>
            <a:custGeom>
              <a:avLst/>
              <a:gdLst/>
              <a:ahLst/>
              <a:cxnLst/>
              <a:rect l="l" t="t" r="r" b="b"/>
              <a:pathLst>
                <a:path w="1463040" h="1511808">
                  <a:moveTo>
                    <a:pt x="0" y="0"/>
                  </a:moveTo>
                  <a:lnTo>
                    <a:pt x="1463040" y="0"/>
                  </a:lnTo>
                  <a:lnTo>
                    <a:pt x="14630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640080" y="5010912"/>
            <a:ext cx="1097280" cy="1133856"/>
            <a:chOff x="0" y="0"/>
            <a:chExt cx="1463040" cy="151180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63040" cy="1511808"/>
            </a:xfrm>
            <a:custGeom>
              <a:avLst/>
              <a:gdLst/>
              <a:ahLst/>
              <a:cxnLst/>
              <a:rect l="l" t="t" r="r" b="b"/>
              <a:pathLst>
                <a:path w="1463040" h="1511808">
                  <a:moveTo>
                    <a:pt x="0" y="0"/>
                  </a:moveTo>
                  <a:lnTo>
                    <a:pt x="1463040" y="0"/>
                  </a:lnTo>
                  <a:lnTo>
                    <a:pt x="14630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580" r="-82580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46304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spc="1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✅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920240" y="5010912"/>
            <a:ext cx="15727680" cy="1133856"/>
            <a:chOff x="0" y="0"/>
            <a:chExt cx="20970240" cy="151180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0970239" cy="1511808"/>
            </a:xfrm>
            <a:custGeom>
              <a:avLst/>
              <a:gdLst/>
              <a:ahLst/>
              <a:cxnLst/>
              <a:rect l="l" t="t" r="r" b="b"/>
              <a:pathLst>
                <a:path w="20970239" h="1511808">
                  <a:moveTo>
                    <a:pt x="0" y="0"/>
                  </a:moveTo>
                  <a:lnTo>
                    <a:pt x="20970239" y="0"/>
                  </a:lnTo>
                  <a:lnTo>
                    <a:pt x="2097023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2103120" y="5010912"/>
            <a:ext cx="3657600" cy="1133856"/>
            <a:chOff x="0" y="0"/>
            <a:chExt cx="4876800" cy="151180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876800" cy="1511808"/>
            </a:xfrm>
            <a:custGeom>
              <a:avLst/>
              <a:gdLst/>
              <a:ahLst/>
              <a:cxnLst/>
              <a:rect l="l" t="t" r="r" b="b"/>
              <a:pathLst>
                <a:path w="4876800" h="1511808">
                  <a:moveTo>
                    <a:pt x="0" y="0"/>
                  </a:moveTo>
                  <a:lnTo>
                    <a:pt x="4876800" y="0"/>
                  </a:lnTo>
                  <a:lnTo>
                    <a:pt x="48768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54" b="-12854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9525"/>
              <a:ext cx="4876800" cy="1502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spc="9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AI 답변 검토 필수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943600" y="5010912"/>
            <a:ext cx="11521440" cy="1133856"/>
            <a:chOff x="0" y="0"/>
            <a:chExt cx="15361920" cy="151180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5361920" cy="1511808"/>
            </a:xfrm>
            <a:custGeom>
              <a:avLst/>
              <a:gdLst/>
              <a:ahLst/>
              <a:cxnLst/>
              <a:rect l="l" t="t" r="r" b="b"/>
              <a:pathLst>
                <a:path w="15361920" h="1511808">
                  <a:moveTo>
                    <a:pt x="0" y="0"/>
                  </a:moveTo>
                  <a:lnTo>
                    <a:pt x="15361920" y="0"/>
                  </a:lnTo>
                  <a:lnTo>
                    <a:pt x="15361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993" b="-14799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1536192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AI가 생성한 내용은 반드시 직원이 검토 후 사용 – 오류·편향 주의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0080" y="6510528"/>
            <a:ext cx="1097280" cy="1133856"/>
            <a:chOff x="0" y="0"/>
            <a:chExt cx="1463040" cy="151180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63040" cy="1511808"/>
            </a:xfrm>
            <a:custGeom>
              <a:avLst/>
              <a:gdLst/>
              <a:ahLst/>
              <a:cxnLst/>
              <a:rect l="l" t="t" r="r" b="b"/>
              <a:pathLst>
                <a:path w="1463040" h="1511808">
                  <a:moveTo>
                    <a:pt x="0" y="0"/>
                  </a:moveTo>
                  <a:lnTo>
                    <a:pt x="1463040" y="0"/>
                  </a:lnTo>
                  <a:lnTo>
                    <a:pt x="14630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640080" y="6510528"/>
            <a:ext cx="1097280" cy="1133856"/>
            <a:chOff x="0" y="0"/>
            <a:chExt cx="1463040" cy="151180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463040" cy="1511808"/>
            </a:xfrm>
            <a:custGeom>
              <a:avLst/>
              <a:gdLst/>
              <a:ahLst/>
              <a:cxnLst/>
              <a:rect l="l" t="t" r="r" b="b"/>
              <a:pathLst>
                <a:path w="1463040" h="1511808">
                  <a:moveTo>
                    <a:pt x="0" y="0"/>
                  </a:moveTo>
                  <a:lnTo>
                    <a:pt x="1463040" y="0"/>
                  </a:lnTo>
                  <a:lnTo>
                    <a:pt x="14630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580" r="-8258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146304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spc="1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📋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920240" y="6510528"/>
            <a:ext cx="15727680" cy="1133856"/>
            <a:chOff x="0" y="0"/>
            <a:chExt cx="20970240" cy="151180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0970239" cy="1511808"/>
            </a:xfrm>
            <a:custGeom>
              <a:avLst/>
              <a:gdLst/>
              <a:ahLst/>
              <a:cxnLst/>
              <a:rect l="l" t="t" r="r" b="b"/>
              <a:pathLst>
                <a:path w="20970239" h="1511808">
                  <a:moveTo>
                    <a:pt x="0" y="0"/>
                  </a:moveTo>
                  <a:lnTo>
                    <a:pt x="20970239" y="0"/>
                  </a:lnTo>
                  <a:lnTo>
                    <a:pt x="2097023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2103120" y="6510528"/>
            <a:ext cx="3657600" cy="1133856"/>
            <a:chOff x="0" y="0"/>
            <a:chExt cx="4876800" cy="151180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876800" cy="1511808"/>
            </a:xfrm>
            <a:custGeom>
              <a:avLst/>
              <a:gdLst/>
              <a:ahLst/>
              <a:cxnLst/>
              <a:rect l="l" t="t" r="r" b="b"/>
              <a:pathLst>
                <a:path w="4876800" h="1511808">
                  <a:moveTo>
                    <a:pt x="0" y="0"/>
                  </a:moveTo>
                  <a:lnTo>
                    <a:pt x="4876800" y="0"/>
                  </a:lnTo>
                  <a:lnTo>
                    <a:pt x="48768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54" b="-12854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9525"/>
              <a:ext cx="4876800" cy="1502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spc="9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기관 정책 우선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943600" y="6510528"/>
            <a:ext cx="11521440" cy="1133856"/>
            <a:chOff x="0" y="0"/>
            <a:chExt cx="15361920" cy="151180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5361920" cy="1511808"/>
            </a:xfrm>
            <a:custGeom>
              <a:avLst/>
              <a:gdLst/>
              <a:ahLst/>
              <a:cxnLst/>
              <a:rect l="l" t="t" r="r" b="b"/>
              <a:pathLst>
                <a:path w="15361920" h="1511808">
                  <a:moveTo>
                    <a:pt x="0" y="0"/>
                  </a:moveTo>
                  <a:lnTo>
                    <a:pt x="15361920" y="0"/>
                  </a:lnTo>
                  <a:lnTo>
                    <a:pt x="15361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993" b="-147993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0"/>
              <a:ext cx="1536192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AI 활용 전 기관의 디지털 보안 정책 및 개인정보 처리 방침 확인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40080" y="8010144"/>
            <a:ext cx="1097280" cy="1133856"/>
            <a:chOff x="0" y="0"/>
            <a:chExt cx="1463040" cy="151180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463040" cy="1511808"/>
            </a:xfrm>
            <a:custGeom>
              <a:avLst/>
              <a:gdLst/>
              <a:ahLst/>
              <a:cxnLst/>
              <a:rect l="l" t="t" r="r" b="b"/>
              <a:pathLst>
                <a:path w="1463040" h="1511808">
                  <a:moveTo>
                    <a:pt x="0" y="0"/>
                  </a:moveTo>
                  <a:lnTo>
                    <a:pt x="1463040" y="0"/>
                  </a:lnTo>
                  <a:lnTo>
                    <a:pt x="14630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640080" y="8010144"/>
            <a:ext cx="1097280" cy="1133856"/>
            <a:chOff x="0" y="0"/>
            <a:chExt cx="1463040" cy="151180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463040" cy="1511808"/>
            </a:xfrm>
            <a:custGeom>
              <a:avLst/>
              <a:gdLst/>
              <a:ahLst/>
              <a:cxnLst/>
              <a:rect l="l" t="t" r="r" b="b"/>
              <a:pathLst>
                <a:path w="1463040" h="1511808">
                  <a:moveTo>
                    <a:pt x="0" y="0"/>
                  </a:moveTo>
                  <a:lnTo>
                    <a:pt x="1463040" y="0"/>
                  </a:lnTo>
                  <a:lnTo>
                    <a:pt x="14630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580" r="-82580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146304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spc="1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🚫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920240" y="8010144"/>
            <a:ext cx="15727680" cy="1133856"/>
            <a:chOff x="0" y="0"/>
            <a:chExt cx="20970240" cy="151180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0970239" cy="1511808"/>
            </a:xfrm>
            <a:custGeom>
              <a:avLst/>
              <a:gdLst/>
              <a:ahLst/>
              <a:cxnLst/>
              <a:rect l="l" t="t" r="r" b="b"/>
              <a:pathLst>
                <a:path w="20970239" h="1511808">
                  <a:moveTo>
                    <a:pt x="0" y="0"/>
                  </a:moveTo>
                  <a:lnTo>
                    <a:pt x="20970239" y="0"/>
                  </a:lnTo>
                  <a:lnTo>
                    <a:pt x="2097023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2103120" y="8010144"/>
            <a:ext cx="3657600" cy="1133856"/>
            <a:chOff x="0" y="0"/>
            <a:chExt cx="4876800" cy="151180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876800" cy="1511808"/>
            </a:xfrm>
            <a:custGeom>
              <a:avLst/>
              <a:gdLst/>
              <a:ahLst/>
              <a:cxnLst/>
              <a:rect l="l" t="t" r="r" b="b"/>
              <a:pathLst>
                <a:path w="4876800" h="1511808">
                  <a:moveTo>
                    <a:pt x="0" y="0"/>
                  </a:moveTo>
                  <a:lnTo>
                    <a:pt x="4876800" y="0"/>
                  </a:lnTo>
                  <a:lnTo>
                    <a:pt x="48768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54" b="-12854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9525"/>
              <a:ext cx="4876800" cy="1502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spc="9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의료적 판단 금지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943600" y="8010144"/>
            <a:ext cx="11521440" cy="1133856"/>
            <a:chOff x="0" y="0"/>
            <a:chExt cx="15361920" cy="151180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5361920" cy="1511808"/>
            </a:xfrm>
            <a:custGeom>
              <a:avLst/>
              <a:gdLst/>
              <a:ahLst/>
              <a:cxnLst/>
              <a:rect l="l" t="t" r="r" b="b"/>
              <a:pathLst>
                <a:path w="15361920" h="1511808">
                  <a:moveTo>
                    <a:pt x="0" y="0"/>
                  </a:moveTo>
                  <a:lnTo>
                    <a:pt x="15361920" y="0"/>
                  </a:lnTo>
                  <a:lnTo>
                    <a:pt x="15361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993" b="-147993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1536192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진단·처방·의료적 판단은 AI로 대체 불가 – CS 업무 범위 내에서만 활용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40080" y="9144000"/>
            <a:ext cx="17007840" cy="402336"/>
            <a:chOff x="0" y="0"/>
            <a:chExt cx="22677120" cy="53644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0D2340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822960" y="9144000"/>
            <a:ext cx="16642080" cy="402336"/>
            <a:chOff x="0" y="0"/>
            <a:chExt cx="22189440" cy="536448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22189440" cy="545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📌 의료기관 종사자는 일반 사용자보다 더 높은 수준의 AI 윤리 의식이 요구됩니다.</a:t>
              </a:r>
            </a:p>
          </p:txBody>
        </p:sp>
      </p:grpSp>
      <p:grpSp>
        <p:nvGrpSpPr>
          <p:cNvPr id="79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80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81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82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3" name="TextBox 82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1차시-01 | 의료기관 CS 업무와 AI 도입 이해</a:t>
              </a:r>
            </a:p>
          </p:txBody>
        </p:sp>
      </p:grpSp>
      <p:grpSp>
        <p:nvGrpSpPr>
          <p:cNvPr id="84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85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86" name="TextBox 85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303020"/>
            <a:chOff x="0" y="0"/>
            <a:chExt cx="2438339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737360"/>
            </a:xfrm>
            <a:custGeom>
              <a:avLst/>
              <a:gdLst/>
              <a:ahLst/>
              <a:cxnLst/>
              <a:rect l="l" t="t" r="r" b="b"/>
              <a:pathLst>
                <a:path w="24383364" h="1737360">
                  <a:moveTo>
                    <a:pt x="0" y="0"/>
                  </a:moveTo>
                  <a:lnTo>
                    <a:pt x="24383364" y="0"/>
                  </a:lnTo>
                  <a:lnTo>
                    <a:pt x="2438336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380" y="96012"/>
            <a:ext cx="14401800" cy="1097280"/>
            <a:chOff x="0" y="0"/>
            <a:chExt cx="1920240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02400" cy="1463040"/>
            </a:xfrm>
            <a:custGeom>
              <a:avLst/>
              <a:gdLst/>
              <a:ahLst/>
              <a:cxnLst/>
              <a:rect l="l" t="t" r="r" b="b"/>
              <a:pathLst>
                <a:path w="19202400" h="1463040">
                  <a:moveTo>
                    <a:pt x="0" y="0"/>
                  </a:moveTo>
                  <a:lnTo>
                    <a:pt x="19202400" y="0"/>
                  </a:lnTo>
                  <a:lnTo>
                    <a:pt x="19202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5741" b="-20574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920240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[라이브 시연] ChatGPT로 30초 만에 응대 스크립트 만들기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303020"/>
            <a:ext cx="18287543" cy="82296"/>
            <a:chOff x="0" y="0"/>
            <a:chExt cx="24383390" cy="1097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3364" cy="109728"/>
            </a:xfrm>
            <a:custGeom>
              <a:avLst/>
              <a:gdLst/>
              <a:ahLst/>
              <a:cxnLst/>
              <a:rect l="l" t="t" r="r" b="b"/>
              <a:pathLst>
                <a:path w="24383364" h="109728">
                  <a:moveTo>
                    <a:pt x="0" y="0"/>
                  </a:moveTo>
                  <a:lnTo>
                    <a:pt x="24383364" y="0"/>
                  </a:lnTo>
                  <a:lnTo>
                    <a:pt x="24383364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54380" y="1536192"/>
            <a:ext cx="16733520" cy="548640"/>
            <a:chOff x="0" y="0"/>
            <a:chExt cx="22311360" cy="731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11361" cy="731520"/>
            </a:xfrm>
            <a:custGeom>
              <a:avLst/>
              <a:gdLst/>
              <a:ahLst/>
              <a:cxnLst/>
              <a:rect l="l" t="t" r="r" b="b"/>
              <a:pathLst>
                <a:path w="22311361" h="731520">
                  <a:moveTo>
                    <a:pt x="0" y="0"/>
                  </a:moveTo>
                  <a:lnTo>
                    <a:pt x="22311361" y="0"/>
                  </a:lnTo>
                  <a:lnTo>
                    <a:pt x="22311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4293" b="-54429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231136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지금 바로 보여드립니다 — 그리고 여러분도 스마트폰으로 함께 해봅니다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9710928"/>
            <a:ext cx="18287543" cy="576072"/>
            <a:chOff x="0" y="0"/>
            <a:chExt cx="24383390" cy="7680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3364" cy="768096"/>
            </a:xfrm>
            <a:custGeom>
              <a:avLst/>
              <a:gdLst/>
              <a:ahLst/>
              <a:cxnLst/>
              <a:rect l="l" t="t" r="r" b="b"/>
              <a:pathLst>
                <a:path w="24383364" h="768096">
                  <a:moveTo>
                    <a:pt x="0" y="0"/>
                  </a:moveTo>
                  <a:lnTo>
                    <a:pt x="24383364" y="0"/>
                  </a:lnTo>
                  <a:lnTo>
                    <a:pt x="24383364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54380" y="9710928"/>
            <a:ext cx="8915400" cy="576072"/>
            <a:chOff x="0" y="0"/>
            <a:chExt cx="11887200" cy="7680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887200" cy="768096"/>
            </a:xfrm>
            <a:custGeom>
              <a:avLst/>
              <a:gdLst/>
              <a:ahLst/>
              <a:cxnLst/>
              <a:rect l="l" t="t" r="r" b="b"/>
              <a:pathLst>
                <a:path w="11887200" h="768096">
                  <a:moveTo>
                    <a:pt x="0" y="0"/>
                  </a:moveTo>
                  <a:lnTo>
                    <a:pt x="11887200" y="0"/>
                  </a:lnTo>
                  <a:lnTo>
                    <a:pt x="11887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1554" b="-25155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18872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1차시 | ChatGPT 라이브 시연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26880" y="9710928"/>
            <a:ext cx="8229600" cy="576072"/>
            <a:chOff x="0" y="0"/>
            <a:chExt cx="10972800" cy="7680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72800" cy="768096"/>
            </a:xfrm>
            <a:custGeom>
              <a:avLst/>
              <a:gdLst/>
              <a:ahLst/>
              <a:cxnLst/>
              <a:rect l="l" t="t" r="r" b="b"/>
              <a:pathLst>
                <a:path w="10972800" h="768096">
                  <a:moveTo>
                    <a:pt x="0" y="0"/>
                  </a:moveTo>
                  <a:lnTo>
                    <a:pt x="10972800" y="0"/>
                  </a:lnTo>
                  <a:lnTo>
                    <a:pt x="10972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09728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ko-KR" altLang="en-US" sz="1600" dirty="0">
                  <a:solidFill>
                    <a:schemeClr val="bg1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575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|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부산여자대학교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DX교육운영센터</a:t>
              </a:r>
              <a:endParaRPr lang="en-US" sz="1575" dirty="0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4380" y="2304288"/>
            <a:ext cx="7612380" cy="713232"/>
            <a:chOff x="0" y="0"/>
            <a:chExt cx="10149840" cy="9509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49840" cy="950976"/>
            </a:xfrm>
            <a:custGeom>
              <a:avLst/>
              <a:gdLst/>
              <a:ahLst/>
              <a:cxnLst/>
              <a:rect l="l" t="t" r="r" b="b"/>
              <a:pathLst>
                <a:path w="10149840" h="950976">
                  <a:moveTo>
                    <a:pt x="0" y="0"/>
                  </a:moveTo>
                  <a:lnTo>
                    <a:pt x="10149840" y="0"/>
                  </a:lnTo>
                  <a:lnTo>
                    <a:pt x="101498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0F7E84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754380" y="2304288"/>
            <a:ext cx="7612380" cy="713232"/>
            <a:chOff x="0" y="0"/>
            <a:chExt cx="10149840" cy="95097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149840" cy="950976"/>
            </a:xfrm>
            <a:custGeom>
              <a:avLst/>
              <a:gdLst/>
              <a:ahLst/>
              <a:cxnLst/>
              <a:rect l="l" t="t" r="r" b="b"/>
              <a:pathLst>
                <a:path w="10149840" h="950976">
                  <a:moveTo>
                    <a:pt x="0" y="0"/>
                  </a:moveTo>
                  <a:lnTo>
                    <a:pt x="10149840" y="0"/>
                  </a:lnTo>
                  <a:lnTo>
                    <a:pt x="101498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7965" b="-157965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10149840" cy="970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시연 순서 4단계 (강사 화면)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4380" y="3209544"/>
            <a:ext cx="7612380" cy="1179576"/>
            <a:chOff x="0" y="0"/>
            <a:chExt cx="10149840" cy="157276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49840" cy="1572768"/>
            </a:xfrm>
            <a:custGeom>
              <a:avLst/>
              <a:gdLst/>
              <a:ahLst/>
              <a:cxnLst/>
              <a:rect l="l" t="t" r="r" b="b"/>
              <a:pathLst>
                <a:path w="10149840" h="1572768">
                  <a:moveTo>
                    <a:pt x="0" y="0"/>
                  </a:moveTo>
                  <a:lnTo>
                    <a:pt x="10149840" y="0"/>
                  </a:lnTo>
                  <a:lnTo>
                    <a:pt x="10149840" y="1572768"/>
                  </a:lnTo>
                  <a:lnTo>
                    <a:pt x="0" y="15727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028700" y="3456432"/>
            <a:ext cx="685800" cy="685800"/>
            <a:chOff x="0" y="0"/>
            <a:chExt cx="914400" cy="914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028700" y="3456432"/>
            <a:ext cx="685800" cy="685800"/>
            <a:chOff x="0" y="0"/>
            <a:chExt cx="914400" cy="91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988820" y="3209544"/>
            <a:ext cx="6103620" cy="1179576"/>
            <a:chOff x="0" y="0"/>
            <a:chExt cx="8138160" cy="157276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38160" cy="1572768"/>
            </a:xfrm>
            <a:custGeom>
              <a:avLst/>
              <a:gdLst/>
              <a:ahLst/>
              <a:cxnLst/>
              <a:rect l="l" t="t" r="r" b="b"/>
              <a:pathLst>
                <a:path w="8138160" h="1572768">
                  <a:moveTo>
                    <a:pt x="0" y="0"/>
                  </a:moveTo>
                  <a:lnTo>
                    <a:pt x="8138160" y="0"/>
                  </a:lnTo>
                  <a:lnTo>
                    <a:pt x="813816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823" b="-5082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8138160" cy="15918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접속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chatgpt.com 접속 — 브라우저만 있으면 시작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54380" y="4581144"/>
            <a:ext cx="7612380" cy="1179576"/>
            <a:chOff x="0" y="0"/>
            <a:chExt cx="10149840" cy="157276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149840" cy="1572768"/>
            </a:xfrm>
            <a:custGeom>
              <a:avLst/>
              <a:gdLst/>
              <a:ahLst/>
              <a:cxnLst/>
              <a:rect l="l" t="t" r="r" b="b"/>
              <a:pathLst>
                <a:path w="10149840" h="1572768">
                  <a:moveTo>
                    <a:pt x="0" y="0"/>
                  </a:moveTo>
                  <a:lnTo>
                    <a:pt x="10149840" y="0"/>
                  </a:lnTo>
                  <a:lnTo>
                    <a:pt x="10149840" y="1572768"/>
                  </a:lnTo>
                  <a:lnTo>
                    <a:pt x="0" y="15727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028700" y="4828032"/>
            <a:ext cx="685800" cy="685800"/>
            <a:chOff x="0" y="0"/>
            <a:chExt cx="914400" cy="914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028700" y="4828032"/>
            <a:ext cx="685800" cy="685800"/>
            <a:chOff x="0" y="0"/>
            <a:chExt cx="914400" cy="914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988820" y="4581144"/>
            <a:ext cx="6103620" cy="1179576"/>
            <a:chOff x="0" y="0"/>
            <a:chExt cx="8138160" cy="157276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38160" cy="1572768"/>
            </a:xfrm>
            <a:custGeom>
              <a:avLst/>
              <a:gdLst/>
              <a:ahLst/>
              <a:cxnLst/>
              <a:rect l="l" t="t" r="r" b="b"/>
              <a:pathLst>
                <a:path w="8138160" h="1572768">
                  <a:moveTo>
                    <a:pt x="0" y="0"/>
                  </a:moveTo>
                  <a:lnTo>
                    <a:pt x="8138160" y="0"/>
                  </a:lnTo>
                  <a:lnTo>
                    <a:pt x="813816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823" b="-50823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8138160" cy="15918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프롬프트 입력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오른쪽 시연 프롬프트를 그대로 복사해 입력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54380" y="5952744"/>
            <a:ext cx="7612380" cy="1179576"/>
            <a:chOff x="0" y="0"/>
            <a:chExt cx="10149840" cy="157276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149840" cy="1572768"/>
            </a:xfrm>
            <a:custGeom>
              <a:avLst/>
              <a:gdLst/>
              <a:ahLst/>
              <a:cxnLst/>
              <a:rect l="l" t="t" r="r" b="b"/>
              <a:pathLst>
                <a:path w="10149840" h="1572768">
                  <a:moveTo>
                    <a:pt x="0" y="0"/>
                  </a:moveTo>
                  <a:lnTo>
                    <a:pt x="10149840" y="0"/>
                  </a:lnTo>
                  <a:lnTo>
                    <a:pt x="10149840" y="1572768"/>
                  </a:lnTo>
                  <a:lnTo>
                    <a:pt x="0" y="15727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028700" y="6199632"/>
            <a:ext cx="685800" cy="685800"/>
            <a:chOff x="0" y="0"/>
            <a:chExt cx="914400" cy="914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028700" y="6199632"/>
            <a:ext cx="685800" cy="685800"/>
            <a:chOff x="0" y="0"/>
            <a:chExt cx="914400" cy="914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988820" y="5952744"/>
            <a:ext cx="6103620" cy="1179576"/>
            <a:chOff x="0" y="0"/>
            <a:chExt cx="8138160" cy="157276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38160" cy="1572768"/>
            </a:xfrm>
            <a:custGeom>
              <a:avLst/>
              <a:gdLst/>
              <a:ahLst/>
              <a:cxnLst/>
              <a:rect l="l" t="t" r="r" b="b"/>
              <a:pathLst>
                <a:path w="8138160" h="1572768">
                  <a:moveTo>
                    <a:pt x="0" y="0"/>
                  </a:moveTo>
                  <a:lnTo>
                    <a:pt x="8138160" y="0"/>
                  </a:lnTo>
                  <a:lnTo>
                    <a:pt x="813816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823" b="-50823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8138160" cy="15918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결과 확인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30초 내 스크립트 3가지 생성 — 함께 검토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54380" y="7324344"/>
            <a:ext cx="7612380" cy="1179576"/>
            <a:chOff x="0" y="0"/>
            <a:chExt cx="10149840" cy="157276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149840" cy="1572768"/>
            </a:xfrm>
            <a:custGeom>
              <a:avLst/>
              <a:gdLst/>
              <a:ahLst/>
              <a:cxnLst/>
              <a:rect l="l" t="t" r="r" b="b"/>
              <a:pathLst>
                <a:path w="10149840" h="1572768">
                  <a:moveTo>
                    <a:pt x="0" y="0"/>
                  </a:moveTo>
                  <a:lnTo>
                    <a:pt x="10149840" y="0"/>
                  </a:lnTo>
                  <a:lnTo>
                    <a:pt x="10149840" y="1572768"/>
                  </a:lnTo>
                  <a:lnTo>
                    <a:pt x="0" y="15727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028700" y="7571232"/>
            <a:ext cx="685800" cy="685800"/>
            <a:chOff x="0" y="0"/>
            <a:chExt cx="914400" cy="9144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028700" y="7571232"/>
            <a:ext cx="685800" cy="685800"/>
            <a:chOff x="0" y="0"/>
            <a:chExt cx="914400" cy="9144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988820" y="7324344"/>
            <a:ext cx="6103620" cy="1179576"/>
            <a:chOff x="0" y="0"/>
            <a:chExt cx="8138160" cy="157276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138160" cy="1572768"/>
            </a:xfrm>
            <a:custGeom>
              <a:avLst/>
              <a:gdLst/>
              <a:ahLst/>
              <a:cxnLst/>
              <a:rect l="l" t="t" r="r" b="b"/>
              <a:pathLst>
                <a:path w="8138160" h="1572768">
                  <a:moveTo>
                    <a:pt x="0" y="0"/>
                  </a:moveTo>
                  <a:lnTo>
                    <a:pt x="8138160" y="0"/>
                  </a:lnTo>
                  <a:lnTo>
                    <a:pt x="813816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823" b="-50823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8138160" cy="15918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개선 요청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“더 따뜻하게 바꿔줘” 한마디로 즉시 수정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778240" y="2304288"/>
            <a:ext cx="8778240" cy="713232"/>
            <a:chOff x="0" y="0"/>
            <a:chExt cx="11704320" cy="95097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1704320" cy="950976"/>
            </a:xfrm>
            <a:custGeom>
              <a:avLst/>
              <a:gdLst/>
              <a:ahLst/>
              <a:cxnLst/>
              <a:rect l="l" t="t" r="r" b="b"/>
              <a:pathLst>
                <a:path w="11704320" h="950976">
                  <a:moveTo>
                    <a:pt x="0" y="0"/>
                  </a:moveTo>
                  <a:lnTo>
                    <a:pt x="11704320" y="0"/>
                  </a:lnTo>
                  <a:lnTo>
                    <a:pt x="1170432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8778240" y="2304288"/>
            <a:ext cx="8778240" cy="713232"/>
            <a:chOff x="0" y="0"/>
            <a:chExt cx="11704320" cy="95097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1704320" cy="950976"/>
            </a:xfrm>
            <a:custGeom>
              <a:avLst/>
              <a:gdLst/>
              <a:ahLst/>
              <a:cxnLst/>
              <a:rect l="l" t="t" r="r" b="b"/>
              <a:pathLst>
                <a:path w="11704320" h="950976">
                  <a:moveTo>
                    <a:pt x="0" y="0"/>
                  </a:moveTo>
                  <a:lnTo>
                    <a:pt x="11704320" y="0"/>
                  </a:lnTo>
                  <a:lnTo>
                    <a:pt x="117043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9815" b="-189815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11704320" cy="970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시연 프롬프트 (그대로 복사해서 사용하세요)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778240" y="3017520"/>
            <a:ext cx="8778240" cy="3154680"/>
            <a:chOff x="0" y="0"/>
            <a:chExt cx="11704320" cy="420624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1704320" cy="4206240"/>
            </a:xfrm>
            <a:custGeom>
              <a:avLst/>
              <a:gdLst/>
              <a:ahLst/>
              <a:cxnLst/>
              <a:rect l="l" t="t" r="r" b="b"/>
              <a:pathLst>
                <a:path w="11704320" h="4206240">
                  <a:moveTo>
                    <a:pt x="0" y="0"/>
                  </a:moveTo>
                  <a:lnTo>
                    <a:pt x="11704320" y="0"/>
                  </a:lnTo>
                  <a:lnTo>
                    <a:pt x="1170432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16243A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9258300" y="3017520"/>
            <a:ext cx="7818120" cy="3154680"/>
            <a:chOff x="0" y="0"/>
            <a:chExt cx="10424160" cy="420624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0424160" cy="4206240"/>
            </a:xfrm>
            <a:custGeom>
              <a:avLst/>
              <a:gdLst/>
              <a:ahLst/>
              <a:cxnLst/>
              <a:rect l="l" t="t" r="r" b="b"/>
              <a:pathLst>
                <a:path w="10424160" h="4206240">
                  <a:moveTo>
                    <a:pt x="0" y="0"/>
                  </a:moveTo>
                  <a:lnTo>
                    <a:pt x="10424160" y="0"/>
                  </a:lnTo>
                  <a:lnTo>
                    <a:pt x="1042416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71" r="-1771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10424160" cy="4225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너는 병원 CS 전담 직원이야.</a:t>
              </a:r>
            </a:p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진료 대기 2시간으로 화가 난 환자가</a:t>
              </a:r>
            </a:p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접수창구에서 항의하고 있어.</a:t>
              </a:r>
            </a:p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공감하고 대안을 제시하는 응대 스크립트를</a:t>
              </a:r>
            </a:p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3가지 작성해줘. 각 3문장 이내, 경어체 사용.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768715" y="6409563"/>
            <a:ext cx="8797290" cy="1253490"/>
            <a:chOff x="0" y="0"/>
            <a:chExt cx="11729720" cy="167132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1729720" cy="1671320"/>
            </a:xfrm>
            <a:custGeom>
              <a:avLst/>
              <a:gdLst/>
              <a:ahLst/>
              <a:cxnLst/>
              <a:rect l="l" t="t" r="r" b="b"/>
              <a:pathLst>
                <a:path w="11729720" h="1671320">
                  <a:moveTo>
                    <a:pt x="0" y="0"/>
                  </a:moveTo>
                  <a:lnTo>
                    <a:pt x="11729720" y="0"/>
                  </a:lnTo>
                  <a:lnTo>
                    <a:pt x="11729720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EAF6F1"/>
            </a:solidFill>
            <a:ln w="19050" cap="sq">
              <a:solidFill>
                <a:srgbClr val="217A46"/>
              </a:solidFill>
              <a:prstDash val="solid"/>
              <a:miter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9189720" y="6419088"/>
            <a:ext cx="7955280" cy="1234440"/>
            <a:chOff x="0" y="0"/>
            <a:chExt cx="10607040" cy="164592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0607040" cy="1645920"/>
            </a:xfrm>
            <a:custGeom>
              <a:avLst/>
              <a:gdLst/>
              <a:ahLst/>
              <a:cxnLst/>
              <a:rect l="l" t="t" r="r" b="b"/>
              <a:pathLst>
                <a:path w="10607040" h="1645920">
                  <a:moveTo>
                    <a:pt x="0" y="0"/>
                  </a:moveTo>
                  <a:lnTo>
                    <a:pt x="10607040" y="0"/>
                  </a:lnTo>
                  <a:lnTo>
                    <a:pt x="10607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5570" b="-75570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9525"/>
              <a:ext cx="1060704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217A4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수강생도 함께!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E5945"/>
                  </a:solidFill>
                  <a:latin typeface="Arial"/>
                  <a:ea typeface="Arial"/>
                  <a:cs typeface="Arial"/>
                  <a:sym typeface="Arial"/>
                </a:rPr>
                <a:t>스마트폰으로 같은 프롬프트를 입력해 보세요 — 오늘의 첫 성공 경험입니다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44855" y="8700135"/>
            <a:ext cx="16821150" cy="814578"/>
            <a:chOff x="0" y="0"/>
            <a:chExt cx="22428200" cy="108610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2428200" cy="1086104"/>
            </a:xfrm>
            <a:custGeom>
              <a:avLst/>
              <a:gdLst/>
              <a:ahLst/>
              <a:cxnLst/>
              <a:rect l="l" t="t" r="r" b="b"/>
              <a:pathLst>
                <a:path w="22428200" h="1086104">
                  <a:moveTo>
                    <a:pt x="0" y="0"/>
                  </a:moveTo>
                  <a:lnTo>
                    <a:pt x="22428200" y="0"/>
                  </a:lnTo>
                  <a:lnTo>
                    <a:pt x="22428200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FDEEEE"/>
            </a:solidFill>
            <a:ln w="19050" cap="sq">
              <a:solidFill>
                <a:srgbClr val="B03A3A"/>
              </a:solidFill>
              <a:prstDash val="solid"/>
              <a:miter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754380" y="8709660"/>
            <a:ext cx="16802100" cy="795528"/>
            <a:chOff x="0" y="0"/>
            <a:chExt cx="22402800" cy="106070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2402800" cy="1060704"/>
            </a:xfrm>
            <a:custGeom>
              <a:avLst/>
              <a:gdLst/>
              <a:ahLst/>
              <a:cxnLst/>
              <a:rect l="l" t="t" r="r" b="b"/>
              <a:pathLst>
                <a:path w="22402800" h="1060704">
                  <a:moveTo>
                    <a:pt x="0" y="0"/>
                  </a:moveTo>
                  <a:lnTo>
                    <a:pt x="22402800" y="0"/>
                  </a:lnTo>
                  <a:lnTo>
                    <a:pt x="224028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1537" b="-361537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28575"/>
              <a:ext cx="22402800" cy="10892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B03A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주의  </a:t>
              </a:r>
              <a:r>
                <a:rPr lang="en-US" sz="1875">
                  <a:solidFill>
                    <a:srgbClr val="7A3030"/>
                  </a:solidFill>
                  <a:latin typeface="Arial"/>
                  <a:ea typeface="Arial"/>
                  <a:cs typeface="Arial"/>
                  <a:sym typeface="Arial"/>
                </a:rPr>
                <a:t>실제 환자 이름·생년월일·진료기록은 절대 입력 금지 — 시연과 실습 모두 익명·가상 사례로만 진행합니다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303020"/>
            <a:chOff x="0" y="0"/>
            <a:chExt cx="2438339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737360"/>
            </a:xfrm>
            <a:custGeom>
              <a:avLst/>
              <a:gdLst/>
              <a:ahLst/>
              <a:cxnLst/>
              <a:rect l="l" t="t" r="r" b="b"/>
              <a:pathLst>
                <a:path w="24383364" h="1737360">
                  <a:moveTo>
                    <a:pt x="0" y="0"/>
                  </a:moveTo>
                  <a:lnTo>
                    <a:pt x="24383364" y="0"/>
                  </a:lnTo>
                  <a:lnTo>
                    <a:pt x="2438336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380" y="96012"/>
            <a:ext cx="14401800" cy="1097280"/>
            <a:chOff x="0" y="0"/>
            <a:chExt cx="1920240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02400" cy="1463040"/>
            </a:xfrm>
            <a:custGeom>
              <a:avLst/>
              <a:gdLst/>
              <a:ahLst/>
              <a:cxnLst/>
              <a:rect l="l" t="t" r="r" b="b"/>
              <a:pathLst>
                <a:path w="19202400" h="1463040">
                  <a:moveTo>
                    <a:pt x="0" y="0"/>
                  </a:moveTo>
                  <a:lnTo>
                    <a:pt x="19202400" y="0"/>
                  </a:lnTo>
                  <a:lnTo>
                    <a:pt x="19202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5741" b="-20574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920240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79"/>
                </a:lnSpc>
              </a:pPr>
              <a:r>
                <a:rPr lang="en-US" sz="43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1차시 핵심 정리 — CS 업무와 AI 도입 이해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303020"/>
            <a:ext cx="18287543" cy="82296"/>
            <a:chOff x="0" y="0"/>
            <a:chExt cx="24383390" cy="1097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3364" cy="109728"/>
            </a:xfrm>
            <a:custGeom>
              <a:avLst/>
              <a:gdLst/>
              <a:ahLst/>
              <a:cxnLst/>
              <a:rect l="l" t="t" r="r" b="b"/>
              <a:pathLst>
                <a:path w="24383364" h="109728">
                  <a:moveTo>
                    <a:pt x="0" y="0"/>
                  </a:moveTo>
                  <a:lnTo>
                    <a:pt x="24383364" y="0"/>
                  </a:lnTo>
                  <a:lnTo>
                    <a:pt x="24383364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54380" y="1536192"/>
            <a:ext cx="16733520" cy="548640"/>
            <a:chOff x="0" y="0"/>
            <a:chExt cx="22311360" cy="731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11361" cy="731520"/>
            </a:xfrm>
            <a:custGeom>
              <a:avLst/>
              <a:gdLst/>
              <a:ahLst/>
              <a:cxnLst/>
              <a:rect l="l" t="t" r="r" b="b"/>
              <a:pathLst>
                <a:path w="22311361" h="731520">
                  <a:moveTo>
                    <a:pt x="0" y="0"/>
                  </a:moveTo>
                  <a:lnTo>
                    <a:pt x="22311361" y="0"/>
                  </a:lnTo>
                  <a:lnTo>
                    <a:pt x="22311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4293" b="-54429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231136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고충 → 사례 → 변화 → 윤리, 4가지 흐름만 기억하세요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9710928"/>
            <a:ext cx="18287543" cy="576072"/>
            <a:chOff x="0" y="0"/>
            <a:chExt cx="24383390" cy="7680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3364" cy="768096"/>
            </a:xfrm>
            <a:custGeom>
              <a:avLst/>
              <a:gdLst/>
              <a:ahLst/>
              <a:cxnLst/>
              <a:rect l="l" t="t" r="r" b="b"/>
              <a:pathLst>
                <a:path w="24383364" h="768096">
                  <a:moveTo>
                    <a:pt x="0" y="0"/>
                  </a:moveTo>
                  <a:lnTo>
                    <a:pt x="24383364" y="0"/>
                  </a:lnTo>
                  <a:lnTo>
                    <a:pt x="24383364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54380" y="9710928"/>
            <a:ext cx="8915400" cy="576072"/>
            <a:chOff x="0" y="0"/>
            <a:chExt cx="11887200" cy="7680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887200" cy="768096"/>
            </a:xfrm>
            <a:custGeom>
              <a:avLst/>
              <a:gdLst/>
              <a:ahLst/>
              <a:cxnLst/>
              <a:rect l="l" t="t" r="r" b="b"/>
              <a:pathLst>
                <a:path w="11887200" h="768096">
                  <a:moveTo>
                    <a:pt x="0" y="0"/>
                  </a:moveTo>
                  <a:lnTo>
                    <a:pt x="11887200" y="0"/>
                  </a:lnTo>
                  <a:lnTo>
                    <a:pt x="11887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1554" b="-25155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18872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1차시 | 핵심 정리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26880" y="9710928"/>
            <a:ext cx="8229600" cy="576072"/>
            <a:chOff x="0" y="0"/>
            <a:chExt cx="10972800" cy="7680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72800" cy="768096"/>
            </a:xfrm>
            <a:custGeom>
              <a:avLst/>
              <a:gdLst/>
              <a:ahLst/>
              <a:cxnLst/>
              <a:rect l="l" t="t" r="r" b="b"/>
              <a:pathLst>
                <a:path w="10972800" h="768096">
                  <a:moveTo>
                    <a:pt x="0" y="0"/>
                  </a:moveTo>
                  <a:lnTo>
                    <a:pt x="10972800" y="0"/>
                  </a:lnTo>
                  <a:lnTo>
                    <a:pt x="10972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09728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ko-KR" altLang="en-US" sz="1600" dirty="0">
                  <a:solidFill>
                    <a:schemeClr val="bg1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부산여자대학교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DX교육운영센터</a:t>
              </a:r>
              <a:endParaRPr lang="en-US" sz="1575" dirty="0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4380" y="2276856"/>
            <a:ext cx="2948940" cy="1344168"/>
            <a:chOff x="0" y="0"/>
            <a:chExt cx="3931920" cy="179222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31920" cy="1792224"/>
            </a:xfrm>
            <a:custGeom>
              <a:avLst/>
              <a:gdLst/>
              <a:ahLst/>
              <a:cxnLst/>
              <a:rect l="l" t="t" r="r" b="b"/>
              <a:pathLst>
                <a:path w="3931920" h="1792224">
                  <a:moveTo>
                    <a:pt x="0" y="0"/>
                  </a:moveTo>
                  <a:lnTo>
                    <a:pt x="3931920" y="0"/>
                  </a:lnTo>
                  <a:lnTo>
                    <a:pt x="3931920" y="1792224"/>
                  </a:lnTo>
                  <a:lnTo>
                    <a:pt x="0" y="1792224"/>
                  </a:lnTo>
                  <a:close/>
                </a:path>
              </a:pathLst>
            </a:custGeom>
            <a:solidFill>
              <a:srgbClr val="B03A3A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754380" y="2276856"/>
            <a:ext cx="2948940" cy="1344168"/>
            <a:chOff x="0" y="0"/>
            <a:chExt cx="3931920" cy="179222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931920" cy="1792224"/>
            </a:xfrm>
            <a:custGeom>
              <a:avLst/>
              <a:gdLst/>
              <a:ahLst/>
              <a:cxnLst/>
              <a:rect l="l" t="t" r="r" b="b"/>
              <a:pathLst>
                <a:path w="3931920" h="1792224">
                  <a:moveTo>
                    <a:pt x="0" y="0"/>
                  </a:moveTo>
                  <a:lnTo>
                    <a:pt x="3931920" y="0"/>
                  </a:lnTo>
                  <a:lnTo>
                    <a:pt x="393192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482" r="-8482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3931920" cy="180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  현장 고충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909060" y="2276856"/>
            <a:ext cx="13647420" cy="1344168"/>
            <a:chOff x="0" y="0"/>
            <a:chExt cx="18196560" cy="179222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8196561" cy="1792224"/>
            </a:xfrm>
            <a:custGeom>
              <a:avLst/>
              <a:gdLst/>
              <a:ahLst/>
              <a:cxnLst/>
              <a:rect l="l" t="t" r="r" b="b"/>
              <a:pathLst>
                <a:path w="18196561" h="1792224">
                  <a:moveTo>
                    <a:pt x="0" y="0"/>
                  </a:moveTo>
                  <a:lnTo>
                    <a:pt x="18196561" y="0"/>
                  </a:lnTo>
                  <a:lnTo>
                    <a:pt x="18196561" y="1792224"/>
                  </a:lnTo>
                  <a:lnTo>
                    <a:pt x="0" y="17922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4251960" y="2276856"/>
            <a:ext cx="13030200" cy="1344168"/>
            <a:chOff x="0" y="0"/>
            <a:chExt cx="17373600" cy="179222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7373600" cy="1792224"/>
            </a:xfrm>
            <a:custGeom>
              <a:avLst/>
              <a:gdLst/>
              <a:ahLst/>
              <a:cxnLst/>
              <a:rect l="l" t="t" r="r" b="b"/>
              <a:pathLst>
                <a:path w="17373600" h="1792224">
                  <a:moveTo>
                    <a:pt x="0" y="0"/>
                  </a:moveTo>
                  <a:lnTo>
                    <a:pt x="17373600" y="0"/>
                  </a:lnTo>
                  <a:lnTo>
                    <a:pt x="1737360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885" b="-138885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7373600" cy="180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보건의료 CS 현장의 주요 고충과 AI 도입 필요성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업무량 과다 · 감정노동 심화 · 기록 불일치 · 반복 문의 누적 — AI가 필요한 이유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54380" y="3895344"/>
            <a:ext cx="2948940" cy="1344168"/>
            <a:chOff x="0" y="0"/>
            <a:chExt cx="3931920" cy="179222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931920" cy="1792224"/>
            </a:xfrm>
            <a:custGeom>
              <a:avLst/>
              <a:gdLst/>
              <a:ahLst/>
              <a:cxnLst/>
              <a:rect l="l" t="t" r="r" b="b"/>
              <a:pathLst>
                <a:path w="3931920" h="1792224">
                  <a:moveTo>
                    <a:pt x="0" y="0"/>
                  </a:moveTo>
                  <a:lnTo>
                    <a:pt x="3931920" y="0"/>
                  </a:lnTo>
                  <a:lnTo>
                    <a:pt x="3931920" y="1792224"/>
                  </a:lnTo>
                  <a:lnTo>
                    <a:pt x="0" y="1792224"/>
                  </a:lnTo>
                  <a:close/>
                </a:path>
              </a:pathLst>
            </a:custGeom>
            <a:solidFill>
              <a:srgbClr val="0F7E84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754380" y="3895344"/>
            <a:ext cx="2948940" cy="1344168"/>
            <a:chOff x="0" y="0"/>
            <a:chExt cx="3931920" cy="179222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931920" cy="1792224"/>
            </a:xfrm>
            <a:custGeom>
              <a:avLst/>
              <a:gdLst/>
              <a:ahLst/>
              <a:cxnLst/>
              <a:rect l="l" t="t" r="r" b="b"/>
              <a:pathLst>
                <a:path w="3931920" h="1792224">
                  <a:moveTo>
                    <a:pt x="0" y="0"/>
                  </a:moveTo>
                  <a:lnTo>
                    <a:pt x="3931920" y="0"/>
                  </a:lnTo>
                  <a:lnTo>
                    <a:pt x="393192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482" r="-848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3931920" cy="180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  활용 사례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909060" y="3895344"/>
            <a:ext cx="13647420" cy="1344168"/>
            <a:chOff x="0" y="0"/>
            <a:chExt cx="18196560" cy="179222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8196561" cy="1792224"/>
            </a:xfrm>
            <a:custGeom>
              <a:avLst/>
              <a:gdLst/>
              <a:ahLst/>
              <a:cxnLst/>
              <a:rect l="l" t="t" r="r" b="b"/>
              <a:pathLst>
                <a:path w="18196561" h="1792224">
                  <a:moveTo>
                    <a:pt x="0" y="0"/>
                  </a:moveTo>
                  <a:lnTo>
                    <a:pt x="18196561" y="0"/>
                  </a:lnTo>
                  <a:lnTo>
                    <a:pt x="18196561" y="1792224"/>
                  </a:lnTo>
                  <a:lnTo>
                    <a:pt x="0" y="17922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4251960" y="3895344"/>
            <a:ext cx="13030200" cy="1344168"/>
            <a:chOff x="0" y="0"/>
            <a:chExt cx="17373600" cy="179222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373600" cy="1792224"/>
            </a:xfrm>
            <a:custGeom>
              <a:avLst/>
              <a:gdLst/>
              <a:ahLst/>
              <a:cxnLst/>
              <a:rect l="l" t="t" r="r" b="b"/>
              <a:pathLst>
                <a:path w="17373600" h="1792224">
                  <a:moveTo>
                    <a:pt x="0" y="0"/>
                  </a:moveTo>
                  <a:lnTo>
                    <a:pt x="17373600" y="0"/>
                  </a:lnTo>
                  <a:lnTo>
                    <a:pt x="1737360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885" b="-138885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17373600" cy="180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국내외 의료기관 CS AI 활용 사례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서울아산병원 챗봇 · Mayo Clinic 음성기록 · 건보공단 FAQ — 반복 업무 30~60% 절감 입증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54380" y="5513832"/>
            <a:ext cx="2948940" cy="1344168"/>
            <a:chOff x="0" y="0"/>
            <a:chExt cx="3931920" cy="179222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931920" cy="1792224"/>
            </a:xfrm>
            <a:custGeom>
              <a:avLst/>
              <a:gdLst/>
              <a:ahLst/>
              <a:cxnLst/>
              <a:rect l="l" t="t" r="r" b="b"/>
              <a:pathLst>
                <a:path w="3931920" h="1792224">
                  <a:moveTo>
                    <a:pt x="0" y="0"/>
                  </a:moveTo>
                  <a:lnTo>
                    <a:pt x="3931920" y="0"/>
                  </a:lnTo>
                  <a:lnTo>
                    <a:pt x="3931920" y="1792224"/>
                  </a:lnTo>
                  <a:lnTo>
                    <a:pt x="0" y="1792224"/>
                  </a:lnTo>
                  <a:close/>
                </a:path>
              </a:pathLst>
            </a:custGeom>
            <a:solidFill>
              <a:srgbClr val="217A46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754380" y="5513832"/>
            <a:ext cx="2948940" cy="1344168"/>
            <a:chOff x="0" y="0"/>
            <a:chExt cx="3931920" cy="179222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931920" cy="1792224"/>
            </a:xfrm>
            <a:custGeom>
              <a:avLst/>
              <a:gdLst/>
              <a:ahLst/>
              <a:cxnLst/>
              <a:rect l="l" t="t" r="r" b="b"/>
              <a:pathLst>
                <a:path w="3931920" h="1792224">
                  <a:moveTo>
                    <a:pt x="0" y="0"/>
                  </a:moveTo>
                  <a:lnTo>
                    <a:pt x="3931920" y="0"/>
                  </a:lnTo>
                  <a:lnTo>
                    <a:pt x="393192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482" r="-8482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3931920" cy="180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 변화와 기회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909060" y="5513832"/>
            <a:ext cx="13647420" cy="1344168"/>
            <a:chOff x="0" y="0"/>
            <a:chExt cx="18196560" cy="179222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8196561" cy="1792224"/>
            </a:xfrm>
            <a:custGeom>
              <a:avLst/>
              <a:gdLst/>
              <a:ahLst/>
              <a:cxnLst/>
              <a:rect l="l" t="t" r="r" b="b"/>
              <a:pathLst>
                <a:path w="18196561" h="1792224">
                  <a:moveTo>
                    <a:pt x="0" y="0"/>
                  </a:moveTo>
                  <a:lnTo>
                    <a:pt x="18196561" y="0"/>
                  </a:lnTo>
                  <a:lnTo>
                    <a:pt x="18196561" y="1792224"/>
                  </a:lnTo>
                  <a:lnTo>
                    <a:pt x="0" y="17922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4251960" y="5513832"/>
            <a:ext cx="13030200" cy="1344168"/>
            <a:chOff x="0" y="0"/>
            <a:chExt cx="17373600" cy="179222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7373600" cy="1792224"/>
            </a:xfrm>
            <a:custGeom>
              <a:avLst/>
              <a:gdLst/>
              <a:ahLst/>
              <a:cxnLst/>
              <a:rect l="l" t="t" r="r" b="b"/>
              <a:pathLst>
                <a:path w="17373600" h="1792224">
                  <a:moveTo>
                    <a:pt x="0" y="0"/>
                  </a:moveTo>
                  <a:lnTo>
                    <a:pt x="17373600" y="0"/>
                  </a:lnTo>
                  <a:lnTo>
                    <a:pt x="1737360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885" b="-138885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17373600" cy="180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생성형 AI가 CS 업무에 미치는 변화와 기회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질문하면 답을 생성하는 AI — 도구를 넘어 에이전트(동료)로 진화, 스마트폰만으로 즉시 활용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54380" y="7132320"/>
            <a:ext cx="2948940" cy="1344168"/>
            <a:chOff x="0" y="0"/>
            <a:chExt cx="3931920" cy="179222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931920" cy="1792224"/>
            </a:xfrm>
            <a:custGeom>
              <a:avLst/>
              <a:gdLst/>
              <a:ahLst/>
              <a:cxnLst/>
              <a:rect l="l" t="t" r="r" b="b"/>
              <a:pathLst>
                <a:path w="3931920" h="1792224">
                  <a:moveTo>
                    <a:pt x="0" y="0"/>
                  </a:moveTo>
                  <a:lnTo>
                    <a:pt x="3931920" y="0"/>
                  </a:lnTo>
                  <a:lnTo>
                    <a:pt x="3931920" y="1792224"/>
                  </a:lnTo>
                  <a:lnTo>
                    <a:pt x="0" y="1792224"/>
                  </a:lnTo>
                  <a:close/>
                </a:path>
              </a:pathLst>
            </a:custGeom>
            <a:solidFill>
              <a:srgbClr val="C55A11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754380" y="7132320"/>
            <a:ext cx="2948940" cy="1344168"/>
            <a:chOff x="0" y="0"/>
            <a:chExt cx="3931920" cy="179222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931920" cy="1792224"/>
            </a:xfrm>
            <a:custGeom>
              <a:avLst/>
              <a:gdLst/>
              <a:ahLst/>
              <a:cxnLst/>
              <a:rect l="l" t="t" r="r" b="b"/>
              <a:pathLst>
                <a:path w="3931920" h="1792224">
                  <a:moveTo>
                    <a:pt x="0" y="0"/>
                  </a:moveTo>
                  <a:lnTo>
                    <a:pt x="3931920" y="0"/>
                  </a:lnTo>
                  <a:lnTo>
                    <a:pt x="393192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482" r="-8482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3931920" cy="180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  윤리 원칙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909060" y="7132320"/>
            <a:ext cx="13647420" cy="1344168"/>
            <a:chOff x="0" y="0"/>
            <a:chExt cx="18196560" cy="179222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8196561" cy="1792224"/>
            </a:xfrm>
            <a:custGeom>
              <a:avLst/>
              <a:gdLst/>
              <a:ahLst/>
              <a:cxnLst/>
              <a:rect l="l" t="t" r="r" b="b"/>
              <a:pathLst>
                <a:path w="18196561" h="1792224">
                  <a:moveTo>
                    <a:pt x="0" y="0"/>
                  </a:moveTo>
                  <a:lnTo>
                    <a:pt x="18196561" y="0"/>
                  </a:lnTo>
                  <a:lnTo>
                    <a:pt x="18196561" y="1792224"/>
                  </a:lnTo>
                  <a:lnTo>
                    <a:pt x="0" y="17922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4251960" y="7132320"/>
            <a:ext cx="13030200" cy="1344168"/>
            <a:chOff x="0" y="0"/>
            <a:chExt cx="17373600" cy="179222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7373600" cy="1792224"/>
            </a:xfrm>
            <a:custGeom>
              <a:avLst/>
              <a:gdLst/>
              <a:ahLst/>
              <a:cxnLst/>
              <a:rect l="l" t="t" r="r" b="b"/>
              <a:pathLst>
                <a:path w="17373600" h="1792224">
                  <a:moveTo>
                    <a:pt x="0" y="0"/>
                  </a:moveTo>
                  <a:lnTo>
                    <a:pt x="17373600" y="0"/>
                  </a:lnTo>
                  <a:lnTo>
                    <a:pt x="1737360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885" b="-138885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17373600" cy="1801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활용 CS 업무 윤리 및 환자정보 보호 가이드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개인정보 입력 금지 · 익명화 원칙 · AI 답변 검토 필수 — 의료적 판단은 AI로 대체 불가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54380" y="8833104"/>
            <a:ext cx="16802100" cy="768096"/>
            <a:chOff x="0" y="0"/>
            <a:chExt cx="22402800" cy="102412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402800" cy="1024128"/>
            </a:xfrm>
            <a:custGeom>
              <a:avLst/>
              <a:gdLst/>
              <a:ahLst/>
              <a:cxnLst/>
              <a:rect l="l" t="t" r="r" b="b"/>
              <a:pathLst>
                <a:path w="22402800" h="1024128">
                  <a:moveTo>
                    <a:pt x="0" y="0"/>
                  </a:moveTo>
                  <a:lnTo>
                    <a:pt x="22402800" y="0"/>
                  </a:lnTo>
                  <a:lnTo>
                    <a:pt x="224028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754380" y="8833104"/>
            <a:ext cx="16802100" cy="768096"/>
            <a:chOff x="0" y="0"/>
            <a:chExt cx="22402800" cy="102412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2402800" cy="1024128"/>
            </a:xfrm>
            <a:custGeom>
              <a:avLst/>
              <a:gdLst/>
              <a:ahLst/>
              <a:cxnLst/>
              <a:rect l="l" t="t" r="r" b="b"/>
              <a:pathLst>
                <a:path w="22402800" h="1024128">
                  <a:moveTo>
                    <a:pt x="0" y="0"/>
                  </a:moveTo>
                  <a:lnTo>
                    <a:pt x="22402800" y="0"/>
                  </a:lnTo>
                  <a:lnTo>
                    <a:pt x="22402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6235" b="-376235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2240280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C9A8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핵심 메시지  </a:t>
              </a:r>
              <a:r>
                <a:rPr lang="en-US" sz="1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AI는 CS 직원을 대체하지 않습니다 — 반복 업무는 AI에게 맡기고, 사람은 공감과 판단이 필요한 응대에 집중합니다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7B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67360" y="-1463040"/>
            <a:ext cx="8229600" cy="8229600"/>
            <a:chOff x="0" y="0"/>
            <a:chExt cx="109728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10972800"/>
            </a:xfrm>
            <a:custGeom>
              <a:avLst/>
              <a:gdLst/>
              <a:ahLst/>
              <a:cxnLst/>
              <a:rect l="l" t="t" r="r" b="b"/>
              <a:pathLst>
                <a:path w="10972800" h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0A7B83">
                <a:alpha val="5882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264640" y="4572000"/>
            <a:ext cx="5486400" cy="5486400"/>
            <a:chOff x="0" y="0"/>
            <a:chExt cx="7315200" cy="731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9A84C">
                <a:alpha val="392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05840" y="1399032"/>
            <a:ext cx="5486400" cy="914400"/>
            <a:chOff x="0" y="0"/>
            <a:chExt cx="7315200" cy="121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15200" cy="1219200"/>
            </a:xfrm>
            <a:custGeom>
              <a:avLst/>
              <a:gdLst/>
              <a:ahLst/>
              <a:cxnLst/>
              <a:rect l="l" t="t" r="r" b="b"/>
              <a:pathLst>
                <a:path w="7315200" h="1219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7315200" cy="1209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spc="12">
                  <a:solidFill>
                    <a:srgbClr val="F0D080"/>
                  </a:solidFill>
                  <a:latin typeface="Mandali"/>
                  <a:ea typeface="Mandali"/>
                  <a:cs typeface="Mandali"/>
                  <a:sym typeface="Mandali"/>
                </a:rPr>
                <a:t>2차시 | 1.5H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56637" y="2528478"/>
            <a:ext cx="13589003" cy="242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spc="24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민원·상담 응대 스크립트</a:t>
            </a:r>
          </a:p>
          <a:p>
            <a:pPr algn="l">
              <a:lnSpc>
                <a:spcPts val="7680"/>
              </a:lnSpc>
            </a:pPr>
            <a:r>
              <a:rPr lang="en-US" sz="6400" spc="24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AI 작성 및 최적화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97280" y="8083296"/>
            <a:ext cx="4572000" cy="109728"/>
            <a:chOff x="0" y="0"/>
            <a:chExt cx="6096000" cy="1463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096000" cy="146304"/>
            </a:xfrm>
            <a:custGeom>
              <a:avLst/>
              <a:gdLst/>
              <a:ahLst/>
              <a:cxnLst/>
              <a:rect l="l" t="t" r="r" b="b"/>
              <a:pathLst>
                <a:path w="6096000" h="146304">
                  <a:moveTo>
                    <a:pt x="0" y="0"/>
                  </a:moveTo>
                  <a:lnTo>
                    <a:pt x="6096000" y="0"/>
                  </a:lnTo>
                  <a:lnTo>
                    <a:pt x="6096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35192" y="5306454"/>
            <a:ext cx="13716000" cy="2316595"/>
            <a:chOff x="0" y="0"/>
            <a:chExt cx="18288000" cy="308879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3088793"/>
            </a:xfrm>
            <a:custGeom>
              <a:avLst/>
              <a:gdLst/>
              <a:ahLst/>
              <a:cxnLst/>
              <a:rect l="l" t="t" r="r" b="b"/>
              <a:pathLst>
                <a:path w="18288000" h="3088793">
                  <a:moveTo>
                    <a:pt x="0" y="0"/>
                  </a:moveTo>
                  <a:lnTo>
                    <a:pt x="18288000" y="0"/>
                  </a:lnTo>
                  <a:lnTo>
                    <a:pt x="18288000" y="3088793"/>
                  </a:lnTo>
                  <a:lnTo>
                    <a:pt x="0" y="30887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314" b="-2641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00025"/>
              <a:ext cx="18288000" cy="32888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23"/>
                </a:lnSpc>
              </a:pPr>
              <a:r>
                <a:rPr lang="en-US" sz="2400">
                  <a:solidFill>
                    <a:srgbClr val="C8E6D5"/>
                  </a:solidFill>
                  <a:latin typeface="Arimo"/>
                  <a:ea typeface="Arimo"/>
                  <a:cs typeface="Arimo"/>
                  <a:sym typeface="Arimo"/>
                </a:rPr>
                <a:t>-   자주 발생하는 민원 유형 분류 및 AI 대응 시나리오 설계</a:t>
              </a:r>
            </a:p>
            <a:p>
              <a:pPr algn="l">
                <a:lnSpc>
                  <a:spcPts val="4823"/>
                </a:lnSpc>
              </a:pPr>
              <a:r>
                <a:rPr lang="en-US" sz="2400">
                  <a:solidFill>
                    <a:srgbClr val="C8E6D5"/>
                  </a:solidFill>
                  <a:latin typeface="Arimo"/>
                  <a:ea typeface="Arimo"/>
                  <a:cs typeface="Arimo"/>
                  <a:sym typeface="Arimo"/>
                </a:rPr>
                <a:t>-   AI를 활용한 응대 스크립트 초안 작성 실습</a:t>
              </a:r>
            </a:p>
            <a:p>
              <a:pPr algn="l">
                <a:lnSpc>
                  <a:spcPts val="4823"/>
                </a:lnSpc>
              </a:pPr>
              <a:r>
                <a:rPr lang="en-US" sz="2400">
                  <a:solidFill>
                    <a:srgbClr val="C8E6D5"/>
                  </a:solidFill>
                  <a:latin typeface="Arimo"/>
                  <a:ea typeface="Arimo"/>
                  <a:cs typeface="Arimo"/>
                  <a:sym typeface="Arimo"/>
                </a:rPr>
                <a:t>-   강성 민원·감정적 고객 응대를 위한 공감 언어 프롬프팅</a:t>
              </a:r>
            </a:p>
            <a:p>
              <a:pPr algn="l">
                <a:lnSpc>
                  <a:spcPts val="4823"/>
                </a:lnSpc>
              </a:pPr>
              <a:r>
                <a:rPr lang="en-US" sz="2400">
                  <a:solidFill>
                    <a:srgbClr val="C8E6D5"/>
                  </a:solidFill>
                  <a:latin typeface="Arimo"/>
                  <a:ea typeface="Arimo"/>
                  <a:cs typeface="Arimo"/>
                  <a:sym typeface="Arimo"/>
                </a:rPr>
                <a:t>-  기관별 톤앤매너 반영 스크립트 커스터마이징 실습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2697" y="9872034"/>
            <a:ext cx="18313403" cy="720347"/>
            <a:chOff x="0" y="0"/>
            <a:chExt cx="24417871" cy="9604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82880" y="9967036"/>
            <a:ext cx="10972800" cy="548640"/>
            <a:chOff x="0" y="0"/>
            <a:chExt cx="1463040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2차시 | 민원 응대 스크립트 AI 작성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0" y="10012680"/>
            <a:ext cx="17830800" cy="548640"/>
            <a:chOff x="0" y="0"/>
            <a:chExt cx="23774400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프롬프트 엔지니어링  – AI에게 잘 지시하는 법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31520" y="1920240"/>
            <a:ext cx="16824960" cy="731520"/>
            <a:chOff x="0" y="0"/>
            <a:chExt cx="22433280" cy="975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33280" cy="975360"/>
            </a:xfrm>
            <a:custGeom>
              <a:avLst/>
              <a:gdLst/>
              <a:ahLst/>
              <a:cxnLst/>
              <a:rect l="l" t="t" r="r" b="b"/>
              <a:pathLst>
                <a:path w="22433280" h="975360">
                  <a:moveTo>
                    <a:pt x="0" y="0"/>
                  </a:moveTo>
                  <a:lnTo>
                    <a:pt x="22433280" y="0"/>
                  </a:lnTo>
                  <a:lnTo>
                    <a:pt x="22433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8155" b="-39815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243328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💬 프롬프트(Prompt) = AI에게 원하는 결과를 얻기 위해 입력하는 "지시문"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1520" y="2926080"/>
            <a:ext cx="2743200" cy="1005840"/>
            <a:chOff x="0" y="0"/>
            <a:chExt cx="3657600" cy="13411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57600" cy="1341120"/>
            </a:xfrm>
            <a:custGeom>
              <a:avLst/>
              <a:gdLst/>
              <a:ahLst/>
              <a:cxnLst/>
              <a:rect l="l" t="t" r="r" b="b"/>
              <a:pathLst>
                <a:path w="3657600" h="134112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31520" y="2926080"/>
            <a:ext cx="2743200" cy="1005840"/>
            <a:chOff x="0" y="0"/>
            <a:chExt cx="3657600" cy="13411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57600" cy="1341120"/>
            </a:xfrm>
            <a:custGeom>
              <a:avLst/>
              <a:gdLst/>
              <a:ahLst/>
              <a:cxnLst/>
              <a:rect l="l" t="t" r="r" b="b"/>
              <a:pathLst>
                <a:path w="3657600" h="134112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41" b="-314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365760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역할 지정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657600" y="2926080"/>
            <a:ext cx="13898880" cy="1005840"/>
            <a:chOff x="0" y="0"/>
            <a:chExt cx="18531840" cy="13411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531839" cy="1341120"/>
            </a:xfrm>
            <a:custGeom>
              <a:avLst/>
              <a:gdLst/>
              <a:ahLst/>
              <a:cxnLst/>
              <a:rect l="l" t="t" r="r" b="b"/>
              <a:pathLst>
                <a:path w="18531839" h="1341120">
                  <a:moveTo>
                    <a:pt x="0" y="0"/>
                  </a:moveTo>
                  <a:lnTo>
                    <a:pt x="18531839" y="0"/>
                  </a:lnTo>
                  <a:lnTo>
                    <a:pt x="1853183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3840480" y="2926080"/>
            <a:ext cx="13533120" cy="1005840"/>
            <a:chOff x="0" y="0"/>
            <a:chExt cx="18044160" cy="13411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044161" cy="1341120"/>
            </a:xfrm>
            <a:custGeom>
              <a:avLst/>
              <a:gdLst/>
              <a:ahLst/>
              <a:cxnLst/>
              <a:rect l="l" t="t" r="r" b="b"/>
              <a:pathLst>
                <a:path w="18044161" h="1341120">
                  <a:moveTo>
                    <a:pt x="0" y="0"/>
                  </a:moveTo>
                  <a:lnTo>
                    <a:pt x="18044161" y="0"/>
                  </a:lnTo>
                  <a:lnTo>
                    <a:pt x="180441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2162" b="-212162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1804416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✏ 너는 병원 CS 전문가야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31520" y="4297680"/>
            <a:ext cx="2743200" cy="1005840"/>
            <a:chOff x="0" y="0"/>
            <a:chExt cx="3657600" cy="13411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57600" cy="1341120"/>
            </a:xfrm>
            <a:custGeom>
              <a:avLst/>
              <a:gdLst/>
              <a:ahLst/>
              <a:cxnLst/>
              <a:rect l="l" t="t" r="r" b="b"/>
              <a:pathLst>
                <a:path w="3657600" h="134112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731520" y="4297680"/>
            <a:ext cx="2743200" cy="1005840"/>
            <a:chOff x="0" y="0"/>
            <a:chExt cx="3657600" cy="13411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657600" cy="1341120"/>
            </a:xfrm>
            <a:custGeom>
              <a:avLst/>
              <a:gdLst/>
              <a:ahLst/>
              <a:cxnLst/>
              <a:rect l="l" t="t" r="r" b="b"/>
              <a:pathLst>
                <a:path w="3657600" h="134112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41" b="-3141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365760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상황 설명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57600" y="4297680"/>
            <a:ext cx="13898880" cy="1005840"/>
            <a:chOff x="0" y="0"/>
            <a:chExt cx="18531840" cy="13411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531839" cy="1341120"/>
            </a:xfrm>
            <a:custGeom>
              <a:avLst/>
              <a:gdLst/>
              <a:ahLst/>
              <a:cxnLst/>
              <a:rect l="l" t="t" r="r" b="b"/>
              <a:pathLst>
                <a:path w="18531839" h="1341120">
                  <a:moveTo>
                    <a:pt x="0" y="0"/>
                  </a:moveTo>
                  <a:lnTo>
                    <a:pt x="18531839" y="0"/>
                  </a:lnTo>
                  <a:lnTo>
                    <a:pt x="1853183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3840480" y="4297680"/>
            <a:ext cx="13533120" cy="1005840"/>
            <a:chOff x="0" y="0"/>
            <a:chExt cx="18044160" cy="13411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8044161" cy="1341120"/>
            </a:xfrm>
            <a:custGeom>
              <a:avLst/>
              <a:gdLst/>
              <a:ahLst/>
              <a:cxnLst/>
              <a:rect l="l" t="t" r="r" b="b"/>
              <a:pathLst>
                <a:path w="18044161" h="1341120">
                  <a:moveTo>
                    <a:pt x="0" y="0"/>
                  </a:moveTo>
                  <a:lnTo>
                    <a:pt x="18044161" y="0"/>
                  </a:lnTo>
                  <a:lnTo>
                    <a:pt x="180441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2162" b="-212162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1804416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✏ 환자가 대기 시간에 불만을 표현하고 있어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31520" y="5669280"/>
            <a:ext cx="2743200" cy="1005840"/>
            <a:chOff x="0" y="0"/>
            <a:chExt cx="3657600" cy="13411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657600" cy="1341120"/>
            </a:xfrm>
            <a:custGeom>
              <a:avLst/>
              <a:gdLst/>
              <a:ahLst/>
              <a:cxnLst/>
              <a:rect l="l" t="t" r="r" b="b"/>
              <a:pathLst>
                <a:path w="3657600" h="134112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731520" y="5669280"/>
            <a:ext cx="2743200" cy="1005840"/>
            <a:chOff x="0" y="0"/>
            <a:chExt cx="3657600" cy="13411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657600" cy="1341120"/>
            </a:xfrm>
            <a:custGeom>
              <a:avLst/>
              <a:gdLst/>
              <a:ahLst/>
              <a:cxnLst/>
              <a:rect l="l" t="t" r="r" b="b"/>
              <a:pathLst>
                <a:path w="3657600" h="134112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41" b="-3141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9525"/>
              <a:ext cx="365760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원하는 것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657600" y="5669280"/>
            <a:ext cx="13898880" cy="1005840"/>
            <a:chOff x="0" y="0"/>
            <a:chExt cx="18531840" cy="13411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8531839" cy="1341120"/>
            </a:xfrm>
            <a:custGeom>
              <a:avLst/>
              <a:gdLst/>
              <a:ahLst/>
              <a:cxnLst/>
              <a:rect l="l" t="t" r="r" b="b"/>
              <a:pathLst>
                <a:path w="18531839" h="1341120">
                  <a:moveTo>
                    <a:pt x="0" y="0"/>
                  </a:moveTo>
                  <a:lnTo>
                    <a:pt x="18531839" y="0"/>
                  </a:lnTo>
                  <a:lnTo>
                    <a:pt x="1853183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3840480" y="5669280"/>
            <a:ext cx="13533120" cy="1005840"/>
            <a:chOff x="0" y="0"/>
            <a:chExt cx="18044160" cy="13411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8044161" cy="1341120"/>
            </a:xfrm>
            <a:custGeom>
              <a:avLst/>
              <a:gdLst/>
              <a:ahLst/>
              <a:cxnLst/>
              <a:rect l="l" t="t" r="r" b="b"/>
              <a:pathLst>
                <a:path w="18044161" h="1341120">
                  <a:moveTo>
                    <a:pt x="0" y="0"/>
                  </a:moveTo>
                  <a:lnTo>
                    <a:pt x="18044161" y="0"/>
                  </a:lnTo>
                  <a:lnTo>
                    <a:pt x="180441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2162" b="-212162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9525"/>
              <a:ext cx="1804416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✏ 공감하는 응대 스크립트 3가지를 작성해줘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31520" y="7040880"/>
            <a:ext cx="2743200" cy="1005840"/>
            <a:chOff x="0" y="0"/>
            <a:chExt cx="3657600" cy="13411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57600" cy="1341120"/>
            </a:xfrm>
            <a:custGeom>
              <a:avLst/>
              <a:gdLst/>
              <a:ahLst/>
              <a:cxnLst/>
              <a:rect l="l" t="t" r="r" b="b"/>
              <a:pathLst>
                <a:path w="3657600" h="134112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731520" y="7040880"/>
            <a:ext cx="2743200" cy="1005840"/>
            <a:chOff x="0" y="0"/>
            <a:chExt cx="3657600" cy="13411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657600" cy="1341120"/>
            </a:xfrm>
            <a:custGeom>
              <a:avLst/>
              <a:gdLst/>
              <a:ahLst/>
              <a:cxnLst/>
              <a:rect l="l" t="t" r="r" b="b"/>
              <a:pathLst>
                <a:path w="3657600" h="134112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41" b="-314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9525"/>
              <a:ext cx="365760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형식 지정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657600" y="7040880"/>
            <a:ext cx="13898880" cy="1005840"/>
            <a:chOff x="0" y="0"/>
            <a:chExt cx="18531840" cy="13411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8531839" cy="1341120"/>
            </a:xfrm>
            <a:custGeom>
              <a:avLst/>
              <a:gdLst/>
              <a:ahLst/>
              <a:cxnLst/>
              <a:rect l="l" t="t" r="r" b="b"/>
              <a:pathLst>
                <a:path w="18531839" h="1341120">
                  <a:moveTo>
                    <a:pt x="0" y="0"/>
                  </a:moveTo>
                  <a:lnTo>
                    <a:pt x="18531839" y="0"/>
                  </a:lnTo>
                  <a:lnTo>
                    <a:pt x="1853183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3840480" y="7040880"/>
            <a:ext cx="13533120" cy="1005840"/>
            <a:chOff x="0" y="0"/>
            <a:chExt cx="18044160" cy="13411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8044161" cy="1341120"/>
            </a:xfrm>
            <a:custGeom>
              <a:avLst/>
              <a:gdLst/>
              <a:ahLst/>
              <a:cxnLst/>
              <a:rect l="l" t="t" r="r" b="b"/>
              <a:pathLst>
                <a:path w="18044161" h="1341120">
                  <a:moveTo>
                    <a:pt x="0" y="0"/>
                  </a:moveTo>
                  <a:lnTo>
                    <a:pt x="18044161" y="0"/>
                  </a:lnTo>
                  <a:lnTo>
                    <a:pt x="180441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2162" b="-212162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9525"/>
              <a:ext cx="1804416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✏ 각각 3문장 이내, 경어체 사용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31520" y="8160439"/>
            <a:ext cx="16824960" cy="1188720"/>
            <a:chOff x="0" y="0"/>
            <a:chExt cx="22433280" cy="158496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2340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914400" y="8160439"/>
            <a:ext cx="16459200" cy="1188720"/>
            <a:chOff x="0" y="0"/>
            <a:chExt cx="21945600" cy="15849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9525"/>
              <a:ext cx="21945600" cy="1575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🎯 좋은 프롬프트 = 역할 + 상황 + 요청 + 형식   →   원하는 결과를 더 빠르고 정확하게 얻는 핵심 기술</a:t>
              </a:r>
            </a:p>
          </p:txBody>
        </p:sp>
      </p:grpSp>
      <p:grpSp>
        <p:nvGrpSpPr>
          <p:cNvPr id="57" name="Group 15"/>
          <p:cNvGrpSpPr/>
          <p:nvPr/>
        </p:nvGrpSpPr>
        <p:grpSpPr>
          <a:xfrm>
            <a:off x="-12697" y="9528553"/>
            <a:ext cx="18313403" cy="720347"/>
            <a:chOff x="0" y="0"/>
            <a:chExt cx="24417871" cy="960463"/>
          </a:xfrm>
        </p:grpSpPr>
        <p:sp>
          <p:nvSpPr>
            <p:cNvPr id="58" name="Freeform 1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59" name="Group 17"/>
          <p:cNvGrpSpPr/>
          <p:nvPr/>
        </p:nvGrpSpPr>
        <p:grpSpPr>
          <a:xfrm>
            <a:off x="182880" y="9623555"/>
            <a:ext cx="10972800" cy="548640"/>
            <a:chOff x="0" y="0"/>
            <a:chExt cx="14630400" cy="731520"/>
          </a:xfrm>
        </p:grpSpPr>
        <p:sp>
          <p:nvSpPr>
            <p:cNvPr id="60" name="Freeform 1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61" name="TextBox 1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2차시 | 민원 응대 스크립트 AI 작성</a:t>
              </a:r>
            </a:p>
          </p:txBody>
        </p:sp>
      </p:grpSp>
      <p:grpSp>
        <p:nvGrpSpPr>
          <p:cNvPr id="62" name="Group 20"/>
          <p:cNvGrpSpPr/>
          <p:nvPr/>
        </p:nvGrpSpPr>
        <p:grpSpPr>
          <a:xfrm>
            <a:off x="0" y="9669199"/>
            <a:ext cx="17830800" cy="548640"/>
            <a:chOff x="0" y="0"/>
            <a:chExt cx="23774400" cy="731520"/>
          </a:xfrm>
        </p:grpSpPr>
        <p:sp>
          <p:nvSpPr>
            <p:cNvPr id="63" name="Freeform 2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64" name="TextBox 2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7220" y="510797"/>
            <a:ext cx="16642080" cy="950976"/>
            <a:chOff x="0" y="0"/>
            <a:chExt cx="22189440" cy="12679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89439" cy="1267968"/>
            </a:xfrm>
            <a:custGeom>
              <a:avLst/>
              <a:gdLst/>
              <a:ahLst/>
              <a:cxnLst/>
              <a:rect l="l" t="t" r="r" b="b"/>
              <a:pathLst>
                <a:path w="22189439" h="1267968">
                  <a:moveTo>
                    <a:pt x="0" y="0"/>
                  </a:moveTo>
                  <a:lnTo>
                    <a:pt x="22189439" y="0"/>
                  </a:lnTo>
                  <a:lnTo>
                    <a:pt x="22189439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0988" b="-29098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189440" cy="13822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잘못된 예시 &amp; 개선된 프롬프트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7653" y="1878518"/>
            <a:ext cx="7523483" cy="793499"/>
            <a:chOff x="0" y="0"/>
            <a:chExt cx="10031311" cy="10579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31349" cy="1057910"/>
            </a:xfrm>
            <a:custGeom>
              <a:avLst/>
              <a:gdLst/>
              <a:ahLst/>
              <a:cxnLst/>
              <a:rect l="l" t="t" r="r" b="b"/>
              <a:pathLst>
                <a:path w="10031349" h="105791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9880219" y="0"/>
                  </a:lnTo>
                  <a:cubicBezTo>
                    <a:pt x="9963658" y="0"/>
                    <a:pt x="10031349" y="67691"/>
                    <a:pt x="10031349" y="151130"/>
                  </a:cubicBezTo>
                  <a:lnTo>
                    <a:pt x="10031349" y="906780"/>
                  </a:lnTo>
                  <a:cubicBezTo>
                    <a:pt x="10031349" y="990219"/>
                    <a:pt x="9963658" y="1057910"/>
                    <a:pt x="9880219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20350" y="1891215"/>
            <a:ext cx="7498080" cy="768096"/>
            <a:chOff x="0" y="0"/>
            <a:chExt cx="9997440" cy="1024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97440" cy="1024128"/>
            </a:xfrm>
            <a:custGeom>
              <a:avLst/>
              <a:gdLst/>
              <a:ahLst/>
              <a:cxnLst/>
              <a:rect l="l" t="t" r="r" b="b"/>
              <a:pathLst>
                <a:path w="9997440" h="1024128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211" b="-14021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999744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잘못된 예시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07653" y="2646614"/>
            <a:ext cx="7523483" cy="2402843"/>
            <a:chOff x="0" y="0"/>
            <a:chExt cx="10031311" cy="32037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31349" cy="3203829"/>
            </a:xfrm>
            <a:custGeom>
              <a:avLst/>
              <a:gdLst/>
              <a:ahLst/>
              <a:cxnLst/>
              <a:rect l="l" t="t" r="r" b="b"/>
              <a:pathLst>
                <a:path w="10031349" h="3203829">
                  <a:moveTo>
                    <a:pt x="0" y="534035"/>
                  </a:moveTo>
                  <a:cubicBezTo>
                    <a:pt x="0" y="239014"/>
                    <a:pt x="239014" y="0"/>
                    <a:pt x="534035" y="0"/>
                  </a:cubicBezTo>
                  <a:lnTo>
                    <a:pt x="9497314" y="0"/>
                  </a:lnTo>
                  <a:cubicBezTo>
                    <a:pt x="9792208" y="0"/>
                    <a:pt x="10031349" y="239014"/>
                    <a:pt x="10031349" y="534035"/>
                  </a:cubicBezTo>
                  <a:lnTo>
                    <a:pt x="10031349" y="2669794"/>
                  </a:lnTo>
                  <a:cubicBezTo>
                    <a:pt x="10031349" y="2964688"/>
                    <a:pt x="9792335" y="3203829"/>
                    <a:pt x="9497314" y="3203829"/>
                  </a:cubicBezTo>
                  <a:lnTo>
                    <a:pt x="534035" y="3203829"/>
                  </a:lnTo>
                  <a:cubicBezTo>
                    <a:pt x="239014" y="3203829"/>
                    <a:pt x="0" y="2964688"/>
                    <a:pt x="0" y="2669794"/>
                  </a:cubicBezTo>
                  <a:close/>
                </a:path>
              </a:pathLst>
            </a:custGeom>
            <a:solidFill>
              <a:srgbClr val="FEE2E2"/>
            </a:solidFill>
            <a:ln w="25400" cap="sq">
              <a:solidFill>
                <a:srgbClr val="FECACA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39806" y="2659311"/>
            <a:ext cx="7059168" cy="2377440"/>
            <a:chOff x="0" y="0"/>
            <a:chExt cx="9412224" cy="31699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412224" cy="3169920"/>
            </a:xfrm>
            <a:custGeom>
              <a:avLst/>
              <a:gdLst/>
              <a:ahLst/>
              <a:cxnLst/>
              <a:rect l="l" t="t" r="r" b="b"/>
              <a:pathLst>
                <a:path w="9412224" h="3169920">
                  <a:moveTo>
                    <a:pt x="0" y="0"/>
                  </a:moveTo>
                  <a:lnTo>
                    <a:pt x="9412224" y="0"/>
                  </a:lnTo>
                  <a:lnTo>
                    <a:pt x="9412224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5" b="-785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412224" cy="3217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>
                  <a:solidFill>
                    <a:srgbClr val="991B1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"환자가 불만이야. 어떻게 해?"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446446" y="2897055"/>
            <a:ext cx="1097280" cy="1097280"/>
            <a:chOff x="0" y="0"/>
            <a:chExt cx="1463040" cy="14630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04775"/>
              <a:ext cx="1463040" cy="15678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13909" y="1878518"/>
            <a:ext cx="7761227" cy="793499"/>
            <a:chOff x="0" y="0"/>
            <a:chExt cx="10348303" cy="105799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348341" cy="1057910"/>
            </a:xfrm>
            <a:custGeom>
              <a:avLst/>
              <a:gdLst/>
              <a:ahLst/>
              <a:cxnLst/>
              <a:rect l="l" t="t" r="r" b="b"/>
              <a:pathLst>
                <a:path w="10348341" h="105791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10197211" y="0"/>
                  </a:lnTo>
                  <a:cubicBezTo>
                    <a:pt x="10280650" y="0"/>
                    <a:pt x="10348341" y="67691"/>
                    <a:pt x="10348341" y="151130"/>
                  </a:cubicBezTo>
                  <a:lnTo>
                    <a:pt x="10348341" y="906780"/>
                  </a:lnTo>
                  <a:cubicBezTo>
                    <a:pt x="10348341" y="990219"/>
                    <a:pt x="10280650" y="1057910"/>
                    <a:pt x="10197211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896789" y="2006534"/>
            <a:ext cx="537467" cy="537467"/>
            <a:chOff x="0" y="0"/>
            <a:chExt cx="716623" cy="71662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16661" cy="716661"/>
            </a:xfrm>
            <a:custGeom>
              <a:avLst/>
              <a:gdLst/>
              <a:ahLst/>
              <a:cxnLst/>
              <a:rect l="l" t="t" r="r" b="b"/>
              <a:pathLst>
                <a:path w="716661" h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9909486" y="1982655"/>
            <a:ext cx="512064" cy="585216"/>
            <a:chOff x="0" y="0"/>
            <a:chExt cx="682752" cy="7802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2752" cy="780288"/>
            </a:xfrm>
            <a:custGeom>
              <a:avLst/>
              <a:gdLst/>
              <a:ahLst/>
              <a:cxnLst/>
              <a:rect l="l" t="t" r="r" b="b"/>
              <a:pathLst>
                <a:path w="682752" h="780288">
                  <a:moveTo>
                    <a:pt x="0" y="0"/>
                  </a:moveTo>
                  <a:lnTo>
                    <a:pt x="682752" y="0"/>
                  </a:lnTo>
                  <a:lnTo>
                    <a:pt x="68275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6632" r="-9663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682752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531278" y="1891215"/>
            <a:ext cx="6766560" cy="768096"/>
            <a:chOff x="0" y="0"/>
            <a:chExt cx="9022080" cy="102412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022080" cy="1024128"/>
            </a:xfrm>
            <a:custGeom>
              <a:avLst/>
              <a:gdLst/>
              <a:ahLst/>
              <a:cxnLst/>
              <a:rect l="l" t="t" r="r" b="b"/>
              <a:pathLst>
                <a:path w="9022080" h="1024128">
                  <a:moveTo>
                    <a:pt x="0" y="0"/>
                  </a:moveTo>
                  <a:lnTo>
                    <a:pt x="9022080" y="0"/>
                  </a:lnTo>
                  <a:lnTo>
                    <a:pt x="9022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1653" b="-121653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902208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개선된 예시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713909" y="2646614"/>
            <a:ext cx="7761227" cy="2402843"/>
            <a:chOff x="0" y="0"/>
            <a:chExt cx="10348303" cy="320379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348341" cy="3203829"/>
            </a:xfrm>
            <a:custGeom>
              <a:avLst/>
              <a:gdLst/>
              <a:ahLst/>
              <a:cxnLst/>
              <a:rect l="l" t="t" r="r" b="b"/>
              <a:pathLst>
                <a:path w="10348341" h="3203829">
                  <a:moveTo>
                    <a:pt x="0" y="534035"/>
                  </a:moveTo>
                  <a:cubicBezTo>
                    <a:pt x="0" y="239014"/>
                    <a:pt x="239014" y="0"/>
                    <a:pt x="534035" y="0"/>
                  </a:cubicBezTo>
                  <a:lnTo>
                    <a:pt x="9814306" y="0"/>
                  </a:lnTo>
                  <a:cubicBezTo>
                    <a:pt x="10109200" y="0"/>
                    <a:pt x="10348341" y="239014"/>
                    <a:pt x="10348341" y="534035"/>
                  </a:cubicBezTo>
                  <a:lnTo>
                    <a:pt x="10348341" y="2669794"/>
                  </a:lnTo>
                  <a:cubicBezTo>
                    <a:pt x="10348341" y="2964688"/>
                    <a:pt x="10109327" y="3203829"/>
                    <a:pt x="9814306" y="3203829"/>
                  </a:cubicBezTo>
                  <a:lnTo>
                    <a:pt x="534035" y="3203829"/>
                  </a:lnTo>
                  <a:cubicBezTo>
                    <a:pt x="239014" y="3203829"/>
                    <a:pt x="0" y="2964688"/>
                    <a:pt x="0" y="2669794"/>
                  </a:cubicBezTo>
                  <a:close/>
                </a:path>
              </a:pathLst>
            </a:custGeom>
            <a:solidFill>
              <a:srgbClr val="DCFCE7"/>
            </a:solidFill>
            <a:ln w="25400" cap="sq">
              <a:solidFill>
                <a:srgbClr val="BBF7D0"/>
              </a:solidFill>
              <a:prstDash val="solid"/>
              <a:miter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10160946" y="2858955"/>
            <a:ext cx="7095744" cy="214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1">
                <a:solidFill>
                  <a:srgbClr val="1453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"너는 병원 CS 전담 직원이야.</a:t>
            </a:r>
          </a:p>
          <a:p>
            <a:pPr algn="l">
              <a:lnSpc>
                <a:spcPts val="2879"/>
              </a:lnSpc>
            </a:pPr>
            <a:r>
              <a:rPr lang="en-US" sz="2400" i="1">
                <a:solidFill>
                  <a:srgbClr val="1453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환자가 진료 대기 2시간으로 화가 나서 항의하고 있어.</a:t>
            </a:r>
          </a:p>
          <a:p>
            <a:pPr algn="l">
              <a:lnSpc>
                <a:spcPts val="2879"/>
              </a:lnSpc>
            </a:pPr>
            <a:r>
              <a:rPr lang="en-US" sz="2400" i="1">
                <a:solidFill>
                  <a:srgbClr val="1453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공감하고 대안을 제시하는 응대 스크립트 3가지를</a:t>
            </a:r>
          </a:p>
          <a:p>
            <a:pPr algn="l">
              <a:lnSpc>
                <a:spcPts val="2879"/>
              </a:lnSpc>
            </a:pPr>
            <a:r>
              <a:rPr lang="en-US" sz="2400" i="1">
                <a:solidFill>
                  <a:srgbClr val="1453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경어체, 3문장 이내로 작성해줘."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20350" y="5181461"/>
            <a:ext cx="16667483" cy="4195067"/>
            <a:chOff x="0" y="0"/>
            <a:chExt cx="22223311" cy="559342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223222" cy="5593334"/>
            </a:xfrm>
            <a:custGeom>
              <a:avLst/>
              <a:gdLst/>
              <a:ahLst/>
              <a:cxnLst/>
              <a:rect l="l" t="t" r="r" b="b"/>
              <a:pathLst>
                <a:path w="22223222" h="5593334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22027007" y="0"/>
                  </a:lnTo>
                  <a:cubicBezTo>
                    <a:pt x="22135466" y="0"/>
                    <a:pt x="22223222" y="87884"/>
                    <a:pt x="22223222" y="196215"/>
                  </a:cubicBezTo>
                  <a:lnTo>
                    <a:pt x="22223222" y="5397119"/>
                  </a:lnTo>
                  <a:cubicBezTo>
                    <a:pt x="22223222" y="5505577"/>
                    <a:pt x="22135339" y="5593334"/>
                    <a:pt x="22027007" y="5593334"/>
                  </a:cubicBezTo>
                  <a:lnTo>
                    <a:pt x="196215" y="5593334"/>
                  </a:lnTo>
                  <a:cubicBezTo>
                    <a:pt x="87884" y="5593461"/>
                    <a:pt x="0" y="5505577"/>
                    <a:pt x="0" y="5397119"/>
                  </a:cubicBezTo>
                  <a:close/>
                </a:path>
              </a:pathLst>
            </a:custGeom>
            <a:solidFill>
              <a:srgbClr val="1E293B"/>
            </a:solidFill>
            <a:ln w="25400" cap="sq">
              <a:solidFill>
                <a:srgbClr val="1E293B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198807" y="5377038"/>
            <a:ext cx="15910560" cy="694944"/>
            <a:chOff x="0" y="0"/>
            <a:chExt cx="21214080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214080" cy="926592"/>
            </a:xfrm>
            <a:custGeom>
              <a:avLst/>
              <a:gdLst/>
              <a:ahLst/>
              <a:cxnLst/>
              <a:rect l="l" t="t" r="r" b="b"/>
              <a:pathLst>
                <a:path w="21214080" h="926592">
                  <a:moveTo>
                    <a:pt x="0" y="0"/>
                  </a:moveTo>
                  <a:lnTo>
                    <a:pt x="21214080" y="0"/>
                  </a:lnTo>
                  <a:lnTo>
                    <a:pt x="21214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6104" b="-396104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212140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 개선 포인트 분석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86110" y="6242165"/>
            <a:ext cx="647195" cy="647195"/>
            <a:chOff x="0" y="0"/>
            <a:chExt cx="862927" cy="86292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62965" cy="862965"/>
            </a:xfrm>
            <a:custGeom>
              <a:avLst/>
              <a:gdLst/>
              <a:ahLst/>
              <a:cxnLst/>
              <a:rect l="l" t="t" r="r" b="b"/>
              <a:pathLst>
                <a:path w="862965" h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198807" y="6254862"/>
            <a:ext cx="621792" cy="621792"/>
            <a:chOff x="0" y="0"/>
            <a:chExt cx="829056" cy="82905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003479" y="6254862"/>
            <a:ext cx="3657600" cy="621792"/>
            <a:chOff x="0" y="0"/>
            <a:chExt cx="4876800" cy="82905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876800" cy="829056"/>
            </a:xfrm>
            <a:custGeom>
              <a:avLst/>
              <a:gdLst/>
              <a:ahLst/>
              <a:cxnLst/>
              <a:rect l="l" t="t" r="r" b="b"/>
              <a:pathLst>
                <a:path w="4876800" h="829056">
                  <a:moveTo>
                    <a:pt x="0" y="0"/>
                  </a:moveTo>
                  <a:lnTo>
                    <a:pt x="4876800" y="0"/>
                  </a:lnTo>
                  <a:lnTo>
                    <a:pt x="48768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617" b="-64617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4876800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역할 (Role) 지정: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97655" y="6254862"/>
            <a:ext cx="4023360" cy="621792"/>
            <a:chOff x="0" y="0"/>
            <a:chExt cx="5364480" cy="82905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364480" cy="829056"/>
            </a:xfrm>
            <a:custGeom>
              <a:avLst/>
              <a:gdLst/>
              <a:ahLst/>
              <a:cxnLst/>
              <a:rect l="l" t="t" r="r" b="b"/>
              <a:pathLst>
                <a:path w="5364480" h="829056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079" b="-76079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5364480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i="1">
                  <a:solidFill>
                    <a:srgbClr val="F973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"병원 CS 전담 직원으로서"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598590" y="6242165"/>
            <a:ext cx="647195" cy="647195"/>
            <a:chOff x="0" y="0"/>
            <a:chExt cx="862927" cy="86292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62965" cy="862965"/>
            </a:xfrm>
            <a:custGeom>
              <a:avLst/>
              <a:gdLst/>
              <a:ahLst/>
              <a:cxnLst/>
              <a:rect l="l" t="t" r="r" b="b"/>
              <a:pathLst>
                <a:path w="862965" h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9611287" y="6254862"/>
            <a:ext cx="621792" cy="621792"/>
            <a:chOff x="0" y="0"/>
            <a:chExt cx="829056" cy="82905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415959" y="6254862"/>
            <a:ext cx="3657600" cy="621792"/>
            <a:chOff x="0" y="0"/>
            <a:chExt cx="4876800" cy="82905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876800" cy="829056"/>
            </a:xfrm>
            <a:custGeom>
              <a:avLst/>
              <a:gdLst/>
              <a:ahLst/>
              <a:cxnLst/>
              <a:rect l="l" t="t" r="r" b="b"/>
              <a:pathLst>
                <a:path w="4876800" h="829056">
                  <a:moveTo>
                    <a:pt x="0" y="0"/>
                  </a:moveTo>
                  <a:lnTo>
                    <a:pt x="4876800" y="0"/>
                  </a:lnTo>
                  <a:lnTo>
                    <a:pt x="48768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617" b="-64617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4876800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상황 (Context) 명시: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4110135" y="6254862"/>
            <a:ext cx="4023360" cy="621792"/>
            <a:chOff x="0" y="0"/>
            <a:chExt cx="5364480" cy="82905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364480" cy="829056"/>
            </a:xfrm>
            <a:custGeom>
              <a:avLst/>
              <a:gdLst/>
              <a:ahLst/>
              <a:cxnLst/>
              <a:rect l="l" t="t" r="r" b="b"/>
              <a:pathLst>
                <a:path w="5364480" h="829056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079" b="-76079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5364480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i="1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"대기 2시간, 화난 환자"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86110" y="7558901"/>
            <a:ext cx="647195" cy="647195"/>
            <a:chOff x="0" y="0"/>
            <a:chExt cx="862927" cy="862927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62965" cy="862965"/>
            </a:xfrm>
            <a:custGeom>
              <a:avLst/>
              <a:gdLst/>
              <a:ahLst/>
              <a:cxnLst/>
              <a:rect l="l" t="t" r="r" b="b"/>
              <a:pathLst>
                <a:path w="862965" h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198807" y="7571598"/>
            <a:ext cx="621792" cy="621792"/>
            <a:chOff x="0" y="0"/>
            <a:chExt cx="829056" cy="82905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003479" y="7571598"/>
            <a:ext cx="3657600" cy="621792"/>
            <a:chOff x="0" y="0"/>
            <a:chExt cx="4876800" cy="82905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76800" cy="829056"/>
            </a:xfrm>
            <a:custGeom>
              <a:avLst/>
              <a:gdLst/>
              <a:ahLst/>
              <a:cxnLst/>
              <a:rect l="l" t="t" r="r" b="b"/>
              <a:pathLst>
                <a:path w="4876800" h="829056">
                  <a:moveTo>
                    <a:pt x="0" y="0"/>
                  </a:moveTo>
                  <a:lnTo>
                    <a:pt x="4876800" y="0"/>
                  </a:lnTo>
                  <a:lnTo>
                    <a:pt x="48768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617" b="-64617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4876800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형식 (Format) 구체화: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97655" y="7571598"/>
            <a:ext cx="4023360" cy="621792"/>
            <a:chOff x="0" y="0"/>
            <a:chExt cx="5364480" cy="82905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364480" cy="829056"/>
            </a:xfrm>
            <a:custGeom>
              <a:avLst/>
              <a:gdLst/>
              <a:ahLst/>
              <a:cxnLst/>
              <a:rect l="l" t="t" r="r" b="b"/>
              <a:pathLst>
                <a:path w="5364480" h="829056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079" b="-76079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47625"/>
              <a:ext cx="5364480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i="1">
                  <a:solidFill>
                    <a:srgbClr val="2563E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"3가지, 3문장 이내"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598590" y="7558901"/>
            <a:ext cx="647195" cy="647195"/>
            <a:chOff x="0" y="0"/>
            <a:chExt cx="862927" cy="862927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62965" cy="862965"/>
            </a:xfrm>
            <a:custGeom>
              <a:avLst/>
              <a:gdLst/>
              <a:ahLst/>
              <a:cxnLst/>
              <a:rect l="l" t="t" r="r" b="b"/>
              <a:pathLst>
                <a:path w="862965" h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9611287" y="7571598"/>
            <a:ext cx="621792" cy="621792"/>
            <a:chOff x="0" y="0"/>
            <a:chExt cx="829056" cy="82905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0415959" y="7571598"/>
            <a:ext cx="3657600" cy="621792"/>
            <a:chOff x="0" y="0"/>
            <a:chExt cx="4876800" cy="82905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876800" cy="829056"/>
            </a:xfrm>
            <a:custGeom>
              <a:avLst/>
              <a:gdLst/>
              <a:ahLst/>
              <a:cxnLst/>
              <a:rect l="l" t="t" r="r" b="b"/>
              <a:pathLst>
                <a:path w="4876800" h="829056">
                  <a:moveTo>
                    <a:pt x="0" y="0"/>
                  </a:moveTo>
                  <a:lnTo>
                    <a:pt x="4876800" y="0"/>
                  </a:lnTo>
                  <a:lnTo>
                    <a:pt x="48768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617" b="-64617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47625"/>
              <a:ext cx="4876800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어체 (Tone) 지정: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4110135" y="7571598"/>
            <a:ext cx="4023360" cy="621792"/>
            <a:chOff x="0" y="0"/>
            <a:chExt cx="5364480" cy="82905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5364480" cy="829056"/>
            </a:xfrm>
            <a:custGeom>
              <a:avLst/>
              <a:gdLst/>
              <a:ahLst/>
              <a:cxnLst/>
              <a:rect l="l" t="t" r="r" b="b"/>
              <a:pathLst>
                <a:path w="5364480" h="829056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079" b="-76079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5364480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i="1">
                  <a:solidFill>
                    <a:srgbClr val="7C3AE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"경어체"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84" name="Group 15"/>
          <p:cNvGrpSpPr/>
          <p:nvPr/>
        </p:nvGrpSpPr>
        <p:grpSpPr>
          <a:xfrm>
            <a:off x="-12697" y="9566474"/>
            <a:ext cx="18313403" cy="720347"/>
            <a:chOff x="0" y="0"/>
            <a:chExt cx="24417871" cy="960463"/>
          </a:xfrm>
        </p:grpSpPr>
        <p:sp>
          <p:nvSpPr>
            <p:cNvPr id="85" name="Freeform 1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86" name="Group 17"/>
          <p:cNvGrpSpPr/>
          <p:nvPr/>
        </p:nvGrpSpPr>
        <p:grpSpPr>
          <a:xfrm>
            <a:off x="182880" y="9661476"/>
            <a:ext cx="10972800" cy="548640"/>
            <a:chOff x="0" y="0"/>
            <a:chExt cx="14630400" cy="731520"/>
          </a:xfrm>
        </p:grpSpPr>
        <p:sp>
          <p:nvSpPr>
            <p:cNvPr id="87" name="Freeform 1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8" name="TextBox 1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2차시 | 민원 응대 스크립트 AI 작성</a:t>
              </a:r>
            </a:p>
          </p:txBody>
        </p:sp>
      </p:grpSp>
      <p:grpSp>
        <p:nvGrpSpPr>
          <p:cNvPr id="89" name="Group 20"/>
          <p:cNvGrpSpPr/>
          <p:nvPr/>
        </p:nvGrpSpPr>
        <p:grpSpPr>
          <a:xfrm>
            <a:off x="0" y="9707120"/>
            <a:ext cx="17830800" cy="548640"/>
            <a:chOff x="0" y="0"/>
            <a:chExt cx="23774400" cy="731520"/>
          </a:xfrm>
        </p:grpSpPr>
        <p:sp>
          <p:nvSpPr>
            <p:cNvPr id="90" name="Freeform 2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91" name="TextBox 2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0263" y="849687"/>
            <a:ext cx="3500123" cy="537467"/>
            <a:chOff x="0" y="0"/>
            <a:chExt cx="4666831" cy="7166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6869" cy="716661"/>
            </a:xfrm>
            <a:custGeom>
              <a:avLst/>
              <a:gdLst/>
              <a:ahLst/>
              <a:cxnLst/>
              <a:rect l="l" t="t" r="r" b="b"/>
              <a:pathLst>
                <a:path w="4666869" h="716661">
                  <a:moveTo>
                    <a:pt x="0" y="0"/>
                  </a:moveTo>
                  <a:lnTo>
                    <a:pt x="4666869" y="0"/>
                  </a:lnTo>
                  <a:lnTo>
                    <a:pt x="466686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047857"/>
            </a:solidFill>
            <a:ln w="25400" cap="sq">
              <a:solidFill>
                <a:srgbClr val="047857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822960" y="862384"/>
            <a:ext cx="3474720" cy="512064"/>
            <a:chOff x="0" y="0"/>
            <a:chExt cx="4632960" cy="6827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32960" cy="682752"/>
            </a:xfrm>
            <a:custGeom>
              <a:avLst/>
              <a:gdLst/>
              <a:ahLst/>
              <a:cxnLst/>
              <a:rect l="l" t="t" r="r" b="b"/>
              <a:pathLst>
                <a:path w="4632960" h="682752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219" b="-8221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463296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2차시-01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520752"/>
            <a:ext cx="16642080" cy="1316736"/>
            <a:chOff x="0" y="0"/>
            <a:chExt cx="22189440" cy="17556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9439" cy="1755648"/>
            </a:xfrm>
            <a:custGeom>
              <a:avLst/>
              <a:gdLst/>
              <a:ahLst/>
              <a:cxnLst/>
              <a:rect l="l" t="t" r="r" b="b"/>
              <a:pathLst>
                <a:path w="22189439" h="1755648">
                  <a:moveTo>
                    <a:pt x="0" y="0"/>
                  </a:moveTo>
                  <a:lnTo>
                    <a:pt x="22189439" y="0"/>
                  </a:lnTo>
                  <a:lnTo>
                    <a:pt x="221894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269" b="-19626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2189440" cy="1774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민원 유형 분류와 AI 응대 스크립트 작성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0263" y="2657820"/>
            <a:ext cx="2219963" cy="107699"/>
            <a:chOff x="0" y="0"/>
            <a:chExt cx="2959951" cy="1435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59989" cy="143637"/>
            </a:xfrm>
            <a:custGeom>
              <a:avLst/>
              <a:gdLst/>
              <a:ahLst/>
              <a:cxnLst/>
              <a:rect l="l" t="t" r="r" b="b"/>
              <a:pathLst>
                <a:path w="2959989" h="143637">
                  <a:moveTo>
                    <a:pt x="0" y="0"/>
                  </a:moveTo>
                  <a:lnTo>
                    <a:pt x="2959989" y="0"/>
                  </a:lnTo>
                  <a:lnTo>
                    <a:pt x="2959989" y="143637"/>
                  </a:lnTo>
                  <a:lnTo>
                    <a:pt x="0" y="14363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2960" y="2853397"/>
            <a:ext cx="16642080" cy="548640"/>
            <a:chOff x="0" y="0"/>
            <a:chExt cx="2218944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21894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rimo"/>
                  <a:ea typeface="Arimo"/>
                  <a:cs typeface="Arimo"/>
                  <a:sym typeface="Arimo"/>
                </a:rPr>
                <a:t>4단계 구조로 모든 민원에 즉시 대응하는 스크립트 생성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6607" y="2956772"/>
            <a:ext cx="8150857" cy="4804153"/>
            <a:chOff x="0" y="0"/>
            <a:chExt cx="10867809" cy="64055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67771" cy="6405499"/>
            </a:xfrm>
            <a:custGeom>
              <a:avLst/>
              <a:gdLst/>
              <a:ahLst/>
              <a:cxnLst/>
              <a:rect l="l" t="t" r="r" b="b"/>
              <a:pathLst>
                <a:path w="10867771" h="6405499">
                  <a:moveTo>
                    <a:pt x="0" y="0"/>
                  </a:moveTo>
                  <a:lnTo>
                    <a:pt x="10867771" y="0"/>
                  </a:lnTo>
                  <a:lnTo>
                    <a:pt x="1086777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10263" y="2950428"/>
            <a:ext cx="135131" cy="4816859"/>
            <a:chOff x="0" y="0"/>
            <a:chExt cx="180175" cy="642247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047857"/>
            </a:solidFill>
            <a:ln w="25400" cap="sq">
              <a:solidFill>
                <a:srgbClr val="047857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152144" y="3200869"/>
            <a:ext cx="7680960" cy="548640"/>
            <a:chOff x="0" y="0"/>
            <a:chExt cx="1024128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📊 병원 민원 유형 분류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52144" y="3840949"/>
            <a:ext cx="7680960" cy="3730752"/>
            <a:chOff x="0" y="0"/>
            <a:chExt cx="10241280" cy="49743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41280" cy="4974336"/>
            </a:xfrm>
            <a:custGeom>
              <a:avLst/>
              <a:gdLst/>
              <a:ahLst/>
              <a:cxnLst/>
              <a:rect l="l" t="t" r="r" b="b"/>
              <a:pathLst>
                <a:path w="10241280" h="4974336">
                  <a:moveTo>
                    <a:pt x="0" y="0"/>
                  </a:moveTo>
                  <a:lnTo>
                    <a:pt x="10241280" y="0"/>
                  </a:lnTo>
                  <a:lnTo>
                    <a:pt x="1024128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18" r="-1231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024128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① 대기·예약 민원: 대기시간 길어요, 예약 취소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② 수납·보험 민원: 비용 이상해요, 영수증 오류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③ 의료진 태도 민원: 불친절, 설명 부족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④ 시설·환경 민원: 주차, 청결, 편의시설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⑤ 의료행위 민원: 처치 불만, 의료사고 의심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29087" y="2956772"/>
            <a:ext cx="8242297" cy="4804153"/>
            <a:chOff x="0" y="0"/>
            <a:chExt cx="10989729" cy="64055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89691" cy="6405499"/>
            </a:xfrm>
            <a:custGeom>
              <a:avLst/>
              <a:gdLst/>
              <a:ahLst/>
              <a:cxnLst/>
              <a:rect l="l" t="t" r="r" b="b"/>
              <a:pathLst>
                <a:path w="10989691" h="6405499">
                  <a:moveTo>
                    <a:pt x="0" y="0"/>
                  </a:moveTo>
                  <a:lnTo>
                    <a:pt x="10989691" y="0"/>
                  </a:lnTo>
                  <a:lnTo>
                    <a:pt x="1098969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222743" y="2950428"/>
            <a:ext cx="135131" cy="4816859"/>
            <a:chOff x="0" y="0"/>
            <a:chExt cx="180175" cy="642247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564624" y="3200869"/>
            <a:ext cx="7772400" cy="548640"/>
            <a:chOff x="0" y="0"/>
            <a:chExt cx="1036320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363200" cy="731520"/>
            </a:xfrm>
            <a:custGeom>
              <a:avLst/>
              <a:gdLst/>
              <a:ahLst/>
              <a:cxnLst/>
              <a:rect l="l" t="t" r="r" b="b"/>
              <a:pathLst>
                <a:path w="10363200" h="731520">
                  <a:moveTo>
                    <a:pt x="0" y="0"/>
                  </a:moveTo>
                  <a:lnTo>
                    <a:pt x="10363200" y="0"/>
                  </a:lnTo>
                  <a:lnTo>
                    <a:pt x="1036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038" b="-22603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103632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✍️ AI 스크립트 4단계 구조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64624" y="3840949"/>
            <a:ext cx="7772400" cy="3730752"/>
            <a:chOff x="0" y="0"/>
            <a:chExt cx="10363200" cy="497433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363200" cy="4974336"/>
            </a:xfrm>
            <a:custGeom>
              <a:avLst/>
              <a:gdLst/>
              <a:ahLst/>
              <a:cxnLst/>
              <a:rect l="l" t="t" r="r" b="b"/>
              <a:pathLst>
                <a:path w="10363200" h="4974336">
                  <a:moveTo>
                    <a:pt x="0" y="0"/>
                  </a:moveTo>
                  <a:lnTo>
                    <a:pt x="10363200" y="0"/>
                  </a:lnTo>
                  <a:lnTo>
                    <a:pt x="1036320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r="-1158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036320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1️⃣ 공감 — 불편 드려 진심으로 사과드립니다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2️⃣ 수용 — 충분히 이해합니다, 말씀 감사합니다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3️⃣ 해결 — 즉시 확인 후 [담당자/부서]와 처리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4️⃣ 마무리 — 추가 불편 시 언제든지 연락 주세요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💡 유형별 키워드 주입 → AI 맞춤 스크립트 완성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0263" y="8034492"/>
            <a:ext cx="17033243" cy="1199283"/>
            <a:chOff x="0" y="0"/>
            <a:chExt cx="22710991" cy="15990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711029" cy="1599057"/>
            </a:xfrm>
            <a:custGeom>
              <a:avLst/>
              <a:gdLst/>
              <a:ahLst/>
              <a:cxnLst/>
              <a:rect l="l" t="t" r="r" b="b"/>
              <a:pathLst>
                <a:path w="22711029" h="1599057">
                  <a:moveTo>
                    <a:pt x="0" y="0"/>
                  </a:moveTo>
                  <a:lnTo>
                    <a:pt x="22711029" y="0"/>
                  </a:lnTo>
                  <a:lnTo>
                    <a:pt x="22711029" y="1599057"/>
                  </a:lnTo>
                  <a:lnTo>
                    <a:pt x="0" y="1599057"/>
                  </a:lnTo>
                  <a:close/>
                </a:path>
              </a:pathLst>
            </a:custGeom>
            <a:solidFill>
              <a:srgbClr val="FEF2F2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810263" y="8034492"/>
            <a:ext cx="135131" cy="976379"/>
            <a:chOff x="0" y="0"/>
            <a:chExt cx="180175" cy="13018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80213" cy="1301877"/>
            </a:xfrm>
            <a:custGeom>
              <a:avLst/>
              <a:gdLst/>
              <a:ahLst/>
              <a:cxnLst/>
              <a:rect l="l" t="t" r="r" b="b"/>
              <a:pathLst>
                <a:path w="180213" h="1301877">
                  <a:moveTo>
                    <a:pt x="0" y="0"/>
                  </a:moveTo>
                  <a:lnTo>
                    <a:pt x="180213" y="0"/>
                  </a:lnTo>
                  <a:lnTo>
                    <a:pt x="180213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078992" y="8138629"/>
            <a:ext cx="16605504" cy="365760"/>
            <a:chOff x="0" y="0"/>
            <a:chExt cx="22140672" cy="4876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140672" cy="487680"/>
            </a:xfrm>
            <a:custGeom>
              <a:avLst/>
              <a:gdLst/>
              <a:ahLst/>
              <a:cxnLst/>
              <a:rect l="l" t="t" r="r" b="b"/>
              <a:pathLst>
                <a:path w="22140672" h="487680">
                  <a:moveTo>
                    <a:pt x="0" y="0"/>
                  </a:moveTo>
                  <a:lnTo>
                    <a:pt x="22140672" y="0"/>
                  </a:lnTo>
                  <a:lnTo>
                    <a:pt x="22140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4620" b="-83462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22140672" cy="497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⚠️  주의사항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21892" y="8404386"/>
            <a:ext cx="16605504" cy="896112"/>
            <a:chOff x="0" y="0"/>
            <a:chExt cx="22140672" cy="119481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140672" cy="1194816"/>
            </a:xfrm>
            <a:custGeom>
              <a:avLst/>
              <a:gdLst/>
              <a:ahLst/>
              <a:cxnLst/>
              <a:rect l="l" t="t" r="r" b="b"/>
              <a:pathLst>
                <a:path w="22140672" h="1194816">
                  <a:moveTo>
                    <a:pt x="0" y="0"/>
                  </a:moveTo>
                  <a:lnTo>
                    <a:pt x="22140672" y="0"/>
                  </a:lnTo>
                  <a:lnTo>
                    <a:pt x="22140672" y="1194816"/>
                  </a:lnTo>
                  <a:lnTo>
                    <a:pt x="0" y="11948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069" b="-311069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22140672" cy="12043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AI 스크립트는 초안 생성용 — 발송·사용 전 반드시 담당자 검토 및 병원 방침에 맞게 수정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민원인 실명·진료 기록은 AI에 입력 금지 | '환자 A'처럼 익명으로 대체 후 프롬프트 작성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2차시-01 | 민원 유형 분류와 AI 응대 스크립트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53" name="AutoShape 53"/>
          <p:cNvSpPr/>
          <p:nvPr/>
        </p:nvSpPr>
        <p:spPr>
          <a:xfrm rot="6540">
            <a:off x="-792166" y="836190"/>
            <a:ext cx="6705552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보건의료 민원 유형 분류 및 특성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920240"/>
            <a:ext cx="3291840" cy="731520"/>
            <a:chOff x="0" y="0"/>
            <a:chExt cx="4389120" cy="975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89120" cy="975360"/>
            </a:xfrm>
            <a:custGeom>
              <a:avLst/>
              <a:gdLst/>
              <a:ahLst/>
              <a:cxnLst/>
              <a:rect l="l" t="t" r="r" b="b"/>
              <a:pathLst>
                <a:path w="4389120" h="97536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0080" y="1920240"/>
            <a:ext cx="3291840" cy="731520"/>
            <a:chOff x="0" y="0"/>
            <a:chExt cx="4389120" cy="975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89120" cy="975360"/>
            </a:xfrm>
            <a:custGeom>
              <a:avLst/>
              <a:gdLst/>
              <a:ahLst/>
              <a:cxnLst/>
              <a:rect l="l" t="t" r="r" b="b"/>
              <a:pathLst>
                <a:path w="4389120" h="97536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4389120" cy="965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유형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840480" y="1920240"/>
            <a:ext cx="6949440" cy="731520"/>
            <a:chOff x="0" y="0"/>
            <a:chExt cx="9265920" cy="9753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265920" cy="975360"/>
            </a:xfrm>
            <a:custGeom>
              <a:avLst/>
              <a:gdLst/>
              <a:ahLst/>
              <a:cxnLst/>
              <a:rect l="l" t="t" r="r" b="b"/>
              <a:pathLst>
                <a:path w="9265920" h="97536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3840480" y="1920240"/>
            <a:ext cx="6949440" cy="731520"/>
            <a:chOff x="0" y="0"/>
            <a:chExt cx="9265920" cy="9753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265920" cy="975360"/>
            </a:xfrm>
            <a:custGeom>
              <a:avLst/>
              <a:gdLst/>
              <a:ahLst/>
              <a:cxnLst/>
              <a:rect l="l" t="t" r="r" b="b"/>
              <a:pathLst>
                <a:path w="9265920" h="97536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107" b="-13510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9265920" cy="965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주요 예시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972800" y="1920240"/>
            <a:ext cx="2743200" cy="731520"/>
            <a:chOff x="0" y="0"/>
            <a:chExt cx="3657600" cy="9753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657600" cy="975360"/>
            </a:xfrm>
            <a:custGeom>
              <a:avLst/>
              <a:gdLst/>
              <a:ahLst/>
              <a:cxnLst/>
              <a:rect l="l" t="t" r="r" b="b"/>
              <a:pathLst>
                <a:path w="3657600" h="97536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0972800" y="1920240"/>
            <a:ext cx="2743200" cy="731520"/>
            <a:chOff x="0" y="0"/>
            <a:chExt cx="3657600" cy="975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57600" cy="975360"/>
            </a:xfrm>
            <a:custGeom>
              <a:avLst/>
              <a:gdLst/>
              <a:ahLst/>
              <a:cxnLst/>
              <a:rect l="l" t="t" r="r" b="b"/>
              <a:pathLst>
                <a:path w="3657600" h="97536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68" b="-23068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3657600" cy="965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민원 강도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898880" y="1920240"/>
            <a:ext cx="3749040" cy="731520"/>
            <a:chOff x="0" y="0"/>
            <a:chExt cx="4998720" cy="9753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998720" cy="975360"/>
            </a:xfrm>
            <a:custGeom>
              <a:avLst/>
              <a:gdLst/>
              <a:ahLst/>
              <a:cxnLst/>
              <a:rect l="l" t="t" r="r" b="b"/>
              <a:pathLst>
                <a:path w="4998720" h="975360">
                  <a:moveTo>
                    <a:pt x="0" y="0"/>
                  </a:moveTo>
                  <a:lnTo>
                    <a:pt x="4998720" y="0"/>
                  </a:lnTo>
                  <a:lnTo>
                    <a:pt x="49987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3898880" y="1920240"/>
            <a:ext cx="3749040" cy="731520"/>
            <a:chOff x="0" y="0"/>
            <a:chExt cx="4998720" cy="9753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998720" cy="975360"/>
            </a:xfrm>
            <a:custGeom>
              <a:avLst/>
              <a:gdLst/>
              <a:ahLst/>
              <a:cxnLst/>
              <a:rect l="l" t="t" r="r" b="b"/>
              <a:pathLst>
                <a:path w="4998720" h="975360">
                  <a:moveTo>
                    <a:pt x="0" y="0"/>
                  </a:moveTo>
                  <a:lnTo>
                    <a:pt x="4998720" y="0"/>
                  </a:lnTo>
                  <a:lnTo>
                    <a:pt x="499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60" b="-4986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4998720" cy="965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응대 우선순위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0080" y="2779776"/>
            <a:ext cx="17007840" cy="1005840"/>
            <a:chOff x="0" y="0"/>
            <a:chExt cx="22677120" cy="13411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677120" cy="1341120"/>
            </a:xfrm>
            <a:custGeom>
              <a:avLst/>
              <a:gdLst/>
              <a:ahLst/>
              <a:cxnLst/>
              <a:rect l="l" t="t" r="r" b="b"/>
              <a:pathLst>
                <a:path w="22677120" h="1341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40080" y="2779776"/>
            <a:ext cx="3108960" cy="1005840"/>
            <a:chOff x="0" y="0"/>
            <a:chExt cx="4145280" cy="13411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145280" cy="1341120"/>
            </a:xfrm>
            <a:custGeom>
              <a:avLst/>
              <a:gdLst/>
              <a:ahLst/>
              <a:cxnLst/>
              <a:rect l="l" t="t" r="r" b="b"/>
              <a:pathLst>
                <a:path w="4145280" h="134112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640080" y="2779776"/>
            <a:ext cx="3108960" cy="1005840"/>
            <a:chOff x="0" y="0"/>
            <a:chExt cx="4145280" cy="13411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145280" cy="1341120"/>
            </a:xfrm>
            <a:custGeom>
              <a:avLst/>
              <a:gdLst/>
              <a:ahLst/>
              <a:cxnLst/>
              <a:rect l="l" t="t" r="r" b="b"/>
              <a:pathLst>
                <a:path w="4145280" h="134112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26" b="-10226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9525"/>
              <a:ext cx="414528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대기 불만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840480" y="2779776"/>
            <a:ext cx="6949440" cy="1005840"/>
            <a:chOff x="0" y="0"/>
            <a:chExt cx="9265920" cy="13411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265920" cy="1341120"/>
            </a:xfrm>
            <a:custGeom>
              <a:avLst/>
              <a:gdLst/>
              <a:ahLst/>
              <a:cxnLst/>
              <a:rect l="l" t="t" r="r" b="b"/>
              <a:pathLst>
                <a:path w="9265920" h="13411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623" b="-84623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92659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진료·검사 대기 지연, 응급실 대기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972800" y="2779776"/>
            <a:ext cx="2834640" cy="1005840"/>
            <a:chOff x="0" y="0"/>
            <a:chExt cx="3779520" cy="13411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" b="-4912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9525"/>
              <a:ext cx="377952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★★★★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898880" y="2779776"/>
            <a:ext cx="3749040" cy="1005840"/>
            <a:chOff x="0" y="0"/>
            <a:chExt cx="4998720" cy="13411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998720" cy="1341120"/>
            </a:xfrm>
            <a:custGeom>
              <a:avLst/>
              <a:gdLst/>
              <a:ahLst/>
              <a:cxnLst/>
              <a:rect l="l" t="t" r="r" b="b"/>
              <a:pathLst>
                <a:path w="4998720" h="13411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49987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즉시 대응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40080" y="3877056"/>
            <a:ext cx="17007840" cy="1005840"/>
            <a:chOff x="0" y="0"/>
            <a:chExt cx="22677120" cy="13411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2677120" cy="1341120"/>
            </a:xfrm>
            <a:custGeom>
              <a:avLst/>
              <a:gdLst/>
              <a:ahLst/>
              <a:cxnLst/>
              <a:rect l="l" t="t" r="r" b="b"/>
              <a:pathLst>
                <a:path w="22677120" h="1341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640080" y="3877056"/>
            <a:ext cx="3108960" cy="1005840"/>
            <a:chOff x="0" y="0"/>
            <a:chExt cx="4145280" cy="13411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145280" cy="1341120"/>
            </a:xfrm>
            <a:custGeom>
              <a:avLst/>
              <a:gdLst/>
              <a:ahLst/>
              <a:cxnLst/>
              <a:rect l="l" t="t" r="r" b="b"/>
              <a:pathLst>
                <a:path w="4145280" h="134112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640080" y="3877056"/>
            <a:ext cx="3108960" cy="1005840"/>
            <a:chOff x="0" y="0"/>
            <a:chExt cx="4145280" cy="13411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145280" cy="1341120"/>
            </a:xfrm>
            <a:custGeom>
              <a:avLst/>
              <a:gdLst/>
              <a:ahLst/>
              <a:cxnLst/>
              <a:rect l="l" t="t" r="r" b="b"/>
              <a:pathLst>
                <a:path w="4145280" h="134112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26" b="-10226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9525"/>
              <a:ext cx="414528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의료진 태도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40480" y="3877056"/>
            <a:ext cx="6949440" cy="1005840"/>
            <a:chOff x="0" y="0"/>
            <a:chExt cx="9265920" cy="13411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265920" cy="1341120"/>
            </a:xfrm>
            <a:custGeom>
              <a:avLst/>
              <a:gdLst/>
              <a:ahLst/>
              <a:cxnLst/>
              <a:rect l="l" t="t" r="r" b="b"/>
              <a:pathLst>
                <a:path w="9265920" h="13411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623" b="-84623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92659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불친절·무시·설명 부족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972800" y="3877056"/>
            <a:ext cx="2834640" cy="1005840"/>
            <a:chOff x="0" y="0"/>
            <a:chExt cx="3779520" cy="13411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" b="-4912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9525"/>
              <a:ext cx="377952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★★★★★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898880" y="3877056"/>
            <a:ext cx="3749040" cy="1005840"/>
            <a:chOff x="0" y="0"/>
            <a:chExt cx="4998720" cy="13411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998720" cy="1341120"/>
            </a:xfrm>
            <a:custGeom>
              <a:avLst/>
              <a:gdLst/>
              <a:ahLst/>
              <a:cxnLst/>
              <a:rect l="l" t="t" r="r" b="b"/>
              <a:pathLst>
                <a:path w="4998720" h="13411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0"/>
              <a:ext cx="49987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즉시 대응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40080" y="4974336"/>
            <a:ext cx="17007840" cy="1005840"/>
            <a:chOff x="0" y="0"/>
            <a:chExt cx="22677120" cy="13411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2677120" cy="1341120"/>
            </a:xfrm>
            <a:custGeom>
              <a:avLst/>
              <a:gdLst/>
              <a:ahLst/>
              <a:cxnLst/>
              <a:rect l="l" t="t" r="r" b="b"/>
              <a:pathLst>
                <a:path w="22677120" h="1341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640080" y="4974336"/>
            <a:ext cx="3108960" cy="1005840"/>
            <a:chOff x="0" y="0"/>
            <a:chExt cx="4145280" cy="134112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145280" cy="1341120"/>
            </a:xfrm>
            <a:custGeom>
              <a:avLst/>
              <a:gdLst/>
              <a:ahLst/>
              <a:cxnLst/>
              <a:rect l="l" t="t" r="r" b="b"/>
              <a:pathLst>
                <a:path w="4145280" h="134112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640080" y="4974336"/>
            <a:ext cx="3108960" cy="1005840"/>
            <a:chOff x="0" y="0"/>
            <a:chExt cx="4145280" cy="13411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145280" cy="1341120"/>
            </a:xfrm>
            <a:custGeom>
              <a:avLst/>
              <a:gdLst/>
              <a:ahLst/>
              <a:cxnLst/>
              <a:rect l="l" t="t" r="r" b="b"/>
              <a:pathLst>
                <a:path w="4145280" h="134112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26" b="-10226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9525"/>
              <a:ext cx="414528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비용·청구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840480" y="4974336"/>
            <a:ext cx="6949440" cy="1005840"/>
            <a:chOff x="0" y="0"/>
            <a:chExt cx="9265920" cy="13411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9265920" cy="1341120"/>
            </a:xfrm>
            <a:custGeom>
              <a:avLst/>
              <a:gdLst/>
              <a:ahLst/>
              <a:cxnLst/>
              <a:rect l="l" t="t" r="r" b="b"/>
              <a:pathLst>
                <a:path w="9265920" h="13411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623" b="-84623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92659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과잉청구·보험처리·영수증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972800" y="4974336"/>
            <a:ext cx="2834640" cy="1005840"/>
            <a:chOff x="0" y="0"/>
            <a:chExt cx="3779520" cy="13411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" b="-491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9525"/>
              <a:ext cx="377952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D05A00"/>
                  </a:solidFill>
                  <a:latin typeface="Mandali"/>
                  <a:ea typeface="Mandali"/>
                  <a:cs typeface="Mandali"/>
                  <a:sym typeface="Mandali"/>
                </a:rPr>
                <a:t>★★★☆☆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3898880" y="4974336"/>
            <a:ext cx="3749040" cy="1005840"/>
            <a:chOff x="0" y="0"/>
            <a:chExt cx="4998720" cy="13411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998720" cy="1341120"/>
            </a:xfrm>
            <a:custGeom>
              <a:avLst/>
              <a:gdLst/>
              <a:ahLst/>
              <a:cxnLst/>
              <a:rect l="l" t="t" r="r" b="b"/>
              <a:pathLst>
                <a:path w="4998720" h="13411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49987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D05A00"/>
                  </a:solidFill>
                  <a:latin typeface="Mandali"/>
                  <a:ea typeface="Mandali"/>
                  <a:cs typeface="Mandali"/>
                  <a:sym typeface="Mandali"/>
                </a:rPr>
                <a:t>우선 처리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40080" y="6071616"/>
            <a:ext cx="17007840" cy="1005840"/>
            <a:chOff x="0" y="0"/>
            <a:chExt cx="22677120" cy="134112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2677120" cy="1341120"/>
            </a:xfrm>
            <a:custGeom>
              <a:avLst/>
              <a:gdLst/>
              <a:ahLst/>
              <a:cxnLst/>
              <a:rect l="l" t="t" r="r" b="b"/>
              <a:pathLst>
                <a:path w="22677120" h="1341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79" name="Group 79"/>
          <p:cNvGrpSpPr/>
          <p:nvPr/>
        </p:nvGrpSpPr>
        <p:grpSpPr>
          <a:xfrm>
            <a:off x="640080" y="6071616"/>
            <a:ext cx="3108960" cy="1005840"/>
            <a:chOff x="0" y="0"/>
            <a:chExt cx="4145280" cy="134112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145280" cy="1341120"/>
            </a:xfrm>
            <a:custGeom>
              <a:avLst/>
              <a:gdLst/>
              <a:ahLst/>
              <a:cxnLst/>
              <a:rect l="l" t="t" r="r" b="b"/>
              <a:pathLst>
                <a:path w="4145280" h="134112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640080" y="6071616"/>
            <a:ext cx="3108960" cy="1005840"/>
            <a:chOff x="0" y="0"/>
            <a:chExt cx="4145280" cy="134112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4145280" cy="1341120"/>
            </a:xfrm>
            <a:custGeom>
              <a:avLst/>
              <a:gdLst/>
              <a:ahLst/>
              <a:cxnLst/>
              <a:rect l="l" t="t" r="r" b="b"/>
              <a:pathLst>
                <a:path w="4145280" h="134112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26" b="-10226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9525"/>
              <a:ext cx="414528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시설·환경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840480" y="6071616"/>
            <a:ext cx="6949440" cy="1005840"/>
            <a:chOff x="0" y="0"/>
            <a:chExt cx="9265920" cy="134112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9265920" cy="1341120"/>
            </a:xfrm>
            <a:custGeom>
              <a:avLst/>
              <a:gdLst/>
              <a:ahLst/>
              <a:cxnLst/>
              <a:rect l="l" t="t" r="r" b="b"/>
              <a:pathLst>
                <a:path w="9265920" h="13411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623" b="-84623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0"/>
              <a:ext cx="92659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청결·주차·편의시설 불편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0972800" y="6071616"/>
            <a:ext cx="2834640" cy="1005840"/>
            <a:chOff x="0" y="0"/>
            <a:chExt cx="3779520" cy="134112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" b="-4912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9525"/>
              <a:ext cx="377952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★★☆☆☆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3898880" y="6071616"/>
            <a:ext cx="3749040" cy="1005840"/>
            <a:chOff x="0" y="0"/>
            <a:chExt cx="4998720" cy="134112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998720" cy="1341120"/>
            </a:xfrm>
            <a:custGeom>
              <a:avLst/>
              <a:gdLst/>
              <a:ahLst/>
              <a:cxnLst/>
              <a:rect l="l" t="t" r="r" b="b"/>
              <a:pathLst>
                <a:path w="4998720" h="13411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0"/>
              <a:ext cx="49987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일반 처리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40080" y="7168896"/>
            <a:ext cx="17007840" cy="1005840"/>
            <a:chOff x="0" y="0"/>
            <a:chExt cx="22677120" cy="134112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22677120" cy="1341120"/>
            </a:xfrm>
            <a:custGeom>
              <a:avLst/>
              <a:gdLst/>
              <a:ahLst/>
              <a:cxnLst/>
              <a:rect l="l" t="t" r="r" b="b"/>
              <a:pathLst>
                <a:path w="22677120" h="1341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5" name="Group 95"/>
          <p:cNvGrpSpPr/>
          <p:nvPr/>
        </p:nvGrpSpPr>
        <p:grpSpPr>
          <a:xfrm>
            <a:off x="640080" y="7168896"/>
            <a:ext cx="3108960" cy="1005840"/>
            <a:chOff x="0" y="0"/>
            <a:chExt cx="4145280" cy="134112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4145280" cy="1341120"/>
            </a:xfrm>
            <a:custGeom>
              <a:avLst/>
              <a:gdLst/>
              <a:ahLst/>
              <a:cxnLst/>
              <a:rect l="l" t="t" r="r" b="b"/>
              <a:pathLst>
                <a:path w="4145280" h="134112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97" name="Group 97"/>
          <p:cNvGrpSpPr/>
          <p:nvPr/>
        </p:nvGrpSpPr>
        <p:grpSpPr>
          <a:xfrm>
            <a:off x="640080" y="7168896"/>
            <a:ext cx="3108960" cy="1005840"/>
            <a:chOff x="0" y="0"/>
            <a:chExt cx="4145280" cy="134112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4145280" cy="1341120"/>
            </a:xfrm>
            <a:custGeom>
              <a:avLst/>
              <a:gdLst/>
              <a:ahLst/>
              <a:cxnLst/>
              <a:rect l="l" t="t" r="r" b="b"/>
              <a:pathLst>
                <a:path w="4145280" h="134112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26" b="-10226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9525"/>
              <a:ext cx="414528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예약·접수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3840480" y="7168896"/>
            <a:ext cx="6949440" cy="1005840"/>
            <a:chOff x="0" y="0"/>
            <a:chExt cx="9265920" cy="134112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9265920" cy="1341120"/>
            </a:xfrm>
            <a:custGeom>
              <a:avLst/>
              <a:gdLst/>
              <a:ahLst/>
              <a:cxnLst/>
              <a:rect l="l" t="t" r="r" b="b"/>
              <a:pathLst>
                <a:path w="9265920" h="13411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623" b="-84623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0"/>
              <a:ext cx="92659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예약 오류·취소·변경 불편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0972800" y="7168896"/>
            <a:ext cx="2834640" cy="1005840"/>
            <a:chOff x="0" y="0"/>
            <a:chExt cx="3779520" cy="134112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" b="-4912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9525"/>
              <a:ext cx="377952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D05A00"/>
                  </a:solidFill>
                  <a:latin typeface="Mandali"/>
                  <a:ea typeface="Mandali"/>
                  <a:cs typeface="Mandali"/>
                  <a:sym typeface="Mandali"/>
                </a:rPr>
                <a:t>★★★☆☆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3898880" y="7168896"/>
            <a:ext cx="3749040" cy="1005840"/>
            <a:chOff x="0" y="0"/>
            <a:chExt cx="4998720" cy="134112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4998720" cy="1341120"/>
            </a:xfrm>
            <a:custGeom>
              <a:avLst/>
              <a:gdLst/>
              <a:ahLst/>
              <a:cxnLst/>
              <a:rect l="l" t="t" r="r" b="b"/>
              <a:pathLst>
                <a:path w="4998720" h="13411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0"/>
              <a:ext cx="49987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D05A00"/>
                  </a:solidFill>
                  <a:latin typeface="Mandali"/>
                  <a:ea typeface="Mandali"/>
                  <a:cs typeface="Mandali"/>
                  <a:sym typeface="Mandali"/>
                </a:rPr>
                <a:t>우선 처리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640080" y="8266176"/>
            <a:ext cx="17007840" cy="1005840"/>
            <a:chOff x="0" y="0"/>
            <a:chExt cx="22677120" cy="134112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22677120" cy="1341120"/>
            </a:xfrm>
            <a:custGeom>
              <a:avLst/>
              <a:gdLst/>
              <a:ahLst/>
              <a:cxnLst/>
              <a:rect l="l" t="t" r="r" b="b"/>
              <a:pathLst>
                <a:path w="22677120" h="1341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11" name="Group 111"/>
          <p:cNvGrpSpPr/>
          <p:nvPr/>
        </p:nvGrpSpPr>
        <p:grpSpPr>
          <a:xfrm>
            <a:off x="640080" y="8266176"/>
            <a:ext cx="3108960" cy="1005840"/>
            <a:chOff x="0" y="0"/>
            <a:chExt cx="4145280" cy="134112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4145280" cy="1341120"/>
            </a:xfrm>
            <a:custGeom>
              <a:avLst/>
              <a:gdLst/>
              <a:ahLst/>
              <a:cxnLst/>
              <a:rect l="l" t="t" r="r" b="b"/>
              <a:pathLst>
                <a:path w="4145280" h="134112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13" name="Group 113"/>
          <p:cNvGrpSpPr/>
          <p:nvPr/>
        </p:nvGrpSpPr>
        <p:grpSpPr>
          <a:xfrm>
            <a:off x="640080" y="8266176"/>
            <a:ext cx="3108960" cy="1005840"/>
            <a:chOff x="0" y="0"/>
            <a:chExt cx="4145280" cy="134112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4145280" cy="1341120"/>
            </a:xfrm>
            <a:custGeom>
              <a:avLst/>
              <a:gdLst/>
              <a:ahLst/>
              <a:cxnLst/>
              <a:rect l="l" t="t" r="r" b="b"/>
              <a:pathLst>
                <a:path w="4145280" h="134112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26" b="-10226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9525"/>
              <a:ext cx="414528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정보 제공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3840480" y="8266176"/>
            <a:ext cx="6949440" cy="1005840"/>
            <a:chOff x="0" y="0"/>
            <a:chExt cx="9265920" cy="134112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9265920" cy="1341120"/>
            </a:xfrm>
            <a:custGeom>
              <a:avLst/>
              <a:gdLst/>
              <a:ahLst/>
              <a:cxnLst/>
              <a:rect l="l" t="t" r="r" b="b"/>
              <a:pathLst>
                <a:path w="9265920" h="13411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623" b="-84623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0"/>
              <a:ext cx="92659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검사 결과·진단서·증명서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0972800" y="8266176"/>
            <a:ext cx="2834640" cy="1005840"/>
            <a:chOff x="0" y="0"/>
            <a:chExt cx="3779520" cy="134112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" b="-4912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9525"/>
              <a:ext cx="377952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★★☆☆☆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3898880" y="8266176"/>
            <a:ext cx="3749040" cy="1005840"/>
            <a:chOff x="0" y="0"/>
            <a:chExt cx="4998720" cy="134112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4998720" cy="1341120"/>
            </a:xfrm>
            <a:custGeom>
              <a:avLst/>
              <a:gdLst/>
              <a:ahLst/>
              <a:cxnLst/>
              <a:rect l="l" t="t" r="r" b="b"/>
              <a:pathLst>
                <a:path w="4998720" h="13411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0"/>
              <a:ext cx="49987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일반 처리</a:t>
              </a:r>
            </a:p>
          </p:txBody>
        </p:sp>
      </p:grpSp>
      <p:grpSp>
        <p:nvGrpSpPr>
          <p:cNvPr id="126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27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28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29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30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2차시-01 | 민원 유형 분류와 AI 응대 스크립트</a:t>
              </a:r>
            </a:p>
          </p:txBody>
        </p:sp>
      </p:grpSp>
      <p:grpSp>
        <p:nvGrpSpPr>
          <p:cNvPr id="131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32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33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【실습 1】 AI 민원 응대 스크립트 직접 작성해보기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920240"/>
            <a:ext cx="17007840" cy="768096"/>
            <a:chOff x="0" y="0"/>
            <a:chExt cx="22677120" cy="1024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77120" cy="1024128"/>
            </a:xfrm>
            <a:custGeom>
              <a:avLst/>
              <a:gdLst/>
              <a:ahLst/>
              <a:cxnLst/>
              <a:rect l="l" t="t" r="r" b="b"/>
              <a:pathLst>
                <a:path w="22677120" h="1024128">
                  <a:moveTo>
                    <a:pt x="0" y="0"/>
                  </a:moveTo>
                  <a:lnTo>
                    <a:pt x="22677120" y="0"/>
                  </a:lnTo>
                  <a:lnTo>
                    <a:pt x="22677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22960" y="1920240"/>
            <a:ext cx="16642080" cy="768096"/>
            <a:chOff x="0" y="0"/>
            <a:chExt cx="22189440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189439" cy="1024128"/>
            </a:xfrm>
            <a:custGeom>
              <a:avLst/>
              <a:gdLst/>
              <a:ahLst/>
              <a:cxnLst/>
              <a:rect l="l" t="t" r="r" b="b"/>
              <a:pathLst>
                <a:path w="22189439" h="1024128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75" b="-37217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22189440" cy="1014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🎯 실습 목표: ChatGPT 또는 Claude에서 나만의 민원 응대 스크립트를 직접 생성합니다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0" y="2834640"/>
            <a:ext cx="914400" cy="914400"/>
            <a:chOff x="0" y="0"/>
            <a:chExt cx="12192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40080" y="2834640"/>
            <a:ext cx="914400" cy="914400"/>
            <a:chOff x="0" y="0"/>
            <a:chExt cx="1219200" cy="121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①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37360" y="2834640"/>
            <a:ext cx="2377440" cy="914400"/>
            <a:chOff x="0" y="0"/>
            <a:chExt cx="3169920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737360" y="2834640"/>
            <a:ext cx="2377440" cy="914400"/>
            <a:chOff x="0" y="0"/>
            <a:chExt cx="316992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316992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0A7B83"/>
                  </a:solidFill>
                  <a:latin typeface="Mandali"/>
                  <a:ea typeface="Mandali"/>
                  <a:cs typeface="Mandali"/>
                  <a:sym typeface="Mandali"/>
                </a:rPr>
                <a:t>접속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297680" y="2834640"/>
            <a:ext cx="13350240" cy="914400"/>
            <a:chOff x="0" y="0"/>
            <a:chExt cx="1780032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800320" cy="1219200"/>
            </a:xfrm>
            <a:custGeom>
              <a:avLst/>
              <a:gdLst/>
              <a:ahLst/>
              <a:cxnLst/>
              <a:rect l="l" t="t" r="r" b="b"/>
              <a:pathLst>
                <a:path w="17800320" h="1219200">
                  <a:moveTo>
                    <a:pt x="0" y="0"/>
                  </a:moveTo>
                  <a:lnTo>
                    <a:pt x="17800320" y="0"/>
                  </a:lnTo>
                  <a:lnTo>
                    <a:pt x="17800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4480560" y="2834640"/>
            <a:ext cx="12984480" cy="914400"/>
            <a:chOff x="0" y="0"/>
            <a:chExt cx="1731264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312639" cy="1219200"/>
            </a:xfrm>
            <a:custGeom>
              <a:avLst/>
              <a:gdLst/>
              <a:ahLst/>
              <a:cxnLst/>
              <a:rect l="l" t="t" r="r" b="b"/>
              <a:pathLst>
                <a:path w="17312639" h="1219200">
                  <a:moveTo>
                    <a:pt x="0" y="0"/>
                  </a:moveTo>
                  <a:lnTo>
                    <a:pt x="17312639" y="0"/>
                  </a:lnTo>
                  <a:lnTo>
                    <a:pt x="173126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687" b="-22668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1731264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ChatGPT(chat.openai.com) 또는 Claude(claude.ai) 접속 후 로그인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0080" y="3968496"/>
            <a:ext cx="914400" cy="914400"/>
            <a:chOff x="0" y="0"/>
            <a:chExt cx="1219200" cy="1219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40080" y="3968496"/>
            <a:ext cx="914400" cy="914400"/>
            <a:chOff x="0" y="0"/>
            <a:chExt cx="121920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②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37360" y="3968496"/>
            <a:ext cx="2377440" cy="914400"/>
            <a:chOff x="0" y="0"/>
            <a:chExt cx="316992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737360" y="3968496"/>
            <a:ext cx="2377440" cy="914400"/>
            <a:chOff x="0" y="0"/>
            <a:chExt cx="3169920" cy="1219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316992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0A7B83"/>
                  </a:solidFill>
                  <a:latin typeface="Mandali"/>
                  <a:ea typeface="Mandali"/>
                  <a:cs typeface="Mandali"/>
                  <a:sym typeface="Mandali"/>
                </a:rPr>
                <a:t>프롬프트 입력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97680" y="3968496"/>
            <a:ext cx="13350240" cy="914400"/>
            <a:chOff x="0" y="0"/>
            <a:chExt cx="17800320" cy="1219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7800320" cy="1219200"/>
            </a:xfrm>
            <a:custGeom>
              <a:avLst/>
              <a:gdLst/>
              <a:ahLst/>
              <a:cxnLst/>
              <a:rect l="l" t="t" r="r" b="b"/>
              <a:pathLst>
                <a:path w="17800320" h="1219200">
                  <a:moveTo>
                    <a:pt x="0" y="0"/>
                  </a:moveTo>
                  <a:lnTo>
                    <a:pt x="17800320" y="0"/>
                  </a:lnTo>
                  <a:lnTo>
                    <a:pt x="17800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4480560" y="3968496"/>
            <a:ext cx="12984480" cy="914400"/>
            <a:chOff x="0" y="0"/>
            <a:chExt cx="17312640" cy="1219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7312639" cy="1219200"/>
            </a:xfrm>
            <a:custGeom>
              <a:avLst/>
              <a:gdLst/>
              <a:ahLst/>
              <a:cxnLst/>
              <a:rect l="l" t="t" r="r" b="b"/>
              <a:pathLst>
                <a:path w="17312639" h="1219200">
                  <a:moveTo>
                    <a:pt x="0" y="0"/>
                  </a:moveTo>
                  <a:lnTo>
                    <a:pt x="17312639" y="0"/>
                  </a:lnTo>
                  <a:lnTo>
                    <a:pt x="173126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687" b="-22668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1731264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아래 템플릿을 복사하여 실제 업무 상황에 맞게 수정 후 입력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0080" y="5102352"/>
            <a:ext cx="914400" cy="914400"/>
            <a:chOff x="0" y="0"/>
            <a:chExt cx="1219200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640080" y="5102352"/>
            <a:ext cx="914400" cy="914400"/>
            <a:chOff x="0" y="0"/>
            <a:chExt cx="1219200" cy="1219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③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737360" y="5102352"/>
            <a:ext cx="2377440" cy="914400"/>
            <a:chOff x="0" y="0"/>
            <a:chExt cx="3169920" cy="12192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737360" y="5102352"/>
            <a:ext cx="2377440" cy="914400"/>
            <a:chOff x="0" y="0"/>
            <a:chExt cx="3169920" cy="12192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316992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0A7B83"/>
                  </a:solidFill>
                  <a:latin typeface="Mandali"/>
                  <a:ea typeface="Mandali"/>
                  <a:cs typeface="Mandali"/>
                  <a:sym typeface="Mandali"/>
                </a:rPr>
                <a:t>결과 확인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297680" y="5102352"/>
            <a:ext cx="13350240" cy="914400"/>
            <a:chOff x="0" y="0"/>
            <a:chExt cx="17800320" cy="12192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7800320" cy="1219200"/>
            </a:xfrm>
            <a:custGeom>
              <a:avLst/>
              <a:gdLst/>
              <a:ahLst/>
              <a:cxnLst/>
              <a:rect l="l" t="t" r="r" b="b"/>
              <a:pathLst>
                <a:path w="17800320" h="1219200">
                  <a:moveTo>
                    <a:pt x="0" y="0"/>
                  </a:moveTo>
                  <a:lnTo>
                    <a:pt x="17800320" y="0"/>
                  </a:lnTo>
                  <a:lnTo>
                    <a:pt x="17800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4480560" y="5102352"/>
            <a:ext cx="12984480" cy="914400"/>
            <a:chOff x="0" y="0"/>
            <a:chExt cx="17312640" cy="12192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7312639" cy="1219200"/>
            </a:xfrm>
            <a:custGeom>
              <a:avLst/>
              <a:gdLst/>
              <a:ahLst/>
              <a:cxnLst/>
              <a:rect l="l" t="t" r="r" b="b"/>
              <a:pathLst>
                <a:path w="17312639" h="1219200">
                  <a:moveTo>
                    <a:pt x="0" y="0"/>
                  </a:moveTo>
                  <a:lnTo>
                    <a:pt x="17312639" y="0"/>
                  </a:lnTo>
                  <a:lnTo>
                    <a:pt x="173126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687" b="-226687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1731264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생성된 스크립트 내용 확인 – 어색한 부분·개인정보 여부 검토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40080" y="6236208"/>
            <a:ext cx="914400" cy="914400"/>
            <a:chOff x="0" y="0"/>
            <a:chExt cx="1219200" cy="12192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640080" y="6236208"/>
            <a:ext cx="914400" cy="914400"/>
            <a:chOff x="0" y="0"/>
            <a:chExt cx="1219200" cy="12192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④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737360" y="6236208"/>
            <a:ext cx="2377440" cy="914400"/>
            <a:chOff x="0" y="0"/>
            <a:chExt cx="3169920" cy="12192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737360" y="6236208"/>
            <a:ext cx="2377440" cy="914400"/>
            <a:chOff x="0" y="0"/>
            <a:chExt cx="3169920" cy="12192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316992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0A7B83"/>
                  </a:solidFill>
                  <a:latin typeface="Mandali"/>
                  <a:ea typeface="Mandali"/>
                  <a:cs typeface="Mandali"/>
                  <a:sym typeface="Mandali"/>
                </a:rPr>
                <a:t>개선 반복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297680" y="6236208"/>
            <a:ext cx="13350240" cy="914400"/>
            <a:chOff x="0" y="0"/>
            <a:chExt cx="17800320" cy="12192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7800320" cy="1219200"/>
            </a:xfrm>
            <a:custGeom>
              <a:avLst/>
              <a:gdLst/>
              <a:ahLst/>
              <a:cxnLst/>
              <a:rect l="l" t="t" r="r" b="b"/>
              <a:pathLst>
                <a:path w="17800320" h="1219200">
                  <a:moveTo>
                    <a:pt x="0" y="0"/>
                  </a:moveTo>
                  <a:lnTo>
                    <a:pt x="17800320" y="0"/>
                  </a:lnTo>
                  <a:lnTo>
                    <a:pt x="17800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4480560" y="6236208"/>
            <a:ext cx="12984480" cy="914400"/>
            <a:chOff x="0" y="0"/>
            <a:chExt cx="17312640" cy="12192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7312639" cy="1219200"/>
            </a:xfrm>
            <a:custGeom>
              <a:avLst/>
              <a:gdLst/>
              <a:ahLst/>
              <a:cxnLst/>
              <a:rect l="l" t="t" r="r" b="b"/>
              <a:pathLst>
                <a:path w="17312639" h="1219200">
                  <a:moveTo>
                    <a:pt x="0" y="0"/>
                  </a:moveTo>
                  <a:lnTo>
                    <a:pt x="17312639" y="0"/>
                  </a:lnTo>
                  <a:lnTo>
                    <a:pt x="173126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687" b="-226687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1731264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"더 짧게", "더 공감적으로" 등 추가 지시로 스크립트 개선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20486" y="7277100"/>
            <a:ext cx="17007840" cy="2103120"/>
            <a:chOff x="0" y="0"/>
            <a:chExt cx="22677120" cy="280416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677120" cy="2804160"/>
            </a:xfrm>
            <a:custGeom>
              <a:avLst/>
              <a:gdLst/>
              <a:ahLst/>
              <a:cxnLst/>
              <a:rect l="l" t="t" r="r" b="b"/>
              <a:pathLst>
                <a:path w="22677120" h="2804160">
                  <a:moveTo>
                    <a:pt x="0" y="0"/>
                  </a:moveTo>
                  <a:lnTo>
                    <a:pt x="22677120" y="0"/>
                  </a:lnTo>
                  <a:lnTo>
                    <a:pt x="226771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0D2340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894806" y="7313676"/>
            <a:ext cx="16459200" cy="548640"/>
            <a:chOff x="0" y="0"/>
            <a:chExt cx="21945600" cy="73152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9525"/>
              <a:ext cx="2194560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F0D080"/>
                  </a:solidFill>
                  <a:latin typeface="Mandali"/>
                  <a:ea typeface="Mandali"/>
                  <a:cs typeface="Mandali"/>
                  <a:sym typeface="Mandali"/>
                </a:rPr>
                <a:t>📋 프롬프트 템플릿 (복사해서 사용하세요)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945603" y="8011668"/>
            <a:ext cx="16332203" cy="124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i="1" spc="8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너는 [기관명] 고객서비스 CS 전담 직원이야. [상황: 예 – 진료 대기 2시간으로 화가 난 환자]에게</a:t>
            </a:r>
          </a:p>
          <a:p>
            <a:pPr algn="l">
              <a:lnSpc>
                <a:spcPts val="2760"/>
              </a:lnSpc>
            </a:pPr>
            <a:r>
              <a:rPr lang="en-US" sz="2300" i="1" spc="8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공감하고 해결책을 제시하는 응대 스크립트를 3가지 작성해줘. 각 3문장 이내, 경어체 사용.</a:t>
            </a:r>
          </a:p>
        </p:txBody>
      </p:sp>
      <p:grpSp>
        <p:nvGrpSpPr>
          <p:cNvPr id="80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81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82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83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4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2차시-01 | 민원 유형 분류와 AI 응대 스크립트</a:t>
              </a:r>
            </a:p>
          </p:txBody>
        </p:sp>
      </p:grpSp>
      <p:grpSp>
        <p:nvGrpSpPr>
          <p:cNvPr id="85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86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87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민원 유형별 AI 대응 시나리오 설계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62000" y="1851660"/>
            <a:ext cx="2743200" cy="2286000"/>
            <a:chOff x="0" y="0"/>
            <a:chExt cx="3657600" cy="3048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57600" cy="3048000"/>
            </a:xfrm>
            <a:custGeom>
              <a:avLst/>
              <a:gdLst/>
              <a:ahLst/>
              <a:cxnLst/>
              <a:rect l="l" t="t" r="r" b="b"/>
              <a:pathLst>
                <a:path w="3657600" h="3048000">
                  <a:moveTo>
                    <a:pt x="0" y="0"/>
                  </a:moveTo>
                  <a:lnTo>
                    <a:pt x="3657600" y="0"/>
                  </a:lnTo>
                  <a:lnTo>
                    <a:pt x="36576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62000" y="1851660"/>
            <a:ext cx="2743200" cy="2286000"/>
            <a:chOff x="0" y="0"/>
            <a:chExt cx="3657600" cy="3048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57600" cy="3048000"/>
            </a:xfrm>
            <a:custGeom>
              <a:avLst/>
              <a:gdLst/>
              <a:ahLst/>
              <a:cxnLst/>
              <a:rect l="l" t="t" r="r" b="b"/>
              <a:pathLst>
                <a:path w="3657600" h="3048000">
                  <a:moveTo>
                    <a:pt x="0" y="0"/>
                  </a:moveTo>
                  <a:lnTo>
                    <a:pt x="3657600" y="0"/>
                  </a:lnTo>
                  <a:lnTo>
                    <a:pt x="365760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r="-5691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3657600" cy="3038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대기 불만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688080" y="1851660"/>
            <a:ext cx="14081760" cy="2286000"/>
            <a:chOff x="0" y="0"/>
            <a:chExt cx="18775680" cy="3048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775680" cy="3048000"/>
            </a:xfrm>
            <a:custGeom>
              <a:avLst/>
              <a:gdLst/>
              <a:ahLst/>
              <a:cxnLst/>
              <a:rect l="l" t="t" r="r" b="b"/>
              <a:pathLst>
                <a:path w="18775680" h="3048000">
                  <a:moveTo>
                    <a:pt x="0" y="0"/>
                  </a:moveTo>
                  <a:lnTo>
                    <a:pt x="18775680" y="0"/>
                  </a:lnTo>
                  <a:lnTo>
                    <a:pt x="1877568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3870960" y="1943100"/>
            <a:ext cx="13716000" cy="548640"/>
            <a:chOff x="0" y="0"/>
            <a:chExt cx="182880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288000" cy="731520"/>
            </a:xfrm>
            <a:custGeom>
              <a:avLst/>
              <a:gdLst/>
              <a:ahLst/>
              <a:cxnLst/>
              <a:rect l="l" t="t" r="r" b="b"/>
              <a:pathLst>
                <a:path w="18288000" h="73152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8288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0A7B83"/>
                  </a:solidFill>
                  <a:latin typeface="Mandali"/>
                  <a:ea typeface="Mandali"/>
                  <a:cs typeface="Mandali"/>
                  <a:sym typeface="Mandali"/>
                </a:rPr>
                <a:t>📝 프롬프트 예시: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921757" y="2531364"/>
            <a:ext cx="13589003" cy="878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i="1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"병원 CS 담당자로서 진료 2시간 대기로 화가 난 환자에게 사과와 대안을 제시하는 공감 스크립트 2가지 작성"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3870960" y="3534156"/>
            <a:ext cx="13716000" cy="512064"/>
            <a:chOff x="0" y="0"/>
            <a:chExt cx="18288000" cy="6827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288000" cy="682752"/>
            </a:xfrm>
            <a:custGeom>
              <a:avLst/>
              <a:gdLst/>
              <a:ahLst/>
              <a:cxnLst/>
              <a:rect l="l" t="t" r="r" b="b"/>
              <a:pathLst>
                <a:path w="18288000" h="682752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1920" b="-47192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18288000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🎯 핵심 흐름: 사과 → 원인 설명 → 대안 제시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4220609"/>
            <a:ext cx="2743200" cy="2286000"/>
            <a:chOff x="0" y="0"/>
            <a:chExt cx="3657600" cy="3048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57600" cy="3048000"/>
            </a:xfrm>
            <a:custGeom>
              <a:avLst/>
              <a:gdLst/>
              <a:ahLst/>
              <a:cxnLst/>
              <a:rect l="l" t="t" r="r" b="b"/>
              <a:pathLst>
                <a:path w="3657600" h="3048000">
                  <a:moveTo>
                    <a:pt x="0" y="0"/>
                  </a:moveTo>
                  <a:lnTo>
                    <a:pt x="3657600" y="0"/>
                  </a:lnTo>
                  <a:lnTo>
                    <a:pt x="36576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762000" y="4220609"/>
            <a:ext cx="2743200" cy="2286000"/>
            <a:chOff x="0" y="0"/>
            <a:chExt cx="3657600" cy="3048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657600" cy="3048000"/>
            </a:xfrm>
            <a:custGeom>
              <a:avLst/>
              <a:gdLst/>
              <a:ahLst/>
              <a:cxnLst/>
              <a:rect l="l" t="t" r="r" b="b"/>
              <a:pathLst>
                <a:path w="3657600" h="3048000">
                  <a:moveTo>
                    <a:pt x="0" y="0"/>
                  </a:moveTo>
                  <a:lnTo>
                    <a:pt x="3657600" y="0"/>
                  </a:lnTo>
                  <a:lnTo>
                    <a:pt x="365760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r="-56919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3657600" cy="3038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의료진 태도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688080" y="4220609"/>
            <a:ext cx="14081760" cy="2286000"/>
            <a:chOff x="0" y="0"/>
            <a:chExt cx="18775680" cy="3048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8775680" cy="3048000"/>
            </a:xfrm>
            <a:custGeom>
              <a:avLst/>
              <a:gdLst/>
              <a:ahLst/>
              <a:cxnLst/>
              <a:rect l="l" t="t" r="r" b="b"/>
              <a:pathLst>
                <a:path w="18775680" h="3048000">
                  <a:moveTo>
                    <a:pt x="0" y="0"/>
                  </a:moveTo>
                  <a:lnTo>
                    <a:pt x="18775680" y="0"/>
                  </a:lnTo>
                  <a:lnTo>
                    <a:pt x="1877568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3870960" y="4312049"/>
            <a:ext cx="13716000" cy="548640"/>
            <a:chOff x="0" y="0"/>
            <a:chExt cx="18288000" cy="7315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8288000" cy="731520"/>
            </a:xfrm>
            <a:custGeom>
              <a:avLst/>
              <a:gdLst/>
              <a:ahLst/>
              <a:cxnLst/>
              <a:rect l="l" t="t" r="r" b="b"/>
              <a:pathLst>
                <a:path w="18288000" h="73152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8288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0A7B83"/>
                  </a:solidFill>
                  <a:latin typeface="Mandali"/>
                  <a:ea typeface="Mandali"/>
                  <a:cs typeface="Mandali"/>
                  <a:sym typeface="Mandali"/>
                </a:rPr>
                <a:t>📝 프롬프트 예시: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3921757" y="4900313"/>
            <a:ext cx="13589003" cy="878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i="1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"환자가 의사의 설명이 너무 짧고 불친절했다고 항의할 때 CS 직원이 사용할 공감 응대 문구 3가지"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3870960" y="5903105"/>
            <a:ext cx="13716000" cy="512064"/>
            <a:chOff x="0" y="0"/>
            <a:chExt cx="18288000" cy="68275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8288000" cy="682752"/>
            </a:xfrm>
            <a:custGeom>
              <a:avLst/>
              <a:gdLst/>
              <a:ahLst/>
              <a:cxnLst/>
              <a:rect l="l" t="t" r="r" b="b"/>
              <a:pathLst>
                <a:path w="18288000" h="682752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1920" b="-47192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18288000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🎯 핵심 흐름: 경청 → 공감 → 개선 약속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1114" y="6654872"/>
            <a:ext cx="2743200" cy="2286000"/>
            <a:chOff x="0" y="0"/>
            <a:chExt cx="3657600" cy="3048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57600" cy="3048000"/>
            </a:xfrm>
            <a:custGeom>
              <a:avLst/>
              <a:gdLst/>
              <a:ahLst/>
              <a:cxnLst/>
              <a:rect l="l" t="t" r="r" b="b"/>
              <a:pathLst>
                <a:path w="3657600" h="3048000">
                  <a:moveTo>
                    <a:pt x="0" y="0"/>
                  </a:moveTo>
                  <a:lnTo>
                    <a:pt x="3657600" y="0"/>
                  </a:lnTo>
                  <a:lnTo>
                    <a:pt x="36576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751114" y="6654872"/>
            <a:ext cx="2743200" cy="2286000"/>
            <a:chOff x="0" y="0"/>
            <a:chExt cx="3657600" cy="3048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657600" cy="3048000"/>
            </a:xfrm>
            <a:custGeom>
              <a:avLst/>
              <a:gdLst/>
              <a:ahLst/>
              <a:cxnLst/>
              <a:rect l="l" t="t" r="r" b="b"/>
              <a:pathLst>
                <a:path w="3657600" h="3048000">
                  <a:moveTo>
                    <a:pt x="0" y="0"/>
                  </a:moveTo>
                  <a:lnTo>
                    <a:pt x="3657600" y="0"/>
                  </a:lnTo>
                  <a:lnTo>
                    <a:pt x="365760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r="-56919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9525"/>
              <a:ext cx="3657600" cy="3038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비용 청구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677194" y="6654872"/>
            <a:ext cx="14081760" cy="2286000"/>
            <a:chOff x="0" y="0"/>
            <a:chExt cx="18775680" cy="3048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8775680" cy="3048000"/>
            </a:xfrm>
            <a:custGeom>
              <a:avLst/>
              <a:gdLst/>
              <a:ahLst/>
              <a:cxnLst/>
              <a:rect l="l" t="t" r="r" b="b"/>
              <a:pathLst>
                <a:path w="18775680" h="3048000">
                  <a:moveTo>
                    <a:pt x="0" y="0"/>
                  </a:moveTo>
                  <a:lnTo>
                    <a:pt x="18775680" y="0"/>
                  </a:lnTo>
                  <a:lnTo>
                    <a:pt x="1877568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3860074" y="6746312"/>
            <a:ext cx="13716000" cy="548640"/>
            <a:chOff x="0" y="0"/>
            <a:chExt cx="18288000" cy="7315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8288000" cy="731520"/>
            </a:xfrm>
            <a:custGeom>
              <a:avLst/>
              <a:gdLst/>
              <a:ahLst/>
              <a:cxnLst/>
              <a:rect l="l" t="t" r="r" b="b"/>
              <a:pathLst>
                <a:path w="18288000" h="73152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18288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0A7B83"/>
                  </a:solidFill>
                  <a:latin typeface="Mandali"/>
                  <a:ea typeface="Mandali"/>
                  <a:cs typeface="Mandali"/>
                  <a:sym typeface="Mandali"/>
                </a:rPr>
                <a:t>📝 프롬프트 예시: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3910871" y="7334576"/>
            <a:ext cx="13589003" cy="878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i="1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"보험 적용이 안 된 의료비에 대해 환자가 재청구를 요청할 때 절차를 안내하는 스크립트"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3860074" y="8337368"/>
            <a:ext cx="13716000" cy="512064"/>
            <a:chOff x="0" y="0"/>
            <a:chExt cx="18288000" cy="68275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8288000" cy="682752"/>
            </a:xfrm>
            <a:custGeom>
              <a:avLst/>
              <a:gdLst/>
              <a:ahLst/>
              <a:cxnLst/>
              <a:rect l="l" t="t" r="r" b="b"/>
              <a:pathLst>
                <a:path w="18288000" h="682752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1920" b="-47192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18288000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🎯 핵심 흐름: 절차 안내 → 담당자 연결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38051" y="8940872"/>
            <a:ext cx="17007840" cy="402336"/>
            <a:chOff x="0" y="0"/>
            <a:chExt cx="22677120" cy="53644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0D2340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920931" y="8940872"/>
            <a:ext cx="16642080" cy="402336"/>
            <a:chOff x="0" y="0"/>
            <a:chExt cx="22189440" cy="53644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22189440" cy="545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💡 실습 Tip: 프롬프트에 '경어체', '3문장 이내', '감정 공감 포함' 등 조건을 추가하면 더 실용적인 스크립트 생성</a:t>
              </a:r>
            </a:p>
          </p:txBody>
        </p:sp>
      </p:grpSp>
      <p:grpSp>
        <p:nvGrpSpPr>
          <p:cNvPr id="56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57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58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59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60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2차시-01 | 민원 유형 분류와 AI 응대 스크립트</a:t>
              </a:r>
            </a:p>
          </p:txBody>
        </p:sp>
      </p:grpSp>
      <p:grpSp>
        <p:nvGrpSpPr>
          <p:cNvPr id="61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62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63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0263" y="863975"/>
            <a:ext cx="3500123" cy="537467"/>
            <a:chOff x="0" y="0"/>
            <a:chExt cx="4666831" cy="7166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6869" cy="716661"/>
            </a:xfrm>
            <a:custGeom>
              <a:avLst/>
              <a:gdLst/>
              <a:ahLst/>
              <a:cxnLst/>
              <a:rect l="l" t="t" r="r" b="b"/>
              <a:pathLst>
                <a:path w="4666869" h="716661">
                  <a:moveTo>
                    <a:pt x="0" y="0"/>
                  </a:moveTo>
                  <a:lnTo>
                    <a:pt x="4666869" y="0"/>
                  </a:lnTo>
                  <a:lnTo>
                    <a:pt x="466686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047857"/>
            </a:solidFill>
            <a:ln w="25400" cap="sq">
              <a:solidFill>
                <a:srgbClr val="047857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822960" y="876671"/>
            <a:ext cx="3474720" cy="512064"/>
            <a:chOff x="0" y="0"/>
            <a:chExt cx="4632960" cy="6827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32960" cy="682752"/>
            </a:xfrm>
            <a:custGeom>
              <a:avLst/>
              <a:gdLst/>
              <a:ahLst/>
              <a:cxnLst/>
              <a:rect l="l" t="t" r="r" b="b"/>
              <a:pathLst>
                <a:path w="4632960" h="682752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219" b="-8221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463296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2차시-02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535039"/>
            <a:ext cx="16642080" cy="1316736"/>
            <a:chOff x="0" y="0"/>
            <a:chExt cx="22189440" cy="17556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9439" cy="1755648"/>
            </a:xfrm>
            <a:custGeom>
              <a:avLst/>
              <a:gdLst/>
              <a:ahLst/>
              <a:cxnLst/>
              <a:rect l="l" t="t" r="r" b="b"/>
              <a:pathLst>
                <a:path w="22189439" h="1755648">
                  <a:moveTo>
                    <a:pt x="0" y="0"/>
                  </a:moveTo>
                  <a:lnTo>
                    <a:pt x="22189439" y="0"/>
                  </a:lnTo>
                  <a:lnTo>
                    <a:pt x="221894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269" b="-19626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2189440" cy="1774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강성민원 공감언어 프롬프팅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0263" y="2875655"/>
            <a:ext cx="2219963" cy="107699"/>
            <a:chOff x="0" y="0"/>
            <a:chExt cx="2959951" cy="1435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59989" cy="143637"/>
            </a:xfrm>
            <a:custGeom>
              <a:avLst/>
              <a:gdLst/>
              <a:ahLst/>
              <a:cxnLst/>
              <a:rect l="l" t="t" r="r" b="b"/>
              <a:pathLst>
                <a:path w="2959989" h="143637">
                  <a:moveTo>
                    <a:pt x="0" y="0"/>
                  </a:moveTo>
                  <a:lnTo>
                    <a:pt x="2959989" y="0"/>
                  </a:lnTo>
                  <a:lnTo>
                    <a:pt x="2959989" y="143637"/>
                  </a:lnTo>
                  <a:lnTo>
                    <a:pt x="0" y="14363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2960" y="3071231"/>
            <a:ext cx="16642080" cy="548640"/>
            <a:chOff x="0" y="0"/>
            <a:chExt cx="2218944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21894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rimo"/>
                  <a:ea typeface="Arimo"/>
                  <a:cs typeface="Arimo"/>
                  <a:sym typeface="Arimo"/>
                </a:rPr>
                <a:t>감정노동 보호 + AI 기반 진정·공감 언어 즉시 생성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6607" y="3174616"/>
            <a:ext cx="8150857" cy="4804153"/>
            <a:chOff x="0" y="0"/>
            <a:chExt cx="10867809" cy="64055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67771" cy="6405499"/>
            </a:xfrm>
            <a:custGeom>
              <a:avLst/>
              <a:gdLst/>
              <a:ahLst/>
              <a:cxnLst/>
              <a:rect l="l" t="t" r="r" b="b"/>
              <a:pathLst>
                <a:path w="10867771" h="6405499">
                  <a:moveTo>
                    <a:pt x="0" y="0"/>
                  </a:moveTo>
                  <a:lnTo>
                    <a:pt x="10867771" y="0"/>
                  </a:lnTo>
                  <a:lnTo>
                    <a:pt x="1086777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10263" y="3168263"/>
            <a:ext cx="135131" cy="4816859"/>
            <a:chOff x="0" y="0"/>
            <a:chExt cx="180175" cy="642247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B45309"/>
            </a:solidFill>
            <a:ln w="25400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152144" y="3418703"/>
            <a:ext cx="7680960" cy="548640"/>
            <a:chOff x="0" y="0"/>
            <a:chExt cx="1024128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🔥 강성민원 단계별 대응 전략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52144" y="4058783"/>
            <a:ext cx="7680960" cy="3730752"/>
            <a:chOff x="0" y="0"/>
            <a:chExt cx="10241280" cy="49743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41280" cy="4974336"/>
            </a:xfrm>
            <a:custGeom>
              <a:avLst/>
              <a:gdLst/>
              <a:ahLst/>
              <a:cxnLst/>
              <a:rect l="l" t="t" r="r" b="b"/>
              <a:pathLst>
                <a:path w="10241280" h="4974336">
                  <a:moveTo>
                    <a:pt x="0" y="0"/>
                  </a:moveTo>
                  <a:lnTo>
                    <a:pt x="10241280" y="0"/>
                  </a:lnTo>
                  <a:lnTo>
                    <a:pt x="1024128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18" r="-1231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024128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① 감정 수용 — 흥분을 가라앉히는 공감 언어 사용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② 적극 경청 — 끊지 않고 끝까지 듣기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③ 사실 분리 — 감정과 사실을 명확히 구분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④ 해결 의지 — '반드시 확인하겠습니다' 명시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⑤ 상황 종료 — 후속 연락 일정 확약 후 마무리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29087" y="3174616"/>
            <a:ext cx="8242297" cy="4804153"/>
            <a:chOff x="0" y="0"/>
            <a:chExt cx="10989729" cy="64055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89691" cy="6405499"/>
            </a:xfrm>
            <a:custGeom>
              <a:avLst/>
              <a:gdLst/>
              <a:ahLst/>
              <a:cxnLst/>
              <a:rect l="l" t="t" r="r" b="b"/>
              <a:pathLst>
                <a:path w="10989691" h="6405499">
                  <a:moveTo>
                    <a:pt x="0" y="0"/>
                  </a:moveTo>
                  <a:lnTo>
                    <a:pt x="10989691" y="0"/>
                  </a:lnTo>
                  <a:lnTo>
                    <a:pt x="1098969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222743" y="3168263"/>
            <a:ext cx="135131" cy="4816859"/>
            <a:chOff x="0" y="0"/>
            <a:chExt cx="180175" cy="642247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564624" y="3418703"/>
            <a:ext cx="7772400" cy="548640"/>
            <a:chOff x="0" y="0"/>
            <a:chExt cx="1036320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363200" cy="731520"/>
            </a:xfrm>
            <a:custGeom>
              <a:avLst/>
              <a:gdLst/>
              <a:ahLst/>
              <a:cxnLst/>
              <a:rect l="l" t="t" r="r" b="b"/>
              <a:pathLst>
                <a:path w="10363200" h="731520">
                  <a:moveTo>
                    <a:pt x="0" y="0"/>
                  </a:moveTo>
                  <a:lnTo>
                    <a:pt x="10363200" y="0"/>
                  </a:lnTo>
                  <a:lnTo>
                    <a:pt x="1036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038" b="-22603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103632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💬 AI 공감언어 프롬프트 예시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64624" y="4058783"/>
            <a:ext cx="7772400" cy="3730752"/>
            <a:chOff x="0" y="0"/>
            <a:chExt cx="10363200" cy="497433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363200" cy="4974336"/>
            </a:xfrm>
            <a:custGeom>
              <a:avLst/>
              <a:gdLst/>
              <a:ahLst/>
              <a:cxnLst/>
              <a:rect l="l" t="t" r="r" b="b"/>
              <a:pathLst>
                <a:path w="10363200" h="4974336">
                  <a:moveTo>
                    <a:pt x="0" y="0"/>
                  </a:moveTo>
                  <a:lnTo>
                    <a:pt x="10363200" y="0"/>
                  </a:lnTo>
                  <a:lnTo>
                    <a:pt x="1036320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r="-1158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036320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상황 설명 → AI에게 공감 멘트 5개 요청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'진정시키는 말투로 작성해줘' 지시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역할 부여: '당신은 병원 CS 전문가야'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강도 조절: '단호하지만 공감을 담아줘'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출력 포맷 지정: '3문장 이내로 작성해줘'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0263" y="8252327"/>
            <a:ext cx="17033243" cy="1233554"/>
            <a:chOff x="0" y="0"/>
            <a:chExt cx="22710991" cy="164473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711029" cy="1644777"/>
            </a:xfrm>
            <a:custGeom>
              <a:avLst/>
              <a:gdLst/>
              <a:ahLst/>
              <a:cxnLst/>
              <a:rect l="l" t="t" r="r" b="b"/>
              <a:pathLst>
                <a:path w="22711029" h="1644777">
                  <a:moveTo>
                    <a:pt x="0" y="0"/>
                  </a:moveTo>
                  <a:lnTo>
                    <a:pt x="22711029" y="0"/>
                  </a:lnTo>
                  <a:lnTo>
                    <a:pt x="22711029" y="1644777"/>
                  </a:lnTo>
                  <a:lnTo>
                    <a:pt x="0" y="1644777"/>
                  </a:lnTo>
                  <a:close/>
                </a:path>
              </a:pathLst>
            </a:custGeom>
            <a:solidFill>
              <a:srgbClr val="FEF2F2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810263" y="8252327"/>
            <a:ext cx="135131" cy="976379"/>
            <a:chOff x="0" y="0"/>
            <a:chExt cx="180175" cy="13018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80213" cy="1301877"/>
            </a:xfrm>
            <a:custGeom>
              <a:avLst/>
              <a:gdLst/>
              <a:ahLst/>
              <a:cxnLst/>
              <a:rect l="l" t="t" r="r" b="b"/>
              <a:pathLst>
                <a:path w="180213" h="1301877">
                  <a:moveTo>
                    <a:pt x="0" y="0"/>
                  </a:moveTo>
                  <a:lnTo>
                    <a:pt x="180213" y="0"/>
                  </a:lnTo>
                  <a:lnTo>
                    <a:pt x="180213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078992" y="8356463"/>
            <a:ext cx="16605504" cy="365760"/>
            <a:chOff x="0" y="0"/>
            <a:chExt cx="22140672" cy="4876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140672" cy="487680"/>
            </a:xfrm>
            <a:custGeom>
              <a:avLst/>
              <a:gdLst/>
              <a:ahLst/>
              <a:cxnLst/>
              <a:rect l="l" t="t" r="r" b="b"/>
              <a:pathLst>
                <a:path w="22140672" h="487680">
                  <a:moveTo>
                    <a:pt x="0" y="0"/>
                  </a:moveTo>
                  <a:lnTo>
                    <a:pt x="22140672" y="0"/>
                  </a:lnTo>
                  <a:lnTo>
                    <a:pt x="22140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4620" b="-83462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22140672" cy="497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⚠️  주의사항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50477" y="8787384"/>
            <a:ext cx="16605504" cy="650377"/>
            <a:chOff x="0" y="0"/>
            <a:chExt cx="22140672" cy="86716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140672" cy="867163"/>
            </a:xfrm>
            <a:custGeom>
              <a:avLst/>
              <a:gdLst/>
              <a:ahLst/>
              <a:cxnLst/>
              <a:rect l="l" t="t" r="r" b="b"/>
              <a:pathLst>
                <a:path w="22140672" h="867163">
                  <a:moveTo>
                    <a:pt x="0" y="0"/>
                  </a:moveTo>
                  <a:lnTo>
                    <a:pt x="22140672" y="0"/>
                  </a:lnTo>
                  <a:lnTo>
                    <a:pt x="22140672" y="867163"/>
                  </a:lnTo>
                  <a:lnTo>
                    <a:pt x="0" y="867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7497" b="-447498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22140672" cy="8766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AI 공감언어는 초안 참고용 — 상황·맥락에 따라 담당자가 판단해서 사용 여부 결정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의료사고 의심 민원은 AI 단독 처리 금지 — 즉시 상급자 보고 후 법무·원무팀과 협의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2차시-02 | 강성민원 공감언어 프롬프팅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53" name="AutoShape 53"/>
          <p:cNvSpPr/>
          <p:nvPr/>
        </p:nvSpPr>
        <p:spPr>
          <a:xfrm rot="6540">
            <a:off x="-792166" y="836190"/>
            <a:ext cx="6705552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강성 민원·감정 고객 응대 – 공감 언어 프롬프팅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31520" y="1920240"/>
            <a:ext cx="16824960" cy="694944"/>
            <a:chOff x="0" y="0"/>
            <a:chExt cx="22433280" cy="9265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33280" cy="926592"/>
            </a:xfrm>
            <a:custGeom>
              <a:avLst/>
              <a:gdLst/>
              <a:ahLst/>
              <a:cxnLst/>
              <a:rect l="l" t="t" r="r" b="b"/>
              <a:pathLst>
                <a:path w="22433280" h="926592">
                  <a:moveTo>
                    <a:pt x="0" y="0"/>
                  </a:moveTo>
                  <a:lnTo>
                    <a:pt x="22433280" y="0"/>
                  </a:lnTo>
                  <a:lnTo>
                    <a:pt x="2243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743" b="-42174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243328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🔑 핵심 원칙: 먼저 감정을 인정하고, 그 다음 해결책을 제시한다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0080" y="2834640"/>
            <a:ext cx="5212080" cy="3657600"/>
            <a:chOff x="0" y="0"/>
            <a:chExt cx="6949440" cy="4876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49440" cy="4876800"/>
            </a:xfrm>
            <a:custGeom>
              <a:avLst/>
              <a:gdLst/>
              <a:ahLst/>
              <a:cxnLst/>
              <a:rect l="l" t="t" r="r" b="b"/>
              <a:pathLst>
                <a:path w="6949440" h="4876800">
                  <a:moveTo>
                    <a:pt x="0" y="0"/>
                  </a:moveTo>
                  <a:lnTo>
                    <a:pt x="6949440" y="0"/>
                  </a:lnTo>
                  <a:lnTo>
                    <a:pt x="69494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40080" y="2834640"/>
            <a:ext cx="5212080" cy="822960"/>
            <a:chOff x="0" y="0"/>
            <a:chExt cx="6949440" cy="10972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49440" cy="1097280"/>
            </a:xfrm>
            <a:custGeom>
              <a:avLst/>
              <a:gdLst/>
              <a:ahLst/>
              <a:cxnLst/>
              <a:rect l="l" t="t" r="r" b="b"/>
              <a:pathLst>
                <a:path w="6949440" h="1097280">
                  <a:moveTo>
                    <a:pt x="0" y="0"/>
                  </a:moveTo>
                  <a:lnTo>
                    <a:pt x="6949440" y="0"/>
                  </a:lnTo>
                  <a:lnTo>
                    <a:pt x="69494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40080" y="2834640"/>
            <a:ext cx="5212080" cy="822960"/>
            <a:chOff x="0" y="0"/>
            <a:chExt cx="6949440" cy="10972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49440" cy="1097280"/>
            </a:xfrm>
            <a:custGeom>
              <a:avLst/>
              <a:gdLst/>
              <a:ahLst/>
              <a:cxnLst/>
              <a:rect l="l" t="t" r="r" b="b"/>
              <a:pathLst>
                <a:path w="6949440" h="1097280">
                  <a:moveTo>
                    <a:pt x="0" y="0"/>
                  </a:moveTo>
                  <a:lnTo>
                    <a:pt x="6949440" y="0"/>
                  </a:lnTo>
                  <a:lnTo>
                    <a:pt x="6949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405" b="-7340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694944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3749040"/>
            <a:ext cx="4846320" cy="694944"/>
            <a:chOff x="0" y="0"/>
            <a:chExt cx="6461760" cy="9265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61760" cy="926592"/>
            </a:xfrm>
            <a:custGeom>
              <a:avLst/>
              <a:gdLst/>
              <a:ahLst/>
              <a:cxnLst/>
              <a:rect l="l" t="t" r="r" b="b"/>
              <a:pathLst>
                <a:path w="6461760" h="926592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882" b="-85882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64617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공감 표현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22960" y="4535424"/>
            <a:ext cx="4846320" cy="1865376"/>
            <a:chOff x="0" y="0"/>
            <a:chExt cx="6461760" cy="248716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461760" cy="2487168"/>
            </a:xfrm>
            <a:custGeom>
              <a:avLst/>
              <a:gdLst/>
              <a:ahLst/>
              <a:cxnLst/>
              <a:rect l="l" t="t" r="r" b="b"/>
              <a:pathLst>
                <a:path w="6461760" h="2487168">
                  <a:moveTo>
                    <a:pt x="0" y="0"/>
                  </a:moveTo>
                  <a:lnTo>
                    <a:pt x="6461760" y="0"/>
                  </a:lnTo>
                  <a:lnTo>
                    <a:pt x="646176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2" b="-622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6461760" cy="24776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i="1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"정말 많이 불편하셨겠습니다.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1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충분히 이해합니다."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852160" y="4480560"/>
            <a:ext cx="457200" cy="731520"/>
            <a:chOff x="0" y="0"/>
            <a:chExt cx="609600" cy="9753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9600" cy="975360"/>
            </a:xfrm>
            <a:custGeom>
              <a:avLst/>
              <a:gdLst/>
              <a:ahLst/>
              <a:cxnLst/>
              <a:rect l="l" t="t" r="r" b="b"/>
              <a:pathLst>
                <a:path w="609600" h="975360">
                  <a:moveTo>
                    <a:pt x="0" y="0"/>
                  </a:moveTo>
                  <a:lnTo>
                    <a:pt x="609600" y="0"/>
                  </a:lnTo>
                  <a:lnTo>
                    <a:pt x="609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r="-15528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60960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→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309360" y="2834640"/>
            <a:ext cx="5212080" cy="3657600"/>
            <a:chOff x="0" y="0"/>
            <a:chExt cx="6949440" cy="4876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49440" cy="4876800"/>
            </a:xfrm>
            <a:custGeom>
              <a:avLst/>
              <a:gdLst/>
              <a:ahLst/>
              <a:cxnLst/>
              <a:rect l="l" t="t" r="r" b="b"/>
              <a:pathLst>
                <a:path w="6949440" h="4876800">
                  <a:moveTo>
                    <a:pt x="0" y="0"/>
                  </a:moveTo>
                  <a:lnTo>
                    <a:pt x="6949440" y="0"/>
                  </a:lnTo>
                  <a:lnTo>
                    <a:pt x="69494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6309360" y="2834640"/>
            <a:ext cx="5212080" cy="822960"/>
            <a:chOff x="0" y="0"/>
            <a:chExt cx="6949440" cy="10972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949440" cy="1097280"/>
            </a:xfrm>
            <a:custGeom>
              <a:avLst/>
              <a:gdLst/>
              <a:ahLst/>
              <a:cxnLst/>
              <a:rect l="l" t="t" r="r" b="b"/>
              <a:pathLst>
                <a:path w="6949440" h="1097280">
                  <a:moveTo>
                    <a:pt x="0" y="0"/>
                  </a:moveTo>
                  <a:lnTo>
                    <a:pt x="6949440" y="0"/>
                  </a:lnTo>
                  <a:lnTo>
                    <a:pt x="69494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6309360" y="2834640"/>
            <a:ext cx="5212080" cy="822960"/>
            <a:chOff x="0" y="0"/>
            <a:chExt cx="6949440" cy="10972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949440" cy="1097280"/>
            </a:xfrm>
            <a:custGeom>
              <a:avLst/>
              <a:gdLst/>
              <a:ahLst/>
              <a:cxnLst/>
              <a:rect l="l" t="t" r="r" b="b"/>
              <a:pathLst>
                <a:path w="6949440" h="1097280">
                  <a:moveTo>
                    <a:pt x="0" y="0"/>
                  </a:moveTo>
                  <a:lnTo>
                    <a:pt x="6949440" y="0"/>
                  </a:lnTo>
                  <a:lnTo>
                    <a:pt x="6949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405" b="-7340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694944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92240" y="3749040"/>
            <a:ext cx="4846320" cy="694944"/>
            <a:chOff x="0" y="0"/>
            <a:chExt cx="6461760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461760" cy="926592"/>
            </a:xfrm>
            <a:custGeom>
              <a:avLst/>
              <a:gdLst/>
              <a:ahLst/>
              <a:cxnLst/>
              <a:rect l="l" t="t" r="r" b="b"/>
              <a:pathLst>
                <a:path w="6461760" h="926592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882" b="-8588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64617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D05A00"/>
                  </a:solidFill>
                  <a:latin typeface="Mandali"/>
                  <a:ea typeface="Mandali"/>
                  <a:cs typeface="Mandali"/>
                  <a:sym typeface="Mandali"/>
                </a:rPr>
                <a:t>상황 인정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92240" y="4535424"/>
            <a:ext cx="4846320" cy="1865376"/>
            <a:chOff x="0" y="0"/>
            <a:chExt cx="6461760" cy="248716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461760" cy="2487168"/>
            </a:xfrm>
            <a:custGeom>
              <a:avLst/>
              <a:gdLst/>
              <a:ahLst/>
              <a:cxnLst/>
              <a:rect l="l" t="t" r="r" b="b"/>
              <a:pathLst>
                <a:path w="6461760" h="2487168">
                  <a:moveTo>
                    <a:pt x="0" y="0"/>
                  </a:moveTo>
                  <a:lnTo>
                    <a:pt x="6461760" y="0"/>
                  </a:lnTo>
                  <a:lnTo>
                    <a:pt x="646176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2" b="-62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9525"/>
              <a:ext cx="6461760" cy="24776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i="1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"고객님의 말씀을 충분히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1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들었습니다."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521440" y="4480560"/>
            <a:ext cx="457200" cy="731520"/>
            <a:chOff x="0" y="0"/>
            <a:chExt cx="609600" cy="9753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09600" cy="975360"/>
            </a:xfrm>
            <a:custGeom>
              <a:avLst/>
              <a:gdLst/>
              <a:ahLst/>
              <a:cxnLst/>
              <a:rect l="l" t="t" r="r" b="b"/>
              <a:pathLst>
                <a:path w="609600" h="975360">
                  <a:moveTo>
                    <a:pt x="0" y="0"/>
                  </a:moveTo>
                  <a:lnTo>
                    <a:pt x="609600" y="0"/>
                  </a:lnTo>
                  <a:lnTo>
                    <a:pt x="609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r="-15528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60960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→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978640" y="2834640"/>
            <a:ext cx="5212080" cy="3657600"/>
            <a:chOff x="0" y="0"/>
            <a:chExt cx="6949440" cy="4876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949440" cy="4876800"/>
            </a:xfrm>
            <a:custGeom>
              <a:avLst/>
              <a:gdLst/>
              <a:ahLst/>
              <a:cxnLst/>
              <a:rect l="l" t="t" r="r" b="b"/>
              <a:pathLst>
                <a:path w="6949440" h="4876800">
                  <a:moveTo>
                    <a:pt x="0" y="0"/>
                  </a:moveTo>
                  <a:lnTo>
                    <a:pt x="6949440" y="0"/>
                  </a:lnTo>
                  <a:lnTo>
                    <a:pt x="69494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1978640" y="2834640"/>
            <a:ext cx="5212080" cy="822960"/>
            <a:chOff x="0" y="0"/>
            <a:chExt cx="6949440" cy="10972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949440" cy="1097280"/>
            </a:xfrm>
            <a:custGeom>
              <a:avLst/>
              <a:gdLst/>
              <a:ahLst/>
              <a:cxnLst/>
              <a:rect l="l" t="t" r="r" b="b"/>
              <a:pathLst>
                <a:path w="6949440" h="1097280">
                  <a:moveTo>
                    <a:pt x="0" y="0"/>
                  </a:moveTo>
                  <a:lnTo>
                    <a:pt x="6949440" y="0"/>
                  </a:lnTo>
                  <a:lnTo>
                    <a:pt x="69494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1978640" y="2834640"/>
            <a:ext cx="5212080" cy="822960"/>
            <a:chOff x="0" y="0"/>
            <a:chExt cx="6949440" cy="10972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949440" cy="1097280"/>
            </a:xfrm>
            <a:custGeom>
              <a:avLst/>
              <a:gdLst/>
              <a:ahLst/>
              <a:cxnLst/>
              <a:rect l="l" t="t" r="r" b="b"/>
              <a:pathLst>
                <a:path w="6949440" h="1097280">
                  <a:moveTo>
                    <a:pt x="0" y="0"/>
                  </a:moveTo>
                  <a:lnTo>
                    <a:pt x="6949440" y="0"/>
                  </a:lnTo>
                  <a:lnTo>
                    <a:pt x="6949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405" b="-73405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9525"/>
              <a:ext cx="694944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3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161520" y="3749040"/>
            <a:ext cx="4846320" cy="694944"/>
            <a:chOff x="0" y="0"/>
            <a:chExt cx="6461760" cy="92659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461760" cy="926592"/>
            </a:xfrm>
            <a:custGeom>
              <a:avLst/>
              <a:gdLst/>
              <a:ahLst/>
              <a:cxnLst/>
              <a:rect l="l" t="t" r="r" b="b"/>
              <a:pathLst>
                <a:path w="6461760" h="926592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882" b="-8588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64617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해결 제시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161520" y="4535424"/>
            <a:ext cx="4846320" cy="1865376"/>
            <a:chOff x="0" y="0"/>
            <a:chExt cx="6461760" cy="248716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461760" cy="2487168"/>
            </a:xfrm>
            <a:custGeom>
              <a:avLst/>
              <a:gdLst/>
              <a:ahLst/>
              <a:cxnLst/>
              <a:rect l="l" t="t" r="r" b="b"/>
              <a:pathLst>
                <a:path w="6461760" h="2487168">
                  <a:moveTo>
                    <a:pt x="0" y="0"/>
                  </a:moveTo>
                  <a:lnTo>
                    <a:pt x="6461760" y="0"/>
                  </a:lnTo>
                  <a:lnTo>
                    <a:pt x="646176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2" b="-622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9525"/>
              <a:ext cx="6461760" cy="24776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i="1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"지금 바로 담당자와 함께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1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확인해 드리겠습니다."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40080" y="6675120"/>
            <a:ext cx="17007840" cy="2743200"/>
            <a:chOff x="0" y="0"/>
            <a:chExt cx="22677120" cy="36576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677120" cy="3657600"/>
            </a:xfrm>
            <a:custGeom>
              <a:avLst/>
              <a:gdLst/>
              <a:ahLst/>
              <a:cxnLst/>
              <a:rect l="l" t="t" r="r" b="b"/>
              <a:pathLst>
                <a:path w="22677120" h="3657600">
                  <a:moveTo>
                    <a:pt x="0" y="0"/>
                  </a:moveTo>
                  <a:lnTo>
                    <a:pt x="22677120" y="0"/>
                  </a:lnTo>
                  <a:lnTo>
                    <a:pt x="226771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914400" y="6729984"/>
            <a:ext cx="16459200" cy="640080"/>
            <a:chOff x="0" y="0"/>
            <a:chExt cx="21945600" cy="8534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9525"/>
              <a:ext cx="21945600" cy="843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📋 실전 프롬프트 예시 (ChatGPT/Claude 입력)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965197" y="7537704"/>
            <a:ext cx="16332203" cy="1738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0A7B83"/>
                </a:solidFill>
                <a:latin typeface="Mandali"/>
                <a:ea typeface="Mandali"/>
                <a:cs typeface="Mandali"/>
                <a:sym typeface="Mandali"/>
              </a:rPr>
              <a:t>역할: </a:t>
            </a: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병원 CS 전담 응대 직원</a:t>
            </a:r>
          </a:p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0A7B83"/>
                </a:solidFill>
                <a:latin typeface="Mandali"/>
                <a:ea typeface="Mandali"/>
                <a:cs typeface="Mandali"/>
                <a:sym typeface="Mandali"/>
              </a:rPr>
              <a:t>상황: </a:t>
            </a: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환자 보호자가 수술 후 설명 부족을 이유로 격한 항의 중</a:t>
            </a:r>
          </a:p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0A7B83"/>
                </a:solidFill>
                <a:latin typeface="Mandali"/>
                <a:ea typeface="Mandali"/>
                <a:cs typeface="Mandali"/>
                <a:sym typeface="Mandali"/>
              </a:rPr>
              <a:t>요청: </a:t>
            </a: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공감+상황 인정+해결 제시 구조로 응대 스크립트 2가지 작성 (각 4문장 이내, 경어체)</a:t>
            </a:r>
          </a:p>
        </p:txBody>
      </p:sp>
      <p:grpSp>
        <p:nvGrpSpPr>
          <p:cNvPr id="63" name="Group 47"/>
          <p:cNvGrpSpPr/>
          <p:nvPr/>
        </p:nvGrpSpPr>
        <p:grpSpPr>
          <a:xfrm>
            <a:off x="548640" y="9630661"/>
            <a:ext cx="10972800" cy="548640"/>
            <a:chOff x="0" y="0"/>
            <a:chExt cx="14630400" cy="731520"/>
          </a:xfrm>
        </p:grpSpPr>
        <p:sp>
          <p:nvSpPr>
            <p:cNvPr id="64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65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2차시-02 | 강성민원 공감언어 프롬프팅</a:t>
              </a:r>
            </a:p>
          </p:txBody>
        </p:sp>
      </p:grpSp>
      <p:grpSp>
        <p:nvGrpSpPr>
          <p:cNvPr id="69" name="Group 45"/>
          <p:cNvGrpSpPr/>
          <p:nvPr/>
        </p:nvGrpSpPr>
        <p:grpSpPr>
          <a:xfrm>
            <a:off x="-12697" y="9563100"/>
            <a:ext cx="18313403" cy="720347"/>
            <a:chOff x="0" y="0"/>
            <a:chExt cx="24417871" cy="960463"/>
          </a:xfrm>
        </p:grpSpPr>
        <p:sp>
          <p:nvSpPr>
            <p:cNvPr id="70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71" name="Group 47"/>
          <p:cNvGrpSpPr/>
          <p:nvPr/>
        </p:nvGrpSpPr>
        <p:grpSpPr>
          <a:xfrm>
            <a:off x="548640" y="9630661"/>
            <a:ext cx="10972800" cy="548640"/>
            <a:chOff x="0" y="0"/>
            <a:chExt cx="14630400" cy="731520"/>
          </a:xfrm>
        </p:grpSpPr>
        <p:sp>
          <p:nvSpPr>
            <p:cNvPr id="72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73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2차시-02 | 강성민원 공감언어 프롬프팅</a:t>
              </a:r>
            </a:p>
          </p:txBody>
        </p:sp>
      </p:grpSp>
      <p:grpSp>
        <p:nvGrpSpPr>
          <p:cNvPr id="74" name="Group 50"/>
          <p:cNvGrpSpPr/>
          <p:nvPr/>
        </p:nvGrpSpPr>
        <p:grpSpPr>
          <a:xfrm>
            <a:off x="0" y="9630661"/>
            <a:ext cx="17830800" cy="548640"/>
            <a:chOff x="0" y="0"/>
            <a:chExt cx="23774400" cy="731520"/>
          </a:xfrm>
        </p:grpSpPr>
        <p:sp>
          <p:nvSpPr>
            <p:cNvPr id="75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76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기관별 톤앤매너 반영 스크립트 커스터마이징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31520" y="1920240"/>
            <a:ext cx="16824960" cy="694944"/>
            <a:chOff x="0" y="0"/>
            <a:chExt cx="22433280" cy="9265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33280" cy="926592"/>
            </a:xfrm>
            <a:custGeom>
              <a:avLst/>
              <a:gdLst/>
              <a:ahLst/>
              <a:cxnLst/>
              <a:rect l="l" t="t" r="r" b="b"/>
              <a:pathLst>
                <a:path w="22433280" h="926592">
                  <a:moveTo>
                    <a:pt x="0" y="0"/>
                  </a:moveTo>
                  <a:lnTo>
                    <a:pt x="22433280" y="0"/>
                  </a:lnTo>
                  <a:lnTo>
                    <a:pt x="2243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743" b="-42174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2433280" cy="917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같은 상황이라도 기관의 성격에 따라 응대 톤이 달라집니다 → AI에 스타일 지정 가능!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0080" y="2628900"/>
            <a:ext cx="3840480" cy="1280160"/>
            <a:chOff x="0" y="0"/>
            <a:chExt cx="5120640" cy="17068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40080" y="2628900"/>
            <a:ext cx="3840480" cy="1280160"/>
            <a:chOff x="0" y="0"/>
            <a:chExt cx="5120640" cy="17068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512064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대학병원·종합병원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663440" y="2628900"/>
            <a:ext cx="3291840" cy="1280160"/>
            <a:chOff x="0" y="0"/>
            <a:chExt cx="4389120" cy="17068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389120" cy="1706880"/>
            </a:xfrm>
            <a:custGeom>
              <a:avLst/>
              <a:gdLst/>
              <a:ahLst/>
              <a:cxnLst/>
              <a:rect l="l" t="t" r="r" b="b"/>
              <a:pathLst>
                <a:path w="4389120" h="170688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4663440" y="2628900"/>
            <a:ext cx="3291840" cy="1280160"/>
            <a:chOff x="0" y="0"/>
            <a:chExt cx="4389120" cy="17068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389120" cy="1706880"/>
            </a:xfrm>
            <a:custGeom>
              <a:avLst/>
              <a:gdLst/>
              <a:ahLst/>
              <a:cxnLst/>
              <a:rect l="l" t="t" r="r" b="b"/>
              <a:pathLst>
                <a:path w="4389120" h="170688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" b="-104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4389120" cy="1697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정중하고 공식적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38160" y="2628900"/>
            <a:ext cx="9509760" cy="1280160"/>
            <a:chOff x="0" y="0"/>
            <a:chExt cx="12679680" cy="17068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679680" cy="1706880"/>
            </a:xfrm>
            <a:custGeom>
              <a:avLst/>
              <a:gdLst/>
              <a:ahLst/>
              <a:cxnLst/>
              <a:rect l="l" t="t" r="r" b="b"/>
              <a:pathLst>
                <a:path w="12679680" h="1706880">
                  <a:moveTo>
                    <a:pt x="0" y="0"/>
                  </a:moveTo>
                  <a:lnTo>
                    <a:pt x="12679680" y="0"/>
                  </a:lnTo>
                  <a:lnTo>
                    <a:pt x="1267968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8321040" y="2628900"/>
            <a:ext cx="9144000" cy="1280160"/>
            <a:chOff x="0" y="0"/>
            <a:chExt cx="12192000" cy="17068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0" cy="1706880"/>
            </a:xfrm>
            <a:custGeom>
              <a:avLst/>
              <a:gdLst/>
              <a:ahLst/>
              <a:cxnLst/>
              <a:rect l="l" t="t" r="r" b="b"/>
              <a:pathLst>
                <a:path w="12192000" h="1706880">
                  <a:moveTo>
                    <a:pt x="0" y="0"/>
                  </a:moveTo>
                  <a:lnTo>
                    <a:pt x="12192000" y="0"/>
                  </a:lnTo>
                  <a:lnTo>
                    <a:pt x="12192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219200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📌 격식체 / 전문 의료 용어 병행 / 체계적 설명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0080" y="4238244"/>
            <a:ext cx="3840480" cy="1280160"/>
            <a:chOff x="0" y="0"/>
            <a:chExt cx="5120640" cy="17068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40080" y="4238244"/>
            <a:ext cx="3840480" cy="1280160"/>
            <a:chOff x="0" y="0"/>
            <a:chExt cx="5120640" cy="17068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512064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의원·클리닉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663440" y="4238244"/>
            <a:ext cx="3291840" cy="1280160"/>
            <a:chOff x="0" y="0"/>
            <a:chExt cx="4389120" cy="17068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389120" cy="1706880"/>
            </a:xfrm>
            <a:custGeom>
              <a:avLst/>
              <a:gdLst/>
              <a:ahLst/>
              <a:cxnLst/>
              <a:rect l="l" t="t" r="r" b="b"/>
              <a:pathLst>
                <a:path w="4389120" h="170688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4663440" y="4238244"/>
            <a:ext cx="3291840" cy="1280160"/>
            <a:chOff x="0" y="0"/>
            <a:chExt cx="4389120" cy="17068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389120" cy="1706880"/>
            </a:xfrm>
            <a:custGeom>
              <a:avLst/>
              <a:gdLst/>
              <a:ahLst/>
              <a:cxnLst/>
              <a:rect l="l" t="t" r="r" b="b"/>
              <a:pathLst>
                <a:path w="4389120" h="170688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" b="-104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9525"/>
              <a:ext cx="4389120" cy="1697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0A7B83"/>
                  </a:solidFill>
                  <a:latin typeface="Mandali"/>
                  <a:ea typeface="Mandali"/>
                  <a:cs typeface="Mandali"/>
                  <a:sym typeface="Mandali"/>
                </a:rPr>
                <a:t>친근하고 따뜻한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38160" y="4238244"/>
            <a:ext cx="9509760" cy="1280160"/>
            <a:chOff x="0" y="0"/>
            <a:chExt cx="12679680" cy="170688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679680" cy="1706880"/>
            </a:xfrm>
            <a:custGeom>
              <a:avLst/>
              <a:gdLst/>
              <a:ahLst/>
              <a:cxnLst/>
              <a:rect l="l" t="t" r="r" b="b"/>
              <a:pathLst>
                <a:path w="12679680" h="1706880">
                  <a:moveTo>
                    <a:pt x="0" y="0"/>
                  </a:moveTo>
                  <a:lnTo>
                    <a:pt x="12679680" y="0"/>
                  </a:lnTo>
                  <a:lnTo>
                    <a:pt x="1267968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8321040" y="4238244"/>
            <a:ext cx="9144000" cy="1280160"/>
            <a:chOff x="0" y="0"/>
            <a:chExt cx="12192000" cy="17068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192000" cy="1706880"/>
            </a:xfrm>
            <a:custGeom>
              <a:avLst/>
              <a:gdLst/>
              <a:ahLst/>
              <a:cxnLst/>
              <a:rect l="l" t="t" r="r" b="b"/>
              <a:pathLst>
                <a:path w="12192000" h="1706880">
                  <a:moveTo>
                    <a:pt x="0" y="0"/>
                  </a:moveTo>
                  <a:lnTo>
                    <a:pt x="12192000" y="0"/>
                  </a:lnTo>
                  <a:lnTo>
                    <a:pt x="12192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1219200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📌 존댓말이지만 자연스럽게 / 짧고 명확하게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40080" y="5847588"/>
            <a:ext cx="3840480" cy="1280160"/>
            <a:chOff x="0" y="0"/>
            <a:chExt cx="5120640" cy="170688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640080" y="5847588"/>
            <a:ext cx="3840480" cy="1280160"/>
            <a:chOff x="0" y="0"/>
            <a:chExt cx="5120640" cy="17068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512064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공공기관·보건소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663440" y="5847588"/>
            <a:ext cx="3291840" cy="1280160"/>
            <a:chOff x="0" y="0"/>
            <a:chExt cx="4389120" cy="17068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389120" cy="1706880"/>
            </a:xfrm>
            <a:custGeom>
              <a:avLst/>
              <a:gdLst/>
              <a:ahLst/>
              <a:cxnLst/>
              <a:rect l="l" t="t" r="r" b="b"/>
              <a:pathLst>
                <a:path w="4389120" h="170688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4663440" y="5847588"/>
            <a:ext cx="3291840" cy="1280160"/>
            <a:chOff x="0" y="0"/>
            <a:chExt cx="4389120" cy="17068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389120" cy="1706880"/>
            </a:xfrm>
            <a:custGeom>
              <a:avLst/>
              <a:gdLst/>
              <a:ahLst/>
              <a:cxnLst/>
              <a:rect l="l" t="t" r="r" b="b"/>
              <a:pathLst>
                <a:path w="4389120" h="170688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" b="-104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9525"/>
              <a:ext cx="4389120" cy="1697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5B3A8C"/>
                  </a:solidFill>
                  <a:latin typeface="Mandali"/>
                  <a:ea typeface="Mandali"/>
                  <a:cs typeface="Mandali"/>
                  <a:sym typeface="Mandali"/>
                </a:rPr>
                <a:t>공식적·신뢰감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138160" y="5847588"/>
            <a:ext cx="9509760" cy="1280160"/>
            <a:chOff x="0" y="0"/>
            <a:chExt cx="12679680" cy="170688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679680" cy="1706880"/>
            </a:xfrm>
            <a:custGeom>
              <a:avLst/>
              <a:gdLst/>
              <a:ahLst/>
              <a:cxnLst/>
              <a:rect l="l" t="t" r="r" b="b"/>
              <a:pathLst>
                <a:path w="12679680" h="1706880">
                  <a:moveTo>
                    <a:pt x="0" y="0"/>
                  </a:moveTo>
                  <a:lnTo>
                    <a:pt x="12679680" y="0"/>
                  </a:lnTo>
                  <a:lnTo>
                    <a:pt x="1267968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8321040" y="5847588"/>
            <a:ext cx="9144000" cy="1280160"/>
            <a:chOff x="0" y="0"/>
            <a:chExt cx="12192000" cy="170688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192000" cy="1706880"/>
            </a:xfrm>
            <a:custGeom>
              <a:avLst/>
              <a:gdLst/>
              <a:ahLst/>
              <a:cxnLst/>
              <a:rect l="l" t="t" r="r" b="b"/>
              <a:pathLst>
                <a:path w="12192000" h="1706880">
                  <a:moveTo>
                    <a:pt x="0" y="0"/>
                  </a:moveTo>
                  <a:lnTo>
                    <a:pt x="12192000" y="0"/>
                  </a:lnTo>
                  <a:lnTo>
                    <a:pt x="12192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1219200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📌 정확한 절차 안내 / 규정 언급 / 격식체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40080" y="7456932"/>
            <a:ext cx="3840480" cy="1280160"/>
            <a:chOff x="0" y="0"/>
            <a:chExt cx="5120640" cy="170688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640080" y="7456932"/>
            <a:ext cx="3840480" cy="1280160"/>
            <a:chOff x="0" y="0"/>
            <a:chExt cx="5120640" cy="170688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120640" cy="1706880"/>
            </a:xfrm>
            <a:custGeom>
              <a:avLst/>
              <a:gdLst/>
              <a:ahLst/>
              <a:cxnLst/>
              <a:rect l="l" t="t" r="r" b="b"/>
              <a:pathLst>
                <a:path w="5120640" h="170688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512064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콜센터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663440" y="7456932"/>
            <a:ext cx="3291840" cy="1280160"/>
            <a:chOff x="0" y="0"/>
            <a:chExt cx="4389120" cy="170688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389120" cy="1706880"/>
            </a:xfrm>
            <a:custGeom>
              <a:avLst/>
              <a:gdLst/>
              <a:ahLst/>
              <a:cxnLst/>
              <a:rect l="l" t="t" r="r" b="b"/>
              <a:pathLst>
                <a:path w="4389120" h="170688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4663440" y="7456932"/>
            <a:ext cx="3291840" cy="1280160"/>
            <a:chOff x="0" y="0"/>
            <a:chExt cx="4389120" cy="17068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389120" cy="1706880"/>
            </a:xfrm>
            <a:custGeom>
              <a:avLst/>
              <a:gdLst/>
              <a:ahLst/>
              <a:cxnLst/>
              <a:rect l="l" t="t" r="r" b="b"/>
              <a:pathLst>
                <a:path w="4389120" h="170688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" b="-104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9525"/>
              <a:ext cx="4389120" cy="1697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D05A00"/>
                  </a:solidFill>
                  <a:latin typeface="Mandali"/>
                  <a:ea typeface="Mandali"/>
                  <a:cs typeface="Mandali"/>
                  <a:sym typeface="Mandali"/>
                </a:rPr>
                <a:t>명확·빠른 응대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138160" y="7456932"/>
            <a:ext cx="9509760" cy="1280160"/>
            <a:chOff x="0" y="0"/>
            <a:chExt cx="12679680" cy="170688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2679680" cy="1706880"/>
            </a:xfrm>
            <a:custGeom>
              <a:avLst/>
              <a:gdLst/>
              <a:ahLst/>
              <a:cxnLst/>
              <a:rect l="l" t="t" r="r" b="b"/>
              <a:pathLst>
                <a:path w="12679680" h="1706880">
                  <a:moveTo>
                    <a:pt x="0" y="0"/>
                  </a:moveTo>
                  <a:lnTo>
                    <a:pt x="12679680" y="0"/>
                  </a:lnTo>
                  <a:lnTo>
                    <a:pt x="1267968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8321040" y="7456932"/>
            <a:ext cx="9144000" cy="1280160"/>
            <a:chOff x="0" y="0"/>
            <a:chExt cx="12192000" cy="170688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2192000" cy="1706880"/>
            </a:xfrm>
            <a:custGeom>
              <a:avLst/>
              <a:gdLst/>
              <a:ahLst/>
              <a:cxnLst/>
              <a:rect l="l" t="t" r="r" b="b"/>
              <a:pathLst>
                <a:path w="12192000" h="1706880">
                  <a:moveTo>
                    <a:pt x="0" y="0"/>
                  </a:moveTo>
                  <a:lnTo>
                    <a:pt x="12192000" y="0"/>
                  </a:lnTo>
                  <a:lnTo>
                    <a:pt x="12192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0"/>
              <a:ext cx="1219200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📌 핵심 먼저 / 1~2문장 / 반복 확인 가능하도록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40080" y="8900160"/>
            <a:ext cx="17007840" cy="548640"/>
            <a:chOff x="0" y="0"/>
            <a:chExt cx="22677120" cy="73152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822960" y="8900160"/>
            <a:ext cx="16642080" cy="548640"/>
            <a:chOff x="0" y="0"/>
            <a:chExt cx="22189440" cy="7315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9525"/>
              <a:ext cx="2218944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💡 프롬프트 예시: "대학병원 공식 어체로, 의료진과 협의 후 처리한다는 내용을 포함해서 작성해줘"</a:t>
              </a:r>
            </a:p>
          </p:txBody>
        </p:sp>
      </p:grpSp>
      <p:grpSp>
        <p:nvGrpSpPr>
          <p:cNvPr id="77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78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79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80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1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2차시-02 | 강성민원 공감언어 프롬프팅</a:t>
              </a:r>
            </a:p>
          </p:txBody>
        </p:sp>
      </p:grpSp>
      <p:grpSp>
        <p:nvGrpSpPr>
          <p:cNvPr id="82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83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84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303020"/>
            <a:chOff x="0" y="0"/>
            <a:chExt cx="2438339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737360"/>
            </a:xfrm>
            <a:custGeom>
              <a:avLst/>
              <a:gdLst/>
              <a:ahLst/>
              <a:cxnLst/>
              <a:rect l="l" t="t" r="r" b="b"/>
              <a:pathLst>
                <a:path w="24383364" h="1737360">
                  <a:moveTo>
                    <a:pt x="0" y="0"/>
                  </a:moveTo>
                  <a:lnTo>
                    <a:pt x="24383364" y="0"/>
                  </a:lnTo>
                  <a:lnTo>
                    <a:pt x="2438336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380" y="96012"/>
            <a:ext cx="15773400" cy="1097280"/>
            <a:chOff x="0" y="0"/>
            <a:chExt cx="2103120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1463040"/>
            </a:xfrm>
            <a:custGeom>
              <a:avLst/>
              <a:gdLst/>
              <a:ahLst/>
              <a:cxnLst/>
              <a:rect l="l" t="t" r="r" b="b"/>
              <a:pathLst>
                <a:path w="21031200" h="146304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0097" b="-23009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103120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[실습 2] 기관별 톤앤매너 커스터마이징 실습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303020"/>
            <a:ext cx="18287543" cy="82296"/>
            <a:chOff x="0" y="0"/>
            <a:chExt cx="24383390" cy="1097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3364" cy="109728"/>
            </a:xfrm>
            <a:custGeom>
              <a:avLst/>
              <a:gdLst/>
              <a:ahLst/>
              <a:cxnLst/>
              <a:rect l="l" t="t" r="r" b="b"/>
              <a:pathLst>
                <a:path w="24383364" h="109728">
                  <a:moveTo>
                    <a:pt x="0" y="0"/>
                  </a:moveTo>
                  <a:lnTo>
                    <a:pt x="24383364" y="0"/>
                  </a:lnTo>
                  <a:lnTo>
                    <a:pt x="24383364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54380" y="1618488"/>
            <a:ext cx="16802100" cy="754380"/>
            <a:chOff x="0" y="0"/>
            <a:chExt cx="22402800" cy="10058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02800" cy="1005840"/>
            </a:xfrm>
            <a:custGeom>
              <a:avLst/>
              <a:gdLst/>
              <a:ahLst/>
              <a:cxnLst/>
              <a:rect l="l" t="t" r="r" b="b"/>
              <a:pathLst>
                <a:path w="22402800" h="1005840">
                  <a:moveTo>
                    <a:pt x="0" y="0"/>
                  </a:moveTo>
                  <a:lnTo>
                    <a:pt x="22402800" y="0"/>
                  </a:lnTo>
                  <a:lnTo>
                    <a:pt x="2240280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F7E84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54380" y="1618488"/>
            <a:ext cx="16802100" cy="754380"/>
            <a:chOff x="0" y="0"/>
            <a:chExt cx="22402800" cy="10058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02800" cy="1005840"/>
            </a:xfrm>
            <a:custGeom>
              <a:avLst/>
              <a:gdLst/>
              <a:ahLst/>
              <a:cxnLst/>
              <a:rect l="l" t="t" r="r" b="b"/>
              <a:pathLst>
                <a:path w="22402800" h="1005840">
                  <a:moveTo>
                    <a:pt x="0" y="0"/>
                  </a:moveTo>
                  <a:lnTo>
                    <a:pt x="22402800" y="0"/>
                  </a:lnTo>
                  <a:lnTo>
                    <a:pt x="2240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83984" b="-38398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24028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FFE9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실습 목표  </a:t>
              </a:r>
              <a:r>
                <a:rPr lang="en-US" sz="20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실습 1에서 만든 ‘대기 민원’ 스크립트를 기관 성격에 맞춰 두 가지 버전으로 다시 생성하고 차이를 비교합니다 (10분)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4380" y="2674620"/>
            <a:ext cx="8229600" cy="754380"/>
            <a:chOff x="0" y="0"/>
            <a:chExt cx="10972800" cy="1005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0" cy="1005840"/>
            </a:xfrm>
            <a:custGeom>
              <a:avLst/>
              <a:gdLst/>
              <a:ahLst/>
              <a:cxnLst/>
              <a:rect l="l" t="t" r="r" b="b"/>
              <a:pathLst>
                <a:path w="10972800" h="100584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754380" y="2674620"/>
            <a:ext cx="8229600" cy="754380"/>
            <a:chOff x="0" y="0"/>
            <a:chExt cx="10972800" cy="10058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72800" cy="1005840"/>
            </a:xfrm>
            <a:custGeom>
              <a:avLst/>
              <a:gdLst/>
              <a:ahLst/>
              <a:cxnLst/>
              <a:rect l="l" t="t" r="r" b="b"/>
              <a:pathLst>
                <a:path w="10972800" h="100584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564" b="-162564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097280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0"/>
                </a:lnSpc>
              </a:pPr>
              <a:r>
                <a:rPr lang="en-US" sz="2175" b="1">
                  <a:solidFill>
                    <a:srgbClr val="C9A8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버전 1  </a:t>
              </a:r>
              <a:r>
                <a:rPr lang="en-US" sz="217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대학병원·종합병원 — 정중·격식체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4380" y="3429000"/>
            <a:ext cx="8229600" cy="2537460"/>
            <a:chOff x="0" y="0"/>
            <a:chExt cx="10972800" cy="33832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972800" cy="3383280"/>
            </a:xfrm>
            <a:custGeom>
              <a:avLst/>
              <a:gdLst/>
              <a:ahLst/>
              <a:cxnLst/>
              <a:rect l="l" t="t" r="r" b="b"/>
              <a:pathLst>
                <a:path w="10972800" h="3383280">
                  <a:moveTo>
                    <a:pt x="0" y="0"/>
                  </a:moveTo>
                  <a:lnTo>
                    <a:pt x="10972800" y="0"/>
                  </a:lnTo>
                  <a:lnTo>
                    <a:pt x="10972800" y="3383280"/>
                  </a:lnTo>
                  <a:lnTo>
                    <a:pt x="0" y="3383280"/>
                  </a:lnTo>
                  <a:close/>
                </a:path>
              </a:pathLst>
            </a:custGeom>
            <a:solidFill>
              <a:srgbClr val="16243A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165860" y="3429000"/>
            <a:ext cx="7406640" cy="2537460"/>
            <a:chOff x="0" y="0"/>
            <a:chExt cx="9875520" cy="33832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875520" cy="3383280"/>
            </a:xfrm>
            <a:custGeom>
              <a:avLst/>
              <a:gdLst/>
              <a:ahLst/>
              <a:cxnLst/>
              <a:rect l="l" t="t" r="r" b="b"/>
              <a:pathLst>
                <a:path w="9875520" h="3383280">
                  <a:moveTo>
                    <a:pt x="0" y="0"/>
                  </a:moveTo>
                  <a:lnTo>
                    <a:pt x="9875520" y="0"/>
                  </a:lnTo>
                  <a:lnTo>
                    <a:pt x="9875520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875" b="-687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9875520" cy="3402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방금 만든 대기 민원 응대 스크립트를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대학병원 공식 어체로 다시 써줘.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격식체 사용, ‘의료진과 협의 후 처리’한다는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내용을 포함하고, 각 3문장 이내로.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26880" y="2674620"/>
            <a:ext cx="8229600" cy="754380"/>
            <a:chOff x="0" y="0"/>
            <a:chExt cx="10972800" cy="10058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72800" cy="1005840"/>
            </a:xfrm>
            <a:custGeom>
              <a:avLst/>
              <a:gdLst/>
              <a:ahLst/>
              <a:cxnLst/>
              <a:rect l="l" t="t" r="r" b="b"/>
              <a:pathLst>
                <a:path w="10972800" h="100584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F7E84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326880" y="2674620"/>
            <a:ext cx="8229600" cy="754380"/>
            <a:chOff x="0" y="0"/>
            <a:chExt cx="10972800" cy="10058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972800" cy="1005840"/>
            </a:xfrm>
            <a:custGeom>
              <a:avLst/>
              <a:gdLst/>
              <a:ahLst/>
              <a:cxnLst/>
              <a:rect l="l" t="t" r="r" b="b"/>
              <a:pathLst>
                <a:path w="10972800" h="100584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564" b="-16256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1097280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0"/>
                </a:lnSpc>
              </a:pPr>
              <a:r>
                <a:rPr lang="en-US" sz="2175" b="1">
                  <a:solidFill>
                    <a:srgbClr val="FFE9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버전 2  </a:t>
              </a:r>
              <a:r>
                <a:rPr lang="en-US" sz="217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의원·클리닉 — 친근·따뜻한 어조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326880" y="3429000"/>
            <a:ext cx="8229600" cy="2537460"/>
            <a:chOff x="0" y="0"/>
            <a:chExt cx="10972800" cy="33832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972800" cy="3383280"/>
            </a:xfrm>
            <a:custGeom>
              <a:avLst/>
              <a:gdLst/>
              <a:ahLst/>
              <a:cxnLst/>
              <a:rect l="l" t="t" r="r" b="b"/>
              <a:pathLst>
                <a:path w="10972800" h="3383280">
                  <a:moveTo>
                    <a:pt x="0" y="0"/>
                  </a:moveTo>
                  <a:lnTo>
                    <a:pt x="10972800" y="0"/>
                  </a:lnTo>
                  <a:lnTo>
                    <a:pt x="10972800" y="3383280"/>
                  </a:lnTo>
                  <a:lnTo>
                    <a:pt x="0" y="3383280"/>
                  </a:lnTo>
                  <a:close/>
                </a:path>
              </a:pathLst>
            </a:custGeom>
            <a:solidFill>
              <a:srgbClr val="16243A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738360" y="3429000"/>
            <a:ext cx="7406640" cy="2537460"/>
            <a:chOff x="0" y="0"/>
            <a:chExt cx="9875520" cy="33832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875520" cy="3383280"/>
            </a:xfrm>
            <a:custGeom>
              <a:avLst/>
              <a:gdLst/>
              <a:ahLst/>
              <a:cxnLst/>
              <a:rect l="l" t="t" r="r" b="b"/>
              <a:pathLst>
                <a:path w="9875520" h="3383280">
                  <a:moveTo>
                    <a:pt x="0" y="0"/>
                  </a:moveTo>
                  <a:lnTo>
                    <a:pt x="9875520" y="0"/>
                  </a:lnTo>
                  <a:lnTo>
                    <a:pt x="9875520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875" b="-687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9875520" cy="3402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같은 스크립트를 동네 의원 말투로 다시 써줘.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따뜻하고 자연스러운 존댓말로,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짧고 명확하게, 각 2문장 이내로 작성해줘.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4380" y="6268212"/>
            <a:ext cx="4114800" cy="617220"/>
            <a:chOff x="0" y="0"/>
            <a:chExt cx="5486400" cy="8229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486400" cy="822960"/>
            </a:xfrm>
            <a:custGeom>
              <a:avLst/>
              <a:gdLst/>
              <a:ahLst/>
              <a:cxnLst/>
              <a:rect l="l" t="t" r="r" b="b"/>
              <a:pathLst>
                <a:path w="5486400" h="822960">
                  <a:moveTo>
                    <a:pt x="0" y="0"/>
                  </a:moveTo>
                  <a:lnTo>
                    <a:pt x="5486400" y="0"/>
                  </a:lnTo>
                  <a:lnTo>
                    <a:pt x="54864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548640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진행 방법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4380" y="6954012"/>
            <a:ext cx="5417820" cy="1440180"/>
            <a:chOff x="0" y="0"/>
            <a:chExt cx="7223760" cy="19202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223760" cy="1920240"/>
            </a:xfrm>
            <a:custGeom>
              <a:avLst/>
              <a:gdLst/>
              <a:ahLst/>
              <a:cxnLst/>
              <a:rect l="l" t="t" r="r" b="b"/>
              <a:pathLst>
                <a:path w="7223760" h="1920240">
                  <a:moveTo>
                    <a:pt x="0" y="0"/>
                  </a:moveTo>
                  <a:lnTo>
                    <a:pt x="7223760" y="0"/>
                  </a:lnTo>
                  <a:lnTo>
                    <a:pt x="722376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001268" y="7344918"/>
            <a:ext cx="658368" cy="658368"/>
            <a:chOff x="0" y="0"/>
            <a:chExt cx="877824" cy="87782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17A46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001268" y="7344918"/>
            <a:ext cx="658368" cy="658368"/>
            <a:chOff x="0" y="0"/>
            <a:chExt cx="877824" cy="87782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851660" y="6954012"/>
            <a:ext cx="4114800" cy="1440180"/>
            <a:chOff x="0" y="0"/>
            <a:chExt cx="5486400" cy="19202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486400" cy="1920240"/>
            </a:xfrm>
            <a:custGeom>
              <a:avLst/>
              <a:gdLst/>
              <a:ahLst/>
              <a:cxnLst/>
              <a:rect l="l" t="t" r="r" b="b"/>
              <a:pathLst>
                <a:path w="5486400" h="1920240">
                  <a:moveTo>
                    <a:pt x="0" y="0"/>
                  </a:moveTo>
                  <a:lnTo>
                    <a:pt x="5486400" y="0"/>
                  </a:lnTo>
                  <a:lnTo>
                    <a:pt x="54864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671" b="-567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5486400" cy="19297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이어서 사용</a:t>
              </a:r>
            </a:p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실습 1 대화창에서 그대로 이어 입력 (새 채팅 불필요)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446520" y="6954012"/>
            <a:ext cx="5417820" cy="1440180"/>
            <a:chOff x="0" y="0"/>
            <a:chExt cx="7223760" cy="19202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223760" cy="1920240"/>
            </a:xfrm>
            <a:custGeom>
              <a:avLst/>
              <a:gdLst/>
              <a:ahLst/>
              <a:cxnLst/>
              <a:rect l="l" t="t" r="r" b="b"/>
              <a:pathLst>
                <a:path w="7223760" h="1920240">
                  <a:moveTo>
                    <a:pt x="0" y="0"/>
                  </a:moveTo>
                  <a:lnTo>
                    <a:pt x="7223760" y="0"/>
                  </a:lnTo>
                  <a:lnTo>
                    <a:pt x="722376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6693408" y="7344918"/>
            <a:ext cx="658368" cy="658368"/>
            <a:chOff x="0" y="0"/>
            <a:chExt cx="877824" cy="87782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17A46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6693408" y="7344918"/>
            <a:ext cx="658368" cy="658368"/>
            <a:chOff x="0" y="0"/>
            <a:chExt cx="877824" cy="87782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543800" y="6954012"/>
            <a:ext cx="4114800" cy="1440180"/>
            <a:chOff x="0" y="0"/>
            <a:chExt cx="5486400" cy="19202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486400" cy="1920240"/>
            </a:xfrm>
            <a:custGeom>
              <a:avLst/>
              <a:gdLst/>
              <a:ahLst/>
              <a:cxnLst/>
              <a:rect l="l" t="t" r="r" b="b"/>
              <a:pathLst>
                <a:path w="5486400" h="1920240">
                  <a:moveTo>
                    <a:pt x="0" y="0"/>
                  </a:moveTo>
                  <a:lnTo>
                    <a:pt x="5486400" y="0"/>
                  </a:lnTo>
                  <a:lnTo>
                    <a:pt x="54864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671" b="-5671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5486400" cy="19297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두 버전 생성</a:t>
              </a:r>
            </a:p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버전 1 → 버전 2 프롬프트를 차례로 입력해 비교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138660" y="6954012"/>
            <a:ext cx="5417820" cy="1440180"/>
            <a:chOff x="0" y="0"/>
            <a:chExt cx="7223760" cy="19202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223760" cy="1920240"/>
            </a:xfrm>
            <a:custGeom>
              <a:avLst/>
              <a:gdLst/>
              <a:ahLst/>
              <a:cxnLst/>
              <a:rect l="l" t="t" r="r" b="b"/>
              <a:pathLst>
                <a:path w="7223760" h="1920240">
                  <a:moveTo>
                    <a:pt x="0" y="0"/>
                  </a:moveTo>
                  <a:lnTo>
                    <a:pt x="7223760" y="0"/>
                  </a:lnTo>
                  <a:lnTo>
                    <a:pt x="722376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2385548" y="7344918"/>
            <a:ext cx="658368" cy="658368"/>
            <a:chOff x="0" y="0"/>
            <a:chExt cx="877824" cy="87782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17A46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2385548" y="7344918"/>
            <a:ext cx="658368" cy="658368"/>
            <a:chOff x="0" y="0"/>
            <a:chExt cx="877824" cy="87782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3235940" y="6954012"/>
            <a:ext cx="4114800" cy="1440180"/>
            <a:chOff x="0" y="0"/>
            <a:chExt cx="5486400" cy="192024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486400" cy="1920240"/>
            </a:xfrm>
            <a:custGeom>
              <a:avLst/>
              <a:gdLst/>
              <a:ahLst/>
              <a:cxnLst/>
              <a:rect l="l" t="t" r="r" b="b"/>
              <a:pathLst>
                <a:path w="5486400" h="1920240">
                  <a:moveTo>
                    <a:pt x="0" y="0"/>
                  </a:moveTo>
                  <a:lnTo>
                    <a:pt x="5486400" y="0"/>
                  </a:lnTo>
                  <a:lnTo>
                    <a:pt x="54864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671" b="-5671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9525"/>
              <a:ext cx="5486400" cy="19297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짝과 비교·토론</a:t>
              </a:r>
            </a:p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어느 버전이 우리 기관에 맞는지 짝과 이야기하기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44855" y="8700135"/>
            <a:ext cx="16821150" cy="814578"/>
            <a:chOff x="0" y="0"/>
            <a:chExt cx="22428200" cy="108610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2428200" cy="1086104"/>
            </a:xfrm>
            <a:custGeom>
              <a:avLst/>
              <a:gdLst/>
              <a:ahLst/>
              <a:cxnLst/>
              <a:rect l="l" t="t" r="r" b="b"/>
              <a:pathLst>
                <a:path w="22428200" h="1086104">
                  <a:moveTo>
                    <a:pt x="0" y="0"/>
                  </a:moveTo>
                  <a:lnTo>
                    <a:pt x="22428200" y="0"/>
                  </a:lnTo>
                  <a:lnTo>
                    <a:pt x="22428200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EAF6F1"/>
            </a:solidFill>
            <a:ln w="19050" cap="sq">
              <a:solidFill>
                <a:srgbClr val="217A46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754380" y="8709660"/>
            <a:ext cx="16802100" cy="795528"/>
            <a:chOff x="0" y="0"/>
            <a:chExt cx="22402800" cy="106070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2402800" cy="1060704"/>
            </a:xfrm>
            <a:custGeom>
              <a:avLst/>
              <a:gdLst/>
              <a:ahLst/>
              <a:cxnLst/>
              <a:rect l="l" t="t" r="r" b="b"/>
              <a:pathLst>
                <a:path w="22402800" h="1060704">
                  <a:moveTo>
                    <a:pt x="0" y="0"/>
                  </a:moveTo>
                  <a:lnTo>
                    <a:pt x="22402800" y="0"/>
                  </a:lnTo>
                  <a:lnTo>
                    <a:pt x="224028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1537" b="-361537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28575"/>
              <a:ext cx="22402800" cy="10892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217A4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미니 역할극  </a:t>
              </a:r>
              <a:r>
                <a:rPr lang="en-US" sz="1875">
                  <a:solidFill>
                    <a:srgbClr val="2E5945"/>
                  </a:solidFill>
                  <a:latin typeface="Arial"/>
                  <a:ea typeface="Arial"/>
                  <a:cs typeface="Arial"/>
                  <a:sym typeface="Arial"/>
                </a:rPr>
                <a:t>완성된 두 버전을 짝에게 직접 소리 내어 읽어보세요 — 같은 내용도 톤에 따라 전달이 얼마나 달라지는지 바로 느껴집니다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0" y="9710928"/>
            <a:ext cx="18287543" cy="576072"/>
            <a:chOff x="0" y="0"/>
            <a:chExt cx="24383390" cy="76809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4383364" cy="768096"/>
            </a:xfrm>
            <a:custGeom>
              <a:avLst/>
              <a:gdLst/>
              <a:ahLst/>
              <a:cxnLst/>
              <a:rect l="l" t="t" r="r" b="b"/>
              <a:pathLst>
                <a:path w="24383364" h="768096">
                  <a:moveTo>
                    <a:pt x="0" y="0"/>
                  </a:moveTo>
                  <a:lnTo>
                    <a:pt x="24383364" y="0"/>
                  </a:lnTo>
                  <a:lnTo>
                    <a:pt x="24383364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754380" y="9710928"/>
            <a:ext cx="8915400" cy="576072"/>
            <a:chOff x="0" y="0"/>
            <a:chExt cx="11887200" cy="76809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1887200" cy="768096"/>
            </a:xfrm>
            <a:custGeom>
              <a:avLst/>
              <a:gdLst/>
              <a:ahLst/>
              <a:cxnLst/>
              <a:rect l="l" t="t" r="r" b="b"/>
              <a:pathLst>
                <a:path w="11887200" h="768096">
                  <a:moveTo>
                    <a:pt x="0" y="0"/>
                  </a:moveTo>
                  <a:lnTo>
                    <a:pt x="11887200" y="0"/>
                  </a:lnTo>
                  <a:lnTo>
                    <a:pt x="11887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1554" b="-251554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9525"/>
              <a:ext cx="118872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2차시 | 실습 2 톤앤매너 커스터마이징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326880" y="9710928"/>
            <a:ext cx="8229600" cy="576072"/>
            <a:chOff x="0" y="0"/>
            <a:chExt cx="10972800" cy="768096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0972800" cy="768096"/>
            </a:xfrm>
            <a:custGeom>
              <a:avLst/>
              <a:gdLst/>
              <a:ahLst/>
              <a:cxnLst/>
              <a:rect l="l" t="t" r="r" b="b"/>
              <a:pathLst>
                <a:path w="10972800" h="768096">
                  <a:moveTo>
                    <a:pt x="0" y="0"/>
                  </a:moveTo>
                  <a:lnTo>
                    <a:pt x="10972800" y="0"/>
                  </a:lnTo>
                  <a:lnTo>
                    <a:pt x="10972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9525"/>
              <a:ext cx="109728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ko-KR" altLang="en-US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altLang="ko-KR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|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부산여자대학교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DX교육운영센터</a:t>
              </a:r>
              <a:endParaRPr lang="en-US" sz="1575" dirty="0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2차시 정리 및 팀 활동 과제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920240"/>
            <a:ext cx="17007840" cy="768096"/>
            <a:chOff x="0" y="0"/>
            <a:chExt cx="22677120" cy="1024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77120" cy="1024128"/>
            </a:xfrm>
            <a:custGeom>
              <a:avLst/>
              <a:gdLst/>
              <a:ahLst/>
              <a:cxnLst/>
              <a:rect l="l" t="t" r="r" b="b"/>
              <a:pathLst>
                <a:path w="22677120" h="1024128">
                  <a:moveTo>
                    <a:pt x="0" y="0"/>
                  </a:moveTo>
                  <a:lnTo>
                    <a:pt x="22677120" y="0"/>
                  </a:lnTo>
                  <a:lnTo>
                    <a:pt x="22677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14400" y="1920240"/>
            <a:ext cx="16642080" cy="768096"/>
            <a:chOff x="0" y="0"/>
            <a:chExt cx="22189440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189439" cy="1024128"/>
            </a:xfrm>
            <a:custGeom>
              <a:avLst/>
              <a:gdLst/>
              <a:ahLst/>
              <a:cxnLst/>
              <a:rect l="l" t="t" r="r" b="b"/>
              <a:pathLst>
                <a:path w="22189439" h="1024128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75" b="-37217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2189440" cy="10241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✔ 2차시 핵심 정리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0" y="2852928"/>
            <a:ext cx="694944" cy="694944"/>
            <a:chOff x="0" y="0"/>
            <a:chExt cx="926592" cy="9265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40080" y="2852928"/>
            <a:ext cx="694944" cy="694944"/>
            <a:chOff x="0" y="0"/>
            <a:chExt cx="926592" cy="9265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926592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54480" y="2852928"/>
            <a:ext cx="16459200" cy="694944"/>
            <a:chOff x="0" y="0"/>
            <a:chExt cx="21945600" cy="9265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45600" cy="926592"/>
            </a:xfrm>
            <a:custGeom>
              <a:avLst/>
              <a:gdLst/>
              <a:ahLst/>
              <a:cxnLst/>
              <a:rect l="l" t="t" r="r" b="b"/>
              <a:pathLst>
                <a:path w="21945600" h="926592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487" b="-411487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21945600" cy="917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민원 유형 6가지를 분류하고 각각의 AI 대응 시나리오를 설계할 수 있다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40080" y="3767328"/>
            <a:ext cx="694944" cy="694944"/>
            <a:chOff x="0" y="0"/>
            <a:chExt cx="926592" cy="9265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40080" y="3767328"/>
            <a:ext cx="694944" cy="694944"/>
            <a:chOff x="0" y="0"/>
            <a:chExt cx="926592" cy="92659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926592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54480" y="3767328"/>
            <a:ext cx="16459200" cy="694944"/>
            <a:chOff x="0" y="0"/>
            <a:chExt cx="21945600" cy="9265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945600" cy="926592"/>
            </a:xfrm>
            <a:custGeom>
              <a:avLst/>
              <a:gdLst/>
              <a:ahLst/>
              <a:cxnLst/>
              <a:rect l="l" t="t" r="r" b="b"/>
              <a:pathLst>
                <a:path w="21945600" h="926592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487" b="-411487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21945600" cy="917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ChatGPT/Claude에 역할·상황·요청·형식을 포함한 프롬프트를 작성할 수 있다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0080" y="4681728"/>
            <a:ext cx="694944" cy="694944"/>
            <a:chOff x="0" y="0"/>
            <a:chExt cx="926592" cy="92659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640080" y="4681728"/>
            <a:ext cx="694944" cy="694944"/>
            <a:chOff x="0" y="0"/>
            <a:chExt cx="926592" cy="9265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926592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554480" y="4681728"/>
            <a:ext cx="16459200" cy="694944"/>
            <a:chOff x="0" y="0"/>
            <a:chExt cx="21945600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945600" cy="926592"/>
            </a:xfrm>
            <a:custGeom>
              <a:avLst/>
              <a:gdLst/>
              <a:ahLst/>
              <a:cxnLst/>
              <a:rect l="l" t="t" r="r" b="b"/>
              <a:pathLst>
                <a:path w="21945600" h="926592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487" b="-411487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9525"/>
              <a:ext cx="21945600" cy="917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강성 민원 상황에서 공감 → 인정 → 해결 3단계 스크립트를 생성할 수 있다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0080" y="5596128"/>
            <a:ext cx="694944" cy="694944"/>
            <a:chOff x="0" y="0"/>
            <a:chExt cx="926592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40080" y="5596128"/>
            <a:ext cx="694944" cy="694944"/>
            <a:chOff x="0" y="0"/>
            <a:chExt cx="926592" cy="92659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926592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4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554480" y="5596128"/>
            <a:ext cx="16459200" cy="694944"/>
            <a:chOff x="0" y="0"/>
            <a:chExt cx="21945600" cy="92659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1945600" cy="926592"/>
            </a:xfrm>
            <a:custGeom>
              <a:avLst/>
              <a:gdLst/>
              <a:ahLst/>
              <a:cxnLst/>
              <a:rect l="l" t="t" r="r" b="b"/>
              <a:pathLst>
                <a:path w="21945600" h="926592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487" b="-411487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9525"/>
              <a:ext cx="21945600" cy="917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기관 톤앤매너를 반영한 커스터마이징 스크립트를 AI로 생성할 수 있다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40080" y="6515100"/>
            <a:ext cx="17007840" cy="2743200"/>
            <a:chOff x="0" y="0"/>
            <a:chExt cx="22677120" cy="36576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677120" cy="3657600"/>
            </a:xfrm>
            <a:custGeom>
              <a:avLst/>
              <a:gdLst/>
              <a:ahLst/>
              <a:cxnLst/>
              <a:rect l="l" t="t" r="r" b="b"/>
              <a:pathLst>
                <a:path w="22677120" h="3657600">
                  <a:moveTo>
                    <a:pt x="0" y="0"/>
                  </a:moveTo>
                  <a:lnTo>
                    <a:pt x="22677120" y="0"/>
                  </a:lnTo>
                  <a:lnTo>
                    <a:pt x="226771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914400" y="6569964"/>
            <a:ext cx="16642080" cy="640080"/>
            <a:chOff x="0" y="0"/>
            <a:chExt cx="22189440" cy="8534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189439" cy="853440"/>
            </a:xfrm>
            <a:custGeom>
              <a:avLst/>
              <a:gdLst/>
              <a:ahLst/>
              <a:cxnLst/>
              <a:rect l="l" t="t" r="r" b="b"/>
              <a:pathLst>
                <a:path w="22189439" h="853440">
                  <a:moveTo>
                    <a:pt x="0" y="0"/>
                  </a:moveTo>
                  <a:lnTo>
                    <a:pt x="22189439" y="0"/>
                  </a:lnTo>
                  <a:lnTo>
                    <a:pt x="221894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6610" b="-45661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2218944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 dirty="0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👥 팀 </a:t>
              </a:r>
              <a:r>
                <a:rPr lang="en-US" sz="2600" spc="10" dirty="0" err="1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활동</a:t>
              </a:r>
              <a:r>
                <a:rPr lang="en-US" sz="2600" spc="10" dirty="0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600" spc="10" dirty="0" err="1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과제</a:t>
              </a:r>
              <a:r>
                <a:rPr lang="en-US" sz="2600" spc="10" dirty="0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 (15분)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14400" y="7338060"/>
            <a:ext cx="16642080" cy="548640"/>
            <a:chOff x="0" y="0"/>
            <a:chExt cx="22189440" cy="731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221894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1.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우리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기관에서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가장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자주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발생하는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민원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유형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3가지를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팀별로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선정</a:t>
              </a:r>
              <a:endParaRPr lang="en-US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14400" y="7810500"/>
            <a:ext cx="16642080" cy="679704"/>
            <a:chOff x="0" y="-174752"/>
            <a:chExt cx="22189440" cy="90627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174752"/>
              <a:ext cx="221894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2.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ChatGPT를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활용하여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해당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민원별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응대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스크립트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1가지씩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생성</a:t>
              </a:r>
              <a:endParaRPr lang="en-US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14400" y="8420100"/>
            <a:ext cx="16642080" cy="673608"/>
            <a:chOff x="0" y="-166624"/>
            <a:chExt cx="22189440" cy="89814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166624"/>
              <a:ext cx="221894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3.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생성된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스크립트를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팀원이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함께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검토하여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수정·개선</a:t>
              </a:r>
              <a:endParaRPr lang="en-US" sz="23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14400" y="9029700"/>
            <a:ext cx="16642080" cy="667512"/>
            <a:chOff x="0" y="-158496"/>
            <a:chExt cx="22189440" cy="89001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158496"/>
              <a:ext cx="221894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4.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최종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완성된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스크립트를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발표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(</a:t>
              </a:r>
              <a:r>
                <a:rPr lang="en-US" sz="23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팀당</a:t>
              </a:r>
              <a:r>
                <a:rPr lang="en-US" sz="23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2분)</a:t>
              </a:r>
            </a:p>
          </p:txBody>
        </p:sp>
      </p:grpSp>
      <p:grpSp>
        <p:nvGrpSpPr>
          <p:cNvPr id="63" name="Group 72"/>
          <p:cNvGrpSpPr/>
          <p:nvPr/>
        </p:nvGrpSpPr>
        <p:grpSpPr>
          <a:xfrm>
            <a:off x="0" y="9710928"/>
            <a:ext cx="18287543" cy="576072"/>
            <a:chOff x="0" y="0"/>
            <a:chExt cx="24383390" cy="768096"/>
          </a:xfrm>
        </p:grpSpPr>
        <p:sp>
          <p:nvSpPr>
            <p:cNvPr id="64" name="Freeform 73"/>
            <p:cNvSpPr/>
            <p:nvPr/>
          </p:nvSpPr>
          <p:spPr>
            <a:xfrm>
              <a:off x="0" y="0"/>
              <a:ext cx="24383364" cy="768096"/>
            </a:xfrm>
            <a:custGeom>
              <a:avLst/>
              <a:gdLst/>
              <a:ahLst/>
              <a:cxnLst/>
              <a:rect l="l" t="t" r="r" b="b"/>
              <a:pathLst>
                <a:path w="24383364" h="768096">
                  <a:moveTo>
                    <a:pt x="0" y="0"/>
                  </a:moveTo>
                  <a:lnTo>
                    <a:pt x="24383364" y="0"/>
                  </a:lnTo>
                  <a:lnTo>
                    <a:pt x="24383364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65" name="Group 74"/>
          <p:cNvGrpSpPr/>
          <p:nvPr/>
        </p:nvGrpSpPr>
        <p:grpSpPr>
          <a:xfrm>
            <a:off x="754380" y="9710928"/>
            <a:ext cx="8915400" cy="576072"/>
            <a:chOff x="0" y="0"/>
            <a:chExt cx="11887200" cy="768096"/>
          </a:xfrm>
        </p:grpSpPr>
        <p:sp>
          <p:nvSpPr>
            <p:cNvPr id="66" name="Freeform 75"/>
            <p:cNvSpPr/>
            <p:nvPr/>
          </p:nvSpPr>
          <p:spPr>
            <a:xfrm>
              <a:off x="0" y="0"/>
              <a:ext cx="11887200" cy="768096"/>
            </a:xfrm>
            <a:custGeom>
              <a:avLst/>
              <a:gdLst/>
              <a:ahLst/>
              <a:cxnLst/>
              <a:rect l="l" t="t" r="r" b="b"/>
              <a:pathLst>
                <a:path w="11887200" h="768096">
                  <a:moveTo>
                    <a:pt x="0" y="0"/>
                  </a:moveTo>
                  <a:lnTo>
                    <a:pt x="11887200" y="0"/>
                  </a:lnTo>
                  <a:lnTo>
                    <a:pt x="11887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554" b="-251554"/>
              </a:stretch>
            </a:blipFill>
          </p:spPr>
        </p:sp>
        <p:sp>
          <p:nvSpPr>
            <p:cNvPr id="67" name="TextBox 76"/>
            <p:cNvSpPr txBox="1"/>
            <p:nvPr/>
          </p:nvSpPr>
          <p:spPr>
            <a:xfrm>
              <a:off x="0" y="-9525"/>
              <a:ext cx="118872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2차시 | 실습 2 톤앤매너 커스터마이징</a:t>
              </a:r>
            </a:p>
          </p:txBody>
        </p:sp>
      </p:grpSp>
      <p:grpSp>
        <p:nvGrpSpPr>
          <p:cNvPr id="68" name="Group 77"/>
          <p:cNvGrpSpPr/>
          <p:nvPr/>
        </p:nvGrpSpPr>
        <p:grpSpPr>
          <a:xfrm>
            <a:off x="9326880" y="9710928"/>
            <a:ext cx="8229600" cy="576072"/>
            <a:chOff x="0" y="0"/>
            <a:chExt cx="10972800" cy="768096"/>
          </a:xfrm>
        </p:grpSpPr>
        <p:sp>
          <p:nvSpPr>
            <p:cNvPr id="69" name="Freeform 78"/>
            <p:cNvSpPr/>
            <p:nvPr/>
          </p:nvSpPr>
          <p:spPr>
            <a:xfrm>
              <a:off x="0" y="0"/>
              <a:ext cx="10972800" cy="768096"/>
            </a:xfrm>
            <a:custGeom>
              <a:avLst/>
              <a:gdLst/>
              <a:ahLst/>
              <a:cxnLst/>
              <a:rect l="l" t="t" r="r" b="b"/>
              <a:pathLst>
                <a:path w="10972800" h="768096">
                  <a:moveTo>
                    <a:pt x="0" y="0"/>
                  </a:moveTo>
                  <a:lnTo>
                    <a:pt x="10972800" y="0"/>
                  </a:lnTo>
                  <a:lnTo>
                    <a:pt x="10972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70" name="TextBox 79"/>
            <p:cNvSpPr txBox="1"/>
            <p:nvPr/>
          </p:nvSpPr>
          <p:spPr>
            <a:xfrm>
              <a:off x="0" y="-9525"/>
              <a:ext cx="109728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ko-KR" altLang="en-US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altLang="ko-KR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|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부산여자대학교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DX교육운영센터</a:t>
              </a:r>
              <a:endParaRPr lang="en-US" sz="1575" dirty="0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67360" y="-1463040"/>
            <a:ext cx="8229600" cy="8229600"/>
            <a:chOff x="0" y="0"/>
            <a:chExt cx="109728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10972800"/>
            </a:xfrm>
            <a:custGeom>
              <a:avLst/>
              <a:gdLst/>
              <a:ahLst/>
              <a:cxnLst/>
              <a:rect l="l" t="t" r="r" b="b"/>
              <a:pathLst>
                <a:path w="10972800" h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0A7B83">
                <a:alpha val="5882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264640" y="4572000"/>
            <a:ext cx="5486400" cy="5486400"/>
            <a:chOff x="0" y="0"/>
            <a:chExt cx="7315200" cy="731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9A84C">
                <a:alpha val="392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97280" y="1399032"/>
            <a:ext cx="5486400" cy="914400"/>
            <a:chOff x="0" y="0"/>
            <a:chExt cx="7315200" cy="121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15200" cy="1219200"/>
            </a:xfrm>
            <a:custGeom>
              <a:avLst/>
              <a:gdLst/>
              <a:ahLst/>
              <a:cxnLst/>
              <a:rect l="l" t="t" r="r" b="b"/>
              <a:pathLst>
                <a:path w="7315200" h="1219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7315200" cy="1209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spc="12">
                  <a:solidFill>
                    <a:srgbClr val="F0D080"/>
                  </a:solidFill>
                  <a:latin typeface="Mandali"/>
                  <a:ea typeface="Mandali"/>
                  <a:cs typeface="Mandali"/>
                  <a:sym typeface="Mandali"/>
                </a:rPr>
                <a:t>3차시 | 1.5H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17451" y="2280285"/>
            <a:ext cx="13589003" cy="242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spc="24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상담 기록 자동화 및</a:t>
            </a:r>
          </a:p>
          <a:p>
            <a:pPr algn="l">
              <a:lnSpc>
                <a:spcPts val="7680"/>
              </a:lnSpc>
            </a:pPr>
            <a:r>
              <a:rPr lang="en-US" sz="6400" spc="24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민원 문서화 지원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97280" y="8042805"/>
            <a:ext cx="4572000" cy="109728"/>
            <a:chOff x="0" y="0"/>
            <a:chExt cx="6096000" cy="1463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096000" cy="146304"/>
            </a:xfrm>
            <a:custGeom>
              <a:avLst/>
              <a:gdLst/>
              <a:ahLst/>
              <a:cxnLst/>
              <a:rect l="l" t="t" r="r" b="b"/>
              <a:pathLst>
                <a:path w="6096000" h="146304">
                  <a:moveTo>
                    <a:pt x="0" y="0"/>
                  </a:moveTo>
                  <a:lnTo>
                    <a:pt x="6096000" y="0"/>
                  </a:lnTo>
                  <a:lnTo>
                    <a:pt x="6096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53953" y="4860488"/>
            <a:ext cx="13716000" cy="2171815"/>
            <a:chOff x="0" y="0"/>
            <a:chExt cx="18288000" cy="28957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2895753"/>
            </a:xfrm>
            <a:custGeom>
              <a:avLst/>
              <a:gdLst/>
              <a:ahLst/>
              <a:cxnLst/>
              <a:rect l="l" t="t" r="r" b="b"/>
              <a:pathLst>
                <a:path w="18288000" h="2895753">
                  <a:moveTo>
                    <a:pt x="0" y="0"/>
                  </a:moveTo>
                  <a:lnTo>
                    <a:pt x="18288000" y="0"/>
                  </a:lnTo>
                  <a:lnTo>
                    <a:pt x="18288000" y="2895753"/>
                  </a:lnTo>
                  <a:lnTo>
                    <a:pt x="0" y="28957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1268" b="-3484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61925"/>
              <a:ext cx="18288000" cy="3057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64"/>
                </a:lnSpc>
              </a:pPr>
              <a:r>
                <a:rPr lang="en-US" sz="2400">
                  <a:solidFill>
                    <a:srgbClr val="F0D090"/>
                  </a:solidFill>
                  <a:latin typeface="Arimo"/>
                  <a:ea typeface="Arimo"/>
                  <a:cs typeface="Arimo"/>
                  <a:sym typeface="Arimo"/>
                </a:rPr>
                <a:t>-   상담 내용 AI 요약 및 민원 처리 기록 자동 생성 실습</a:t>
              </a:r>
            </a:p>
            <a:p>
              <a:pPr algn="l">
                <a:lnSpc>
                  <a:spcPts val="4464"/>
                </a:lnSpc>
              </a:pPr>
              <a:r>
                <a:rPr lang="en-US" sz="2400">
                  <a:solidFill>
                    <a:srgbClr val="F0D090"/>
                  </a:solidFill>
                  <a:latin typeface="Arimo"/>
                  <a:ea typeface="Arimo"/>
                  <a:cs typeface="Arimo"/>
                  <a:sym typeface="Arimo"/>
                </a:rPr>
                <a:t>-   음성 녹취 → 텍스트 변환 → AI 요약 파이프라인 이해</a:t>
              </a:r>
            </a:p>
            <a:p>
              <a:pPr algn="l">
                <a:lnSpc>
                  <a:spcPts val="4464"/>
                </a:lnSpc>
              </a:pPr>
              <a:r>
                <a:rPr lang="en-US" sz="2400">
                  <a:solidFill>
                    <a:srgbClr val="F0D090"/>
                  </a:solidFill>
                  <a:latin typeface="Arimo"/>
                  <a:ea typeface="Arimo"/>
                  <a:cs typeface="Arimo"/>
                  <a:sym typeface="Arimo"/>
                </a:rPr>
                <a:t>-   반복 민원 패턴 분석 및 FAQ 자동 생성 실습</a:t>
              </a:r>
            </a:p>
            <a:p>
              <a:pPr algn="l">
                <a:lnSpc>
                  <a:spcPts val="4464"/>
                </a:lnSpc>
              </a:pPr>
              <a:r>
                <a:rPr lang="en-US" sz="2400">
                  <a:solidFill>
                    <a:srgbClr val="F0D090"/>
                  </a:solidFill>
                  <a:latin typeface="Arimo"/>
                  <a:ea typeface="Arimo"/>
                  <a:cs typeface="Arimo"/>
                  <a:sym typeface="Arimo"/>
                </a:rPr>
                <a:t>-   민원 처리 결과 보고서 자동화 초안 작성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3차시 | 상담 기록 AI 자동화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altLang="ko-KR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현행 상담 기록의 문제점과 AI 자동화 필요성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920240"/>
            <a:ext cx="8229600" cy="731520"/>
            <a:chOff x="0" y="0"/>
            <a:chExt cx="10972800" cy="975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72800" cy="975360"/>
            </a:xfrm>
            <a:custGeom>
              <a:avLst/>
              <a:gdLst/>
              <a:ahLst/>
              <a:cxnLst/>
              <a:rect l="l" t="t" r="r" b="b"/>
              <a:pathLst>
                <a:path w="10972800" h="97536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144000" y="1920240"/>
            <a:ext cx="8503920" cy="731520"/>
            <a:chOff x="0" y="0"/>
            <a:chExt cx="11338560" cy="975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38560" cy="975360"/>
            </a:xfrm>
            <a:custGeom>
              <a:avLst/>
              <a:gdLst/>
              <a:ahLst/>
              <a:cxnLst/>
              <a:rect l="l" t="t" r="r" b="b"/>
              <a:pathLst>
                <a:path w="11338560" h="975360">
                  <a:moveTo>
                    <a:pt x="0" y="0"/>
                  </a:moveTo>
                  <a:lnTo>
                    <a:pt x="11338560" y="0"/>
                  </a:lnTo>
                  <a:lnTo>
                    <a:pt x="113385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40080" y="1920240"/>
            <a:ext cx="8229600" cy="731520"/>
            <a:chOff x="0" y="0"/>
            <a:chExt cx="10972800" cy="9753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72800" cy="975360"/>
            </a:xfrm>
            <a:custGeom>
              <a:avLst/>
              <a:gdLst/>
              <a:ahLst/>
              <a:cxnLst/>
              <a:rect l="l" t="t" r="r" b="b"/>
              <a:pathLst>
                <a:path w="10972800" h="97536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097280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❌ 현행 수동 기록의 문제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0" y="1920240"/>
            <a:ext cx="8503920" cy="731520"/>
            <a:chOff x="0" y="0"/>
            <a:chExt cx="11338560" cy="9753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38560" cy="975360"/>
            </a:xfrm>
            <a:custGeom>
              <a:avLst/>
              <a:gdLst/>
              <a:ahLst/>
              <a:cxnLst/>
              <a:rect l="l" t="t" r="r" b="b"/>
              <a:pathLst>
                <a:path w="11338560" h="975360">
                  <a:moveTo>
                    <a:pt x="0" y="0"/>
                  </a:moveTo>
                  <a:lnTo>
                    <a:pt x="11338560" y="0"/>
                  </a:lnTo>
                  <a:lnTo>
                    <a:pt x="11338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513" b="-17651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133856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✅ AI 자동화 도입 효과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0080" y="2834640"/>
            <a:ext cx="8229600" cy="1005840"/>
            <a:chOff x="0" y="0"/>
            <a:chExt cx="10972800" cy="13411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972800" cy="1341120"/>
            </a:xfrm>
            <a:custGeom>
              <a:avLst/>
              <a:gdLst/>
              <a:ahLst/>
              <a:cxnLst/>
              <a:rect l="l" t="t" r="r" b="b"/>
              <a:pathLst>
                <a:path w="10972800" h="134112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14400" y="2834640"/>
            <a:ext cx="7680960" cy="1005840"/>
            <a:chOff x="0" y="0"/>
            <a:chExt cx="10241280" cy="13411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241280" cy="1341120"/>
            </a:xfrm>
            <a:custGeom>
              <a:avLst/>
              <a:gdLst/>
              <a:ahLst/>
              <a:cxnLst/>
              <a:rect l="l" t="t" r="r" b="b"/>
              <a:pathLst>
                <a:path w="10241280" h="1341120">
                  <a:moveTo>
                    <a:pt x="0" y="0"/>
                  </a:moveTo>
                  <a:lnTo>
                    <a:pt x="10241280" y="0"/>
                  </a:lnTo>
                  <a:lnTo>
                    <a:pt x="10241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794" b="-98794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1024128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• 통화 중 실시간 기록 불가 → 메모 누락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0080" y="4041648"/>
            <a:ext cx="8229600" cy="1005840"/>
            <a:chOff x="0" y="0"/>
            <a:chExt cx="10972800" cy="13411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72800" cy="1341120"/>
            </a:xfrm>
            <a:custGeom>
              <a:avLst/>
              <a:gdLst/>
              <a:ahLst/>
              <a:cxnLst/>
              <a:rect l="l" t="t" r="r" b="b"/>
              <a:pathLst>
                <a:path w="10972800" h="134112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14400" y="4041648"/>
            <a:ext cx="7680960" cy="1005840"/>
            <a:chOff x="0" y="0"/>
            <a:chExt cx="10241280" cy="13411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241280" cy="1341120"/>
            </a:xfrm>
            <a:custGeom>
              <a:avLst/>
              <a:gdLst/>
              <a:ahLst/>
              <a:cxnLst/>
              <a:rect l="l" t="t" r="r" b="b"/>
              <a:pathLst>
                <a:path w="10241280" h="1341120">
                  <a:moveTo>
                    <a:pt x="0" y="0"/>
                  </a:moveTo>
                  <a:lnTo>
                    <a:pt x="10241280" y="0"/>
                  </a:lnTo>
                  <a:lnTo>
                    <a:pt x="10241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794" b="-9879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1024128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• 개인별 기록 방식 상이 → 일관성 부족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0080" y="5248656"/>
            <a:ext cx="8229600" cy="1005840"/>
            <a:chOff x="0" y="0"/>
            <a:chExt cx="10972800" cy="13411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972800" cy="1341120"/>
            </a:xfrm>
            <a:custGeom>
              <a:avLst/>
              <a:gdLst/>
              <a:ahLst/>
              <a:cxnLst/>
              <a:rect l="l" t="t" r="r" b="b"/>
              <a:pathLst>
                <a:path w="10972800" h="134112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14400" y="5248656"/>
            <a:ext cx="7680960" cy="1005840"/>
            <a:chOff x="0" y="0"/>
            <a:chExt cx="10241280" cy="13411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241280" cy="1341120"/>
            </a:xfrm>
            <a:custGeom>
              <a:avLst/>
              <a:gdLst/>
              <a:ahLst/>
              <a:cxnLst/>
              <a:rect l="l" t="t" r="r" b="b"/>
              <a:pathLst>
                <a:path w="10241280" h="1341120">
                  <a:moveTo>
                    <a:pt x="0" y="0"/>
                  </a:moveTo>
                  <a:lnTo>
                    <a:pt x="10241280" y="0"/>
                  </a:lnTo>
                  <a:lnTo>
                    <a:pt x="10241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794" b="-9879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024128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• 사후 기록으로 내용 왜곡·망각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0080" y="6455664"/>
            <a:ext cx="8229600" cy="1005840"/>
            <a:chOff x="0" y="0"/>
            <a:chExt cx="10972800" cy="13411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972800" cy="1341120"/>
            </a:xfrm>
            <a:custGeom>
              <a:avLst/>
              <a:gdLst/>
              <a:ahLst/>
              <a:cxnLst/>
              <a:rect l="l" t="t" r="r" b="b"/>
              <a:pathLst>
                <a:path w="10972800" h="134112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914400" y="6455664"/>
            <a:ext cx="7680960" cy="1005840"/>
            <a:chOff x="0" y="0"/>
            <a:chExt cx="10241280" cy="13411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241280" cy="1341120"/>
            </a:xfrm>
            <a:custGeom>
              <a:avLst/>
              <a:gdLst/>
              <a:ahLst/>
              <a:cxnLst/>
              <a:rect l="l" t="t" r="r" b="b"/>
              <a:pathLst>
                <a:path w="10241280" h="1341120">
                  <a:moveTo>
                    <a:pt x="0" y="0"/>
                  </a:moveTo>
                  <a:lnTo>
                    <a:pt x="10241280" y="0"/>
                  </a:lnTo>
                  <a:lnTo>
                    <a:pt x="10241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794" b="-9879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024128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• 수기/타이핑 시간 낭비 → 업무 지연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0080" y="7662672"/>
            <a:ext cx="8229600" cy="1005840"/>
            <a:chOff x="0" y="0"/>
            <a:chExt cx="10972800" cy="13411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972800" cy="1341120"/>
            </a:xfrm>
            <a:custGeom>
              <a:avLst/>
              <a:gdLst/>
              <a:ahLst/>
              <a:cxnLst/>
              <a:rect l="l" t="t" r="r" b="b"/>
              <a:pathLst>
                <a:path w="10972800" h="134112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914400" y="7662672"/>
            <a:ext cx="7680960" cy="1005840"/>
            <a:chOff x="0" y="0"/>
            <a:chExt cx="10241280" cy="13411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241280" cy="1341120"/>
            </a:xfrm>
            <a:custGeom>
              <a:avLst/>
              <a:gdLst/>
              <a:ahLst/>
              <a:cxnLst/>
              <a:rect l="l" t="t" r="r" b="b"/>
              <a:pathLst>
                <a:path w="10241280" h="1341120">
                  <a:moveTo>
                    <a:pt x="0" y="0"/>
                  </a:moveTo>
                  <a:lnTo>
                    <a:pt x="10241280" y="0"/>
                  </a:lnTo>
                  <a:lnTo>
                    <a:pt x="10241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794" b="-98794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1024128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• 민원 재발 시 이력 추적 어려움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144000" y="2834640"/>
            <a:ext cx="8503920" cy="1005840"/>
            <a:chOff x="0" y="0"/>
            <a:chExt cx="11338560" cy="13411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338560" cy="1341120"/>
            </a:xfrm>
            <a:custGeom>
              <a:avLst/>
              <a:gdLst/>
              <a:ahLst/>
              <a:cxnLst/>
              <a:rect l="l" t="t" r="r" b="b"/>
              <a:pathLst>
                <a:path w="11338560" h="1341120">
                  <a:moveTo>
                    <a:pt x="0" y="0"/>
                  </a:moveTo>
                  <a:lnTo>
                    <a:pt x="11338560" y="0"/>
                  </a:lnTo>
                  <a:lnTo>
                    <a:pt x="113385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9363456" y="2834640"/>
            <a:ext cx="8046720" cy="1005840"/>
            <a:chOff x="0" y="0"/>
            <a:chExt cx="10728960" cy="13411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728960" cy="1341120"/>
            </a:xfrm>
            <a:custGeom>
              <a:avLst/>
              <a:gdLst/>
              <a:ahLst/>
              <a:cxnLst/>
              <a:rect l="l" t="t" r="r" b="b"/>
              <a:pathLst>
                <a:path w="10728960" h="134112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1072896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✓ 음성 자동 텍스트 변환 → 즉시 기록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144000" y="4041648"/>
            <a:ext cx="8503920" cy="1005840"/>
            <a:chOff x="0" y="0"/>
            <a:chExt cx="11338560" cy="13411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338560" cy="1341120"/>
            </a:xfrm>
            <a:custGeom>
              <a:avLst/>
              <a:gdLst/>
              <a:ahLst/>
              <a:cxnLst/>
              <a:rect l="l" t="t" r="r" b="b"/>
              <a:pathLst>
                <a:path w="11338560" h="1341120">
                  <a:moveTo>
                    <a:pt x="0" y="0"/>
                  </a:moveTo>
                  <a:lnTo>
                    <a:pt x="11338560" y="0"/>
                  </a:lnTo>
                  <a:lnTo>
                    <a:pt x="113385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9363456" y="4041648"/>
            <a:ext cx="8046720" cy="1005840"/>
            <a:chOff x="0" y="0"/>
            <a:chExt cx="10728960" cy="13411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728960" cy="1341120"/>
            </a:xfrm>
            <a:custGeom>
              <a:avLst/>
              <a:gdLst/>
              <a:ahLst/>
              <a:cxnLst/>
              <a:rect l="l" t="t" r="r" b="b"/>
              <a:pathLst>
                <a:path w="10728960" h="134112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1072896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✓ AI 요약으로 표준화된 기록 형식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144000" y="5248656"/>
            <a:ext cx="8503920" cy="1005840"/>
            <a:chOff x="0" y="0"/>
            <a:chExt cx="11338560" cy="13411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338560" cy="1341120"/>
            </a:xfrm>
            <a:custGeom>
              <a:avLst/>
              <a:gdLst/>
              <a:ahLst/>
              <a:cxnLst/>
              <a:rect l="l" t="t" r="r" b="b"/>
              <a:pathLst>
                <a:path w="11338560" h="1341120">
                  <a:moveTo>
                    <a:pt x="0" y="0"/>
                  </a:moveTo>
                  <a:lnTo>
                    <a:pt x="11338560" y="0"/>
                  </a:lnTo>
                  <a:lnTo>
                    <a:pt x="113385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9363456" y="5248656"/>
            <a:ext cx="8046720" cy="1005840"/>
            <a:chOff x="0" y="0"/>
            <a:chExt cx="10728960" cy="13411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728960" cy="1341120"/>
            </a:xfrm>
            <a:custGeom>
              <a:avLst/>
              <a:gdLst/>
              <a:ahLst/>
              <a:cxnLst/>
              <a:rect l="l" t="t" r="r" b="b"/>
              <a:pathLst>
                <a:path w="10728960" h="134112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1072896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✓ 실시간 기록 → 정확성·신뢰성 확보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144000" y="6455664"/>
            <a:ext cx="8503920" cy="1005840"/>
            <a:chOff x="0" y="0"/>
            <a:chExt cx="11338560" cy="13411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1338560" cy="1341120"/>
            </a:xfrm>
            <a:custGeom>
              <a:avLst/>
              <a:gdLst/>
              <a:ahLst/>
              <a:cxnLst/>
              <a:rect l="l" t="t" r="r" b="b"/>
              <a:pathLst>
                <a:path w="11338560" h="1341120">
                  <a:moveTo>
                    <a:pt x="0" y="0"/>
                  </a:moveTo>
                  <a:lnTo>
                    <a:pt x="11338560" y="0"/>
                  </a:lnTo>
                  <a:lnTo>
                    <a:pt x="113385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9363456" y="6455664"/>
            <a:ext cx="8046720" cy="1005840"/>
            <a:chOff x="0" y="0"/>
            <a:chExt cx="10728960" cy="13411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728960" cy="1341120"/>
            </a:xfrm>
            <a:custGeom>
              <a:avLst/>
              <a:gdLst/>
              <a:ahLst/>
              <a:cxnLst/>
              <a:rect l="l" t="t" r="r" b="b"/>
              <a:pathLst>
                <a:path w="10728960" h="134112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1072896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✓ 기록 시간 80% 단축 → 업무 집중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144000" y="7662672"/>
            <a:ext cx="8503920" cy="1005840"/>
            <a:chOff x="0" y="0"/>
            <a:chExt cx="11338560" cy="13411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1338560" cy="1341120"/>
            </a:xfrm>
            <a:custGeom>
              <a:avLst/>
              <a:gdLst/>
              <a:ahLst/>
              <a:cxnLst/>
              <a:rect l="l" t="t" r="r" b="b"/>
              <a:pathLst>
                <a:path w="11338560" h="1341120">
                  <a:moveTo>
                    <a:pt x="0" y="0"/>
                  </a:moveTo>
                  <a:lnTo>
                    <a:pt x="11338560" y="0"/>
                  </a:lnTo>
                  <a:lnTo>
                    <a:pt x="113385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9363456" y="7662672"/>
            <a:ext cx="8046720" cy="1005840"/>
            <a:chOff x="0" y="0"/>
            <a:chExt cx="10728960" cy="13411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728960" cy="1341120"/>
            </a:xfrm>
            <a:custGeom>
              <a:avLst/>
              <a:gdLst/>
              <a:ahLst/>
              <a:cxnLst/>
              <a:rect l="l" t="t" r="r" b="b"/>
              <a:pathLst>
                <a:path w="10728960" h="134112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1072896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✓ 기록 DB 축적 → 패턴 분석·재발 방지</a:t>
              </a:r>
            </a:p>
          </p:txBody>
        </p:sp>
      </p:grpSp>
      <p:grpSp>
        <p:nvGrpSpPr>
          <p:cNvPr id="69" name="Group 1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70" name="Freeform 1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71" name="Group 1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72" name="Freeform 1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73" name="TextBox 1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3차시 | 상담 기록 AI 자동화</a:t>
              </a:r>
            </a:p>
          </p:txBody>
        </p:sp>
      </p:grpSp>
      <p:grpSp>
        <p:nvGrpSpPr>
          <p:cNvPr id="74" name="Group 2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75" name="Freeform 2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76" name="TextBox 2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altLang="ko-KR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0263" y="842543"/>
            <a:ext cx="3500123" cy="537467"/>
            <a:chOff x="0" y="0"/>
            <a:chExt cx="4666831" cy="7166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6869" cy="716661"/>
            </a:xfrm>
            <a:custGeom>
              <a:avLst/>
              <a:gdLst/>
              <a:ahLst/>
              <a:cxnLst/>
              <a:rect l="l" t="t" r="r" b="b"/>
              <a:pathLst>
                <a:path w="4666869" h="716661">
                  <a:moveTo>
                    <a:pt x="0" y="0"/>
                  </a:moveTo>
                  <a:lnTo>
                    <a:pt x="4666869" y="0"/>
                  </a:lnTo>
                  <a:lnTo>
                    <a:pt x="466686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25994C"/>
            </a:solidFill>
            <a:ln w="25400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822960" y="855240"/>
            <a:ext cx="3474720" cy="512064"/>
            <a:chOff x="0" y="0"/>
            <a:chExt cx="4632960" cy="6827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32960" cy="682752"/>
            </a:xfrm>
            <a:custGeom>
              <a:avLst/>
              <a:gdLst/>
              <a:ahLst/>
              <a:cxnLst/>
              <a:rect l="l" t="t" r="r" b="b"/>
              <a:pathLst>
                <a:path w="4632960" h="682752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219" b="-8221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463296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3차시-01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513608"/>
            <a:ext cx="16642080" cy="1316736"/>
            <a:chOff x="0" y="0"/>
            <a:chExt cx="22189440" cy="17556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9439" cy="1755648"/>
            </a:xfrm>
            <a:custGeom>
              <a:avLst/>
              <a:gdLst/>
              <a:ahLst/>
              <a:cxnLst/>
              <a:rect l="l" t="t" r="r" b="b"/>
              <a:pathLst>
                <a:path w="22189439" h="1755648">
                  <a:moveTo>
                    <a:pt x="0" y="0"/>
                  </a:moveTo>
                  <a:lnTo>
                    <a:pt x="22189439" y="0"/>
                  </a:lnTo>
                  <a:lnTo>
                    <a:pt x="221894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269" b="-19626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2189440" cy="1774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상담 기록 AI 자동화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5127" y="2664428"/>
            <a:ext cx="2219963" cy="107699"/>
            <a:chOff x="0" y="0"/>
            <a:chExt cx="2959951" cy="1435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59989" cy="143637"/>
            </a:xfrm>
            <a:custGeom>
              <a:avLst/>
              <a:gdLst/>
              <a:ahLst/>
              <a:cxnLst/>
              <a:rect l="l" t="t" r="r" b="b"/>
              <a:pathLst>
                <a:path w="2959989" h="143637">
                  <a:moveTo>
                    <a:pt x="0" y="0"/>
                  </a:moveTo>
                  <a:lnTo>
                    <a:pt x="2959989" y="0"/>
                  </a:lnTo>
                  <a:lnTo>
                    <a:pt x="2959989" y="143637"/>
                  </a:lnTo>
                  <a:lnTo>
                    <a:pt x="0" y="14363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2960" y="3049800"/>
            <a:ext cx="16642080" cy="548640"/>
            <a:chOff x="0" y="0"/>
            <a:chExt cx="2218944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21894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rimo"/>
                  <a:ea typeface="Arimo"/>
                  <a:cs typeface="Arimo"/>
                  <a:sym typeface="Arimo"/>
                </a:rPr>
                <a:t>AI 요약 → 구조화 기록 → 반복 민원 패턴 분석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6607" y="3153175"/>
            <a:ext cx="8150857" cy="4804153"/>
            <a:chOff x="0" y="0"/>
            <a:chExt cx="10867809" cy="64055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67771" cy="6405499"/>
            </a:xfrm>
            <a:custGeom>
              <a:avLst/>
              <a:gdLst/>
              <a:ahLst/>
              <a:cxnLst/>
              <a:rect l="l" t="t" r="r" b="b"/>
              <a:pathLst>
                <a:path w="10867771" h="6405499">
                  <a:moveTo>
                    <a:pt x="0" y="0"/>
                  </a:moveTo>
                  <a:lnTo>
                    <a:pt x="10867771" y="0"/>
                  </a:lnTo>
                  <a:lnTo>
                    <a:pt x="1086777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10263" y="3146831"/>
            <a:ext cx="135131" cy="4816859"/>
            <a:chOff x="0" y="0"/>
            <a:chExt cx="180175" cy="642247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B45309"/>
            </a:solidFill>
            <a:ln w="25400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152144" y="3397272"/>
            <a:ext cx="7680960" cy="548640"/>
            <a:chOff x="0" y="0"/>
            <a:chExt cx="1024128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📋 AI 상담 요약 4요소 추출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52144" y="4037352"/>
            <a:ext cx="7680960" cy="3730752"/>
            <a:chOff x="0" y="0"/>
            <a:chExt cx="10241280" cy="49743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41280" cy="4974336"/>
            </a:xfrm>
            <a:custGeom>
              <a:avLst/>
              <a:gdLst/>
              <a:ahLst/>
              <a:cxnLst/>
              <a:rect l="l" t="t" r="r" b="b"/>
              <a:pathLst>
                <a:path w="10241280" h="4974336">
                  <a:moveTo>
                    <a:pt x="0" y="0"/>
                  </a:moveTo>
                  <a:lnTo>
                    <a:pt x="10241280" y="0"/>
                  </a:lnTo>
                  <a:lnTo>
                    <a:pt x="1024128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18" r="-1231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024128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① 핵심 문제: 환자가 말한 주요 불만 사항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② 환자 요구: 환자가 원하는 결과·조치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③ 처리 결과: 담당자의 응대 내용·약속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④ 후속 조치: 담당 부서 이관·추적 필요 항목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💡 프롬프트에 4요소 요청 → AI가 자동 분류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29087" y="3153175"/>
            <a:ext cx="8242297" cy="4804153"/>
            <a:chOff x="0" y="0"/>
            <a:chExt cx="10989729" cy="64055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89691" cy="6405499"/>
            </a:xfrm>
            <a:custGeom>
              <a:avLst/>
              <a:gdLst/>
              <a:ahLst/>
              <a:cxnLst/>
              <a:rect l="l" t="t" r="r" b="b"/>
              <a:pathLst>
                <a:path w="10989691" h="6405499">
                  <a:moveTo>
                    <a:pt x="0" y="0"/>
                  </a:moveTo>
                  <a:lnTo>
                    <a:pt x="10989691" y="0"/>
                  </a:lnTo>
                  <a:lnTo>
                    <a:pt x="1098969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222743" y="3146831"/>
            <a:ext cx="135131" cy="4816859"/>
            <a:chOff x="0" y="0"/>
            <a:chExt cx="180175" cy="642247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70AD47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564624" y="3397272"/>
            <a:ext cx="7772400" cy="548640"/>
            <a:chOff x="0" y="0"/>
            <a:chExt cx="1036320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363200" cy="731520"/>
            </a:xfrm>
            <a:custGeom>
              <a:avLst/>
              <a:gdLst/>
              <a:ahLst/>
              <a:cxnLst/>
              <a:rect l="l" t="t" r="r" b="b"/>
              <a:pathLst>
                <a:path w="10363200" h="731520">
                  <a:moveTo>
                    <a:pt x="0" y="0"/>
                  </a:moveTo>
                  <a:lnTo>
                    <a:pt x="10363200" y="0"/>
                  </a:lnTo>
                  <a:lnTo>
                    <a:pt x="1036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038" b="-22603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103632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🔄 음성→텍스트→AI 요약 파이프라인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64624" y="4037352"/>
            <a:ext cx="7772400" cy="3730752"/>
            <a:chOff x="0" y="0"/>
            <a:chExt cx="10363200" cy="497433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363200" cy="4974336"/>
            </a:xfrm>
            <a:custGeom>
              <a:avLst/>
              <a:gdLst/>
              <a:ahLst/>
              <a:cxnLst/>
              <a:rect l="l" t="t" r="r" b="b"/>
              <a:pathLst>
                <a:path w="10363200" h="4974336">
                  <a:moveTo>
                    <a:pt x="0" y="0"/>
                  </a:moveTo>
                  <a:lnTo>
                    <a:pt x="10363200" y="0"/>
                  </a:lnTo>
                  <a:lnTo>
                    <a:pt x="1036320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r="-1158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036320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① 녹음/메모 → Clova Note·Whisper로 텍스트 변환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② 변환 텍스트 → ChatGPT에 요약 요청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③ 개인정보 마스킹 → '환자 A'로 대체 처리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④ 구조화 기록 → EMR 또는 엑셀에 저장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⑤ 반복 패턴 AI 분석 → 개선점 도출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0263" y="8230886"/>
            <a:ext cx="17033243" cy="1227858"/>
            <a:chOff x="0" y="0"/>
            <a:chExt cx="22710991" cy="16371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711029" cy="1637157"/>
            </a:xfrm>
            <a:custGeom>
              <a:avLst/>
              <a:gdLst/>
              <a:ahLst/>
              <a:cxnLst/>
              <a:rect l="l" t="t" r="r" b="b"/>
              <a:pathLst>
                <a:path w="22711029" h="1637157">
                  <a:moveTo>
                    <a:pt x="0" y="0"/>
                  </a:moveTo>
                  <a:lnTo>
                    <a:pt x="22711029" y="0"/>
                  </a:lnTo>
                  <a:lnTo>
                    <a:pt x="22711029" y="1637157"/>
                  </a:lnTo>
                  <a:lnTo>
                    <a:pt x="0" y="1637157"/>
                  </a:lnTo>
                  <a:close/>
                </a:path>
              </a:pathLst>
            </a:custGeom>
            <a:solidFill>
              <a:srgbClr val="FEF2F2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810263" y="8230895"/>
            <a:ext cx="135131" cy="976379"/>
            <a:chOff x="0" y="0"/>
            <a:chExt cx="180175" cy="13018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80213" cy="1301877"/>
            </a:xfrm>
            <a:custGeom>
              <a:avLst/>
              <a:gdLst/>
              <a:ahLst/>
              <a:cxnLst/>
              <a:rect l="l" t="t" r="r" b="b"/>
              <a:pathLst>
                <a:path w="180213" h="1301877">
                  <a:moveTo>
                    <a:pt x="0" y="0"/>
                  </a:moveTo>
                  <a:lnTo>
                    <a:pt x="180213" y="0"/>
                  </a:lnTo>
                  <a:lnTo>
                    <a:pt x="180213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078992" y="8335032"/>
            <a:ext cx="16605504" cy="365760"/>
            <a:chOff x="0" y="0"/>
            <a:chExt cx="22140672" cy="4876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140672" cy="487680"/>
            </a:xfrm>
            <a:custGeom>
              <a:avLst/>
              <a:gdLst/>
              <a:ahLst/>
              <a:cxnLst/>
              <a:rect l="l" t="t" r="r" b="b"/>
              <a:pathLst>
                <a:path w="22140672" h="487680">
                  <a:moveTo>
                    <a:pt x="0" y="0"/>
                  </a:moveTo>
                  <a:lnTo>
                    <a:pt x="22140672" y="0"/>
                  </a:lnTo>
                  <a:lnTo>
                    <a:pt x="22140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4620" b="-83462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22140672" cy="497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⚠️  주의사항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14758" y="8723081"/>
            <a:ext cx="16605504" cy="671808"/>
            <a:chOff x="0" y="0"/>
            <a:chExt cx="22140672" cy="89574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140672" cy="895744"/>
            </a:xfrm>
            <a:custGeom>
              <a:avLst/>
              <a:gdLst/>
              <a:ahLst/>
              <a:cxnLst/>
              <a:rect l="l" t="t" r="r" b="b"/>
              <a:pathLst>
                <a:path w="22140672" h="895744">
                  <a:moveTo>
                    <a:pt x="0" y="0"/>
                  </a:moveTo>
                  <a:lnTo>
                    <a:pt x="22140672" y="0"/>
                  </a:lnTo>
                  <a:lnTo>
                    <a:pt x="22140672" y="895744"/>
                  </a:lnTo>
                  <a:lnTo>
                    <a:pt x="0" y="895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1624" b="-431623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22140672" cy="9052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음성 녹음 전 민원인에게 녹음 고지 필수 — 개인정보보호법 및 병원 내부 규정 준수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AI 요약 결과는 초안 — EMR 공식 기록 전 담당자 검토·수정·승인 절차 거쳐야 함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3차시-01 | 상담 기록 AI 자동화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53" name="AutoShape 53"/>
          <p:cNvSpPr/>
          <p:nvPr/>
        </p:nvSpPr>
        <p:spPr>
          <a:xfrm rot="6540">
            <a:off x="-792166" y="836190"/>
            <a:ext cx="6705552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315200" cy="10287000"/>
            <a:chOff x="0" y="0"/>
            <a:chExt cx="97536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53600" cy="13716000"/>
            </a:xfrm>
            <a:custGeom>
              <a:avLst/>
              <a:gdLst/>
              <a:ahLst/>
              <a:cxnLst/>
              <a:rect l="l" t="t" r="r" b="b"/>
              <a:pathLst>
                <a:path w="9753600" h="13716000">
                  <a:moveTo>
                    <a:pt x="0" y="0"/>
                  </a:moveTo>
                  <a:lnTo>
                    <a:pt x="9753600" y="0"/>
                  </a:lnTo>
                  <a:lnTo>
                    <a:pt x="9753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45920" y="1280160"/>
            <a:ext cx="4023360" cy="4023360"/>
            <a:chOff x="0" y="0"/>
            <a:chExt cx="5364480" cy="53644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64480" cy="5364480"/>
            </a:xfrm>
            <a:custGeom>
              <a:avLst/>
              <a:gdLst/>
              <a:ahLst/>
              <a:cxnLst/>
              <a:rect l="l" t="t" r="r" b="b"/>
              <a:pathLst>
                <a:path w="5364480" h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568"/>
                    <a:pt x="0" y="2682240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37360" y="1554480"/>
            <a:ext cx="3840480" cy="3474720"/>
            <a:chOff x="0" y="0"/>
            <a:chExt cx="5120640" cy="46329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20640" cy="4632960"/>
            </a:xfrm>
            <a:custGeom>
              <a:avLst/>
              <a:gdLst/>
              <a:ahLst/>
              <a:cxnLst/>
              <a:rect l="l" t="t" r="r" b="b"/>
              <a:pathLst>
                <a:path w="5120640" h="4632960">
                  <a:moveTo>
                    <a:pt x="0" y="0"/>
                  </a:moveTo>
                  <a:lnTo>
                    <a:pt x="5120640" y="0"/>
                  </a:lnTo>
                  <a:lnTo>
                    <a:pt x="5120640" y="4632960"/>
                  </a:lnTo>
                  <a:lnTo>
                    <a:pt x="0" y="463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r="-6608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247650"/>
              <a:ext cx="5120640" cy="4880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879"/>
                </a:lnSpc>
              </a:pPr>
              <a:r>
                <a:rPr lang="en-US" sz="12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🎙️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65760" y="5669280"/>
            <a:ext cx="6583680" cy="1005840"/>
            <a:chOff x="0" y="0"/>
            <a:chExt cx="8778240" cy="1341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778240" cy="1341120"/>
            </a:xfrm>
            <a:custGeom>
              <a:avLst/>
              <a:gdLst/>
              <a:ahLst/>
              <a:cxnLst/>
              <a:rect l="l" t="t" r="r" b="b"/>
              <a:pathLst>
                <a:path w="8778240" h="1341120">
                  <a:moveTo>
                    <a:pt x="0" y="0"/>
                  </a:moveTo>
                  <a:lnTo>
                    <a:pt x="8778240" y="0"/>
                  </a:lnTo>
                  <a:lnTo>
                    <a:pt x="87782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538" b="-7753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77824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Clova Note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65760" y="6675120"/>
            <a:ext cx="6583680" cy="822960"/>
            <a:chOff x="0" y="0"/>
            <a:chExt cx="8778240" cy="10972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778240" cy="1097280"/>
            </a:xfrm>
            <a:custGeom>
              <a:avLst/>
              <a:gdLst/>
              <a:ahLst/>
              <a:cxnLst/>
              <a:rect l="l" t="t" r="r" b="b"/>
              <a:pathLst>
                <a:path w="8778240" h="109728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8778240" cy="11258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D4F5E2"/>
                  </a:solidFill>
                  <a:latin typeface="Arial"/>
                  <a:ea typeface="Arial"/>
                  <a:cs typeface="Arial"/>
                  <a:sym typeface="Arial"/>
                </a:rPr>
                <a:t>클로바노트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65760" y="7589520"/>
            <a:ext cx="6583680" cy="640080"/>
            <a:chOff x="0" y="0"/>
            <a:chExt cx="8778240" cy="8534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78240" cy="853440"/>
            </a:xfrm>
            <a:custGeom>
              <a:avLst/>
              <a:gdLst/>
              <a:ahLst/>
              <a:cxnLst/>
              <a:rect l="l" t="t" r="r" b="b"/>
              <a:pathLst>
                <a:path w="8778240" h="853440">
                  <a:moveTo>
                    <a:pt x="0" y="0"/>
                  </a:moveTo>
                  <a:lnTo>
                    <a:pt x="8778240" y="0"/>
                  </a:lnTo>
                  <a:lnTo>
                    <a:pt x="8778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0417" b="-15041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8778240" cy="872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A8E6C3"/>
                  </a:solidFill>
                  <a:latin typeface="Arial"/>
                  <a:ea typeface="Arial"/>
                  <a:cs typeface="Arial"/>
                  <a:sym typeface="Arial"/>
                </a:rPr>
                <a:t>by NAVER  |  무료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8640" y="8207759"/>
            <a:ext cx="6217920" cy="1097280"/>
            <a:chOff x="0" y="0"/>
            <a:chExt cx="8290560" cy="14630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90560" cy="1463040"/>
            </a:xfrm>
            <a:custGeom>
              <a:avLst/>
              <a:gdLst/>
              <a:ahLst/>
              <a:cxnLst/>
              <a:rect l="l" t="t" r="r" b="b"/>
              <a:pathLst>
                <a:path w="8290560" h="14630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8095488" y="0"/>
                  </a:lnTo>
                  <a:cubicBezTo>
                    <a:pt x="8203184" y="0"/>
                    <a:pt x="8290560" y="87376"/>
                    <a:pt x="8290560" y="195072"/>
                  </a:cubicBezTo>
                  <a:lnTo>
                    <a:pt x="8290560" y="1267968"/>
                  </a:lnTo>
                  <a:cubicBezTo>
                    <a:pt x="8290560" y="1375664"/>
                    <a:pt x="8203184" y="1463040"/>
                    <a:pt x="8095488" y="1463040"/>
                  </a:cubicBezTo>
                  <a:lnTo>
                    <a:pt x="195072" y="1463040"/>
                  </a:lnTo>
                  <a:cubicBezTo>
                    <a:pt x="87376" y="1463040"/>
                    <a:pt x="0" y="1375664"/>
                    <a:pt x="0" y="1267968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548640" y="8207759"/>
            <a:ext cx="6217920" cy="1097280"/>
            <a:chOff x="0" y="0"/>
            <a:chExt cx="8290560" cy="14630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90560" cy="1463040"/>
            </a:xfrm>
            <a:custGeom>
              <a:avLst/>
              <a:gdLst/>
              <a:ahLst/>
              <a:cxnLst/>
              <a:rect l="l" t="t" r="r" b="b"/>
              <a:pathLst>
                <a:path w="8290560" h="1463040">
                  <a:moveTo>
                    <a:pt x="0" y="0"/>
                  </a:moveTo>
                  <a:lnTo>
                    <a:pt x="8290560" y="0"/>
                  </a:lnTo>
                  <a:lnTo>
                    <a:pt x="8290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415" b="-6041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829056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D1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앱스토어 검색: 클로바노트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80960" y="457200"/>
            <a:ext cx="2560320" cy="694944"/>
            <a:chOff x="0" y="0"/>
            <a:chExt cx="3413760" cy="9265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413760" cy="926592"/>
            </a:xfrm>
            <a:custGeom>
              <a:avLst/>
              <a:gdLst/>
              <a:ahLst/>
              <a:cxnLst/>
              <a:rect l="l" t="t" r="r" b="b"/>
              <a:pathLst>
                <a:path w="3413760" h="9265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267456" y="0"/>
                  </a:lnTo>
                  <a:cubicBezTo>
                    <a:pt x="3348228" y="0"/>
                    <a:pt x="3413760" y="65532"/>
                    <a:pt x="3413760" y="146304"/>
                  </a:cubicBezTo>
                  <a:lnTo>
                    <a:pt x="3413760" y="780288"/>
                  </a:lnTo>
                  <a:cubicBezTo>
                    <a:pt x="3413760" y="861060"/>
                    <a:pt x="3348228" y="926592"/>
                    <a:pt x="3267456" y="926592"/>
                  </a:cubicBezTo>
                  <a:lnTo>
                    <a:pt x="146304" y="926592"/>
                  </a:lnTo>
                  <a:cubicBezTo>
                    <a:pt x="65532" y="926592"/>
                    <a:pt x="0" y="861060"/>
                    <a:pt x="0" y="780288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7680960" y="457200"/>
            <a:ext cx="2560320" cy="694944"/>
            <a:chOff x="0" y="0"/>
            <a:chExt cx="3413760" cy="9265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413760" cy="926592"/>
            </a:xfrm>
            <a:custGeom>
              <a:avLst/>
              <a:gdLst/>
              <a:ahLst/>
              <a:cxnLst/>
              <a:rect l="l" t="t" r="r" b="b"/>
              <a:pathLst>
                <a:path w="3413760" h="926592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786" b="-21786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3413760" cy="9456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0D1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실습 도구 ①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589520" y="1297686"/>
            <a:ext cx="10241280" cy="184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D1B2E"/>
                </a:solidFill>
                <a:latin typeface="Arial Bold"/>
                <a:ea typeface="Arial Bold"/>
                <a:cs typeface="Arial Bold"/>
                <a:sym typeface="Arial Bold"/>
              </a:rPr>
              <a:t>음성을 텍스트로</a:t>
            </a:r>
          </a:p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D1B2E"/>
                </a:solidFill>
                <a:latin typeface="Arial Bold"/>
                <a:ea typeface="Arial Bold"/>
                <a:cs typeface="Arial Bold"/>
                <a:sym typeface="Arial Bold"/>
              </a:rPr>
              <a:t>자동 변환하는 AI 메모 앱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564117" y="3229861"/>
            <a:ext cx="10200637" cy="50797"/>
            <a:chOff x="0" y="0"/>
            <a:chExt cx="13600849" cy="6772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600812" cy="67691"/>
            </a:xfrm>
            <a:custGeom>
              <a:avLst/>
              <a:gdLst/>
              <a:ahLst/>
              <a:cxnLst/>
              <a:rect l="l" t="t" r="r" b="b"/>
              <a:pathLst>
                <a:path w="13600812" h="67691">
                  <a:moveTo>
                    <a:pt x="0" y="0"/>
                  </a:moveTo>
                  <a:lnTo>
                    <a:pt x="13600812" y="676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3865013" b="-3865069"/>
              </a:stretch>
            </a:blipFill>
            <a:ln w="50800" cap="sq">
              <a:solidFill>
                <a:srgbClr val="03A353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7570470" y="3547110"/>
            <a:ext cx="3238500" cy="2872740"/>
            <a:chOff x="0" y="0"/>
            <a:chExt cx="4318000" cy="38303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318000" cy="3830320"/>
            </a:xfrm>
            <a:custGeom>
              <a:avLst/>
              <a:gdLst/>
              <a:ahLst/>
              <a:cxnLst/>
              <a:rect l="l" t="t" r="r" b="b"/>
              <a:pathLst>
                <a:path w="4318000" h="3830320">
                  <a:moveTo>
                    <a:pt x="0" y="247142"/>
                  </a:moveTo>
                  <a:cubicBezTo>
                    <a:pt x="0" y="110617"/>
                    <a:pt x="110617" y="0"/>
                    <a:pt x="247142" y="0"/>
                  </a:cubicBezTo>
                  <a:lnTo>
                    <a:pt x="4070858" y="0"/>
                  </a:lnTo>
                  <a:cubicBezTo>
                    <a:pt x="4207383" y="0"/>
                    <a:pt x="4318000" y="110617"/>
                    <a:pt x="4318000" y="247142"/>
                  </a:cubicBezTo>
                  <a:lnTo>
                    <a:pt x="4318000" y="3583178"/>
                  </a:lnTo>
                  <a:cubicBezTo>
                    <a:pt x="4318000" y="3719703"/>
                    <a:pt x="4207383" y="3830320"/>
                    <a:pt x="4070858" y="3830320"/>
                  </a:cubicBezTo>
                  <a:lnTo>
                    <a:pt x="247142" y="3830320"/>
                  </a:lnTo>
                  <a:cubicBezTo>
                    <a:pt x="110617" y="3830320"/>
                    <a:pt x="0" y="3719703"/>
                    <a:pt x="0" y="3583178"/>
                  </a:cubicBezTo>
                  <a:close/>
                </a:path>
              </a:pathLst>
            </a:custGeom>
            <a:solidFill>
              <a:srgbClr val="E8F8F0"/>
            </a:solidFill>
            <a:ln w="38100" cap="sq">
              <a:solidFill>
                <a:srgbClr val="03A353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589520" y="3621024"/>
            <a:ext cx="3200400" cy="1005840"/>
            <a:chOff x="0" y="0"/>
            <a:chExt cx="4267200" cy="13411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267200" cy="1341120"/>
            </a:xfrm>
            <a:custGeom>
              <a:avLst/>
              <a:gdLst/>
              <a:ahLst/>
              <a:cxnLst/>
              <a:rect l="l" t="t" r="r" b="b"/>
              <a:pathLst>
                <a:path w="4267200" h="1341120">
                  <a:moveTo>
                    <a:pt x="0" y="0"/>
                  </a:moveTo>
                  <a:lnTo>
                    <a:pt x="4267200" y="0"/>
                  </a:lnTo>
                  <a:lnTo>
                    <a:pt x="426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997" b="-11997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04775"/>
              <a:ext cx="4267200" cy="14458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🗣️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80960" y="4663440"/>
            <a:ext cx="3017520" cy="694944"/>
            <a:chOff x="0" y="0"/>
            <a:chExt cx="4023360" cy="9265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023360" cy="926592"/>
            </a:xfrm>
            <a:custGeom>
              <a:avLst/>
              <a:gdLst/>
              <a:ahLst/>
              <a:cxnLst/>
              <a:rect l="l" t="t" r="r" b="b"/>
              <a:pathLst>
                <a:path w="4023360" h="926592">
                  <a:moveTo>
                    <a:pt x="0" y="0"/>
                  </a:moveTo>
                  <a:lnTo>
                    <a:pt x="4023360" y="0"/>
                  </a:lnTo>
                  <a:lnTo>
                    <a:pt x="4023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606" b="-34606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40233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D1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음성 → 텍스트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80960" y="5358384"/>
            <a:ext cx="3017520" cy="950976"/>
            <a:chOff x="0" y="0"/>
            <a:chExt cx="4023360" cy="126796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023360" cy="1267968"/>
            </a:xfrm>
            <a:custGeom>
              <a:avLst/>
              <a:gdLst/>
              <a:ahLst/>
              <a:cxnLst/>
              <a:rect l="l" t="t" r="r" b="b"/>
              <a:pathLst>
                <a:path w="4023360" h="1267968">
                  <a:moveTo>
                    <a:pt x="0" y="0"/>
                  </a:moveTo>
                  <a:lnTo>
                    <a:pt x="4023360" y="0"/>
                  </a:lnTo>
                  <a:lnTo>
                    <a:pt x="4023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827" b="-1182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4023360" cy="12870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말하면 자동으로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텍스트 변환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045190" y="3547110"/>
            <a:ext cx="3238500" cy="2872740"/>
            <a:chOff x="0" y="0"/>
            <a:chExt cx="4318000" cy="38303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318000" cy="3830320"/>
            </a:xfrm>
            <a:custGeom>
              <a:avLst/>
              <a:gdLst/>
              <a:ahLst/>
              <a:cxnLst/>
              <a:rect l="l" t="t" r="r" b="b"/>
              <a:pathLst>
                <a:path w="4318000" h="3830320">
                  <a:moveTo>
                    <a:pt x="0" y="247142"/>
                  </a:moveTo>
                  <a:cubicBezTo>
                    <a:pt x="0" y="110617"/>
                    <a:pt x="110617" y="0"/>
                    <a:pt x="247142" y="0"/>
                  </a:cubicBezTo>
                  <a:lnTo>
                    <a:pt x="4070858" y="0"/>
                  </a:lnTo>
                  <a:cubicBezTo>
                    <a:pt x="4207383" y="0"/>
                    <a:pt x="4318000" y="110617"/>
                    <a:pt x="4318000" y="247142"/>
                  </a:cubicBezTo>
                  <a:lnTo>
                    <a:pt x="4318000" y="3583178"/>
                  </a:lnTo>
                  <a:cubicBezTo>
                    <a:pt x="4318000" y="3719703"/>
                    <a:pt x="4207383" y="3830320"/>
                    <a:pt x="4070858" y="3830320"/>
                  </a:cubicBezTo>
                  <a:lnTo>
                    <a:pt x="247142" y="3830320"/>
                  </a:lnTo>
                  <a:cubicBezTo>
                    <a:pt x="110617" y="3830320"/>
                    <a:pt x="0" y="3719703"/>
                    <a:pt x="0" y="3583178"/>
                  </a:cubicBezTo>
                  <a:close/>
                </a:path>
              </a:pathLst>
            </a:custGeom>
            <a:solidFill>
              <a:srgbClr val="E8F4FB"/>
            </a:solidFill>
            <a:ln w="38100" cap="sq">
              <a:solidFill>
                <a:srgbClr val="00C8E8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1064240" y="3621024"/>
            <a:ext cx="3200400" cy="1005840"/>
            <a:chOff x="0" y="0"/>
            <a:chExt cx="4267200" cy="13411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267200" cy="1341120"/>
            </a:xfrm>
            <a:custGeom>
              <a:avLst/>
              <a:gdLst/>
              <a:ahLst/>
              <a:cxnLst/>
              <a:rect l="l" t="t" r="r" b="b"/>
              <a:pathLst>
                <a:path w="4267200" h="1341120">
                  <a:moveTo>
                    <a:pt x="0" y="0"/>
                  </a:moveTo>
                  <a:lnTo>
                    <a:pt x="4267200" y="0"/>
                  </a:lnTo>
                  <a:lnTo>
                    <a:pt x="426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997" b="-11997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04775"/>
              <a:ext cx="4267200" cy="14458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👥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155680" y="4663440"/>
            <a:ext cx="3017520" cy="694944"/>
            <a:chOff x="0" y="0"/>
            <a:chExt cx="4023360" cy="92659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023360" cy="926592"/>
            </a:xfrm>
            <a:custGeom>
              <a:avLst/>
              <a:gdLst/>
              <a:ahLst/>
              <a:cxnLst/>
              <a:rect l="l" t="t" r="r" b="b"/>
              <a:pathLst>
                <a:path w="4023360" h="926592">
                  <a:moveTo>
                    <a:pt x="0" y="0"/>
                  </a:moveTo>
                  <a:lnTo>
                    <a:pt x="4023360" y="0"/>
                  </a:lnTo>
                  <a:lnTo>
                    <a:pt x="4023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606" b="-3460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40233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D1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화자 분리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155680" y="5358384"/>
            <a:ext cx="3017520" cy="950976"/>
            <a:chOff x="0" y="0"/>
            <a:chExt cx="4023360" cy="126796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023360" cy="1267968"/>
            </a:xfrm>
            <a:custGeom>
              <a:avLst/>
              <a:gdLst/>
              <a:ahLst/>
              <a:cxnLst/>
              <a:rect l="l" t="t" r="r" b="b"/>
              <a:pathLst>
                <a:path w="4023360" h="1267968">
                  <a:moveTo>
                    <a:pt x="0" y="0"/>
                  </a:moveTo>
                  <a:lnTo>
                    <a:pt x="4023360" y="0"/>
                  </a:lnTo>
                  <a:lnTo>
                    <a:pt x="4023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827" b="-11827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4023360" cy="12870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누가 말했는지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자동으로 구분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4519910" y="3547110"/>
            <a:ext cx="3238500" cy="2872740"/>
            <a:chOff x="0" y="0"/>
            <a:chExt cx="4318000" cy="38303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318000" cy="3830320"/>
            </a:xfrm>
            <a:custGeom>
              <a:avLst/>
              <a:gdLst/>
              <a:ahLst/>
              <a:cxnLst/>
              <a:rect l="l" t="t" r="r" b="b"/>
              <a:pathLst>
                <a:path w="4318000" h="3830320">
                  <a:moveTo>
                    <a:pt x="0" y="247142"/>
                  </a:moveTo>
                  <a:cubicBezTo>
                    <a:pt x="0" y="110617"/>
                    <a:pt x="110617" y="0"/>
                    <a:pt x="247142" y="0"/>
                  </a:cubicBezTo>
                  <a:lnTo>
                    <a:pt x="4070858" y="0"/>
                  </a:lnTo>
                  <a:cubicBezTo>
                    <a:pt x="4207383" y="0"/>
                    <a:pt x="4318000" y="110617"/>
                    <a:pt x="4318000" y="247142"/>
                  </a:cubicBezTo>
                  <a:lnTo>
                    <a:pt x="4318000" y="3583178"/>
                  </a:lnTo>
                  <a:cubicBezTo>
                    <a:pt x="4318000" y="3719703"/>
                    <a:pt x="4207383" y="3830320"/>
                    <a:pt x="4070858" y="3830320"/>
                  </a:cubicBezTo>
                  <a:lnTo>
                    <a:pt x="247142" y="3830320"/>
                  </a:lnTo>
                  <a:cubicBezTo>
                    <a:pt x="110617" y="3830320"/>
                    <a:pt x="0" y="3719703"/>
                    <a:pt x="0" y="3583178"/>
                  </a:cubicBezTo>
                  <a:close/>
                </a:path>
              </a:pathLst>
            </a:custGeom>
            <a:solidFill>
              <a:srgbClr val="FFF8E8"/>
            </a:solidFill>
            <a:ln w="38100" cap="sq">
              <a:solidFill>
                <a:srgbClr val="C9A84C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14538960" y="3621024"/>
            <a:ext cx="3200400" cy="1005840"/>
            <a:chOff x="0" y="0"/>
            <a:chExt cx="4267200" cy="13411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267200" cy="1341120"/>
            </a:xfrm>
            <a:custGeom>
              <a:avLst/>
              <a:gdLst/>
              <a:ahLst/>
              <a:cxnLst/>
              <a:rect l="l" t="t" r="r" b="b"/>
              <a:pathLst>
                <a:path w="4267200" h="1341120">
                  <a:moveTo>
                    <a:pt x="0" y="0"/>
                  </a:moveTo>
                  <a:lnTo>
                    <a:pt x="4267200" y="0"/>
                  </a:lnTo>
                  <a:lnTo>
                    <a:pt x="426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997" b="-11997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104775"/>
              <a:ext cx="4267200" cy="14458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630400" y="4663440"/>
            <a:ext cx="3017520" cy="694944"/>
            <a:chOff x="0" y="0"/>
            <a:chExt cx="4023360" cy="92659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023360" cy="926592"/>
            </a:xfrm>
            <a:custGeom>
              <a:avLst/>
              <a:gdLst/>
              <a:ahLst/>
              <a:cxnLst/>
              <a:rect l="l" t="t" r="r" b="b"/>
              <a:pathLst>
                <a:path w="4023360" h="926592">
                  <a:moveTo>
                    <a:pt x="0" y="0"/>
                  </a:moveTo>
                  <a:lnTo>
                    <a:pt x="4023360" y="0"/>
                  </a:lnTo>
                  <a:lnTo>
                    <a:pt x="4023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606" b="-34606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40233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D1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자동 요약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4630400" y="5358384"/>
            <a:ext cx="3017520" cy="950976"/>
            <a:chOff x="0" y="0"/>
            <a:chExt cx="4023360" cy="126796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023360" cy="1267968"/>
            </a:xfrm>
            <a:custGeom>
              <a:avLst/>
              <a:gdLst/>
              <a:ahLst/>
              <a:cxnLst/>
              <a:rect l="l" t="t" r="r" b="b"/>
              <a:pathLst>
                <a:path w="4023360" h="1267968">
                  <a:moveTo>
                    <a:pt x="0" y="0"/>
                  </a:moveTo>
                  <a:lnTo>
                    <a:pt x="4023360" y="0"/>
                  </a:lnTo>
                  <a:lnTo>
                    <a:pt x="4023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827" b="-11827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4023360" cy="12870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핵심 내용을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AI가 정리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606571" y="6822439"/>
            <a:ext cx="3017520" cy="1005840"/>
            <a:chOff x="0" y="0"/>
            <a:chExt cx="4023360" cy="13411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023360" cy="1341120"/>
            </a:xfrm>
            <a:custGeom>
              <a:avLst/>
              <a:gdLst/>
              <a:ahLst/>
              <a:cxnLst/>
              <a:rect l="l" t="t" r="r" b="b"/>
              <a:pathLst>
                <a:path w="4023360" h="134112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3852672" y="0"/>
                  </a:lnTo>
                  <a:cubicBezTo>
                    <a:pt x="3946906" y="0"/>
                    <a:pt x="4023360" y="76454"/>
                    <a:pt x="4023360" y="170688"/>
                  </a:cubicBezTo>
                  <a:lnTo>
                    <a:pt x="4023360" y="1170432"/>
                  </a:lnTo>
                  <a:cubicBezTo>
                    <a:pt x="4023360" y="1264666"/>
                    <a:pt x="3946906" y="1341120"/>
                    <a:pt x="3852672" y="1341120"/>
                  </a:cubicBezTo>
                  <a:lnTo>
                    <a:pt x="170688" y="1341120"/>
                  </a:lnTo>
                  <a:cubicBezTo>
                    <a:pt x="76454" y="1341120"/>
                    <a:pt x="0" y="1264666"/>
                    <a:pt x="0" y="1170432"/>
                  </a:cubicBezTo>
                  <a:close/>
                </a:path>
              </a:pathLst>
            </a:custGeom>
            <a:solidFill>
              <a:srgbClr val="03A353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7606571" y="6822439"/>
            <a:ext cx="3017520" cy="1005840"/>
            <a:chOff x="0" y="0"/>
            <a:chExt cx="4023360" cy="13411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023360" cy="1341120"/>
            </a:xfrm>
            <a:custGeom>
              <a:avLst/>
              <a:gdLst/>
              <a:ahLst/>
              <a:cxnLst/>
              <a:rect l="l" t="t" r="r" b="b"/>
              <a:pathLst>
                <a:path w="4023360" h="134112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9525"/>
              <a:ext cx="402336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① 상담 녹음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624091" y="6913879"/>
            <a:ext cx="402336" cy="822960"/>
            <a:chOff x="0" y="0"/>
            <a:chExt cx="536448" cy="109728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36448" cy="1097280"/>
            </a:xfrm>
            <a:custGeom>
              <a:avLst/>
              <a:gdLst/>
              <a:ahLst/>
              <a:cxnLst/>
              <a:rect l="l" t="t" r="r" b="b"/>
              <a:pathLst>
                <a:path w="536448" h="1097280">
                  <a:moveTo>
                    <a:pt x="0" y="0"/>
                  </a:moveTo>
                  <a:lnTo>
                    <a:pt x="536448" y="0"/>
                  </a:lnTo>
                  <a:lnTo>
                    <a:pt x="53644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439" r="-212439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28575"/>
              <a:ext cx="536448" cy="11258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AAAAA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1026427" y="6822439"/>
            <a:ext cx="3017520" cy="1005840"/>
            <a:chOff x="0" y="0"/>
            <a:chExt cx="4023360" cy="134112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023360" cy="1341120"/>
            </a:xfrm>
            <a:custGeom>
              <a:avLst/>
              <a:gdLst/>
              <a:ahLst/>
              <a:cxnLst/>
              <a:rect l="l" t="t" r="r" b="b"/>
              <a:pathLst>
                <a:path w="4023360" h="134112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3852672" y="0"/>
                  </a:lnTo>
                  <a:cubicBezTo>
                    <a:pt x="3946906" y="0"/>
                    <a:pt x="4023360" y="76454"/>
                    <a:pt x="4023360" y="170688"/>
                  </a:cubicBezTo>
                  <a:lnTo>
                    <a:pt x="4023360" y="1170432"/>
                  </a:lnTo>
                  <a:cubicBezTo>
                    <a:pt x="4023360" y="1264666"/>
                    <a:pt x="3946906" y="1341120"/>
                    <a:pt x="3852672" y="1341120"/>
                  </a:cubicBezTo>
                  <a:lnTo>
                    <a:pt x="170688" y="1341120"/>
                  </a:lnTo>
                  <a:cubicBezTo>
                    <a:pt x="76454" y="1341120"/>
                    <a:pt x="0" y="1264666"/>
                    <a:pt x="0" y="1170432"/>
                  </a:cubicBezTo>
                  <a:close/>
                </a:path>
              </a:pathLst>
            </a:custGeom>
            <a:solidFill>
              <a:srgbClr val="00A8A8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11026427" y="6822439"/>
            <a:ext cx="3017520" cy="1005840"/>
            <a:chOff x="0" y="0"/>
            <a:chExt cx="4023360" cy="13411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023360" cy="1341120"/>
            </a:xfrm>
            <a:custGeom>
              <a:avLst/>
              <a:gdLst/>
              <a:ahLst/>
              <a:cxnLst/>
              <a:rect l="l" t="t" r="r" b="b"/>
              <a:pathLst>
                <a:path w="4023360" h="134112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9525"/>
              <a:ext cx="402336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② 텍스트 변환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4043947" y="6913879"/>
            <a:ext cx="402336" cy="822960"/>
            <a:chOff x="0" y="0"/>
            <a:chExt cx="536448" cy="109728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36448" cy="1097280"/>
            </a:xfrm>
            <a:custGeom>
              <a:avLst/>
              <a:gdLst/>
              <a:ahLst/>
              <a:cxnLst/>
              <a:rect l="l" t="t" r="r" b="b"/>
              <a:pathLst>
                <a:path w="536448" h="1097280">
                  <a:moveTo>
                    <a:pt x="0" y="0"/>
                  </a:moveTo>
                  <a:lnTo>
                    <a:pt x="536448" y="0"/>
                  </a:lnTo>
                  <a:lnTo>
                    <a:pt x="53644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439" r="-212439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28575"/>
              <a:ext cx="536448" cy="11258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AAAAA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4446283" y="6822439"/>
            <a:ext cx="3017520" cy="1005840"/>
            <a:chOff x="0" y="0"/>
            <a:chExt cx="4023360" cy="134112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023360" cy="1341120"/>
            </a:xfrm>
            <a:custGeom>
              <a:avLst/>
              <a:gdLst/>
              <a:ahLst/>
              <a:cxnLst/>
              <a:rect l="l" t="t" r="r" b="b"/>
              <a:pathLst>
                <a:path w="4023360" h="134112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3852672" y="0"/>
                  </a:lnTo>
                  <a:cubicBezTo>
                    <a:pt x="3946906" y="0"/>
                    <a:pt x="4023360" y="76454"/>
                    <a:pt x="4023360" y="170688"/>
                  </a:cubicBezTo>
                  <a:lnTo>
                    <a:pt x="4023360" y="1170432"/>
                  </a:lnTo>
                  <a:cubicBezTo>
                    <a:pt x="4023360" y="1264666"/>
                    <a:pt x="3946906" y="1341120"/>
                    <a:pt x="3852672" y="1341120"/>
                  </a:cubicBezTo>
                  <a:lnTo>
                    <a:pt x="170688" y="1341120"/>
                  </a:lnTo>
                  <a:cubicBezTo>
                    <a:pt x="76454" y="1341120"/>
                    <a:pt x="0" y="1264666"/>
                    <a:pt x="0" y="1170432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14446283" y="6822439"/>
            <a:ext cx="3017520" cy="1005840"/>
            <a:chOff x="0" y="0"/>
            <a:chExt cx="4023360" cy="134112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023360" cy="1341120"/>
            </a:xfrm>
            <a:custGeom>
              <a:avLst/>
              <a:gdLst/>
              <a:ahLst/>
              <a:cxnLst/>
              <a:rect l="l" t="t" r="r" b="b"/>
              <a:pathLst>
                <a:path w="4023360" h="134112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9525"/>
              <a:ext cx="402336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③ ChatGPT 요약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7593874" y="8035038"/>
            <a:ext cx="10266683" cy="939803"/>
            <a:chOff x="0" y="0"/>
            <a:chExt cx="13688911" cy="1253071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3688949" cy="1253109"/>
            </a:xfrm>
            <a:custGeom>
              <a:avLst/>
              <a:gdLst/>
              <a:ahLst/>
              <a:cxnLst/>
              <a:rect l="l" t="t" r="r" b="b"/>
              <a:pathLst>
                <a:path w="13688949" h="1253109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13538581" y="0"/>
                  </a:lnTo>
                  <a:cubicBezTo>
                    <a:pt x="13621640" y="0"/>
                    <a:pt x="13688949" y="67310"/>
                    <a:pt x="13688949" y="150368"/>
                  </a:cubicBezTo>
                  <a:lnTo>
                    <a:pt x="13688949" y="1102741"/>
                  </a:lnTo>
                  <a:cubicBezTo>
                    <a:pt x="13688949" y="1185799"/>
                    <a:pt x="13621640" y="1253109"/>
                    <a:pt x="13538581" y="1253109"/>
                  </a:cubicBezTo>
                  <a:lnTo>
                    <a:pt x="150368" y="1253109"/>
                  </a:lnTo>
                  <a:cubicBezTo>
                    <a:pt x="67310" y="1253109"/>
                    <a:pt x="0" y="1185799"/>
                    <a:pt x="0" y="1102741"/>
                  </a:cubicBezTo>
                  <a:close/>
                </a:path>
              </a:pathLst>
            </a:custGeom>
            <a:solidFill>
              <a:srgbClr val="FFF3F3"/>
            </a:solidFill>
            <a:ln w="25400" cap="sq">
              <a:solidFill>
                <a:srgbClr val="E53E3E"/>
              </a:solidFill>
              <a:prstDash val="solid"/>
              <a:miter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7698011" y="8047735"/>
            <a:ext cx="10058400" cy="914400"/>
            <a:chOff x="0" y="0"/>
            <a:chExt cx="13411200" cy="12192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3411200" cy="1219200"/>
            </a:xfrm>
            <a:custGeom>
              <a:avLst/>
              <a:gdLst/>
              <a:ahLst/>
              <a:cxnLst/>
              <a:rect l="l" t="t" r="r" b="b"/>
              <a:pathLst>
                <a:path w="13411200" h="1219200">
                  <a:moveTo>
                    <a:pt x="0" y="0"/>
                  </a:moveTo>
                  <a:lnTo>
                    <a:pt x="13411200" y="0"/>
                  </a:lnTo>
                  <a:lnTo>
                    <a:pt x="13411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9525"/>
              <a:ext cx="13411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0392B"/>
                  </a:solidFill>
                  <a:latin typeface="Arial"/>
                  <a:ea typeface="Arial"/>
                  <a:cs typeface="Arial"/>
                  <a:sym typeface="Arial"/>
                </a:rPr>
                <a:t>⚠  녹음 전 민원인에게 반드시 고지  |  변환 결과는 담당자가 검토 후 사용  |  개인정보 마스킹 원칙</a:t>
              </a:r>
            </a:p>
          </p:txBody>
        </p:sp>
      </p:grpSp>
      <p:grpSp>
        <p:nvGrpSpPr>
          <p:cNvPr id="90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91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92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93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94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3차시-01 | 상담 기록 AI 자동화</a:t>
              </a:r>
            </a:p>
          </p:txBody>
        </p:sp>
      </p:grpSp>
      <p:grpSp>
        <p:nvGrpSpPr>
          <p:cNvPr id="95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96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97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음성 → 텍스트 → AI 요약 파이프라인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31520" y="2011680"/>
            <a:ext cx="3840480" cy="4754880"/>
            <a:chOff x="0" y="0"/>
            <a:chExt cx="5120640" cy="63398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20640" cy="6339840"/>
            </a:xfrm>
            <a:custGeom>
              <a:avLst/>
              <a:gdLst/>
              <a:ahLst/>
              <a:cxnLst/>
              <a:rect l="l" t="t" r="r" b="b"/>
              <a:pathLst>
                <a:path w="5120640" h="6339840">
                  <a:moveTo>
                    <a:pt x="0" y="0"/>
                  </a:moveTo>
                  <a:lnTo>
                    <a:pt x="5120640" y="0"/>
                  </a:lnTo>
                  <a:lnTo>
                    <a:pt x="512064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31520" y="2011680"/>
            <a:ext cx="3840480" cy="822960"/>
            <a:chOff x="0" y="0"/>
            <a:chExt cx="5120640" cy="10972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31520" y="2011680"/>
            <a:ext cx="3840480" cy="822960"/>
            <a:chOff x="0" y="0"/>
            <a:chExt cx="5120640" cy="10972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512064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31520" y="2926080"/>
            <a:ext cx="3840480" cy="1097280"/>
            <a:chOff x="0" y="0"/>
            <a:chExt cx="5120640" cy="14630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20640" cy="1463040"/>
            </a:xfrm>
            <a:custGeom>
              <a:avLst/>
              <a:gdLst/>
              <a:ahLst/>
              <a:cxnLst/>
              <a:rect l="l" t="t" r="r" b="b"/>
              <a:pathLst>
                <a:path w="5120640" h="14630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512064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spc="1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🎙️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4114800"/>
            <a:ext cx="3474720" cy="822960"/>
            <a:chOff x="0" y="0"/>
            <a:chExt cx="4632960" cy="10972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632960" cy="1097280"/>
            </a:xfrm>
            <a:custGeom>
              <a:avLst/>
              <a:gdLst/>
              <a:ahLst/>
              <a:cxnLst/>
              <a:rect l="l" t="t" r="r" b="b"/>
              <a:pathLst>
                <a:path w="4632960" h="1097280">
                  <a:moveTo>
                    <a:pt x="0" y="0"/>
                  </a:moveTo>
                  <a:lnTo>
                    <a:pt x="4632960" y="0"/>
                  </a:lnTo>
                  <a:lnTo>
                    <a:pt x="4632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70" b="-3227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463296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D05A00"/>
                  </a:solidFill>
                  <a:latin typeface="Mandali"/>
                  <a:ea typeface="Mandali"/>
                  <a:cs typeface="Mandali"/>
                  <a:sym typeface="Mandali"/>
                </a:rPr>
                <a:t>상담 음성 녹음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4400" y="5029200"/>
            <a:ext cx="3474720" cy="1645920"/>
            <a:chOff x="0" y="0"/>
            <a:chExt cx="4632960" cy="21945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632960" cy="2194560"/>
            </a:xfrm>
            <a:custGeom>
              <a:avLst/>
              <a:gdLst/>
              <a:ahLst/>
              <a:cxnLst/>
              <a:rect l="l" t="t" r="r" b="b"/>
              <a:pathLst>
                <a:path w="4632960" h="2194560">
                  <a:moveTo>
                    <a:pt x="0" y="0"/>
                  </a:moveTo>
                  <a:lnTo>
                    <a:pt x="4632960" y="0"/>
                  </a:lnTo>
                  <a:lnTo>
                    <a:pt x="46329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75" r="-10775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4632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클로바Note 앱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녹음 시작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72000" y="4023360"/>
            <a:ext cx="457200" cy="731520"/>
            <a:chOff x="0" y="0"/>
            <a:chExt cx="609600" cy="9753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9600" cy="975360"/>
            </a:xfrm>
            <a:custGeom>
              <a:avLst/>
              <a:gdLst/>
              <a:ahLst/>
              <a:cxnLst/>
              <a:rect l="l" t="t" r="r" b="b"/>
              <a:pathLst>
                <a:path w="609600" h="975360">
                  <a:moveTo>
                    <a:pt x="0" y="0"/>
                  </a:moveTo>
                  <a:lnTo>
                    <a:pt x="609600" y="0"/>
                  </a:lnTo>
                  <a:lnTo>
                    <a:pt x="609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r="-15528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60960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▶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029200" y="2011680"/>
            <a:ext cx="3840480" cy="4754880"/>
            <a:chOff x="0" y="0"/>
            <a:chExt cx="5120640" cy="63398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120640" cy="6339840"/>
            </a:xfrm>
            <a:custGeom>
              <a:avLst/>
              <a:gdLst/>
              <a:ahLst/>
              <a:cxnLst/>
              <a:rect l="l" t="t" r="r" b="b"/>
              <a:pathLst>
                <a:path w="5120640" h="6339840">
                  <a:moveTo>
                    <a:pt x="0" y="0"/>
                  </a:moveTo>
                  <a:lnTo>
                    <a:pt x="5120640" y="0"/>
                  </a:lnTo>
                  <a:lnTo>
                    <a:pt x="512064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5029200" y="2011680"/>
            <a:ext cx="3840480" cy="822960"/>
            <a:chOff x="0" y="0"/>
            <a:chExt cx="5120640" cy="10972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5029200" y="2011680"/>
            <a:ext cx="3840480" cy="822960"/>
            <a:chOff x="0" y="0"/>
            <a:chExt cx="5120640" cy="10972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512064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029200" y="2926080"/>
            <a:ext cx="3840480" cy="1097280"/>
            <a:chOff x="0" y="0"/>
            <a:chExt cx="5120640" cy="14630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120640" cy="1463040"/>
            </a:xfrm>
            <a:custGeom>
              <a:avLst/>
              <a:gdLst/>
              <a:ahLst/>
              <a:cxnLst/>
              <a:rect l="l" t="t" r="r" b="b"/>
              <a:pathLst>
                <a:path w="5120640" h="14630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512064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spc="1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📝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12080" y="4114800"/>
            <a:ext cx="3474720" cy="822960"/>
            <a:chOff x="0" y="0"/>
            <a:chExt cx="4632960" cy="10972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632960" cy="1097280"/>
            </a:xfrm>
            <a:custGeom>
              <a:avLst/>
              <a:gdLst/>
              <a:ahLst/>
              <a:cxnLst/>
              <a:rect l="l" t="t" r="r" b="b"/>
              <a:pathLst>
                <a:path w="4632960" h="1097280">
                  <a:moveTo>
                    <a:pt x="0" y="0"/>
                  </a:moveTo>
                  <a:lnTo>
                    <a:pt x="4632960" y="0"/>
                  </a:lnTo>
                  <a:lnTo>
                    <a:pt x="4632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70" b="-32270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9525"/>
              <a:ext cx="463296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0A7B83"/>
                  </a:solidFill>
                  <a:latin typeface="Mandali"/>
                  <a:ea typeface="Mandali"/>
                  <a:cs typeface="Mandali"/>
                  <a:sym typeface="Mandali"/>
                </a:rPr>
                <a:t>자동 텍스트 변환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12080" y="5029200"/>
            <a:ext cx="3474720" cy="1645920"/>
            <a:chOff x="0" y="0"/>
            <a:chExt cx="4632960" cy="21945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632960" cy="2194560"/>
            </a:xfrm>
            <a:custGeom>
              <a:avLst/>
              <a:gdLst/>
              <a:ahLst/>
              <a:cxnLst/>
              <a:rect l="l" t="t" r="r" b="b"/>
              <a:pathLst>
                <a:path w="4632960" h="2194560">
                  <a:moveTo>
                    <a:pt x="0" y="0"/>
                  </a:moveTo>
                  <a:lnTo>
                    <a:pt x="4632960" y="0"/>
                  </a:lnTo>
                  <a:lnTo>
                    <a:pt x="46329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75" r="-1077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4632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AI가 음성을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텍스트로 변환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869680" y="4023360"/>
            <a:ext cx="457200" cy="731520"/>
            <a:chOff x="0" y="0"/>
            <a:chExt cx="609600" cy="9753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09600" cy="975360"/>
            </a:xfrm>
            <a:custGeom>
              <a:avLst/>
              <a:gdLst/>
              <a:ahLst/>
              <a:cxnLst/>
              <a:rect l="l" t="t" r="r" b="b"/>
              <a:pathLst>
                <a:path w="609600" h="975360">
                  <a:moveTo>
                    <a:pt x="0" y="0"/>
                  </a:moveTo>
                  <a:lnTo>
                    <a:pt x="609600" y="0"/>
                  </a:lnTo>
                  <a:lnTo>
                    <a:pt x="609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r="-15528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60960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▶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26880" y="2011680"/>
            <a:ext cx="3840480" cy="4754880"/>
            <a:chOff x="0" y="0"/>
            <a:chExt cx="5120640" cy="63398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120640" cy="6339840"/>
            </a:xfrm>
            <a:custGeom>
              <a:avLst/>
              <a:gdLst/>
              <a:ahLst/>
              <a:cxnLst/>
              <a:rect l="l" t="t" r="r" b="b"/>
              <a:pathLst>
                <a:path w="5120640" h="6339840">
                  <a:moveTo>
                    <a:pt x="0" y="0"/>
                  </a:moveTo>
                  <a:lnTo>
                    <a:pt x="5120640" y="0"/>
                  </a:lnTo>
                  <a:lnTo>
                    <a:pt x="512064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9326880" y="2011680"/>
            <a:ext cx="3840480" cy="822960"/>
            <a:chOff x="0" y="0"/>
            <a:chExt cx="5120640" cy="10972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9326880" y="2011680"/>
            <a:ext cx="3840480" cy="822960"/>
            <a:chOff x="0" y="0"/>
            <a:chExt cx="5120640" cy="109728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9525"/>
              <a:ext cx="512064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3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326880" y="2926080"/>
            <a:ext cx="3840480" cy="1097280"/>
            <a:chOff x="0" y="0"/>
            <a:chExt cx="5120640" cy="14630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120640" cy="1463040"/>
            </a:xfrm>
            <a:custGeom>
              <a:avLst/>
              <a:gdLst/>
              <a:ahLst/>
              <a:cxnLst/>
              <a:rect l="l" t="t" r="r" b="b"/>
              <a:pathLst>
                <a:path w="5120640" h="14630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512064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spc="1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🤖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509760" y="4114800"/>
            <a:ext cx="3474720" cy="822960"/>
            <a:chOff x="0" y="0"/>
            <a:chExt cx="4632960" cy="109728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632960" cy="1097280"/>
            </a:xfrm>
            <a:custGeom>
              <a:avLst/>
              <a:gdLst/>
              <a:ahLst/>
              <a:cxnLst/>
              <a:rect l="l" t="t" r="r" b="b"/>
              <a:pathLst>
                <a:path w="4632960" h="1097280">
                  <a:moveTo>
                    <a:pt x="0" y="0"/>
                  </a:moveTo>
                  <a:lnTo>
                    <a:pt x="4632960" y="0"/>
                  </a:lnTo>
                  <a:lnTo>
                    <a:pt x="4632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70" b="-32270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9525"/>
              <a:ext cx="463296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AI 요약 정리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509760" y="5029200"/>
            <a:ext cx="3474720" cy="1645920"/>
            <a:chOff x="0" y="0"/>
            <a:chExt cx="4632960" cy="219456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632960" cy="2194560"/>
            </a:xfrm>
            <a:custGeom>
              <a:avLst/>
              <a:gdLst/>
              <a:ahLst/>
              <a:cxnLst/>
              <a:rect l="l" t="t" r="r" b="b"/>
              <a:pathLst>
                <a:path w="4632960" h="2194560">
                  <a:moveTo>
                    <a:pt x="0" y="0"/>
                  </a:moveTo>
                  <a:lnTo>
                    <a:pt x="4632960" y="0"/>
                  </a:lnTo>
                  <a:lnTo>
                    <a:pt x="46329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75" r="-10775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4632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ChatGPT에 텍스트 붙여넣기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→ 핵심 요약 생성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167360" y="4023360"/>
            <a:ext cx="457200" cy="731520"/>
            <a:chOff x="0" y="0"/>
            <a:chExt cx="609600" cy="97536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09600" cy="975360"/>
            </a:xfrm>
            <a:custGeom>
              <a:avLst/>
              <a:gdLst/>
              <a:ahLst/>
              <a:cxnLst/>
              <a:rect l="l" t="t" r="r" b="b"/>
              <a:pathLst>
                <a:path w="609600" h="975360">
                  <a:moveTo>
                    <a:pt x="0" y="0"/>
                  </a:moveTo>
                  <a:lnTo>
                    <a:pt x="609600" y="0"/>
                  </a:lnTo>
                  <a:lnTo>
                    <a:pt x="609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r="-155285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60960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▶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3624560" y="2011680"/>
            <a:ext cx="3840480" cy="4754880"/>
            <a:chOff x="0" y="0"/>
            <a:chExt cx="5120640" cy="63398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120640" cy="6339840"/>
            </a:xfrm>
            <a:custGeom>
              <a:avLst/>
              <a:gdLst/>
              <a:ahLst/>
              <a:cxnLst/>
              <a:rect l="l" t="t" r="r" b="b"/>
              <a:pathLst>
                <a:path w="5120640" h="6339840">
                  <a:moveTo>
                    <a:pt x="0" y="0"/>
                  </a:moveTo>
                  <a:lnTo>
                    <a:pt x="5120640" y="0"/>
                  </a:lnTo>
                  <a:lnTo>
                    <a:pt x="512064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3624560" y="2011680"/>
            <a:ext cx="3840480" cy="822960"/>
            <a:chOff x="0" y="0"/>
            <a:chExt cx="5120640" cy="109728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13624560" y="2011680"/>
            <a:ext cx="3840480" cy="822960"/>
            <a:chOff x="0" y="0"/>
            <a:chExt cx="5120640" cy="109728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120640" cy="1097280"/>
            </a:xfrm>
            <a:custGeom>
              <a:avLst/>
              <a:gdLst/>
              <a:ahLst/>
              <a:cxnLst/>
              <a:rect l="l" t="t" r="r" b="b"/>
              <a:pathLst>
                <a:path w="5120640" h="109728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9525"/>
              <a:ext cx="512064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4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3624560" y="2926080"/>
            <a:ext cx="3840480" cy="1097280"/>
            <a:chOff x="0" y="0"/>
            <a:chExt cx="5120640" cy="14630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5120640" cy="1463040"/>
            </a:xfrm>
            <a:custGeom>
              <a:avLst/>
              <a:gdLst/>
              <a:ahLst/>
              <a:cxnLst/>
              <a:rect l="l" t="t" r="r" b="b"/>
              <a:pathLst>
                <a:path w="5120640" h="14630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0"/>
              <a:ext cx="512064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spc="1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3807440" y="4114800"/>
            <a:ext cx="3474720" cy="822960"/>
            <a:chOff x="0" y="0"/>
            <a:chExt cx="4632960" cy="109728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632960" cy="1097280"/>
            </a:xfrm>
            <a:custGeom>
              <a:avLst/>
              <a:gdLst/>
              <a:ahLst/>
              <a:cxnLst/>
              <a:rect l="l" t="t" r="r" b="b"/>
              <a:pathLst>
                <a:path w="4632960" h="1097280">
                  <a:moveTo>
                    <a:pt x="0" y="0"/>
                  </a:moveTo>
                  <a:lnTo>
                    <a:pt x="4632960" y="0"/>
                  </a:lnTo>
                  <a:lnTo>
                    <a:pt x="4632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70" b="-32270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9525"/>
              <a:ext cx="463296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기록 저장·공유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3807440" y="5029200"/>
            <a:ext cx="3474720" cy="1645920"/>
            <a:chOff x="0" y="0"/>
            <a:chExt cx="4632960" cy="219456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632960" cy="2194560"/>
            </a:xfrm>
            <a:custGeom>
              <a:avLst/>
              <a:gdLst/>
              <a:ahLst/>
              <a:cxnLst/>
              <a:rect l="l" t="t" r="r" b="b"/>
              <a:pathLst>
                <a:path w="4632960" h="2194560">
                  <a:moveTo>
                    <a:pt x="0" y="0"/>
                  </a:moveTo>
                  <a:lnTo>
                    <a:pt x="4632960" y="0"/>
                  </a:lnTo>
                  <a:lnTo>
                    <a:pt x="46329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75" r="-10775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0"/>
              <a:ext cx="4632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표준 양식으로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저장·담당자 공유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40080" y="6667500"/>
            <a:ext cx="17007840" cy="2743200"/>
            <a:chOff x="0" y="0"/>
            <a:chExt cx="22677120" cy="36576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2677120" cy="3657600"/>
            </a:xfrm>
            <a:custGeom>
              <a:avLst/>
              <a:gdLst/>
              <a:ahLst/>
              <a:cxnLst/>
              <a:rect l="l" t="t" r="r" b="b"/>
              <a:pathLst>
                <a:path w="22677120" h="3657600">
                  <a:moveTo>
                    <a:pt x="0" y="0"/>
                  </a:moveTo>
                  <a:lnTo>
                    <a:pt x="22677120" y="0"/>
                  </a:lnTo>
                  <a:lnTo>
                    <a:pt x="226771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84" name="Group 84"/>
          <p:cNvGrpSpPr/>
          <p:nvPr/>
        </p:nvGrpSpPr>
        <p:grpSpPr>
          <a:xfrm>
            <a:off x="914400" y="6722364"/>
            <a:ext cx="7680960" cy="585216"/>
            <a:chOff x="0" y="0"/>
            <a:chExt cx="10241280" cy="78028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0241280" cy="780288"/>
            </a:xfrm>
            <a:custGeom>
              <a:avLst/>
              <a:gdLst/>
              <a:ahLst/>
              <a:cxnLst/>
              <a:rect l="l" t="t" r="r" b="b"/>
              <a:pathLst>
                <a:path w="10241280" h="780288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5741" b="-205741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9525"/>
              <a:ext cx="10241280" cy="770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📱 클로바Note 사용법 (스마트폰)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144000" y="6722364"/>
            <a:ext cx="8412480" cy="585216"/>
            <a:chOff x="0" y="0"/>
            <a:chExt cx="11216640" cy="780288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1216640" cy="780288"/>
            </a:xfrm>
            <a:custGeom>
              <a:avLst/>
              <a:gdLst/>
              <a:ahLst/>
              <a:cxnLst/>
              <a:rect l="l" t="t" r="r" b="b"/>
              <a:pathLst>
                <a:path w="11216640" h="780288">
                  <a:moveTo>
                    <a:pt x="0" y="0"/>
                  </a:moveTo>
                  <a:lnTo>
                    <a:pt x="11216640" y="0"/>
                  </a:lnTo>
                  <a:lnTo>
                    <a:pt x="11216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097" b="-230097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9525"/>
              <a:ext cx="11216640" cy="770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🌐 ChatGPT 요약 프롬프트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14400" y="7399020"/>
            <a:ext cx="7680960" cy="457200"/>
            <a:chOff x="0" y="0"/>
            <a:chExt cx="10241280" cy="6096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0241280" cy="609600"/>
            </a:xfrm>
            <a:custGeom>
              <a:avLst/>
              <a:gdLst/>
              <a:ahLst/>
              <a:cxnLst/>
              <a:rect l="l" t="t" r="r" b="b"/>
              <a:pathLst>
                <a:path w="10241280" h="609600">
                  <a:moveTo>
                    <a:pt x="0" y="0"/>
                  </a:moveTo>
                  <a:lnTo>
                    <a:pt x="10241280" y="0"/>
                  </a:lnTo>
                  <a:lnTo>
                    <a:pt x="10241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7348" b="-277348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9525"/>
              <a:ext cx="1024128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① 앱스토어에서 '클로바Note' 검색·설치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14400" y="7874508"/>
            <a:ext cx="7680960" cy="457200"/>
            <a:chOff x="0" y="0"/>
            <a:chExt cx="10241280" cy="60960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0241280" cy="609600"/>
            </a:xfrm>
            <a:custGeom>
              <a:avLst/>
              <a:gdLst/>
              <a:ahLst/>
              <a:cxnLst/>
              <a:rect l="l" t="t" r="r" b="b"/>
              <a:pathLst>
                <a:path w="10241280" h="609600">
                  <a:moveTo>
                    <a:pt x="0" y="0"/>
                  </a:moveTo>
                  <a:lnTo>
                    <a:pt x="10241280" y="0"/>
                  </a:lnTo>
                  <a:lnTo>
                    <a:pt x="10241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7348" b="-277348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9525"/>
              <a:ext cx="1024128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② 상담 시작 전 '새 녹음' 버튼 클릭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914400" y="8349996"/>
            <a:ext cx="7680960" cy="457200"/>
            <a:chOff x="0" y="0"/>
            <a:chExt cx="10241280" cy="6096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0241280" cy="609600"/>
            </a:xfrm>
            <a:custGeom>
              <a:avLst/>
              <a:gdLst/>
              <a:ahLst/>
              <a:cxnLst/>
              <a:rect l="l" t="t" r="r" b="b"/>
              <a:pathLst>
                <a:path w="10241280" h="609600">
                  <a:moveTo>
                    <a:pt x="0" y="0"/>
                  </a:moveTo>
                  <a:lnTo>
                    <a:pt x="10241280" y="0"/>
                  </a:lnTo>
                  <a:lnTo>
                    <a:pt x="10241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7348" b="-277348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9525"/>
              <a:ext cx="1024128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③ 통화/대면 상담 녹음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14400" y="8825484"/>
            <a:ext cx="7680960" cy="457200"/>
            <a:chOff x="0" y="0"/>
            <a:chExt cx="10241280" cy="6096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0241280" cy="609600"/>
            </a:xfrm>
            <a:custGeom>
              <a:avLst/>
              <a:gdLst/>
              <a:ahLst/>
              <a:cxnLst/>
              <a:rect l="l" t="t" r="r" b="b"/>
              <a:pathLst>
                <a:path w="10241280" h="609600">
                  <a:moveTo>
                    <a:pt x="0" y="0"/>
                  </a:moveTo>
                  <a:lnTo>
                    <a:pt x="10241280" y="0"/>
                  </a:lnTo>
                  <a:lnTo>
                    <a:pt x="10241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7348" b="-277348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-9525"/>
              <a:ext cx="1024128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④ 자동 텍스트 변환 결과 확인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144000" y="7399020"/>
            <a:ext cx="8412480" cy="457200"/>
            <a:chOff x="0" y="0"/>
            <a:chExt cx="11216640" cy="60960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1216640" cy="609600"/>
            </a:xfrm>
            <a:custGeom>
              <a:avLst/>
              <a:gdLst/>
              <a:ahLst/>
              <a:cxnLst/>
              <a:rect l="l" t="t" r="r" b="b"/>
              <a:pathLst>
                <a:path w="11216640" h="609600">
                  <a:moveTo>
                    <a:pt x="0" y="0"/>
                  </a:moveTo>
                  <a:lnTo>
                    <a:pt x="11216640" y="0"/>
                  </a:lnTo>
                  <a:lnTo>
                    <a:pt x="11216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524" b="-308524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-9525"/>
              <a:ext cx="1121664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① 변환된 텍스트 전체 복사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9144000" y="7874508"/>
            <a:ext cx="8412480" cy="457200"/>
            <a:chOff x="0" y="0"/>
            <a:chExt cx="11216640" cy="60960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1216640" cy="609600"/>
            </a:xfrm>
            <a:custGeom>
              <a:avLst/>
              <a:gdLst/>
              <a:ahLst/>
              <a:cxnLst/>
              <a:rect l="l" t="t" r="r" b="b"/>
              <a:pathLst>
                <a:path w="11216640" h="609600">
                  <a:moveTo>
                    <a:pt x="0" y="0"/>
                  </a:moveTo>
                  <a:lnTo>
                    <a:pt x="11216640" y="0"/>
                  </a:lnTo>
                  <a:lnTo>
                    <a:pt x="11216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524" b="-308524"/>
              </a:stretch>
            </a:blipFill>
          </p:spPr>
        </p:sp>
        <p:sp>
          <p:nvSpPr>
            <p:cNvPr id="107" name="TextBox 107"/>
            <p:cNvSpPr txBox="1"/>
            <p:nvPr/>
          </p:nvSpPr>
          <p:spPr>
            <a:xfrm>
              <a:off x="0" y="-9525"/>
              <a:ext cx="1121664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② ChatGPT에 붙여넣기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9144000" y="8349996"/>
            <a:ext cx="8412480" cy="457200"/>
            <a:chOff x="0" y="0"/>
            <a:chExt cx="11216640" cy="60960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1216640" cy="609600"/>
            </a:xfrm>
            <a:custGeom>
              <a:avLst/>
              <a:gdLst/>
              <a:ahLst/>
              <a:cxnLst/>
              <a:rect l="l" t="t" r="r" b="b"/>
              <a:pathLst>
                <a:path w="11216640" h="609600">
                  <a:moveTo>
                    <a:pt x="0" y="0"/>
                  </a:moveTo>
                  <a:lnTo>
                    <a:pt x="11216640" y="0"/>
                  </a:lnTo>
                  <a:lnTo>
                    <a:pt x="11216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524" b="-308524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9525"/>
              <a:ext cx="1121664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③ 프롬프트: "이 내용을 민원 유형·요청사항·처리결과로 요약해줘"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9144000" y="8825484"/>
            <a:ext cx="8412480" cy="457200"/>
            <a:chOff x="0" y="0"/>
            <a:chExt cx="11216640" cy="60960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11216640" cy="609600"/>
            </a:xfrm>
            <a:custGeom>
              <a:avLst/>
              <a:gdLst/>
              <a:ahLst/>
              <a:cxnLst/>
              <a:rect l="l" t="t" r="r" b="b"/>
              <a:pathLst>
                <a:path w="11216640" h="609600">
                  <a:moveTo>
                    <a:pt x="0" y="0"/>
                  </a:moveTo>
                  <a:lnTo>
                    <a:pt x="11216640" y="0"/>
                  </a:lnTo>
                  <a:lnTo>
                    <a:pt x="11216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524" b="-308524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9525"/>
              <a:ext cx="1121664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④ 생성된 요약문 검토 후 저장</a:t>
              </a:r>
            </a:p>
          </p:txBody>
        </p:sp>
      </p:grpSp>
      <p:grpSp>
        <p:nvGrpSpPr>
          <p:cNvPr id="114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15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16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17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18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3차시-01 | 상담 기록 AI 자동화</a:t>
              </a:r>
            </a:p>
          </p:txBody>
        </p:sp>
      </p:grpSp>
      <p:grpSp>
        <p:nvGrpSpPr>
          <p:cNvPr id="119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20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21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상담 기록 AI 요약 프롬프트 작성법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2011680"/>
            <a:ext cx="17007840" cy="3474720"/>
            <a:chOff x="0" y="0"/>
            <a:chExt cx="22677120" cy="46329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77120" cy="4632960"/>
            </a:xfrm>
            <a:custGeom>
              <a:avLst/>
              <a:gdLst/>
              <a:ahLst/>
              <a:cxnLst/>
              <a:rect l="l" t="t" r="r" b="b"/>
              <a:pathLst>
                <a:path w="22677120" h="4632960">
                  <a:moveTo>
                    <a:pt x="0" y="0"/>
                  </a:moveTo>
                  <a:lnTo>
                    <a:pt x="22677120" y="0"/>
                  </a:lnTo>
                  <a:lnTo>
                    <a:pt x="226771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0080" y="2011680"/>
            <a:ext cx="17007840" cy="731520"/>
            <a:chOff x="0" y="0"/>
            <a:chExt cx="22677120" cy="975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975360"/>
            </a:xfrm>
            <a:custGeom>
              <a:avLst/>
              <a:gdLst/>
              <a:ahLst/>
              <a:cxnLst/>
              <a:rect l="l" t="t" r="r" b="b"/>
              <a:pathLst>
                <a:path w="22677120" h="975360">
                  <a:moveTo>
                    <a:pt x="0" y="0"/>
                  </a:moveTo>
                  <a:lnTo>
                    <a:pt x="22677120" y="0"/>
                  </a:lnTo>
                  <a:lnTo>
                    <a:pt x="226771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14400" y="2011680"/>
            <a:ext cx="16642080" cy="731520"/>
            <a:chOff x="0" y="0"/>
            <a:chExt cx="22189440" cy="9753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189439" cy="975360"/>
            </a:xfrm>
            <a:custGeom>
              <a:avLst/>
              <a:gdLst/>
              <a:ahLst/>
              <a:cxnLst/>
              <a:rect l="l" t="t" r="r" b="b"/>
              <a:pathLst>
                <a:path w="22189439" h="975360">
                  <a:moveTo>
                    <a:pt x="0" y="0"/>
                  </a:moveTo>
                  <a:lnTo>
                    <a:pt x="22189439" y="0"/>
                  </a:lnTo>
                  <a:lnTo>
                    <a:pt x="221894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3284" b="-393284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2218944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📋 기본 요약 템플릿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65197" y="2910840"/>
            <a:ext cx="16515083" cy="2433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i="1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다음 상담 내용을 아래 형식으로 정리해줘:</a:t>
            </a:r>
          </a:p>
          <a:p>
            <a:pPr algn="l">
              <a:lnSpc>
                <a:spcPts val="2760"/>
              </a:lnSpc>
            </a:pPr>
            <a:r>
              <a:rPr lang="en-US" sz="2300" i="1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- 상담 일시: [날짜]</a:t>
            </a:r>
          </a:p>
          <a:p>
            <a:pPr algn="l">
              <a:lnSpc>
                <a:spcPts val="2760"/>
              </a:lnSpc>
            </a:pPr>
            <a:r>
              <a:rPr lang="en-US" sz="2300" i="1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- 민원 유형: [유형]</a:t>
            </a:r>
          </a:p>
          <a:p>
            <a:pPr algn="l">
              <a:lnSpc>
                <a:spcPts val="2760"/>
              </a:lnSpc>
            </a:pPr>
            <a:r>
              <a:rPr lang="en-US" sz="2300" i="1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- 고객 요청사항: [요약]</a:t>
            </a:r>
          </a:p>
          <a:p>
            <a:pPr algn="l">
              <a:lnSpc>
                <a:spcPts val="2760"/>
              </a:lnSpc>
            </a:pPr>
            <a:r>
              <a:rPr lang="en-US" sz="2300" i="1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- 처리 내용: [요약]</a:t>
            </a:r>
          </a:p>
          <a:p>
            <a:pPr algn="l">
              <a:lnSpc>
                <a:spcPts val="2760"/>
              </a:lnSpc>
            </a:pPr>
            <a:r>
              <a:rPr lang="en-US" sz="2300" i="1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- 후속 조치: [내용]</a:t>
            </a:r>
          </a:p>
          <a:p>
            <a:pPr algn="l">
              <a:lnSpc>
                <a:spcPts val="2760"/>
              </a:lnSpc>
            </a:pPr>
            <a:endParaRPr lang="en-US" sz="2300" i="1" spc="8">
              <a:solidFill>
                <a:srgbClr val="1A2533"/>
              </a:solidFill>
              <a:latin typeface="Mandali"/>
              <a:ea typeface="Mandali"/>
              <a:cs typeface="Mandali"/>
              <a:sym typeface="Mandali"/>
            </a:endParaRPr>
          </a:p>
          <a:p>
            <a:pPr algn="l">
              <a:lnSpc>
                <a:spcPts val="2760"/>
              </a:lnSpc>
            </a:pPr>
            <a:r>
              <a:rPr lang="en-US" sz="2300" i="1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[상담 내용 붙여넣기]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40080" y="5852160"/>
            <a:ext cx="17007840" cy="3474720"/>
            <a:chOff x="0" y="0"/>
            <a:chExt cx="22677120" cy="46329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677120" cy="4632960"/>
            </a:xfrm>
            <a:custGeom>
              <a:avLst/>
              <a:gdLst/>
              <a:ahLst/>
              <a:cxnLst/>
              <a:rect l="l" t="t" r="r" b="b"/>
              <a:pathLst>
                <a:path w="22677120" h="4632960">
                  <a:moveTo>
                    <a:pt x="0" y="0"/>
                  </a:moveTo>
                  <a:lnTo>
                    <a:pt x="22677120" y="0"/>
                  </a:lnTo>
                  <a:lnTo>
                    <a:pt x="226771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640080" y="5852160"/>
            <a:ext cx="17007840" cy="731520"/>
            <a:chOff x="0" y="0"/>
            <a:chExt cx="22677120" cy="9753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677120" cy="975360"/>
            </a:xfrm>
            <a:custGeom>
              <a:avLst/>
              <a:gdLst/>
              <a:ahLst/>
              <a:cxnLst/>
              <a:rect l="l" t="t" r="r" b="b"/>
              <a:pathLst>
                <a:path w="22677120" h="975360">
                  <a:moveTo>
                    <a:pt x="0" y="0"/>
                  </a:moveTo>
                  <a:lnTo>
                    <a:pt x="22677120" y="0"/>
                  </a:lnTo>
                  <a:lnTo>
                    <a:pt x="226771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14400" y="5852160"/>
            <a:ext cx="16642080" cy="731520"/>
            <a:chOff x="0" y="0"/>
            <a:chExt cx="22189440" cy="975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189439" cy="975360"/>
            </a:xfrm>
            <a:custGeom>
              <a:avLst/>
              <a:gdLst/>
              <a:ahLst/>
              <a:cxnLst/>
              <a:rect l="l" t="t" r="r" b="b"/>
              <a:pathLst>
                <a:path w="22189439" h="975360">
                  <a:moveTo>
                    <a:pt x="0" y="0"/>
                  </a:moveTo>
                  <a:lnTo>
                    <a:pt x="22189439" y="0"/>
                  </a:lnTo>
                  <a:lnTo>
                    <a:pt x="221894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3284" b="-393284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2218944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📋 감정 분석 포함 요약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65197" y="6751320"/>
            <a:ext cx="16515083" cy="2433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i="1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다음 상담을 요약하되, 고객의 감정 상태(불만/분노/슬픔/일반)와 응대 만족도 예측(낮음/보통/높음)도 포함해줘.</a:t>
            </a:r>
          </a:p>
          <a:p>
            <a:pPr algn="l">
              <a:lnSpc>
                <a:spcPts val="2760"/>
              </a:lnSpc>
            </a:pPr>
            <a:endParaRPr lang="en-US" sz="2300" i="1" spc="8">
              <a:solidFill>
                <a:srgbClr val="1A2533"/>
              </a:solidFill>
              <a:latin typeface="Mandali"/>
              <a:ea typeface="Mandali"/>
              <a:cs typeface="Mandali"/>
              <a:sym typeface="Mandali"/>
            </a:endParaRPr>
          </a:p>
          <a:p>
            <a:pPr algn="l">
              <a:lnSpc>
                <a:spcPts val="2760"/>
              </a:lnSpc>
            </a:pPr>
            <a:r>
              <a:rPr lang="en-US" sz="2300" i="1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[상담 내용 붙여넣기]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40080" y="8629903"/>
            <a:ext cx="17007840" cy="512064"/>
            <a:chOff x="0" y="0"/>
            <a:chExt cx="22677120" cy="68275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677120" cy="682752"/>
            </a:xfrm>
            <a:custGeom>
              <a:avLst/>
              <a:gdLst/>
              <a:ahLst/>
              <a:cxnLst/>
              <a:rect l="l" t="t" r="r" b="b"/>
              <a:pathLst>
                <a:path w="22677120" h="682752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D2340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822960" y="8629903"/>
            <a:ext cx="16642080" cy="512064"/>
            <a:chOff x="0" y="0"/>
            <a:chExt cx="22189440" cy="68275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189439" cy="682752"/>
            </a:xfrm>
            <a:custGeom>
              <a:avLst/>
              <a:gdLst/>
              <a:ahLst/>
              <a:cxnLst/>
              <a:rect l="l" t="t" r="r" b="b"/>
              <a:pathLst>
                <a:path w="22189439" h="682752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22189440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⚡ 한 번 만든 프롬프트 템플릿은 저장해두고 반복 활용 → 매번 작성 불필요!</a:t>
              </a:r>
            </a:p>
          </p:txBody>
        </p:sp>
      </p:grpSp>
      <p:grpSp>
        <p:nvGrpSpPr>
          <p:cNvPr id="30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31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32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33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34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3차시-01 | 상담 기록 AI 자동화</a:t>
              </a:r>
            </a:p>
          </p:txBody>
        </p:sp>
      </p:grpSp>
      <p:grpSp>
        <p:nvGrpSpPr>
          <p:cNvPr id="35" name="Group 50"/>
          <p:cNvGrpSpPr/>
          <p:nvPr/>
        </p:nvGrpSpPr>
        <p:grpSpPr>
          <a:xfrm>
            <a:off x="0" y="9546013"/>
            <a:ext cx="18481766" cy="649547"/>
            <a:chOff x="0" y="-134543"/>
            <a:chExt cx="24642355" cy="866063"/>
          </a:xfrm>
        </p:grpSpPr>
        <p:sp>
          <p:nvSpPr>
            <p:cNvPr id="36" name="Freeform 51"/>
            <p:cNvSpPr/>
            <p:nvPr/>
          </p:nvSpPr>
          <p:spPr>
            <a:xfrm>
              <a:off x="867955" y="-134543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37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303020"/>
            <a:chOff x="0" y="0"/>
            <a:chExt cx="2438339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737360"/>
            </a:xfrm>
            <a:custGeom>
              <a:avLst/>
              <a:gdLst/>
              <a:ahLst/>
              <a:cxnLst/>
              <a:rect l="l" t="t" r="r" b="b"/>
              <a:pathLst>
                <a:path w="24383364" h="1737360">
                  <a:moveTo>
                    <a:pt x="0" y="0"/>
                  </a:moveTo>
                  <a:lnTo>
                    <a:pt x="24383364" y="0"/>
                  </a:lnTo>
                  <a:lnTo>
                    <a:pt x="2438336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380" y="96012"/>
            <a:ext cx="15773400" cy="1097280"/>
            <a:chOff x="0" y="0"/>
            <a:chExt cx="2103120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1463040"/>
            </a:xfrm>
            <a:custGeom>
              <a:avLst/>
              <a:gdLst/>
              <a:ahLst/>
              <a:cxnLst/>
              <a:rect l="l" t="t" r="r" b="b"/>
              <a:pathLst>
                <a:path w="21031200" h="146304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0097" b="-23009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103120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79"/>
                </a:lnSpc>
              </a:pPr>
              <a:r>
                <a:rPr lang="en-US" sz="43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[실습 3] 가상 상담 사례 AI 요약 실습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303020"/>
            <a:ext cx="18287543" cy="82296"/>
            <a:chOff x="0" y="0"/>
            <a:chExt cx="24383390" cy="1097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3364" cy="109728"/>
            </a:xfrm>
            <a:custGeom>
              <a:avLst/>
              <a:gdLst/>
              <a:ahLst/>
              <a:cxnLst/>
              <a:rect l="l" t="t" r="r" b="b"/>
              <a:pathLst>
                <a:path w="24383364" h="109728">
                  <a:moveTo>
                    <a:pt x="0" y="0"/>
                  </a:moveTo>
                  <a:lnTo>
                    <a:pt x="24383364" y="0"/>
                  </a:lnTo>
                  <a:lnTo>
                    <a:pt x="24383364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54380" y="1591056"/>
            <a:ext cx="16802100" cy="713232"/>
            <a:chOff x="0" y="0"/>
            <a:chExt cx="22402800" cy="9509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02800" cy="950976"/>
            </a:xfrm>
            <a:custGeom>
              <a:avLst/>
              <a:gdLst/>
              <a:ahLst/>
              <a:cxnLst/>
              <a:rect l="l" t="t" r="r" b="b"/>
              <a:pathLst>
                <a:path w="22402800" h="950976">
                  <a:moveTo>
                    <a:pt x="0" y="0"/>
                  </a:moveTo>
                  <a:lnTo>
                    <a:pt x="22402800" y="0"/>
                  </a:lnTo>
                  <a:lnTo>
                    <a:pt x="2240280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217A46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54380" y="1591056"/>
            <a:ext cx="16802100" cy="713232"/>
            <a:chOff x="0" y="0"/>
            <a:chExt cx="22402800" cy="9509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02800" cy="950976"/>
            </a:xfrm>
            <a:custGeom>
              <a:avLst/>
              <a:gdLst/>
              <a:ahLst/>
              <a:cxnLst/>
              <a:rect l="l" t="t" r="r" b="b"/>
              <a:pathLst>
                <a:path w="22402800" h="950976">
                  <a:moveTo>
                    <a:pt x="0" y="0"/>
                  </a:moveTo>
                  <a:lnTo>
                    <a:pt x="22402800" y="0"/>
                  </a:lnTo>
                  <a:lnTo>
                    <a:pt x="2240280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9022" b="-40902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2402800" cy="970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E9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실습 목표  </a:t>
              </a:r>
              <a:r>
                <a:rPr lang="en-US" sz="1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아래 가상 상담 대화를 ChatGPT에 붙여넣어 ‘민원유형·요청사항·처리내용·후속조치’ 표준 요약을 직접 생성합니다 (15분)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4380" y="2523744"/>
            <a:ext cx="9601200" cy="685800"/>
            <a:chOff x="0" y="0"/>
            <a:chExt cx="12801600" cy="914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01600" cy="914400"/>
            </a:xfrm>
            <a:custGeom>
              <a:avLst/>
              <a:gdLst/>
              <a:ahLst/>
              <a:cxnLst/>
              <a:rect l="l" t="t" r="r" b="b"/>
              <a:pathLst>
                <a:path w="12801600" h="914400">
                  <a:moveTo>
                    <a:pt x="0" y="0"/>
                  </a:moveTo>
                  <a:lnTo>
                    <a:pt x="12801600" y="0"/>
                  </a:lnTo>
                  <a:lnTo>
                    <a:pt x="12801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C55A11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754380" y="2523744"/>
            <a:ext cx="9601200" cy="685800"/>
            <a:chOff x="0" y="0"/>
            <a:chExt cx="12801600" cy="914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01600" cy="914400"/>
            </a:xfrm>
            <a:custGeom>
              <a:avLst/>
              <a:gdLst/>
              <a:ahLst/>
              <a:cxnLst/>
              <a:rect l="l" t="t" r="r" b="b"/>
              <a:pathLst>
                <a:path w="12801600" h="914400">
                  <a:moveTo>
                    <a:pt x="0" y="0"/>
                  </a:moveTo>
                  <a:lnTo>
                    <a:pt x="12801600" y="0"/>
                  </a:lnTo>
                  <a:lnTo>
                    <a:pt x="12801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28016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가상 상담 사례 — 검사 결과 대기 지연 민원 (익명 처리)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4380" y="3209544"/>
            <a:ext cx="9601200" cy="3593592"/>
            <a:chOff x="0" y="0"/>
            <a:chExt cx="12801600" cy="47914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801600" cy="4791456"/>
            </a:xfrm>
            <a:custGeom>
              <a:avLst/>
              <a:gdLst/>
              <a:ahLst/>
              <a:cxnLst/>
              <a:rect l="l" t="t" r="r" b="b"/>
              <a:pathLst>
                <a:path w="12801600" h="4791456">
                  <a:moveTo>
                    <a:pt x="0" y="0"/>
                  </a:moveTo>
                  <a:lnTo>
                    <a:pt x="12801600" y="0"/>
                  </a:lnTo>
                  <a:lnTo>
                    <a:pt x="12801600" y="4791456"/>
                  </a:lnTo>
                  <a:lnTo>
                    <a:pt x="0" y="4791456"/>
                  </a:lnTo>
                  <a:close/>
                </a:path>
              </a:pathLst>
            </a:custGeom>
            <a:solidFill>
              <a:srgbClr val="16243A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165860" y="3346704"/>
            <a:ext cx="8778240" cy="3319272"/>
            <a:chOff x="0" y="0"/>
            <a:chExt cx="11704320" cy="44256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704320" cy="4425696"/>
            </a:xfrm>
            <a:custGeom>
              <a:avLst/>
              <a:gdLst/>
              <a:ahLst/>
              <a:cxnLst/>
              <a:rect l="l" t="t" r="r" b="b"/>
              <a:pathLst>
                <a:path w="11704320" h="4425696">
                  <a:moveTo>
                    <a:pt x="0" y="0"/>
                  </a:moveTo>
                  <a:lnTo>
                    <a:pt x="11704320" y="0"/>
                  </a:lnTo>
                  <a:lnTo>
                    <a:pt x="11704320" y="4425696"/>
                  </a:lnTo>
                  <a:lnTo>
                    <a:pt x="0" y="44256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30" b="-153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1704320" cy="44447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F2C87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보호자 A: </a:t>
              </a:r>
              <a:r>
                <a:rPr lang="en-US" sz="1725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어머니가 오전 9시에 혈액검사를 받았는데 오후 3시가 되도록 결과 설명이 없어요. 4시간 넘게 기다리는 게 말이 되나요?</a:t>
              </a:r>
            </a:p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8FD4D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직원: </a:t>
              </a:r>
              <a:r>
                <a:rPr lang="en-US" sz="1725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많이 기다리셨지요, 죄송합니다. 확인해 보니 결과는 나왔는데 담당 교수님 외래가 지연되어 설명이 늦어지고 있습니다.</a:t>
              </a:r>
            </a:p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F2C87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보호자 A: </a:t>
              </a:r>
              <a:r>
                <a:rPr lang="en-US" sz="1725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그럼 미리 알려주셨어야죠. 설마 내일 다시 와야 하나요?</a:t>
              </a:r>
            </a:p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8FD4D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직원: </a:t>
              </a:r>
              <a:r>
                <a:rPr lang="en-US" sz="1725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30분 안에 설명이 가능하도록 조치하고, 지연될 경우 휴대전화로 먼저 안내드리겠습니다.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629900" y="2523744"/>
            <a:ext cx="6926580" cy="685800"/>
            <a:chOff x="0" y="0"/>
            <a:chExt cx="9235440" cy="91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235440" cy="914400"/>
            </a:xfrm>
            <a:custGeom>
              <a:avLst/>
              <a:gdLst/>
              <a:ahLst/>
              <a:cxnLst/>
              <a:rect l="l" t="t" r="r" b="b"/>
              <a:pathLst>
                <a:path w="9235440" h="91440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0629900" y="2523744"/>
            <a:ext cx="6926580" cy="685800"/>
            <a:chOff x="0" y="0"/>
            <a:chExt cx="9235440" cy="914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235440" cy="914400"/>
            </a:xfrm>
            <a:custGeom>
              <a:avLst/>
              <a:gdLst/>
              <a:ahLst/>
              <a:cxnLst/>
              <a:rect l="l" t="t" r="r" b="b"/>
              <a:pathLst>
                <a:path w="9235440" h="91440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6798" b="-146798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92354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요약 프롬프트 (그대로 사용)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629900" y="3209544"/>
            <a:ext cx="6926580" cy="3593592"/>
            <a:chOff x="0" y="0"/>
            <a:chExt cx="9235440" cy="47914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235440" cy="4791456"/>
            </a:xfrm>
            <a:custGeom>
              <a:avLst/>
              <a:gdLst/>
              <a:ahLst/>
              <a:cxnLst/>
              <a:rect l="l" t="t" r="r" b="b"/>
              <a:pathLst>
                <a:path w="9235440" h="4791456">
                  <a:moveTo>
                    <a:pt x="0" y="0"/>
                  </a:moveTo>
                  <a:lnTo>
                    <a:pt x="9235440" y="0"/>
                  </a:lnTo>
                  <a:lnTo>
                    <a:pt x="9235440" y="4791456"/>
                  </a:lnTo>
                  <a:lnTo>
                    <a:pt x="0" y="4791456"/>
                  </a:lnTo>
                  <a:close/>
                </a:path>
              </a:pathLst>
            </a:custGeom>
            <a:solidFill>
              <a:srgbClr val="16243A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1041380" y="3346704"/>
            <a:ext cx="6103620" cy="3319272"/>
            <a:chOff x="0" y="0"/>
            <a:chExt cx="8138160" cy="44256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38160" cy="4425696"/>
            </a:xfrm>
            <a:custGeom>
              <a:avLst/>
              <a:gdLst/>
              <a:ahLst/>
              <a:cxnLst/>
              <a:rect l="l" t="t" r="r" b="b"/>
              <a:pathLst>
                <a:path w="8138160" h="4425696">
                  <a:moveTo>
                    <a:pt x="0" y="0"/>
                  </a:moveTo>
                  <a:lnTo>
                    <a:pt x="8138160" y="0"/>
                  </a:lnTo>
                  <a:lnTo>
                    <a:pt x="8138160" y="4425696"/>
                  </a:lnTo>
                  <a:lnTo>
                    <a:pt x="0" y="44256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774" r="-1977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8138160" cy="44542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다음 상담 내용을 아래 형식으로 정리해줘: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- 민원 유형: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- 고객 요청사항: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- 처리 내용: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8F0FA"/>
                  </a:solidFill>
                  <a:latin typeface="Arial"/>
                  <a:ea typeface="Arial"/>
                  <a:cs typeface="Arial"/>
                  <a:sym typeface="Arial"/>
                </a:rPr>
                <a:t>- 후속 조치:</a:t>
              </a:r>
            </a:p>
            <a:p>
              <a:pPr algn="l">
                <a:lnSpc>
                  <a:spcPts val="2250"/>
                </a:lnSpc>
              </a:pPr>
              <a:endParaRPr lang="en-US" sz="1875">
                <a:solidFill>
                  <a:srgbClr val="E8F0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F2C879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[왼쪽 상담 대화 붙여넣기]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4380" y="7104888"/>
            <a:ext cx="4046220" cy="1303020"/>
            <a:chOff x="0" y="0"/>
            <a:chExt cx="5394960" cy="17373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94960" cy="1737360"/>
            </a:xfrm>
            <a:custGeom>
              <a:avLst/>
              <a:gdLst/>
              <a:ahLst/>
              <a:cxnLst/>
              <a:rect l="l" t="t" r="r" b="b"/>
              <a:pathLst>
                <a:path w="5394960" h="1737360">
                  <a:moveTo>
                    <a:pt x="0" y="0"/>
                  </a:moveTo>
                  <a:lnTo>
                    <a:pt x="5394960" y="0"/>
                  </a:lnTo>
                  <a:lnTo>
                    <a:pt x="539496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960120" y="7454646"/>
            <a:ext cx="603504" cy="603504"/>
            <a:chOff x="0" y="0"/>
            <a:chExt cx="804672" cy="8046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04672" cy="804672"/>
            </a:xfrm>
            <a:custGeom>
              <a:avLst/>
              <a:gdLst/>
              <a:ahLst/>
              <a:cxnLst/>
              <a:rect l="l" t="t" r="r" b="b"/>
              <a:pathLst>
                <a:path w="804672" h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7E84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960120" y="7454646"/>
            <a:ext cx="603504" cy="603504"/>
            <a:chOff x="0" y="0"/>
            <a:chExt cx="804672" cy="80467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04672" cy="804672"/>
            </a:xfrm>
            <a:custGeom>
              <a:avLst/>
              <a:gdLst/>
              <a:ahLst/>
              <a:cxnLst/>
              <a:rect l="l" t="t" r="r" b="b"/>
              <a:pathLst>
                <a:path w="804672" h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714500" y="7104888"/>
            <a:ext cx="2880360" cy="1303020"/>
            <a:chOff x="0" y="0"/>
            <a:chExt cx="3840480" cy="17373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840480" cy="1737360"/>
            </a:xfrm>
            <a:custGeom>
              <a:avLst/>
              <a:gdLst/>
              <a:ahLst/>
              <a:cxnLst/>
              <a:rect l="l" t="t" r="r" b="b"/>
              <a:pathLst>
                <a:path w="3840480" h="1737360">
                  <a:moveTo>
                    <a:pt x="0" y="0"/>
                  </a:moveTo>
                  <a:lnTo>
                    <a:pt x="3840480" y="0"/>
                  </a:lnTo>
                  <a:lnTo>
                    <a:pt x="38404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042" r="-8042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3840480" cy="1765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사례 복사</a:t>
              </a:r>
            </a:p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왼쪽 가상 대화 전체를 복사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006340" y="7104888"/>
            <a:ext cx="4046220" cy="1303020"/>
            <a:chOff x="0" y="0"/>
            <a:chExt cx="5394960" cy="17373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394960" cy="1737360"/>
            </a:xfrm>
            <a:custGeom>
              <a:avLst/>
              <a:gdLst/>
              <a:ahLst/>
              <a:cxnLst/>
              <a:rect l="l" t="t" r="r" b="b"/>
              <a:pathLst>
                <a:path w="5394960" h="1737360">
                  <a:moveTo>
                    <a:pt x="0" y="0"/>
                  </a:moveTo>
                  <a:lnTo>
                    <a:pt x="5394960" y="0"/>
                  </a:lnTo>
                  <a:lnTo>
                    <a:pt x="539496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5212080" y="7454646"/>
            <a:ext cx="603504" cy="603504"/>
            <a:chOff x="0" y="0"/>
            <a:chExt cx="804672" cy="80467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04672" cy="804672"/>
            </a:xfrm>
            <a:custGeom>
              <a:avLst/>
              <a:gdLst/>
              <a:ahLst/>
              <a:cxnLst/>
              <a:rect l="l" t="t" r="r" b="b"/>
              <a:pathLst>
                <a:path w="804672" h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7E84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5212080" y="7454646"/>
            <a:ext cx="603504" cy="603504"/>
            <a:chOff x="0" y="0"/>
            <a:chExt cx="804672" cy="80467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04672" cy="804672"/>
            </a:xfrm>
            <a:custGeom>
              <a:avLst/>
              <a:gdLst/>
              <a:ahLst/>
              <a:cxnLst/>
              <a:rect l="l" t="t" r="r" b="b"/>
              <a:pathLst>
                <a:path w="804672" h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66460" y="7104888"/>
            <a:ext cx="2880360" cy="1303020"/>
            <a:chOff x="0" y="0"/>
            <a:chExt cx="3840480" cy="173736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840480" cy="1737360"/>
            </a:xfrm>
            <a:custGeom>
              <a:avLst/>
              <a:gdLst/>
              <a:ahLst/>
              <a:cxnLst/>
              <a:rect l="l" t="t" r="r" b="b"/>
              <a:pathLst>
                <a:path w="3840480" h="1737360">
                  <a:moveTo>
                    <a:pt x="0" y="0"/>
                  </a:moveTo>
                  <a:lnTo>
                    <a:pt x="3840480" y="0"/>
                  </a:lnTo>
                  <a:lnTo>
                    <a:pt x="38404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042" r="-804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3840480" cy="1765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프롬프트 입력</a:t>
              </a:r>
            </a:p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프롬프트 + 사례를 함께 ChatGPT에 입력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258300" y="7104888"/>
            <a:ext cx="4046220" cy="1303020"/>
            <a:chOff x="0" y="0"/>
            <a:chExt cx="5394960" cy="17373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394960" cy="1737360"/>
            </a:xfrm>
            <a:custGeom>
              <a:avLst/>
              <a:gdLst/>
              <a:ahLst/>
              <a:cxnLst/>
              <a:rect l="l" t="t" r="r" b="b"/>
              <a:pathLst>
                <a:path w="5394960" h="1737360">
                  <a:moveTo>
                    <a:pt x="0" y="0"/>
                  </a:moveTo>
                  <a:lnTo>
                    <a:pt x="5394960" y="0"/>
                  </a:lnTo>
                  <a:lnTo>
                    <a:pt x="539496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9464040" y="7454646"/>
            <a:ext cx="603504" cy="603504"/>
            <a:chOff x="0" y="0"/>
            <a:chExt cx="804672" cy="80467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04672" cy="804672"/>
            </a:xfrm>
            <a:custGeom>
              <a:avLst/>
              <a:gdLst/>
              <a:ahLst/>
              <a:cxnLst/>
              <a:rect l="l" t="t" r="r" b="b"/>
              <a:pathLst>
                <a:path w="804672" h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7E84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9464040" y="7454646"/>
            <a:ext cx="603504" cy="603504"/>
            <a:chOff x="0" y="0"/>
            <a:chExt cx="804672" cy="80467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04672" cy="804672"/>
            </a:xfrm>
            <a:custGeom>
              <a:avLst/>
              <a:gdLst/>
              <a:ahLst/>
              <a:cxnLst/>
              <a:rect l="l" t="t" r="r" b="b"/>
              <a:pathLst>
                <a:path w="804672" h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0218420" y="7104888"/>
            <a:ext cx="2880360" cy="1303020"/>
            <a:chOff x="0" y="0"/>
            <a:chExt cx="3840480" cy="173736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840480" cy="1737360"/>
            </a:xfrm>
            <a:custGeom>
              <a:avLst/>
              <a:gdLst/>
              <a:ahLst/>
              <a:cxnLst/>
              <a:rect l="l" t="t" r="r" b="b"/>
              <a:pathLst>
                <a:path w="3840480" h="1737360">
                  <a:moveTo>
                    <a:pt x="0" y="0"/>
                  </a:moveTo>
                  <a:lnTo>
                    <a:pt x="3840480" y="0"/>
                  </a:lnTo>
                  <a:lnTo>
                    <a:pt x="38404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042" r="-8042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3840480" cy="1765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결과 확인·개선</a:t>
              </a:r>
            </a:p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4개 항목 확인, “더 간결하게” 수정 요청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3510260" y="7104888"/>
            <a:ext cx="4046220" cy="1303020"/>
            <a:chOff x="0" y="0"/>
            <a:chExt cx="5394960" cy="173736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394960" cy="1737360"/>
            </a:xfrm>
            <a:custGeom>
              <a:avLst/>
              <a:gdLst/>
              <a:ahLst/>
              <a:cxnLst/>
              <a:rect l="l" t="t" r="r" b="b"/>
              <a:pathLst>
                <a:path w="5394960" h="1737360">
                  <a:moveTo>
                    <a:pt x="0" y="0"/>
                  </a:moveTo>
                  <a:lnTo>
                    <a:pt x="5394960" y="0"/>
                  </a:lnTo>
                  <a:lnTo>
                    <a:pt x="539496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3716000" y="7454646"/>
            <a:ext cx="603504" cy="603504"/>
            <a:chOff x="0" y="0"/>
            <a:chExt cx="804672" cy="80467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04672" cy="804672"/>
            </a:xfrm>
            <a:custGeom>
              <a:avLst/>
              <a:gdLst/>
              <a:ahLst/>
              <a:cxnLst/>
              <a:rect l="l" t="t" r="r" b="b"/>
              <a:pathLst>
                <a:path w="804672" h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7E84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3716000" y="7454646"/>
            <a:ext cx="603504" cy="603504"/>
            <a:chOff x="0" y="0"/>
            <a:chExt cx="804672" cy="80467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04672" cy="804672"/>
            </a:xfrm>
            <a:custGeom>
              <a:avLst/>
              <a:gdLst/>
              <a:ahLst/>
              <a:cxnLst/>
              <a:rect l="l" t="t" r="r" b="b"/>
              <a:pathLst>
                <a:path w="804672" h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4470380" y="7104888"/>
            <a:ext cx="2880360" cy="1303020"/>
            <a:chOff x="0" y="0"/>
            <a:chExt cx="3840480" cy="173736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840480" cy="1737360"/>
            </a:xfrm>
            <a:custGeom>
              <a:avLst/>
              <a:gdLst/>
              <a:ahLst/>
              <a:cxnLst/>
              <a:rect l="l" t="t" r="r" b="b"/>
              <a:pathLst>
                <a:path w="3840480" h="1737360">
                  <a:moveTo>
                    <a:pt x="0" y="0"/>
                  </a:moveTo>
                  <a:lnTo>
                    <a:pt x="3840480" y="0"/>
                  </a:lnTo>
                  <a:lnTo>
                    <a:pt x="38404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042" r="-804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28575"/>
              <a:ext cx="3840480" cy="1765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개인정보 점검</a:t>
              </a:r>
            </a:p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C"/>
                  </a:solidFill>
                  <a:latin typeface="Arial"/>
                  <a:ea typeface="Arial"/>
                  <a:cs typeface="Arial"/>
                  <a:sym typeface="Arial"/>
                </a:rPr>
                <a:t>요약에 실명·식별정보 없는지 확인 (습관!)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44855" y="8700135"/>
            <a:ext cx="16821150" cy="814578"/>
            <a:chOff x="0" y="0"/>
            <a:chExt cx="22428200" cy="108610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428200" cy="1086104"/>
            </a:xfrm>
            <a:custGeom>
              <a:avLst/>
              <a:gdLst/>
              <a:ahLst/>
              <a:cxnLst/>
              <a:rect l="l" t="t" r="r" b="b"/>
              <a:pathLst>
                <a:path w="22428200" h="1086104">
                  <a:moveTo>
                    <a:pt x="0" y="0"/>
                  </a:moveTo>
                  <a:lnTo>
                    <a:pt x="22428200" y="0"/>
                  </a:lnTo>
                  <a:lnTo>
                    <a:pt x="22428200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FBF3E3"/>
            </a:solidFill>
            <a:ln w="19050" cap="sq">
              <a:solidFill>
                <a:srgbClr val="C9A84C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754380" y="8709660"/>
            <a:ext cx="16802100" cy="795528"/>
            <a:chOff x="0" y="0"/>
            <a:chExt cx="22402800" cy="106070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2402800" cy="1060704"/>
            </a:xfrm>
            <a:custGeom>
              <a:avLst/>
              <a:gdLst/>
              <a:ahLst/>
              <a:cxnLst/>
              <a:rect l="l" t="t" r="r" b="b"/>
              <a:pathLst>
                <a:path w="22402800" h="1060704">
                  <a:moveTo>
                    <a:pt x="0" y="0"/>
                  </a:moveTo>
                  <a:lnTo>
                    <a:pt x="22402800" y="0"/>
                  </a:lnTo>
                  <a:lnTo>
                    <a:pt x="224028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1537" b="-361537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28575"/>
              <a:ext cx="22402800" cy="10892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8A6A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활용 팁  </a:t>
              </a:r>
              <a:r>
                <a:rPr lang="en-US" sz="1875">
                  <a:solidFill>
                    <a:srgbClr val="6B5A2E"/>
                  </a:solidFill>
                  <a:latin typeface="Arial"/>
                  <a:ea typeface="Arial"/>
                  <a:cs typeface="Arial"/>
                  <a:sym typeface="Arial"/>
                </a:rPr>
                <a:t>완성된 요약은 저장해 두세요 — 잠시 후 NotebookLM FAQ 자동 생성 실습에서 소스 자료로 그대로 재활용합니다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0" y="9710928"/>
            <a:ext cx="18287543" cy="576072"/>
            <a:chOff x="0" y="0"/>
            <a:chExt cx="24383390" cy="76809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4383364" cy="768096"/>
            </a:xfrm>
            <a:custGeom>
              <a:avLst/>
              <a:gdLst/>
              <a:ahLst/>
              <a:cxnLst/>
              <a:rect l="l" t="t" r="r" b="b"/>
              <a:pathLst>
                <a:path w="24383364" h="768096">
                  <a:moveTo>
                    <a:pt x="0" y="0"/>
                  </a:moveTo>
                  <a:lnTo>
                    <a:pt x="24383364" y="0"/>
                  </a:lnTo>
                  <a:lnTo>
                    <a:pt x="24383364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754380" y="9710928"/>
            <a:ext cx="8915400" cy="576072"/>
            <a:chOff x="0" y="0"/>
            <a:chExt cx="11887200" cy="76809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1887200" cy="768096"/>
            </a:xfrm>
            <a:custGeom>
              <a:avLst/>
              <a:gdLst/>
              <a:ahLst/>
              <a:cxnLst/>
              <a:rect l="l" t="t" r="r" b="b"/>
              <a:pathLst>
                <a:path w="11887200" h="768096">
                  <a:moveTo>
                    <a:pt x="0" y="0"/>
                  </a:moveTo>
                  <a:lnTo>
                    <a:pt x="11887200" y="0"/>
                  </a:lnTo>
                  <a:lnTo>
                    <a:pt x="11887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1554" b="-251554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9525"/>
              <a:ext cx="118872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3차시 | 실습 3 가상 상담 사례 AI 요약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326880" y="9710928"/>
            <a:ext cx="8229600" cy="576072"/>
            <a:chOff x="0" y="0"/>
            <a:chExt cx="10972800" cy="76809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0972800" cy="768096"/>
            </a:xfrm>
            <a:custGeom>
              <a:avLst/>
              <a:gdLst/>
              <a:ahLst/>
              <a:cxnLst/>
              <a:rect l="l" t="t" r="r" b="b"/>
              <a:pathLst>
                <a:path w="10972800" h="768096">
                  <a:moveTo>
                    <a:pt x="0" y="0"/>
                  </a:moveTo>
                  <a:lnTo>
                    <a:pt x="10972800" y="0"/>
                  </a:lnTo>
                  <a:lnTo>
                    <a:pt x="10972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9525"/>
              <a:ext cx="109728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ko-KR" altLang="en-US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부산여자대학교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DX교육운영센터</a:t>
              </a:r>
              <a:endParaRPr lang="en-US" sz="1575" dirty="0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0263" y="842543"/>
            <a:ext cx="3500123" cy="537467"/>
            <a:chOff x="0" y="0"/>
            <a:chExt cx="4666831" cy="7166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6869" cy="716661"/>
            </a:xfrm>
            <a:custGeom>
              <a:avLst/>
              <a:gdLst/>
              <a:ahLst/>
              <a:cxnLst/>
              <a:rect l="l" t="t" r="r" b="b"/>
              <a:pathLst>
                <a:path w="4666869" h="716661">
                  <a:moveTo>
                    <a:pt x="0" y="0"/>
                  </a:moveTo>
                  <a:lnTo>
                    <a:pt x="4666869" y="0"/>
                  </a:lnTo>
                  <a:lnTo>
                    <a:pt x="466686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19A544"/>
            </a:solidFill>
            <a:ln w="25400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822960" y="855240"/>
            <a:ext cx="3474720" cy="512064"/>
            <a:chOff x="0" y="0"/>
            <a:chExt cx="4632960" cy="6827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32960" cy="682752"/>
            </a:xfrm>
            <a:custGeom>
              <a:avLst/>
              <a:gdLst/>
              <a:ahLst/>
              <a:cxnLst/>
              <a:rect l="l" t="t" r="r" b="b"/>
              <a:pathLst>
                <a:path w="4632960" h="682752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219" b="-8221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463296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3차시-02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513608"/>
            <a:ext cx="16642080" cy="1316736"/>
            <a:chOff x="0" y="0"/>
            <a:chExt cx="22189440" cy="17556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9439" cy="1755648"/>
            </a:xfrm>
            <a:custGeom>
              <a:avLst/>
              <a:gdLst/>
              <a:ahLst/>
              <a:cxnLst/>
              <a:rect l="l" t="t" r="r" b="b"/>
              <a:pathLst>
                <a:path w="22189439" h="1755648">
                  <a:moveTo>
                    <a:pt x="0" y="0"/>
                  </a:moveTo>
                  <a:lnTo>
                    <a:pt x="22189439" y="0"/>
                  </a:lnTo>
                  <a:lnTo>
                    <a:pt x="221894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269" b="-19626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2189440" cy="1774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환자 FAQ 자동 생성 &amp; 관리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0263" y="2854223"/>
            <a:ext cx="2219963" cy="107699"/>
            <a:chOff x="0" y="0"/>
            <a:chExt cx="2959951" cy="1435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59989" cy="143637"/>
            </a:xfrm>
            <a:custGeom>
              <a:avLst/>
              <a:gdLst/>
              <a:ahLst/>
              <a:cxnLst/>
              <a:rect l="l" t="t" r="r" b="b"/>
              <a:pathLst>
                <a:path w="2959989" h="143637">
                  <a:moveTo>
                    <a:pt x="0" y="0"/>
                  </a:moveTo>
                  <a:lnTo>
                    <a:pt x="2959989" y="0"/>
                  </a:lnTo>
                  <a:lnTo>
                    <a:pt x="2959989" y="143637"/>
                  </a:lnTo>
                  <a:lnTo>
                    <a:pt x="0" y="14363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2960" y="3049800"/>
            <a:ext cx="16642080" cy="548640"/>
            <a:chOff x="0" y="0"/>
            <a:chExt cx="2218944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21894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rimo"/>
                  <a:ea typeface="Arimo"/>
                  <a:cs typeface="Arimo"/>
                  <a:sym typeface="Arimo"/>
                </a:rPr>
                <a:t>반복 질문 분석 → AI FAQ 작성 → 자동 업데이트 체계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6607" y="3153175"/>
            <a:ext cx="8150857" cy="4804153"/>
            <a:chOff x="0" y="0"/>
            <a:chExt cx="10867809" cy="64055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67771" cy="6405499"/>
            </a:xfrm>
            <a:custGeom>
              <a:avLst/>
              <a:gdLst/>
              <a:ahLst/>
              <a:cxnLst/>
              <a:rect l="l" t="t" r="r" b="b"/>
              <a:pathLst>
                <a:path w="10867771" h="6405499">
                  <a:moveTo>
                    <a:pt x="0" y="0"/>
                  </a:moveTo>
                  <a:lnTo>
                    <a:pt x="10867771" y="0"/>
                  </a:lnTo>
                  <a:lnTo>
                    <a:pt x="1086777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10263" y="3146831"/>
            <a:ext cx="135131" cy="4816859"/>
            <a:chOff x="0" y="0"/>
            <a:chExt cx="180175" cy="642247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B45309"/>
            </a:solidFill>
            <a:ln w="25400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152144" y="3397272"/>
            <a:ext cx="7680960" cy="548640"/>
            <a:chOff x="0" y="0"/>
            <a:chExt cx="1024128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❓ AI FAQ 생성 5단계 프로세스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52144" y="4037352"/>
            <a:ext cx="7680960" cy="3730752"/>
            <a:chOff x="0" y="0"/>
            <a:chExt cx="10241280" cy="49743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41280" cy="4974336"/>
            </a:xfrm>
            <a:custGeom>
              <a:avLst/>
              <a:gdLst/>
              <a:ahLst/>
              <a:cxnLst/>
              <a:rect l="l" t="t" r="r" b="b"/>
              <a:pathLst>
                <a:path w="10241280" h="4974336">
                  <a:moveTo>
                    <a:pt x="0" y="0"/>
                  </a:moveTo>
                  <a:lnTo>
                    <a:pt x="10241280" y="0"/>
                  </a:lnTo>
                  <a:lnTo>
                    <a:pt x="1024128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18" r="-1231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024128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① 민원 데이터 수집 — 최근 3개월 반복 질문 추출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② AI 유형 분류 — 주제별 그룹핑 및 우선순위화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③ AI FAQ 초안 생성 — 질문·답변 쌍 자동 작성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④ 검토·승인·배포 — 담당자 확인 후 게시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⑤ 주기적 업데이트 — 새 민원 반영 자동화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29087" y="3153175"/>
            <a:ext cx="8242297" cy="4804153"/>
            <a:chOff x="0" y="0"/>
            <a:chExt cx="10989729" cy="64055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89691" cy="6405499"/>
            </a:xfrm>
            <a:custGeom>
              <a:avLst/>
              <a:gdLst/>
              <a:ahLst/>
              <a:cxnLst/>
              <a:rect l="l" t="t" r="r" b="b"/>
              <a:pathLst>
                <a:path w="10989691" h="6405499">
                  <a:moveTo>
                    <a:pt x="0" y="0"/>
                  </a:moveTo>
                  <a:lnTo>
                    <a:pt x="10989691" y="0"/>
                  </a:lnTo>
                  <a:lnTo>
                    <a:pt x="1098969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222743" y="3146831"/>
            <a:ext cx="135131" cy="4816859"/>
            <a:chOff x="0" y="0"/>
            <a:chExt cx="180175" cy="642247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047857"/>
            </a:solidFill>
            <a:ln w="25400" cap="sq">
              <a:solidFill>
                <a:srgbClr val="047857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564624" y="3397272"/>
            <a:ext cx="7772400" cy="548640"/>
            <a:chOff x="0" y="0"/>
            <a:chExt cx="1036320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363200" cy="731520"/>
            </a:xfrm>
            <a:custGeom>
              <a:avLst/>
              <a:gdLst/>
              <a:ahLst/>
              <a:cxnLst/>
              <a:rect l="l" t="t" r="r" b="b"/>
              <a:pathLst>
                <a:path w="10363200" h="731520">
                  <a:moveTo>
                    <a:pt x="0" y="0"/>
                  </a:moveTo>
                  <a:lnTo>
                    <a:pt x="10363200" y="0"/>
                  </a:lnTo>
                  <a:lnTo>
                    <a:pt x="1036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038" b="-22603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103632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📚 병원 FAQ 주요 카테고리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64624" y="4037352"/>
            <a:ext cx="7772400" cy="3730752"/>
            <a:chOff x="0" y="0"/>
            <a:chExt cx="10363200" cy="497433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363200" cy="4974336"/>
            </a:xfrm>
            <a:custGeom>
              <a:avLst/>
              <a:gdLst/>
              <a:ahLst/>
              <a:cxnLst/>
              <a:rect l="l" t="t" r="r" b="b"/>
              <a:pathLst>
                <a:path w="10363200" h="4974336">
                  <a:moveTo>
                    <a:pt x="0" y="0"/>
                  </a:moveTo>
                  <a:lnTo>
                    <a:pt x="10363200" y="0"/>
                  </a:lnTo>
                  <a:lnTo>
                    <a:pt x="1036320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r="-1158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036320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🏥 예약·접수: 예약 방법, 변경·취소, 대기 안내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💳 수납·보험: 본인부담금, 급여 기준, 영수증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🚗 교통·주차: 대중교통, 주차 요금, 발렛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📋 검사·처치: 검사 전 주의사항, 소요 시간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🏨 입원·퇴원: 입원 절차, 보호자 규정, 준비물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0263" y="8084591"/>
            <a:ext cx="17033243" cy="903227"/>
            <a:chOff x="0" y="0"/>
            <a:chExt cx="22710991" cy="120430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711029" cy="1204341"/>
            </a:xfrm>
            <a:custGeom>
              <a:avLst/>
              <a:gdLst/>
              <a:ahLst/>
              <a:cxnLst/>
              <a:rect l="l" t="t" r="r" b="b"/>
              <a:pathLst>
                <a:path w="22711029" h="1204341">
                  <a:moveTo>
                    <a:pt x="0" y="0"/>
                  </a:moveTo>
                  <a:lnTo>
                    <a:pt x="22711029" y="0"/>
                  </a:lnTo>
                  <a:lnTo>
                    <a:pt x="22711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FFFBE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97280" y="8097288"/>
            <a:ext cx="16642080" cy="877824"/>
            <a:chOff x="0" y="0"/>
            <a:chExt cx="22189440" cy="117043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2189439" cy="1170432"/>
            </a:xfrm>
            <a:custGeom>
              <a:avLst/>
              <a:gdLst/>
              <a:ahLst/>
              <a:cxnLst/>
              <a:rect l="l" t="t" r="r" b="b"/>
              <a:pathLst>
                <a:path w="22189439" h="1170432">
                  <a:moveTo>
                    <a:pt x="0" y="0"/>
                  </a:moveTo>
                  <a:lnTo>
                    <a:pt x="22189439" y="0"/>
                  </a:lnTo>
                  <a:lnTo>
                    <a:pt x="221894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9403" b="-31940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22189440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2400E"/>
                  </a:solidFill>
                  <a:latin typeface="Arimo"/>
                  <a:ea typeface="Arimo"/>
                  <a:cs typeface="Arimo"/>
                  <a:sym typeface="Arimo"/>
                </a:rPr>
                <a:t>💡 실습 팁: 우리 병원 실제 민원 3건을 ChatGPT에 붙여넣고 'FAQ 5개로 작성해줘'라고 입력해보세요 → 즉시 FAQ 초안 완성!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3차시-02 | 환자 FAQ 자동 생성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48" name="AutoShape 48"/>
          <p:cNvSpPr/>
          <p:nvPr/>
        </p:nvSpPr>
        <p:spPr>
          <a:xfrm rot="6540">
            <a:off x="-792166" y="836190"/>
            <a:ext cx="6705552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315200" cy="10287000"/>
            <a:chOff x="0" y="0"/>
            <a:chExt cx="97536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53600" cy="13716000"/>
            </a:xfrm>
            <a:custGeom>
              <a:avLst/>
              <a:gdLst/>
              <a:ahLst/>
              <a:cxnLst/>
              <a:rect l="l" t="t" r="r" b="b"/>
              <a:pathLst>
                <a:path w="9753600" h="13716000">
                  <a:moveTo>
                    <a:pt x="0" y="0"/>
                  </a:moveTo>
                  <a:lnTo>
                    <a:pt x="9753600" y="0"/>
                  </a:lnTo>
                  <a:lnTo>
                    <a:pt x="9753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45920" y="1280160"/>
            <a:ext cx="4023360" cy="4023360"/>
            <a:chOff x="0" y="0"/>
            <a:chExt cx="5364480" cy="53644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64480" cy="5364480"/>
            </a:xfrm>
            <a:custGeom>
              <a:avLst/>
              <a:gdLst/>
              <a:ahLst/>
              <a:cxnLst/>
              <a:rect l="l" t="t" r="r" b="b"/>
              <a:pathLst>
                <a:path w="5364480" h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568"/>
                    <a:pt x="0" y="2682240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37360" y="1554480"/>
            <a:ext cx="3840480" cy="3474720"/>
            <a:chOff x="0" y="0"/>
            <a:chExt cx="5120640" cy="46329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20640" cy="4632960"/>
            </a:xfrm>
            <a:custGeom>
              <a:avLst/>
              <a:gdLst/>
              <a:ahLst/>
              <a:cxnLst/>
              <a:rect l="l" t="t" r="r" b="b"/>
              <a:pathLst>
                <a:path w="5120640" h="4632960">
                  <a:moveTo>
                    <a:pt x="0" y="0"/>
                  </a:moveTo>
                  <a:lnTo>
                    <a:pt x="5120640" y="0"/>
                  </a:lnTo>
                  <a:lnTo>
                    <a:pt x="5120640" y="4632960"/>
                  </a:lnTo>
                  <a:lnTo>
                    <a:pt x="0" y="463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r="-6608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247650"/>
              <a:ext cx="5120640" cy="4880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879"/>
                </a:lnSpc>
              </a:pPr>
              <a:r>
                <a:rPr lang="en-US" sz="12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📚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2880" y="5669280"/>
            <a:ext cx="6949440" cy="1005840"/>
            <a:chOff x="0" y="0"/>
            <a:chExt cx="9265920" cy="1341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265920" cy="1341120"/>
            </a:xfrm>
            <a:custGeom>
              <a:avLst/>
              <a:gdLst/>
              <a:ahLst/>
              <a:cxnLst/>
              <a:rect l="l" t="t" r="r" b="b"/>
              <a:pathLst>
                <a:path w="9265920" h="13411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623" b="-8462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9265920" cy="1360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NotebookLM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0030" y="6766560"/>
            <a:ext cx="6949440" cy="640080"/>
            <a:chOff x="0" y="0"/>
            <a:chExt cx="9265920" cy="8534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265920" cy="853440"/>
            </a:xfrm>
            <a:custGeom>
              <a:avLst/>
              <a:gdLst/>
              <a:ahLst/>
              <a:cxnLst/>
              <a:rect l="l" t="t" r="r" b="b"/>
              <a:pathLst>
                <a:path w="9265920" h="85344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926592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1A3A5C"/>
                  </a:solidFill>
                  <a:latin typeface="Arial"/>
                  <a:ea typeface="Arial"/>
                  <a:cs typeface="Arial"/>
                  <a:sym typeface="Arial"/>
                </a:rPr>
                <a:t>by Google  |  무료 (Google 계정)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7749540"/>
            <a:ext cx="6217920" cy="1097280"/>
            <a:chOff x="0" y="0"/>
            <a:chExt cx="8290560" cy="1463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290560" cy="1463040"/>
            </a:xfrm>
            <a:custGeom>
              <a:avLst/>
              <a:gdLst/>
              <a:ahLst/>
              <a:cxnLst/>
              <a:rect l="l" t="t" r="r" b="b"/>
              <a:pathLst>
                <a:path w="8290560" h="14630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8095488" y="0"/>
                  </a:lnTo>
                  <a:cubicBezTo>
                    <a:pt x="8203184" y="0"/>
                    <a:pt x="8290560" y="87376"/>
                    <a:pt x="8290560" y="195072"/>
                  </a:cubicBezTo>
                  <a:lnTo>
                    <a:pt x="8290560" y="1267968"/>
                  </a:lnTo>
                  <a:cubicBezTo>
                    <a:pt x="8290560" y="1375664"/>
                    <a:pt x="8203184" y="1463040"/>
                    <a:pt x="8095488" y="1463040"/>
                  </a:cubicBezTo>
                  <a:lnTo>
                    <a:pt x="195072" y="1463040"/>
                  </a:lnTo>
                  <a:cubicBezTo>
                    <a:pt x="87376" y="1463040"/>
                    <a:pt x="0" y="1375664"/>
                    <a:pt x="0" y="1267968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685800" y="7749540"/>
            <a:ext cx="6217920" cy="1097280"/>
            <a:chOff x="0" y="0"/>
            <a:chExt cx="8290560" cy="14630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290560" cy="1463040"/>
            </a:xfrm>
            <a:custGeom>
              <a:avLst/>
              <a:gdLst/>
              <a:ahLst/>
              <a:cxnLst/>
              <a:rect l="l" t="t" r="r" b="b"/>
              <a:pathLst>
                <a:path w="8290560" h="1463040">
                  <a:moveTo>
                    <a:pt x="0" y="0"/>
                  </a:moveTo>
                  <a:lnTo>
                    <a:pt x="8290560" y="0"/>
                  </a:lnTo>
                  <a:lnTo>
                    <a:pt x="8290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415" b="-6041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829056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D1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notebooklm.google.com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80960" y="457200"/>
            <a:ext cx="2560320" cy="694944"/>
            <a:chOff x="0" y="0"/>
            <a:chExt cx="3413760" cy="9265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13760" cy="926592"/>
            </a:xfrm>
            <a:custGeom>
              <a:avLst/>
              <a:gdLst/>
              <a:ahLst/>
              <a:cxnLst/>
              <a:rect l="l" t="t" r="r" b="b"/>
              <a:pathLst>
                <a:path w="3413760" h="9265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267456" y="0"/>
                  </a:lnTo>
                  <a:cubicBezTo>
                    <a:pt x="3348228" y="0"/>
                    <a:pt x="3413760" y="65532"/>
                    <a:pt x="3413760" y="146304"/>
                  </a:cubicBezTo>
                  <a:lnTo>
                    <a:pt x="3413760" y="780288"/>
                  </a:lnTo>
                  <a:cubicBezTo>
                    <a:pt x="3413760" y="861060"/>
                    <a:pt x="3348228" y="926592"/>
                    <a:pt x="3267456" y="926592"/>
                  </a:cubicBezTo>
                  <a:lnTo>
                    <a:pt x="146304" y="926592"/>
                  </a:lnTo>
                  <a:cubicBezTo>
                    <a:pt x="65532" y="926592"/>
                    <a:pt x="0" y="861060"/>
                    <a:pt x="0" y="780288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7680960" y="457200"/>
            <a:ext cx="2560320" cy="694944"/>
            <a:chOff x="0" y="0"/>
            <a:chExt cx="3413760" cy="9265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413760" cy="926592"/>
            </a:xfrm>
            <a:custGeom>
              <a:avLst/>
              <a:gdLst/>
              <a:ahLst/>
              <a:cxnLst/>
              <a:rect l="l" t="t" r="r" b="b"/>
              <a:pathLst>
                <a:path w="3413760" h="926592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786" b="-21786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3413760" cy="9456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0D1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실습 도구 ②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589520" y="1297686"/>
            <a:ext cx="10241280" cy="184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D1B2E"/>
                </a:solidFill>
                <a:latin typeface="Arial Bold"/>
                <a:ea typeface="Arial Bold"/>
                <a:cs typeface="Arial Bold"/>
                <a:sym typeface="Arial Bold"/>
              </a:rPr>
              <a:t>내 자료를 올리면</a:t>
            </a:r>
          </a:p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D1B2E"/>
                </a:solidFill>
                <a:latin typeface="Arial Bold"/>
                <a:ea typeface="Arial Bold"/>
                <a:cs typeface="Arial Bold"/>
                <a:sym typeface="Arial Bold"/>
              </a:rPr>
              <a:t>AI가 FAQ를 만들어주는 도구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564117" y="3009900"/>
            <a:ext cx="10200637" cy="50797"/>
            <a:chOff x="0" y="0"/>
            <a:chExt cx="13600849" cy="6772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600812" cy="67691"/>
            </a:xfrm>
            <a:custGeom>
              <a:avLst/>
              <a:gdLst/>
              <a:ahLst/>
              <a:cxnLst/>
              <a:rect l="l" t="t" r="r" b="b"/>
              <a:pathLst>
                <a:path w="13600812" h="67691">
                  <a:moveTo>
                    <a:pt x="0" y="0"/>
                  </a:moveTo>
                  <a:lnTo>
                    <a:pt x="13600812" y="676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3865013" b="-3865069"/>
              </a:stretch>
            </a:blipFill>
            <a:ln w="50800" cap="sq">
              <a:solidFill>
                <a:srgbClr val="174EA6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7570470" y="3314700"/>
            <a:ext cx="4792980" cy="3000756"/>
            <a:chOff x="0" y="0"/>
            <a:chExt cx="6390640" cy="400100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90640" cy="4001008"/>
            </a:xfrm>
            <a:custGeom>
              <a:avLst/>
              <a:gdLst/>
              <a:ahLst/>
              <a:cxnLst/>
              <a:rect l="l" t="t" r="r" b="b"/>
              <a:pathLst>
                <a:path w="6390640" h="4001008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6143625" y="0"/>
                  </a:lnTo>
                  <a:cubicBezTo>
                    <a:pt x="6280023" y="0"/>
                    <a:pt x="6390640" y="110617"/>
                    <a:pt x="6390640" y="247015"/>
                  </a:cubicBezTo>
                  <a:lnTo>
                    <a:pt x="6390640" y="3753993"/>
                  </a:lnTo>
                  <a:cubicBezTo>
                    <a:pt x="6390640" y="3890391"/>
                    <a:pt x="6280023" y="4001008"/>
                    <a:pt x="6143625" y="4001008"/>
                  </a:cubicBezTo>
                  <a:lnTo>
                    <a:pt x="247015" y="4001008"/>
                  </a:lnTo>
                  <a:cubicBezTo>
                    <a:pt x="110617" y="4001008"/>
                    <a:pt x="0" y="3890391"/>
                    <a:pt x="0" y="3753993"/>
                  </a:cubicBezTo>
                  <a:close/>
                </a:path>
              </a:pathLst>
            </a:custGeom>
            <a:solidFill>
              <a:srgbClr val="FFF5F5"/>
            </a:solidFill>
            <a:ln w="38100" cap="sq">
              <a:solidFill>
                <a:srgbClr val="E53E3E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680960" y="3388614"/>
            <a:ext cx="4572000" cy="640080"/>
            <a:chOff x="0" y="0"/>
            <a:chExt cx="6096000" cy="8534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096000" cy="853440"/>
            </a:xfrm>
            <a:custGeom>
              <a:avLst/>
              <a:gdLst/>
              <a:ahLst/>
              <a:cxnLst/>
              <a:rect l="l" t="t" r="r" b="b"/>
              <a:pathLst>
                <a:path w="6096000" h="85344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9178" b="-89178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609600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C039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일반 챗봇의 한계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680960" y="4110609"/>
            <a:ext cx="4572000" cy="205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✗ 학습 데이터로 답변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✗ 출처 불명확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✗ 환각(오답) 발생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✗ 내 자료 인식 불가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2399264" y="4303014"/>
            <a:ext cx="804672" cy="1097280"/>
            <a:chOff x="0" y="0"/>
            <a:chExt cx="1072896" cy="14630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72896" cy="1463040"/>
            </a:xfrm>
            <a:custGeom>
              <a:avLst/>
              <a:gdLst/>
              <a:ahLst/>
              <a:cxnLst/>
              <a:rect l="l" t="t" r="r" b="b"/>
              <a:pathLst>
                <a:path w="1072896" h="1463040">
                  <a:moveTo>
                    <a:pt x="0" y="0"/>
                  </a:moveTo>
                  <a:lnTo>
                    <a:pt x="1072896" y="0"/>
                  </a:lnTo>
                  <a:lnTo>
                    <a:pt x="10728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4959" r="-124959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1072896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88888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239750" y="3314700"/>
            <a:ext cx="4518660" cy="3000756"/>
            <a:chOff x="0" y="0"/>
            <a:chExt cx="6024880" cy="400100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024880" cy="4001008"/>
            </a:xfrm>
            <a:custGeom>
              <a:avLst/>
              <a:gdLst/>
              <a:ahLst/>
              <a:cxnLst/>
              <a:rect l="l" t="t" r="r" b="b"/>
              <a:pathLst>
                <a:path w="6024880" h="4001008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5777865" y="0"/>
                  </a:lnTo>
                  <a:cubicBezTo>
                    <a:pt x="5914263" y="0"/>
                    <a:pt x="6024880" y="110617"/>
                    <a:pt x="6024880" y="247015"/>
                  </a:cubicBezTo>
                  <a:lnTo>
                    <a:pt x="6024880" y="3753993"/>
                  </a:lnTo>
                  <a:cubicBezTo>
                    <a:pt x="6024880" y="3890391"/>
                    <a:pt x="5914263" y="4001008"/>
                    <a:pt x="5777865" y="4001008"/>
                  </a:cubicBezTo>
                  <a:lnTo>
                    <a:pt x="247015" y="4001008"/>
                  </a:lnTo>
                  <a:cubicBezTo>
                    <a:pt x="110617" y="4001008"/>
                    <a:pt x="0" y="3890391"/>
                    <a:pt x="0" y="3753993"/>
                  </a:cubicBezTo>
                  <a:close/>
                </a:path>
              </a:pathLst>
            </a:custGeom>
            <a:solidFill>
              <a:srgbClr val="EEF6FF"/>
            </a:solidFill>
            <a:ln w="38100" cap="sq">
              <a:solidFill>
                <a:srgbClr val="174EA6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3350240" y="3388614"/>
            <a:ext cx="4297680" cy="640080"/>
            <a:chOff x="0" y="0"/>
            <a:chExt cx="5730240" cy="8534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730240" cy="853440"/>
            </a:xfrm>
            <a:custGeom>
              <a:avLst/>
              <a:gdLst/>
              <a:ahLst/>
              <a:cxnLst/>
              <a:rect l="l" t="t" r="r" b="b"/>
              <a:pathLst>
                <a:path w="5730240" h="853440">
                  <a:moveTo>
                    <a:pt x="0" y="0"/>
                  </a:moveTo>
                  <a:lnTo>
                    <a:pt x="5730240" y="0"/>
                  </a:lnTo>
                  <a:lnTo>
                    <a:pt x="5730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0828" b="-80828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573024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74EA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NotebookLM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3350240" y="4110609"/>
            <a:ext cx="4297680" cy="205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74EA6"/>
                </a:solidFill>
                <a:latin typeface="Arial"/>
                <a:ea typeface="Arial"/>
                <a:cs typeface="Arial"/>
                <a:sym typeface="Arial"/>
              </a:rPr>
              <a:t>✓ 내 자료만으로 답변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74EA6"/>
                </a:solidFill>
                <a:latin typeface="Arial"/>
                <a:ea typeface="Arial"/>
                <a:cs typeface="Arial"/>
                <a:sym typeface="Arial"/>
              </a:rPr>
              <a:t>✓ 출처 인용 제공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74EA6"/>
                </a:solidFill>
                <a:latin typeface="Arial"/>
                <a:ea typeface="Arial"/>
                <a:cs typeface="Arial"/>
                <a:sym typeface="Arial"/>
              </a:rPr>
              <a:t>✓ 환각 최소화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74EA6"/>
                </a:solidFill>
                <a:latin typeface="Arial"/>
                <a:ea typeface="Arial"/>
                <a:cs typeface="Arial"/>
                <a:sym typeface="Arial"/>
              </a:rPr>
              <a:t>✓ 업로드 자료 학습 미사용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7589520" y="6591300"/>
            <a:ext cx="10241280" cy="723900"/>
            <a:chOff x="0" y="-111760"/>
            <a:chExt cx="13655040" cy="965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3655039" cy="853440"/>
            </a:xfrm>
            <a:custGeom>
              <a:avLst/>
              <a:gdLst/>
              <a:ahLst/>
              <a:cxnLst/>
              <a:rect l="l" t="t" r="r" b="b"/>
              <a:pathLst>
                <a:path w="13655039" h="853440">
                  <a:moveTo>
                    <a:pt x="0" y="0"/>
                  </a:moveTo>
                  <a:lnTo>
                    <a:pt x="13655039" y="0"/>
                  </a:lnTo>
                  <a:lnTo>
                    <a:pt x="136550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111760"/>
              <a:ext cx="13655040" cy="8724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 dirty="0">
                  <a:solidFill>
                    <a:srgbClr val="0D1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3단계만 </a:t>
              </a:r>
              <a:r>
                <a:rPr lang="en-US" sz="2600" b="1" dirty="0" err="1">
                  <a:solidFill>
                    <a:srgbClr val="0D1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기억하세요</a:t>
              </a:r>
              <a:endParaRPr lang="en-US" sz="2600" b="1" dirty="0">
                <a:solidFill>
                  <a:srgbClr val="0D1B2E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08386" y="7292911"/>
            <a:ext cx="3017520" cy="1133856"/>
            <a:chOff x="0" y="0"/>
            <a:chExt cx="4023360" cy="151180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023360" cy="1511808"/>
            </a:xfrm>
            <a:custGeom>
              <a:avLst/>
              <a:gdLst/>
              <a:ahLst/>
              <a:cxnLst/>
              <a:rect l="l" t="t" r="r" b="b"/>
              <a:pathLst>
                <a:path w="4023360" h="1511808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828288" y="0"/>
                  </a:lnTo>
                  <a:cubicBezTo>
                    <a:pt x="3935984" y="0"/>
                    <a:pt x="4023360" y="87376"/>
                    <a:pt x="4023360" y="195072"/>
                  </a:cubicBezTo>
                  <a:lnTo>
                    <a:pt x="4023360" y="1316736"/>
                  </a:lnTo>
                  <a:cubicBezTo>
                    <a:pt x="4023360" y="1424432"/>
                    <a:pt x="3935984" y="1511808"/>
                    <a:pt x="3828288" y="1511808"/>
                  </a:cubicBezTo>
                  <a:lnTo>
                    <a:pt x="195072" y="1511808"/>
                  </a:lnTo>
                  <a:cubicBezTo>
                    <a:pt x="87376" y="1511808"/>
                    <a:pt x="0" y="1424432"/>
                    <a:pt x="0" y="1316736"/>
                  </a:cubicBezTo>
                  <a:close/>
                </a:path>
              </a:pathLst>
            </a:custGeom>
            <a:solidFill>
              <a:srgbClr val="174EA6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7608386" y="7277100"/>
            <a:ext cx="3017520" cy="585216"/>
            <a:chOff x="0" y="0"/>
            <a:chExt cx="4023360" cy="78028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023360" cy="780288"/>
            </a:xfrm>
            <a:custGeom>
              <a:avLst/>
              <a:gdLst/>
              <a:ahLst/>
              <a:cxnLst/>
              <a:rect l="l" t="t" r="r" b="b"/>
              <a:pathLst>
                <a:path w="4023360" h="780288">
                  <a:moveTo>
                    <a:pt x="0" y="0"/>
                  </a:moveTo>
                  <a:lnTo>
                    <a:pt x="4023360" y="0"/>
                  </a:lnTo>
                  <a:lnTo>
                    <a:pt x="40233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469" b="-50469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4023360" cy="7898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① 소스 업로드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608386" y="7844028"/>
            <a:ext cx="3017520" cy="457200"/>
            <a:chOff x="0" y="0"/>
            <a:chExt cx="4023360" cy="6096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023360" cy="609600"/>
            </a:xfrm>
            <a:custGeom>
              <a:avLst/>
              <a:gdLst/>
              <a:ahLst/>
              <a:cxnLst/>
              <a:rect l="l" t="t" r="r" b="b"/>
              <a:pathLst>
                <a:path w="4023360" h="609600">
                  <a:moveTo>
                    <a:pt x="0" y="0"/>
                  </a:moveTo>
                  <a:lnTo>
                    <a:pt x="4023360" y="0"/>
                  </a:lnTo>
                  <a:lnTo>
                    <a:pt x="4023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402336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0EEF5"/>
                  </a:solidFill>
                  <a:latin typeface="Arial"/>
                  <a:ea typeface="Arial"/>
                  <a:cs typeface="Arial"/>
                  <a:sym typeface="Arial"/>
                </a:rPr>
                <a:t>PDF·Word·텍스트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625906" y="7368540"/>
            <a:ext cx="402336" cy="768096"/>
            <a:chOff x="0" y="0"/>
            <a:chExt cx="536448" cy="102412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36448" cy="1024128"/>
            </a:xfrm>
            <a:custGeom>
              <a:avLst/>
              <a:gdLst/>
              <a:ahLst/>
              <a:cxnLst/>
              <a:rect l="l" t="t" r="r" b="b"/>
              <a:pathLst>
                <a:path w="536448" h="1024128">
                  <a:moveTo>
                    <a:pt x="0" y="0"/>
                  </a:moveTo>
                  <a:lnTo>
                    <a:pt x="536448" y="0"/>
                  </a:lnTo>
                  <a:lnTo>
                    <a:pt x="5364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43" r="-194943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536448" cy="10527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AAAAA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028242" y="7292911"/>
            <a:ext cx="3017520" cy="1133856"/>
            <a:chOff x="0" y="0"/>
            <a:chExt cx="4023360" cy="151180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023360" cy="1511808"/>
            </a:xfrm>
            <a:custGeom>
              <a:avLst/>
              <a:gdLst/>
              <a:ahLst/>
              <a:cxnLst/>
              <a:rect l="l" t="t" r="r" b="b"/>
              <a:pathLst>
                <a:path w="4023360" h="1511808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828288" y="0"/>
                  </a:lnTo>
                  <a:cubicBezTo>
                    <a:pt x="3935984" y="0"/>
                    <a:pt x="4023360" y="87376"/>
                    <a:pt x="4023360" y="195072"/>
                  </a:cubicBezTo>
                  <a:lnTo>
                    <a:pt x="4023360" y="1316736"/>
                  </a:lnTo>
                  <a:cubicBezTo>
                    <a:pt x="4023360" y="1424432"/>
                    <a:pt x="3935984" y="1511808"/>
                    <a:pt x="3828288" y="1511808"/>
                  </a:cubicBezTo>
                  <a:lnTo>
                    <a:pt x="195072" y="1511808"/>
                  </a:lnTo>
                  <a:cubicBezTo>
                    <a:pt x="87376" y="1511808"/>
                    <a:pt x="0" y="1424432"/>
                    <a:pt x="0" y="1316736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1028242" y="7277100"/>
            <a:ext cx="3017520" cy="585216"/>
            <a:chOff x="0" y="0"/>
            <a:chExt cx="4023360" cy="78028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023360" cy="780288"/>
            </a:xfrm>
            <a:custGeom>
              <a:avLst/>
              <a:gdLst/>
              <a:ahLst/>
              <a:cxnLst/>
              <a:rect l="l" t="t" r="r" b="b"/>
              <a:pathLst>
                <a:path w="4023360" h="780288">
                  <a:moveTo>
                    <a:pt x="0" y="0"/>
                  </a:moveTo>
                  <a:lnTo>
                    <a:pt x="4023360" y="0"/>
                  </a:lnTo>
                  <a:lnTo>
                    <a:pt x="40233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469" b="-50469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4023360" cy="7898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② AI에게 질문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028242" y="7844028"/>
            <a:ext cx="3017520" cy="457200"/>
            <a:chOff x="0" y="0"/>
            <a:chExt cx="4023360" cy="6096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023360" cy="609600"/>
            </a:xfrm>
            <a:custGeom>
              <a:avLst/>
              <a:gdLst/>
              <a:ahLst/>
              <a:cxnLst/>
              <a:rect l="l" t="t" r="r" b="b"/>
              <a:pathLst>
                <a:path w="4023360" h="609600">
                  <a:moveTo>
                    <a:pt x="0" y="0"/>
                  </a:moveTo>
                  <a:lnTo>
                    <a:pt x="4023360" y="0"/>
                  </a:lnTo>
                  <a:lnTo>
                    <a:pt x="4023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9525"/>
              <a:ext cx="402336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0EEF5"/>
                  </a:solidFill>
                  <a:latin typeface="Arial"/>
                  <a:ea typeface="Arial"/>
                  <a:cs typeface="Arial"/>
                  <a:sym typeface="Arial"/>
                </a:rPr>
                <a:t>채팅창에 요청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4045762" y="7368540"/>
            <a:ext cx="402336" cy="768096"/>
            <a:chOff x="0" y="0"/>
            <a:chExt cx="536448" cy="102412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36448" cy="1024128"/>
            </a:xfrm>
            <a:custGeom>
              <a:avLst/>
              <a:gdLst/>
              <a:ahLst/>
              <a:cxnLst/>
              <a:rect l="l" t="t" r="r" b="b"/>
              <a:pathLst>
                <a:path w="536448" h="1024128">
                  <a:moveTo>
                    <a:pt x="0" y="0"/>
                  </a:moveTo>
                  <a:lnTo>
                    <a:pt x="536448" y="0"/>
                  </a:lnTo>
                  <a:lnTo>
                    <a:pt x="5364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43" r="-19494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28575"/>
              <a:ext cx="536448" cy="10527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AAAAA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4448098" y="7292911"/>
            <a:ext cx="3017520" cy="1133856"/>
            <a:chOff x="0" y="0"/>
            <a:chExt cx="4023360" cy="151180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023360" cy="1511808"/>
            </a:xfrm>
            <a:custGeom>
              <a:avLst/>
              <a:gdLst/>
              <a:ahLst/>
              <a:cxnLst/>
              <a:rect l="l" t="t" r="r" b="b"/>
              <a:pathLst>
                <a:path w="4023360" h="1511808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828288" y="0"/>
                  </a:lnTo>
                  <a:cubicBezTo>
                    <a:pt x="3935984" y="0"/>
                    <a:pt x="4023360" y="87376"/>
                    <a:pt x="4023360" y="195072"/>
                  </a:cubicBezTo>
                  <a:lnTo>
                    <a:pt x="4023360" y="1316736"/>
                  </a:lnTo>
                  <a:cubicBezTo>
                    <a:pt x="4023360" y="1424432"/>
                    <a:pt x="3935984" y="1511808"/>
                    <a:pt x="3828288" y="1511808"/>
                  </a:cubicBezTo>
                  <a:lnTo>
                    <a:pt x="195072" y="1511808"/>
                  </a:lnTo>
                  <a:cubicBezTo>
                    <a:pt x="87376" y="1511808"/>
                    <a:pt x="0" y="1424432"/>
                    <a:pt x="0" y="1316736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14448098" y="7277100"/>
            <a:ext cx="3017520" cy="585216"/>
            <a:chOff x="0" y="0"/>
            <a:chExt cx="4023360" cy="78028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023360" cy="780288"/>
            </a:xfrm>
            <a:custGeom>
              <a:avLst/>
              <a:gdLst/>
              <a:ahLst/>
              <a:cxnLst/>
              <a:rect l="l" t="t" r="r" b="b"/>
              <a:pathLst>
                <a:path w="4023360" h="780288">
                  <a:moveTo>
                    <a:pt x="0" y="0"/>
                  </a:moveTo>
                  <a:lnTo>
                    <a:pt x="4023360" y="0"/>
                  </a:lnTo>
                  <a:lnTo>
                    <a:pt x="40233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469" b="-50469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9525"/>
              <a:ext cx="4023360" cy="7898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③ 결과물 생성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448098" y="7844028"/>
            <a:ext cx="3017520" cy="457200"/>
            <a:chOff x="0" y="0"/>
            <a:chExt cx="4023360" cy="6096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023360" cy="609600"/>
            </a:xfrm>
            <a:custGeom>
              <a:avLst/>
              <a:gdLst/>
              <a:ahLst/>
              <a:cxnLst/>
              <a:rect l="l" t="t" r="r" b="b"/>
              <a:pathLst>
                <a:path w="4023360" h="609600">
                  <a:moveTo>
                    <a:pt x="0" y="0"/>
                  </a:moveTo>
                  <a:lnTo>
                    <a:pt x="4023360" y="0"/>
                  </a:lnTo>
                  <a:lnTo>
                    <a:pt x="4023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9525"/>
              <a:ext cx="402336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D1B2E"/>
                  </a:solidFill>
                  <a:latin typeface="Arial"/>
                  <a:ea typeface="Arial"/>
                  <a:cs typeface="Arial"/>
                  <a:sym typeface="Arial"/>
                </a:rPr>
                <a:t>FAQ·요약·보고서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537268" y="8642875"/>
            <a:ext cx="10266683" cy="793499"/>
            <a:chOff x="0" y="0"/>
            <a:chExt cx="13688911" cy="1057999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3688949" cy="1057910"/>
            </a:xfrm>
            <a:custGeom>
              <a:avLst/>
              <a:gdLst/>
              <a:ahLst/>
              <a:cxnLst/>
              <a:rect l="l" t="t" r="r" b="b"/>
              <a:pathLst>
                <a:path w="13688949" h="105791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13537819" y="0"/>
                  </a:lnTo>
                  <a:cubicBezTo>
                    <a:pt x="13621258" y="0"/>
                    <a:pt x="13688949" y="67691"/>
                    <a:pt x="13688949" y="151130"/>
                  </a:cubicBezTo>
                  <a:lnTo>
                    <a:pt x="13688949" y="906780"/>
                  </a:lnTo>
                  <a:cubicBezTo>
                    <a:pt x="13688949" y="990219"/>
                    <a:pt x="13621258" y="1057910"/>
                    <a:pt x="13537819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E8F4FF"/>
            </a:solidFill>
            <a:ln w="25400" cap="sq">
              <a:solidFill>
                <a:srgbClr val="174EA6"/>
              </a:solidFill>
              <a:prstDash val="solid"/>
              <a:miter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7608386" y="8765686"/>
            <a:ext cx="10058400" cy="768096"/>
            <a:chOff x="0" y="0"/>
            <a:chExt cx="13411200" cy="102412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3411200" cy="1024128"/>
            </a:xfrm>
            <a:custGeom>
              <a:avLst/>
              <a:gdLst/>
              <a:ahLst/>
              <a:cxnLst/>
              <a:rect l="l" t="t" r="r" b="b"/>
              <a:pathLst>
                <a:path w="13411200" h="1024128">
                  <a:moveTo>
                    <a:pt x="0" y="0"/>
                  </a:moveTo>
                  <a:lnTo>
                    <a:pt x="13411200" y="0"/>
                  </a:lnTo>
                  <a:lnTo>
                    <a:pt x="13411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5161" b="-205161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9525"/>
              <a:ext cx="134112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74EA6"/>
                  </a:solidFill>
                  <a:latin typeface="Arial"/>
                  <a:ea typeface="Arial"/>
                  <a:cs typeface="Arial"/>
                  <a:sym typeface="Arial"/>
                </a:rPr>
                <a:t>🔒 업로드한 자료는 Google AI 모델 학습에 사용되지 않습니다  |  Google 계정 무료  |  지원 형식: PDF, Word, 텍스트</a:t>
              </a:r>
            </a:p>
          </p:txBody>
        </p:sp>
      </p:grpSp>
      <p:sp>
        <p:nvSpPr>
          <p:cNvPr id="81" name="직사각형 80"/>
          <p:cNvSpPr/>
          <p:nvPr/>
        </p:nvSpPr>
        <p:spPr>
          <a:xfrm>
            <a:off x="7982464" y="4781288"/>
            <a:ext cx="2323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rPr>
              <a:t>㈜얼라이언스코리아</a:t>
            </a:r>
            <a:r>
              <a:rPr lang="en-US" altLang="ko-KR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lang="ko-KR" altLang="en-US" dirty="0"/>
          </a:p>
        </p:txBody>
      </p:sp>
      <p:grpSp>
        <p:nvGrpSpPr>
          <p:cNvPr id="82" name="Group 40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83" name="Freeform 41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84" name="Group 42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85" name="Freeform 4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6" name="TextBox 4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3차시-02 | 환자 FAQ 자동 생성</a:t>
              </a:r>
            </a:p>
          </p:txBody>
        </p:sp>
      </p:grpSp>
      <p:grpSp>
        <p:nvGrpSpPr>
          <p:cNvPr id="87" name="Group 45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88" name="Freeform 46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89" name="TextBox 4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219" y="1832882"/>
            <a:ext cx="17991327" cy="8433435"/>
          </a:xfrm>
          <a:custGeom>
            <a:avLst/>
            <a:gdLst/>
            <a:ahLst/>
            <a:cxnLst/>
            <a:rect l="l" t="t" r="r" b="b"/>
            <a:pathLst>
              <a:path w="17991327" h="8433435">
                <a:moveTo>
                  <a:pt x="0" y="0"/>
                </a:moveTo>
                <a:lnTo>
                  <a:pt x="17991327" y="0"/>
                </a:lnTo>
                <a:lnTo>
                  <a:pt x="17991327" y="8433434"/>
                </a:lnTo>
                <a:lnTo>
                  <a:pt x="0" y="8433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4219" y="1777486"/>
            <a:ext cx="4749412" cy="8207391"/>
            <a:chOff x="0" y="0"/>
            <a:chExt cx="929893" cy="16069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9893" cy="1606936"/>
            </a:xfrm>
            <a:custGeom>
              <a:avLst/>
              <a:gdLst/>
              <a:ahLst/>
              <a:cxnLst/>
              <a:rect l="l" t="t" r="r" b="b"/>
              <a:pathLst>
                <a:path w="929893" h="1606936">
                  <a:moveTo>
                    <a:pt x="0" y="0"/>
                  </a:moveTo>
                  <a:lnTo>
                    <a:pt x="929893" y="0"/>
                  </a:lnTo>
                  <a:lnTo>
                    <a:pt x="929893" y="1606936"/>
                  </a:lnTo>
                  <a:lnTo>
                    <a:pt x="0" y="1606936"/>
                  </a:lnTo>
                  <a:close/>
                </a:path>
              </a:pathLst>
            </a:custGeom>
            <a:ln w="4762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929893" cy="1625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4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8850" y="5098644"/>
            <a:ext cx="3963863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53"/>
              </a:lnSpc>
            </a:pPr>
            <a:r>
              <a:rPr lang="en-US" sz="7466" dirty="0" err="1">
                <a:solidFill>
                  <a:srgbClr val="FFFF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소스패널</a:t>
            </a:r>
            <a:endParaRPr lang="en-US" sz="7466" dirty="0">
              <a:solidFill>
                <a:srgbClr val="FFFF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803630" y="1777486"/>
            <a:ext cx="9828948" cy="8207391"/>
            <a:chOff x="0" y="0"/>
            <a:chExt cx="1924422" cy="16069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24422" cy="1606936"/>
            </a:xfrm>
            <a:custGeom>
              <a:avLst/>
              <a:gdLst/>
              <a:ahLst/>
              <a:cxnLst/>
              <a:rect l="l" t="t" r="r" b="b"/>
              <a:pathLst>
                <a:path w="1924422" h="1606936">
                  <a:moveTo>
                    <a:pt x="0" y="0"/>
                  </a:moveTo>
                  <a:lnTo>
                    <a:pt x="1924422" y="0"/>
                  </a:lnTo>
                  <a:lnTo>
                    <a:pt x="1924422" y="1606936"/>
                  </a:lnTo>
                  <a:lnTo>
                    <a:pt x="0" y="1606936"/>
                  </a:lnTo>
                  <a:close/>
                </a:path>
              </a:pathLst>
            </a:custGeom>
            <a:ln w="4762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924422" cy="1625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391400" y="3900045"/>
            <a:ext cx="4144756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53"/>
              </a:lnSpc>
            </a:pPr>
            <a:r>
              <a:rPr lang="en-US" sz="7466" dirty="0" err="1">
                <a:solidFill>
                  <a:srgbClr val="FFFF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채팅패널</a:t>
            </a:r>
            <a:endParaRPr lang="en-US" sz="7466" dirty="0">
              <a:solidFill>
                <a:srgbClr val="FFFF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4632578" y="1832882"/>
            <a:ext cx="3524878" cy="8151995"/>
            <a:chOff x="0" y="0"/>
            <a:chExt cx="690140" cy="15960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0140" cy="1596090"/>
            </a:xfrm>
            <a:custGeom>
              <a:avLst/>
              <a:gdLst/>
              <a:ahLst/>
              <a:cxnLst/>
              <a:rect l="l" t="t" r="r" b="b"/>
              <a:pathLst>
                <a:path w="690140" h="1596090">
                  <a:moveTo>
                    <a:pt x="0" y="0"/>
                  </a:moveTo>
                  <a:lnTo>
                    <a:pt x="690140" y="0"/>
                  </a:lnTo>
                  <a:lnTo>
                    <a:pt x="690140" y="1596090"/>
                  </a:lnTo>
                  <a:lnTo>
                    <a:pt x="0" y="1596090"/>
                  </a:lnTo>
                  <a:close/>
                </a:path>
              </a:pathLst>
            </a:custGeom>
            <a:ln w="4762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90140" cy="1615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859000" y="5219353"/>
            <a:ext cx="3117887" cy="1962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99"/>
              </a:lnSpc>
            </a:pPr>
            <a:r>
              <a:rPr lang="en-US" sz="5785" dirty="0" err="1">
                <a:solidFill>
                  <a:srgbClr val="FFFF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스튜디오</a:t>
            </a:r>
            <a:endParaRPr lang="en-US" sz="5785" dirty="0">
              <a:solidFill>
                <a:srgbClr val="FFFF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  <a:p>
            <a:pPr algn="ctr">
              <a:lnSpc>
                <a:spcPts val="7216"/>
              </a:lnSpc>
            </a:pPr>
            <a:r>
              <a:rPr lang="en-US" sz="5154" dirty="0" err="1">
                <a:solidFill>
                  <a:srgbClr val="FFFF00"/>
                </a:solidFill>
                <a:latin typeface="210 도시락"/>
                <a:ea typeface="210 도시락"/>
                <a:cs typeface="210 도시락"/>
                <a:sym typeface="210 도시락"/>
              </a:rPr>
              <a:t>패널</a:t>
            </a:r>
            <a:endParaRPr lang="en-US" sz="5154" dirty="0">
              <a:solidFill>
                <a:srgbClr val="FFFF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-612717" y="0"/>
            <a:ext cx="19325198" cy="1645920"/>
          </a:xfrm>
          <a:custGeom>
            <a:avLst/>
            <a:gdLst/>
            <a:ahLst/>
            <a:cxnLst/>
            <a:rect l="l" t="t" r="r" b="b"/>
            <a:pathLst>
              <a:path w="19325198" h="1645920">
                <a:moveTo>
                  <a:pt x="0" y="0"/>
                </a:moveTo>
                <a:lnTo>
                  <a:pt x="19325198" y="0"/>
                </a:lnTo>
                <a:lnTo>
                  <a:pt x="19325198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671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4219" y="264133"/>
            <a:ext cx="6301825" cy="764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3단계 프로세스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19" name="Group 79"/>
          <p:cNvGrpSpPr/>
          <p:nvPr/>
        </p:nvGrpSpPr>
        <p:grpSpPr>
          <a:xfrm>
            <a:off x="0" y="9710928"/>
            <a:ext cx="18287543" cy="576072"/>
            <a:chOff x="0" y="0"/>
            <a:chExt cx="24383390" cy="768096"/>
          </a:xfrm>
        </p:grpSpPr>
        <p:sp>
          <p:nvSpPr>
            <p:cNvPr id="20" name="Freeform 80"/>
            <p:cNvSpPr/>
            <p:nvPr/>
          </p:nvSpPr>
          <p:spPr>
            <a:xfrm>
              <a:off x="0" y="0"/>
              <a:ext cx="24383364" cy="768096"/>
            </a:xfrm>
            <a:custGeom>
              <a:avLst/>
              <a:gdLst/>
              <a:ahLst/>
              <a:cxnLst/>
              <a:rect l="l" t="t" r="r" b="b"/>
              <a:pathLst>
                <a:path w="24383364" h="768096">
                  <a:moveTo>
                    <a:pt x="0" y="0"/>
                  </a:moveTo>
                  <a:lnTo>
                    <a:pt x="24383364" y="0"/>
                  </a:lnTo>
                  <a:lnTo>
                    <a:pt x="24383364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1" name="Group 81"/>
          <p:cNvGrpSpPr/>
          <p:nvPr/>
        </p:nvGrpSpPr>
        <p:grpSpPr>
          <a:xfrm>
            <a:off x="754380" y="9710928"/>
            <a:ext cx="8915400" cy="576072"/>
            <a:chOff x="0" y="0"/>
            <a:chExt cx="11887200" cy="768096"/>
          </a:xfrm>
        </p:grpSpPr>
        <p:sp>
          <p:nvSpPr>
            <p:cNvPr id="22" name="Freeform 82"/>
            <p:cNvSpPr/>
            <p:nvPr/>
          </p:nvSpPr>
          <p:spPr>
            <a:xfrm>
              <a:off x="0" y="0"/>
              <a:ext cx="11887200" cy="768096"/>
            </a:xfrm>
            <a:custGeom>
              <a:avLst/>
              <a:gdLst/>
              <a:ahLst/>
              <a:cxnLst/>
              <a:rect l="l" t="t" r="r" b="b"/>
              <a:pathLst>
                <a:path w="11887200" h="768096">
                  <a:moveTo>
                    <a:pt x="0" y="0"/>
                  </a:moveTo>
                  <a:lnTo>
                    <a:pt x="11887200" y="0"/>
                  </a:lnTo>
                  <a:lnTo>
                    <a:pt x="11887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554" b="-251554"/>
              </a:stretch>
            </a:blipFill>
          </p:spPr>
        </p:sp>
        <p:sp>
          <p:nvSpPr>
            <p:cNvPr id="23" name="TextBox 83"/>
            <p:cNvSpPr txBox="1"/>
            <p:nvPr/>
          </p:nvSpPr>
          <p:spPr>
            <a:xfrm>
              <a:off x="0" y="-9525"/>
              <a:ext cx="118872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3차시 | 실습 3 가상 상담 사례 AI 요약</a:t>
              </a:r>
            </a:p>
          </p:txBody>
        </p:sp>
      </p:grpSp>
      <p:grpSp>
        <p:nvGrpSpPr>
          <p:cNvPr id="24" name="Group 84"/>
          <p:cNvGrpSpPr/>
          <p:nvPr/>
        </p:nvGrpSpPr>
        <p:grpSpPr>
          <a:xfrm>
            <a:off x="9326880" y="9710928"/>
            <a:ext cx="8229600" cy="576072"/>
            <a:chOff x="0" y="0"/>
            <a:chExt cx="10972800" cy="768096"/>
          </a:xfrm>
        </p:grpSpPr>
        <p:sp>
          <p:nvSpPr>
            <p:cNvPr id="25" name="Freeform 85"/>
            <p:cNvSpPr/>
            <p:nvPr/>
          </p:nvSpPr>
          <p:spPr>
            <a:xfrm>
              <a:off x="0" y="0"/>
              <a:ext cx="10972800" cy="768096"/>
            </a:xfrm>
            <a:custGeom>
              <a:avLst/>
              <a:gdLst/>
              <a:ahLst/>
              <a:cxnLst/>
              <a:rect l="l" t="t" r="r" b="b"/>
              <a:pathLst>
                <a:path w="10972800" h="768096">
                  <a:moveTo>
                    <a:pt x="0" y="0"/>
                  </a:moveTo>
                  <a:lnTo>
                    <a:pt x="10972800" y="0"/>
                  </a:lnTo>
                  <a:lnTo>
                    <a:pt x="10972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26" name="TextBox 86"/>
            <p:cNvSpPr txBox="1"/>
            <p:nvPr/>
          </p:nvSpPr>
          <p:spPr>
            <a:xfrm>
              <a:off x="0" y="-9525"/>
              <a:ext cx="109728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ko-KR" altLang="en-US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부산여자대학교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DX교육운영센터</a:t>
              </a:r>
              <a:endParaRPr lang="en-US" sz="1575" dirty="0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913282"/>
            <a:ext cx="9338256" cy="8907811"/>
          </a:xfrm>
          <a:custGeom>
            <a:avLst/>
            <a:gdLst/>
            <a:ahLst/>
            <a:cxnLst/>
            <a:rect l="l" t="t" r="r" b="b"/>
            <a:pathLst>
              <a:path w="9338256" h="8907811">
                <a:moveTo>
                  <a:pt x="0" y="0"/>
                </a:moveTo>
                <a:lnTo>
                  <a:pt x="9338256" y="0"/>
                </a:lnTo>
                <a:lnTo>
                  <a:pt x="9338256" y="8907812"/>
                </a:lnTo>
                <a:lnTo>
                  <a:pt x="0" y="8907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38256" y="1913282"/>
            <a:ext cx="8778354" cy="8373718"/>
          </a:xfrm>
          <a:custGeom>
            <a:avLst/>
            <a:gdLst/>
            <a:ahLst/>
            <a:cxnLst/>
            <a:rect l="l" t="t" r="r" b="b"/>
            <a:pathLst>
              <a:path w="8778354" h="8373718">
                <a:moveTo>
                  <a:pt x="0" y="0"/>
                </a:moveTo>
                <a:lnTo>
                  <a:pt x="8778354" y="0"/>
                </a:lnTo>
                <a:lnTo>
                  <a:pt x="8778354" y="8373718"/>
                </a:lnTo>
                <a:lnTo>
                  <a:pt x="0" y="8373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12717" y="0"/>
            <a:ext cx="19325198" cy="1645920"/>
          </a:xfrm>
          <a:custGeom>
            <a:avLst/>
            <a:gdLst/>
            <a:ahLst/>
            <a:cxnLst/>
            <a:rect l="l" t="t" r="r" b="b"/>
            <a:pathLst>
              <a:path w="19325198" h="1645920">
                <a:moveTo>
                  <a:pt x="0" y="0"/>
                </a:moveTo>
                <a:lnTo>
                  <a:pt x="19325198" y="0"/>
                </a:lnTo>
                <a:lnTo>
                  <a:pt x="19325198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567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44026" y="317183"/>
            <a:ext cx="4175312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dirty="0" err="1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지원</a:t>
            </a:r>
            <a:r>
              <a:rPr lang="en-US" sz="4400" dirty="0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 </a:t>
            </a:r>
            <a:r>
              <a:rPr lang="en-US" sz="4400" dirty="0" err="1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소스</a:t>
            </a:r>
            <a:r>
              <a:rPr lang="en-US" sz="4400" dirty="0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 </a:t>
            </a:r>
            <a:r>
              <a:rPr lang="en-US" sz="4400" dirty="0" err="1">
                <a:solidFill>
                  <a:srgbClr val="FFFFFF"/>
                </a:solidFill>
                <a:latin typeface="210 도시락"/>
                <a:ea typeface="210 도시락"/>
                <a:cs typeface="210 도시락"/>
                <a:sym typeface="210 도시락"/>
              </a:rPr>
              <a:t>유형</a:t>
            </a:r>
            <a:endParaRPr lang="en-US" sz="4400" dirty="0">
              <a:solidFill>
                <a:srgbClr val="FFFFFF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75289" y="2357784"/>
            <a:ext cx="2467841" cy="61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70"/>
              </a:lnSpc>
            </a:pPr>
            <a:r>
              <a:rPr lang="en-US" sz="3550">
                <a:solidFill>
                  <a:srgbClr val="0EA5E9"/>
                </a:solidFill>
                <a:latin typeface="TDTD와이드"/>
                <a:ea typeface="TDTD와이드"/>
                <a:cs typeface="TDTD와이드"/>
                <a:sym typeface="TDTD와이드"/>
              </a:rPr>
              <a:t>파일</a:t>
            </a:r>
            <a:r>
              <a:rPr lang="en-US" sz="3550">
                <a:solidFill>
                  <a:srgbClr val="FFFFFF"/>
                </a:solidFill>
                <a:latin typeface="TDTD와이드"/>
                <a:ea typeface="TDTD와이드"/>
                <a:cs typeface="TDTD와이드"/>
                <a:sym typeface="TDTD와이드"/>
              </a:rPr>
              <a:t> </a:t>
            </a:r>
            <a:r>
              <a:rPr lang="en-US" sz="3550">
                <a:solidFill>
                  <a:srgbClr val="0EA5E9"/>
                </a:solidFill>
                <a:latin typeface="TDTD와이드"/>
                <a:ea typeface="TDTD와이드"/>
                <a:cs typeface="TDTD와이드"/>
                <a:sym typeface="TDTD와이드"/>
              </a:rPr>
              <a:t>업로드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21793" y="2256399"/>
            <a:ext cx="3345115" cy="61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70"/>
              </a:lnSpc>
            </a:pPr>
            <a:r>
              <a:rPr lang="en-US" sz="3550">
                <a:solidFill>
                  <a:srgbClr val="06B6D4"/>
                </a:solidFill>
                <a:latin typeface="TDTD와이드"/>
                <a:ea typeface="TDTD와이드"/>
                <a:cs typeface="TDTD와이드"/>
                <a:sym typeface="TDTD와이드"/>
              </a:rPr>
              <a:t>웹&amp; 미디어소스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81422" y="3294567"/>
            <a:ext cx="4078520" cy="175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4"/>
              </a:lnSpc>
            </a:pPr>
            <a:r>
              <a:rPr lang="en-US" sz="2665" spc="2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PDF 문서(.pdf) Google Docs / Slides / Sheets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1422" y="5976663"/>
            <a:ext cx="3464423" cy="2531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4"/>
              </a:lnSpc>
            </a:pPr>
            <a:r>
              <a:rPr lang="en-US" sz="266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텍스트</a:t>
            </a:r>
            <a:r>
              <a:rPr lang="en-US" sz="266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66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파일</a:t>
            </a:r>
            <a:r>
              <a:rPr lang="en-US" sz="266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66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(.txt)</a:t>
            </a:r>
          </a:p>
          <a:p>
            <a:pPr algn="l">
              <a:lnSpc>
                <a:spcPts val="6664"/>
              </a:lnSpc>
            </a:pPr>
            <a:r>
              <a:rPr lang="en-US" sz="266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이미지파일(OCR 지원) CSV 데이터파일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3567" y="3141077"/>
            <a:ext cx="4052431" cy="16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4"/>
              </a:lnSpc>
            </a:pPr>
            <a:r>
              <a:rPr lang="en-US" sz="266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웹사이트URL 링크</a:t>
            </a:r>
          </a:p>
          <a:p>
            <a:pPr algn="l">
              <a:lnSpc>
                <a:spcPts val="6664"/>
              </a:lnSpc>
            </a:pPr>
            <a:r>
              <a:rPr lang="en-US" sz="266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YouTube 동영상(자막추출)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3567" y="5611497"/>
            <a:ext cx="4259620" cy="2615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4"/>
              </a:lnSpc>
            </a:pPr>
            <a:r>
              <a:rPr lang="en-US" sz="266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Fast Research (빠른웹검색) Deep Research (심층웹연구)</a:t>
            </a:r>
          </a:p>
          <a:p>
            <a:pPr algn="l">
              <a:lnSpc>
                <a:spcPts val="6664"/>
              </a:lnSpc>
            </a:pPr>
            <a:r>
              <a:rPr lang="en-US" sz="266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복사/붙여넣기텍스트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1422" y="5366718"/>
            <a:ext cx="3237916" cy="49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67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Microsoft Word (.docx)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3567" y="5171663"/>
            <a:ext cx="1893686" cy="49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67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Drive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88786" y="5122821"/>
            <a:ext cx="2232293" cy="484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671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파일</a:t>
            </a:r>
            <a:r>
              <a:rPr lang="en-US" sz="267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71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직접</a:t>
            </a:r>
            <a:r>
              <a:rPr lang="en-US" sz="267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71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연동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17" name="Group 79"/>
          <p:cNvGrpSpPr/>
          <p:nvPr/>
        </p:nvGrpSpPr>
        <p:grpSpPr>
          <a:xfrm>
            <a:off x="0" y="9710928"/>
            <a:ext cx="18287543" cy="576072"/>
            <a:chOff x="0" y="0"/>
            <a:chExt cx="24383390" cy="768096"/>
          </a:xfrm>
        </p:grpSpPr>
        <p:sp>
          <p:nvSpPr>
            <p:cNvPr id="18" name="Freeform 80"/>
            <p:cNvSpPr/>
            <p:nvPr/>
          </p:nvSpPr>
          <p:spPr>
            <a:xfrm>
              <a:off x="0" y="0"/>
              <a:ext cx="24383364" cy="768096"/>
            </a:xfrm>
            <a:custGeom>
              <a:avLst/>
              <a:gdLst/>
              <a:ahLst/>
              <a:cxnLst/>
              <a:rect l="l" t="t" r="r" b="b"/>
              <a:pathLst>
                <a:path w="24383364" h="768096">
                  <a:moveTo>
                    <a:pt x="0" y="0"/>
                  </a:moveTo>
                  <a:lnTo>
                    <a:pt x="24383364" y="0"/>
                  </a:lnTo>
                  <a:lnTo>
                    <a:pt x="24383364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9" name="Group 81"/>
          <p:cNvGrpSpPr/>
          <p:nvPr/>
        </p:nvGrpSpPr>
        <p:grpSpPr>
          <a:xfrm>
            <a:off x="754380" y="9710928"/>
            <a:ext cx="8915400" cy="576072"/>
            <a:chOff x="0" y="0"/>
            <a:chExt cx="11887200" cy="768096"/>
          </a:xfrm>
        </p:grpSpPr>
        <p:sp>
          <p:nvSpPr>
            <p:cNvPr id="20" name="Freeform 82"/>
            <p:cNvSpPr/>
            <p:nvPr/>
          </p:nvSpPr>
          <p:spPr>
            <a:xfrm>
              <a:off x="0" y="0"/>
              <a:ext cx="11887200" cy="768096"/>
            </a:xfrm>
            <a:custGeom>
              <a:avLst/>
              <a:gdLst/>
              <a:ahLst/>
              <a:cxnLst/>
              <a:rect l="l" t="t" r="r" b="b"/>
              <a:pathLst>
                <a:path w="11887200" h="768096">
                  <a:moveTo>
                    <a:pt x="0" y="0"/>
                  </a:moveTo>
                  <a:lnTo>
                    <a:pt x="11887200" y="0"/>
                  </a:lnTo>
                  <a:lnTo>
                    <a:pt x="11887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51554" b="-251554"/>
              </a:stretch>
            </a:blipFill>
          </p:spPr>
        </p:sp>
        <p:sp>
          <p:nvSpPr>
            <p:cNvPr id="21" name="TextBox 83"/>
            <p:cNvSpPr txBox="1"/>
            <p:nvPr/>
          </p:nvSpPr>
          <p:spPr>
            <a:xfrm>
              <a:off x="0" y="-9525"/>
              <a:ext cx="118872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3차시 | 실습 3 가상 상담 사례 AI 요약</a:t>
              </a:r>
            </a:p>
          </p:txBody>
        </p:sp>
      </p:grpSp>
      <p:grpSp>
        <p:nvGrpSpPr>
          <p:cNvPr id="22" name="Group 84"/>
          <p:cNvGrpSpPr/>
          <p:nvPr/>
        </p:nvGrpSpPr>
        <p:grpSpPr>
          <a:xfrm>
            <a:off x="9326880" y="9710928"/>
            <a:ext cx="8229600" cy="576072"/>
            <a:chOff x="0" y="0"/>
            <a:chExt cx="10972800" cy="768096"/>
          </a:xfrm>
        </p:grpSpPr>
        <p:sp>
          <p:nvSpPr>
            <p:cNvPr id="23" name="Freeform 85"/>
            <p:cNvSpPr/>
            <p:nvPr/>
          </p:nvSpPr>
          <p:spPr>
            <a:xfrm>
              <a:off x="0" y="0"/>
              <a:ext cx="10972800" cy="768096"/>
            </a:xfrm>
            <a:custGeom>
              <a:avLst/>
              <a:gdLst/>
              <a:ahLst/>
              <a:cxnLst/>
              <a:rect l="l" t="t" r="r" b="b"/>
              <a:pathLst>
                <a:path w="10972800" h="768096">
                  <a:moveTo>
                    <a:pt x="0" y="0"/>
                  </a:moveTo>
                  <a:lnTo>
                    <a:pt x="10972800" y="0"/>
                  </a:lnTo>
                  <a:lnTo>
                    <a:pt x="10972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24" name="TextBox 86"/>
            <p:cNvSpPr txBox="1"/>
            <p:nvPr/>
          </p:nvSpPr>
          <p:spPr>
            <a:xfrm>
              <a:off x="0" y="-9525"/>
              <a:ext cx="109728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ko-KR" altLang="en-US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부산여자대학교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DX교육운영센터</a:t>
              </a:r>
              <a:endParaRPr lang="en-US" sz="1575" dirty="0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NotebookLM으로 반복 민원 FAQ 자동 생성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31520" y="1920240"/>
            <a:ext cx="16824960" cy="768096"/>
            <a:chOff x="0" y="0"/>
            <a:chExt cx="22433280" cy="1024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33280" cy="1024128"/>
            </a:xfrm>
            <a:custGeom>
              <a:avLst/>
              <a:gdLst/>
              <a:ahLst/>
              <a:cxnLst/>
              <a:rect l="l" t="t" r="r" b="b"/>
              <a:pathLst>
                <a:path w="22433280" h="1024128">
                  <a:moveTo>
                    <a:pt x="0" y="0"/>
                  </a:moveTo>
                  <a:lnTo>
                    <a:pt x="22433280" y="0"/>
                  </a:lnTo>
                  <a:lnTo>
                    <a:pt x="22433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15" b="-37681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2433280" cy="1014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📚 NotebookLM = 업로드한 자료를 AI가 학습하여 질의응답·요약·FAQ를 자동 생성하는 Google AI 도구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0080" y="2871216"/>
            <a:ext cx="914400" cy="1097280"/>
            <a:chOff x="0" y="0"/>
            <a:chExt cx="1219200" cy="14630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40080" y="2871216"/>
            <a:ext cx="914400" cy="1097280"/>
            <a:chOff x="0" y="0"/>
            <a:chExt cx="1219200" cy="14630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21920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37360" y="2871216"/>
            <a:ext cx="2926080" cy="1097280"/>
            <a:chOff x="0" y="0"/>
            <a:chExt cx="3901440" cy="14630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01440" cy="1463040"/>
            </a:xfrm>
            <a:custGeom>
              <a:avLst/>
              <a:gdLst/>
              <a:ahLst/>
              <a:cxnLst/>
              <a:rect l="l" t="t" r="r" b="b"/>
              <a:pathLst>
                <a:path w="3901440" h="14630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737360" y="2871216"/>
            <a:ext cx="2926080" cy="1097280"/>
            <a:chOff x="0" y="0"/>
            <a:chExt cx="3901440" cy="14630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01440" cy="1463040"/>
            </a:xfrm>
            <a:custGeom>
              <a:avLst/>
              <a:gdLst/>
              <a:ahLst/>
              <a:cxnLst/>
              <a:rect l="l" t="t" r="r" b="b"/>
              <a:pathLst>
                <a:path w="3901440" h="14630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0" b="-196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3901440" cy="1453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자료 업로드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846320" y="2871216"/>
            <a:ext cx="12801600" cy="1097280"/>
            <a:chOff x="0" y="0"/>
            <a:chExt cx="17068800" cy="14630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068800" cy="1463040"/>
            </a:xfrm>
            <a:custGeom>
              <a:avLst/>
              <a:gdLst/>
              <a:ahLst/>
              <a:cxnLst/>
              <a:rect l="l" t="t" r="r" b="b"/>
              <a:pathLst>
                <a:path w="17068800" h="1463040">
                  <a:moveTo>
                    <a:pt x="0" y="0"/>
                  </a:moveTo>
                  <a:lnTo>
                    <a:pt x="17068800" y="0"/>
                  </a:lnTo>
                  <a:lnTo>
                    <a:pt x="170688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5029200" y="2871216"/>
            <a:ext cx="12435840" cy="1097280"/>
            <a:chOff x="0" y="0"/>
            <a:chExt cx="16581120" cy="14630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581120" cy="1463040"/>
            </a:xfrm>
            <a:custGeom>
              <a:avLst/>
              <a:gdLst/>
              <a:ahLst/>
              <a:cxnLst/>
              <a:rect l="l" t="t" r="r" b="b"/>
              <a:pathLst>
                <a:path w="16581120" h="1463040">
                  <a:moveTo>
                    <a:pt x="0" y="0"/>
                  </a:moveTo>
                  <a:lnTo>
                    <a:pt x="16581120" y="0"/>
                  </a:lnTo>
                  <a:lnTo>
                    <a:pt x="16581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830" b="-17083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658112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기존 민원 접수 기록, 처리 결과 보고서, 안내 매뉴얼 파일 업로드 (PDF, 문서 가능)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0080" y="4297680"/>
            <a:ext cx="914400" cy="1097280"/>
            <a:chOff x="0" y="0"/>
            <a:chExt cx="1219200" cy="14630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40080" y="4297680"/>
            <a:ext cx="914400" cy="1097280"/>
            <a:chOff x="0" y="0"/>
            <a:chExt cx="1219200" cy="14630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121920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37360" y="4297680"/>
            <a:ext cx="2926080" cy="1097280"/>
            <a:chOff x="0" y="0"/>
            <a:chExt cx="3901440" cy="14630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901440" cy="1463040"/>
            </a:xfrm>
            <a:custGeom>
              <a:avLst/>
              <a:gdLst/>
              <a:ahLst/>
              <a:cxnLst/>
              <a:rect l="l" t="t" r="r" b="b"/>
              <a:pathLst>
                <a:path w="3901440" h="14630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737360" y="4297680"/>
            <a:ext cx="2926080" cy="1097280"/>
            <a:chOff x="0" y="0"/>
            <a:chExt cx="3901440" cy="14630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901440" cy="1463040"/>
            </a:xfrm>
            <a:custGeom>
              <a:avLst/>
              <a:gdLst/>
              <a:ahLst/>
              <a:cxnLst/>
              <a:rect l="l" t="t" r="r" b="b"/>
              <a:pathLst>
                <a:path w="3901440" h="14630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0" b="-196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9525"/>
              <a:ext cx="3901440" cy="1453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AI 학습 완료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846320" y="4297680"/>
            <a:ext cx="12801600" cy="1097280"/>
            <a:chOff x="0" y="0"/>
            <a:chExt cx="17068800" cy="14630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068800" cy="1463040"/>
            </a:xfrm>
            <a:custGeom>
              <a:avLst/>
              <a:gdLst/>
              <a:ahLst/>
              <a:cxnLst/>
              <a:rect l="l" t="t" r="r" b="b"/>
              <a:pathLst>
                <a:path w="17068800" h="1463040">
                  <a:moveTo>
                    <a:pt x="0" y="0"/>
                  </a:moveTo>
                  <a:lnTo>
                    <a:pt x="17068800" y="0"/>
                  </a:lnTo>
                  <a:lnTo>
                    <a:pt x="170688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5029200" y="4297680"/>
            <a:ext cx="12435840" cy="1097280"/>
            <a:chOff x="0" y="0"/>
            <a:chExt cx="16581120" cy="14630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6581120" cy="1463040"/>
            </a:xfrm>
            <a:custGeom>
              <a:avLst/>
              <a:gdLst/>
              <a:ahLst/>
              <a:cxnLst/>
              <a:rect l="l" t="t" r="r" b="b"/>
              <a:pathLst>
                <a:path w="16581120" h="1463040">
                  <a:moveTo>
                    <a:pt x="0" y="0"/>
                  </a:moveTo>
                  <a:lnTo>
                    <a:pt x="16581120" y="0"/>
                  </a:lnTo>
                  <a:lnTo>
                    <a:pt x="16581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830" b="-17083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1658112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NotebookLM이 업로드 자료를 분석·학습 (약 1~2분 소요)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40080" y="5724144"/>
            <a:ext cx="914400" cy="1097280"/>
            <a:chOff x="0" y="0"/>
            <a:chExt cx="1219200" cy="14630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640080" y="5724144"/>
            <a:ext cx="914400" cy="1097280"/>
            <a:chOff x="0" y="0"/>
            <a:chExt cx="1219200" cy="14630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121920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737360" y="5724144"/>
            <a:ext cx="2926080" cy="1097280"/>
            <a:chOff x="0" y="0"/>
            <a:chExt cx="3901440" cy="14630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901440" cy="1463040"/>
            </a:xfrm>
            <a:custGeom>
              <a:avLst/>
              <a:gdLst/>
              <a:ahLst/>
              <a:cxnLst/>
              <a:rect l="l" t="t" r="r" b="b"/>
              <a:pathLst>
                <a:path w="3901440" h="14630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737360" y="5724144"/>
            <a:ext cx="2926080" cy="1097280"/>
            <a:chOff x="0" y="0"/>
            <a:chExt cx="3901440" cy="14630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901440" cy="1463040"/>
            </a:xfrm>
            <a:custGeom>
              <a:avLst/>
              <a:gdLst/>
              <a:ahLst/>
              <a:cxnLst/>
              <a:rect l="l" t="t" r="r" b="b"/>
              <a:pathLst>
                <a:path w="3901440" h="14630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0" b="-1960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9525"/>
              <a:ext cx="3901440" cy="1453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FAQ 생성 요청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46320" y="5724144"/>
            <a:ext cx="12801600" cy="1097280"/>
            <a:chOff x="0" y="0"/>
            <a:chExt cx="17068800" cy="14630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7068800" cy="1463040"/>
            </a:xfrm>
            <a:custGeom>
              <a:avLst/>
              <a:gdLst/>
              <a:ahLst/>
              <a:cxnLst/>
              <a:rect l="l" t="t" r="r" b="b"/>
              <a:pathLst>
                <a:path w="17068800" h="1463040">
                  <a:moveTo>
                    <a:pt x="0" y="0"/>
                  </a:moveTo>
                  <a:lnTo>
                    <a:pt x="17068800" y="0"/>
                  </a:lnTo>
                  <a:lnTo>
                    <a:pt x="170688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5029200" y="5724144"/>
            <a:ext cx="12435840" cy="1097280"/>
            <a:chOff x="0" y="0"/>
            <a:chExt cx="16581120" cy="14630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6581120" cy="1463040"/>
            </a:xfrm>
            <a:custGeom>
              <a:avLst/>
              <a:gdLst/>
              <a:ahLst/>
              <a:cxnLst/>
              <a:rect l="l" t="t" r="r" b="b"/>
              <a:pathLst>
                <a:path w="16581120" h="1463040">
                  <a:moveTo>
                    <a:pt x="0" y="0"/>
                  </a:moveTo>
                  <a:lnTo>
                    <a:pt x="16581120" y="0"/>
                  </a:lnTo>
                  <a:lnTo>
                    <a:pt x="16581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830" b="-170830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1658112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"이 자료를 바탕으로 자주 묻는 질문 TOP 10과 답변을 작성해줘"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40080" y="7150608"/>
            <a:ext cx="914400" cy="1097280"/>
            <a:chOff x="0" y="0"/>
            <a:chExt cx="1219200" cy="14630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640080" y="7150608"/>
            <a:ext cx="914400" cy="1097280"/>
            <a:chOff x="0" y="0"/>
            <a:chExt cx="1219200" cy="14630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19200" cy="1463040"/>
            </a:xfrm>
            <a:custGeom>
              <a:avLst/>
              <a:gdLst/>
              <a:ahLst/>
              <a:cxnLst/>
              <a:rect l="l" t="t" r="r" b="b"/>
              <a:pathLst>
                <a:path w="1219200" h="1463040">
                  <a:moveTo>
                    <a:pt x="0" y="0"/>
                  </a:moveTo>
                  <a:lnTo>
                    <a:pt x="1219200" y="0"/>
                  </a:lnTo>
                  <a:lnTo>
                    <a:pt x="121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121920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4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737360" y="7150608"/>
            <a:ext cx="2926080" cy="1097280"/>
            <a:chOff x="0" y="0"/>
            <a:chExt cx="3901440" cy="14630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901440" cy="1463040"/>
            </a:xfrm>
            <a:custGeom>
              <a:avLst/>
              <a:gdLst/>
              <a:ahLst/>
              <a:cxnLst/>
              <a:rect l="l" t="t" r="r" b="b"/>
              <a:pathLst>
                <a:path w="3901440" h="14630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737360" y="7150608"/>
            <a:ext cx="2926080" cy="1097280"/>
            <a:chOff x="0" y="0"/>
            <a:chExt cx="3901440" cy="146304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901440" cy="1463040"/>
            </a:xfrm>
            <a:custGeom>
              <a:avLst/>
              <a:gdLst/>
              <a:ahLst/>
              <a:cxnLst/>
              <a:rect l="l" t="t" r="r" b="b"/>
              <a:pathLst>
                <a:path w="3901440" h="1463040">
                  <a:moveTo>
                    <a:pt x="0" y="0"/>
                  </a:moveTo>
                  <a:lnTo>
                    <a:pt x="3901440" y="0"/>
                  </a:lnTo>
                  <a:lnTo>
                    <a:pt x="3901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0" b="-1960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9525"/>
              <a:ext cx="3901440" cy="1453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결과 검토·활용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846320" y="7150608"/>
            <a:ext cx="12801600" cy="1097280"/>
            <a:chOff x="0" y="0"/>
            <a:chExt cx="17068800" cy="14630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7068800" cy="1463040"/>
            </a:xfrm>
            <a:custGeom>
              <a:avLst/>
              <a:gdLst/>
              <a:ahLst/>
              <a:cxnLst/>
              <a:rect l="l" t="t" r="r" b="b"/>
              <a:pathLst>
                <a:path w="17068800" h="1463040">
                  <a:moveTo>
                    <a:pt x="0" y="0"/>
                  </a:moveTo>
                  <a:lnTo>
                    <a:pt x="17068800" y="0"/>
                  </a:lnTo>
                  <a:lnTo>
                    <a:pt x="170688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5029200" y="7150608"/>
            <a:ext cx="12435840" cy="1097280"/>
            <a:chOff x="0" y="0"/>
            <a:chExt cx="16581120" cy="146304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6581120" cy="1463040"/>
            </a:xfrm>
            <a:custGeom>
              <a:avLst/>
              <a:gdLst/>
              <a:ahLst/>
              <a:cxnLst/>
              <a:rect l="l" t="t" r="r" b="b"/>
              <a:pathLst>
                <a:path w="16581120" h="1463040">
                  <a:moveTo>
                    <a:pt x="0" y="0"/>
                  </a:moveTo>
                  <a:lnTo>
                    <a:pt x="16581120" y="0"/>
                  </a:lnTo>
                  <a:lnTo>
                    <a:pt x="16581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830" b="-170830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0"/>
              <a:ext cx="1658112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생성된 FAQ 내용 검토 → 기관 홈페이지·챗봇·응대 매뉴얼에 활용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40080" y="8686800"/>
            <a:ext cx="17007840" cy="914400"/>
            <a:chOff x="0" y="0"/>
            <a:chExt cx="22677120" cy="12192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2677120" cy="1219200"/>
            </a:xfrm>
            <a:custGeom>
              <a:avLst/>
              <a:gdLst/>
              <a:ahLst/>
              <a:cxnLst/>
              <a:rect l="l" t="t" r="r" b="b"/>
              <a:pathLst>
                <a:path w="22677120" h="1219200">
                  <a:moveTo>
                    <a:pt x="0" y="0"/>
                  </a:moveTo>
                  <a:lnTo>
                    <a:pt x="22677120" y="0"/>
                  </a:lnTo>
                  <a:lnTo>
                    <a:pt x="226771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914400" y="8686800"/>
            <a:ext cx="16642080" cy="914400"/>
            <a:chOff x="0" y="0"/>
            <a:chExt cx="22189440" cy="12192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189439" cy="1219200"/>
            </a:xfrm>
            <a:custGeom>
              <a:avLst/>
              <a:gdLst/>
              <a:ahLst/>
              <a:cxnLst/>
              <a:rect l="l" t="t" r="r" b="b"/>
              <a:pathLst>
                <a:path w="22189439" h="1219200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4627" b="-304627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2218944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💡 활용 팁: 익명화한 실제 민원 사례 10~20건만 있어도 유용한 FAQ 자동 생성 가능</a:t>
              </a:r>
            </a:p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접속: notebooklm.google.com (Google 계정 필요, 무료)</a:t>
              </a:r>
            </a:p>
          </p:txBody>
        </p:sp>
      </p:grpSp>
      <p:grpSp>
        <p:nvGrpSpPr>
          <p:cNvPr id="77" name="Group 79"/>
          <p:cNvGrpSpPr/>
          <p:nvPr/>
        </p:nvGrpSpPr>
        <p:grpSpPr>
          <a:xfrm>
            <a:off x="0" y="9710928"/>
            <a:ext cx="18287543" cy="576072"/>
            <a:chOff x="0" y="0"/>
            <a:chExt cx="24383390" cy="768096"/>
          </a:xfrm>
        </p:grpSpPr>
        <p:sp>
          <p:nvSpPr>
            <p:cNvPr id="78" name="Freeform 80"/>
            <p:cNvSpPr/>
            <p:nvPr/>
          </p:nvSpPr>
          <p:spPr>
            <a:xfrm>
              <a:off x="0" y="0"/>
              <a:ext cx="24383364" cy="768096"/>
            </a:xfrm>
            <a:custGeom>
              <a:avLst/>
              <a:gdLst/>
              <a:ahLst/>
              <a:cxnLst/>
              <a:rect l="l" t="t" r="r" b="b"/>
              <a:pathLst>
                <a:path w="24383364" h="768096">
                  <a:moveTo>
                    <a:pt x="0" y="0"/>
                  </a:moveTo>
                  <a:lnTo>
                    <a:pt x="24383364" y="0"/>
                  </a:lnTo>
                  <a:lnTo>
                    <a:pt x="24383364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79" name="Group 81"/>
          <p:cNvGrpSpPr/>
          <p:nvPr/>
        </p:nvGrpSpPr>
        <p:grpSpPr>
          <a:xfrm>
            <a:off x="754380" y="9710928"/>
            <a:ext cx="8915400" cy="576072"/>
            <a:chOff x="0" y="0"/>
            <a:chExt cx="11887200" cy="768096"/>
          </a:xfrm>
        </p:grpSpPr>
        <p:sp>
          <p:nvSpPr>
            <p:cNvPr id="80" name="Freeform 82"/>
            <p:cNvSpPr/>
            <p:nvPr/>
          </p:nvSpPr>
          <p:spPr>
            <a:xfrm>
              <a:off x="0" y="0"/>
              <a:ext cx="11887200" cy="768096"/>
            </a:xfrm>
            <a:custGeom>
              <a:avLst/>
              <a:gdLst/>
              <a:ahLst/>
              <a:cxnLst/>
              <a:rect l="l" t="t" r="r" b="b"/>
              <a:pathLst>
                <a:path w="11887200" h="768096">
                  <a:moveTo>
                    <a:pt x="0" y="0"/>
                  </a:moveTo>
                  <a:lnTo>
                    <a:pt x="11887200" y="0"/>
                  </a:lnTo>
                  <a:lnTo>
                    <a:pt x="11887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554" b="-251554"/>
              </a:stretch>
            </a:blipFill>
          </p:spPr>
        </p:sp>
        <p:sp>
          <p:nvSpPr>
            <p:cNvPr id="81" name="TextBox 83"/>
            <p:cNvSpPr txBox="1"/>
            <p:nvPr/>
          </p:nvSpPr>
          <p:spPr>
            <a:xfrm>
              <a:off x="0" y="-9525"/>
              <a:ext cx="118872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3차시 | 실습 3 가상 상담 사례 AI 요약</a:t>
              </a:r>
            </a:p>
          </p:txBody>
        </p:sp>
      </p:grpSp>
      <p:grpSp>
        <p:nvGrpSpPr>
          <p:cNvPr id="82" name="Group 84"/>
          <p:cNvGrpSpPr/>
          <p:nvPr/>
        </p:nvGrpSpPr>
        <p:grpSpPr>
          <a:xfrm>
            <a:off x="9326880" y="9710928"/>
            <a:ext cx="8229600" cy="576072"/>
            <a:chOff x="0" y="0"/>
            <a:chExt cx="10972800" cy="768096"/>
          </a:xfrm>
        </p:grpSpPr>
        <p:sp>
          <p:nvSpPr>
            <p:cNvPr id="83" name="Freeform 85"/>
            <p:cNvSpPr/>
            <p:nvPr/>
          </p:nvSpPr>
          <p:spPr>
            <a:xfrm>
              <a:off x="0" y="0"/>
              <a:ext cx="10972800" cy="768096"/>
            </a:xfrm>
            <a:custGeom>
              <a:avLst/>
              <a:gdLst/>
              <a:ahLst/>
              <a:cxnLst/>
              <a:rect l="l" t="t" r="r" b="b"/>
              <a:pathLst>
                <a:path w="10972800" h="768096">
                  <a:moveTo>
                    <a:pt x="0" y="0"/>
                  </a:moveTo>
                  <a:lnTo>
                    <a:pt x="10972800" y="0"/>
                  </a:lnTo>
                  <a:lnTo>
                    <a:pt x="10972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84" name="TextBox 86"/>
            <p:cNvSpPr txBox="1"/>
            <p:nvPr/>
          </p:nvSpPr>
          <p:spPr>
            <a:xfrm>
              <a:off x="0" y="-9525"/>
              <a:ext cx="109728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ko-KR" altLang="en-US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부산여자대학교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DX교육운영센터</a:t>
              </a:r>
              <a:endParaRPr lang="en-US" sz="1575" dirty="0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민원 처리 결과 보고서 자동화 초안 작성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920240"/>
            <a:ext cx="17007840" cy="694944"/>
            <a:chOff x="0" y="0"/>
            <a:chExt cx="22677120" cy="9265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77120" cy="926592"/>
            </a:xfrm>
            <a:custGeom>
              <a:avLst/>
              <a:gdLst/>
              <a:ahLst/>
              <a:cxnLst/>
              <a:rect l="l" t="t" r="r" b="b"/>
              <a:pathLst>
                <a:path w="22677120" h="926592">
                  <a:moveTo>
                    <a:pt x="0" y="0"/>
                  </a:moveTo>
                  <a:lnTo>
                    <a:pt x="22677120" y="0"/>
                  </a:lnTo>
                  <a:lnTo>
                    <a:pt x="226771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22960" y="1920240"/>
            <a:ext cx="16642080" cy="694944"/>
            <a:chOff x="0" y="0"/>
            <a:chExt cx="22189440" cy="9265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189439" cy="926592"/>
            </a:xfrm>
            <a:custGeom>
              <a:avLst/>
              <a:gdLst/>
              <a:ahLst/>
              <a:cxnLst/>
              <a:rect l="l" t="t" r="r" b="b"/>
              <a:pathLst>
                <a:path w="22189439" h="926592">
                  <a:moveTo>
                    <a:pt x="0" y="0"/>
                  </a:moveTo>
                  <a:lnTo>
                    <a:pt x="22189439" y="0"/>
                  </a:lnTo>
                  <a:lnTo>
                    <a:pt x="221894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615" b="-41661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22189440" cy="917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📋 보고서 자동화 프롬프트 입력 → AI가 표준 양식 기반 초안 즉시 생성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0" y="2779776"/>
            <a:ext cx="8046720" cy="694944"/>
            <a:chOff x="0" y="0"/>
            <a:chExt cx="10728960" cy="9265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28960" cy="926592"/>
            </a:xfrm>
            <a:custGeom>
              <a:avLst/>
              <a:gdLst/>
              <a:ahLst/>
              <a:cxnLst/>
              <a:rect l="l" t="t" r="r" b="b"/>
              <a:pathLst>
                <a:path w="10728960" h="926592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961120" y="2779776"/>
            <a:ext cx="8686800" cy="694944"/>
            <a:chOff x="0" y="0"/>
            <a:chExt cx="11582400" cy="9265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582400" cy="926592"/>
            </a:xfrm>
            <a:custGeom>
              <a:avLst/>
              <a:gdLst/>
              <a:ahLst/>
              <a:cxnLst/>
              <a:rect l="l" t="t" r="r" b="b"/>
              <a:pathLst>
                <a:path w="11582400" h="926592">
                  <a:moveTo>
                    <a:pt x="0" y="0"/>
                  </a:moveTo>
                  <a:lnTo>
                    <a:pt x="11582400" y="0"/>
                  </a:lnTo>
                  <a:lnTo>
                    <a:pt x="115824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40080" y="2779776"/>
            <a:ext cx="8046720" cy="694944"/>
            <a:chOff x="0" y="0"/>
            <a:chExt cx="10728960" cy="92659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28960" cy="926592"/>
            </a:xfrm>
            <a:custGeom>
              <a:avLst/>
              <a:gdLst/>
              <a:ahLst/>
              <a:cxnLst/>
              <a:rect l="l" t="t" r="r" b="b"/>
              <a:pathLst>
                <a:path w="10728960" h="926592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616" b="-17561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10728960" cy="917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기존 수동 보고서 작성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961120" y="2779776"/>
            <a:ext cx="8686800" cy="694944"/>
            <a:chOff x="0" y="0"/>
            <a:chExt cx="11582400" cy="92659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582400" cy="926592"/>
            </a:xfrm>
            <a:custGeom>
              <a:avLst/>
              <a:gdLst/>
              <a:ahLst/>
              <a:cxnLst/>
              <a:rect l="l" t="t" r="r" b="b"/>
              <a:pathLst>
                <a:path w="11582400" h="926592">
                  <a:moveTo>
                    <a:pt x="0" y="0"/>
                  </a:moveTo>
                  <a:lnTo>
                    <a:pt x="11582400" y="0"/>
                  </a:lnTo>
                  <a:lnTo>
                    <a:pt x="11582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11582400" cy="917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AI 자동화 보고서 초안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0080" y="3621024"/>
            <a:ext cx="8046720" cy="877824"/>
            <a:chOff x="0" y="0"/>
            <a:chExt cx="10728960" cy="11704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728960" cy="1170432"/>
            </a:xfrm>
            <a:custGeom>
              <a:avLst/>
              <a:gdLst/>
              <a:ahLst/>
              <a:cxnLst/>
              <a:rect l="l" t="t" r="r" b="b"/>
              <a:pathLst>
                <a:path w="10728960" h="1170432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14400" y="3621024"/>
            <a:ext cx="7498080" cy="877824"/>
            <a:chOff x="0" y="0"/>
            <a:chExt cx="9997440" cy="11704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997440" cy="1170432"/>
            </a:xfrm>
            <a:custGeom>
              <a:avLst/>
              <a:gdLst/>
              <a:ahLst/>
              <a:cxnLst/>
              <a:rect l="l" t="t" r="r" b="b"/>
              <a:pathLst>
                <a:path w="9997440" h="1170432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434" b="-11643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9997440" cy="11704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✗  담당자가 처음부터 직접 작성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0080" y="4645152"/>
            <a:ext cx="8046720" cy="877824"/>
            <a:chOff x="0" y="0"/>
            <a:chExt cx="10728960" cy="117043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728960" cy="1170432"/>
            </a:xfrm>
            <a:custGeom>
              <a:avLst/>
              <a:gdLst/>
              <a:ahLst/>
              <a:cxnLst/>
              <a:rect l="l" t="t" r="r" b="b"/>
              <a:pathLst>
                <a:path w="10728960" h="1170432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14400" y="4645152"/>
            <a:ext cx="7498080" cy="877824"/>
            <a:chOff x="0" y="0"/>
            <a:chExt cx="9997440" cy="117043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997440" cy="1170432"/>
            </a:xfrm>
            <a:custGeom>
              <a:avLst/>
              <a:gdLst/>
              <a:ahLst/>
              <a:cxnLst/>
              <a:rect l="l" t="t" r="r" b="b"/>
              <a:pathLst>
                <a:path w="9997440" h="1170432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434" b="-11643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9997440" cy="11704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✗  매번 양식 찾아서 복사·붙여넣기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0080" y="5669280"/>
            <a:ext cx="8046720" cy="877824"/>
            <a:chOff x="0" y="0"/>
            <a:chExt cx="10728960" cy="117043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728960" cy="1170432"/>
            </a:xfrm>
            <a:custGeom>
              <a:avLst/>
              <a:gdLst/>
              <a:ahLst/>
              <a:cxnLst/>
              <a:rect l="l" t="t" r="r" b="b"/>
              <a:pathLst>
                <a:path w="10728960" h="1170432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914400" y="5669280"/>
            <a:ext cx="7498080" cy="877824"/>
            <a:chOff x="0" y="0"/>
            <a:chExt cx="9997440" cy="117043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997440" cy="1170432"/>
            </a:xfrm>
            <a:custGeom>
              <a:avLst/>
              <a:gdLst/>
              <a:ahLst/>
              <a:cxnLst/>
              <a:rect l="l" t="t" r="r" b="b"/>
              <a:pathLst>
                <a:path w="9997440" h="1170432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434" b="-11643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9997440" cy="11704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✗  내용 정리에 30~60분 소요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0080" y="6693408"/>
            <a:ext cx="8046720" cy="877824"/>
            <a:chOff x="0" y="0"/>
            <a:chExt cx="10728960" cy="117043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728960" cy="1170432"/>
            </a:xfrm>
            <a:custGeom>
              <a:avLst/>
              <a:gdLst/>
              <a:ahLst/>
              <a:cxnLst/>
              <a:rect l="l" t="t" r="r" b="b"/>
              <a:pathLst>
                <a:path w="10728960" h="1170432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914400" y="6693408"/>
            <a:ext cx="7498080" cy="877824"/>
            <a:chOff x="0" y="0"/>
            <a:chExt cx="9997440" cy="11704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997440" cy="1170432"/>
            </a:xfrm>
            <a:custGeom>
              <a:avLst/>
              <a:gdLst/>
              <a:ahLst/>
              <a:cxnLst/>
              <a:rect l="l" t="t" r="r" b="b"/>
              <a:pathLst>
                <a:path w="9997440" h="1170432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434" b="-116434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9997440" cy="11704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✗  작성자마다 형식 불일치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961120" y="3621024"/>
            <a:ext cx="8686800" cy="877824"/>
            <a:chOff x="0" y="0"/>
            <a:chExt cx="11582400" cy="11704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582400" cy="1170432"/>
            </a:xfrm>
            <a:custGeom>
              <a:avLst/>
              <a:gdLst/>
              <a:ahLst/>
              <a:cxnLst/>
              <a:rect l="l" t="t" r="r" b="b"/>
              <a:pathLst>
                <a:path w="11582400" h="1170432">
                  <a:moveTo>
                    <a:pt x="0" y="0"/>
                  </a:moveTo>
                  <a:lnTo>
                    <a:pt x="11582400" y="0"/>
                  </a:lnTo>
                  <a:lnTo>
                    <a:pt x="115824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9235440" y="3621024"/>
            <a:ext cx="8138160" cy="877824"/>
            <a:chOff x="0" y="0"/>
            <a:chExt cx="10850880" cy="117043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850880" cy="1170432"/>
            </a:xfrm>
            <a:custGeom>
              <a:avLst/>
              <a:gdLst/>
              <a:ahLst/>
              <a:cxnLst/>
              <a:rect l="l" t="t" r="r" b="b"/>
              <a:pathLst>
                <a:path w="10850880" h="1170432">
                  <a:moveTo>
                    <a:pt x="0" y="0"/>
                  </a:moveTo>
                  <a:lnTo>
                    <a:pt x="10850880" y="0"/>
                  </a:lnTo>
                  <a:lnTo>
                    <a:pt x="10850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0642" b="-130642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10850880" cy="11704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✓  상담 기록 텍스트 붙여넣기만으로 생성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961120" y="4645152"/>
            <a:ext cx="8686800" cy="877824"/>
            <a:chOff x="0" y="0"/>
            <a:chExt cx="11582400" cy="117043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582400" cy="1170432"/>
            </a:xfrm>
            <a:custGeom>
              <a:avLst/>
              <a:gdLst/>
              <a:ahLst/>
              <a:cxnLst/>
              <a:rect l="l" t="t" r="r" b="b"/>
              <a:pathLst>
                <a:path w="11582400" h="1170432">
                  <a:moveTo>
                    <a:pt x="0" y="0"/>
                  </a:moveTo>
                  <a:lnTo>
                    <a:pt x="11582400" y="0"/>
                  </a:lnTo>
                  <a:lnTo>
                    <a:pt x="115824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9235440" y="4645152"/>
            <a:ext cx="8138160" cy="877824"/>
            <a:chOff x="0" y="0"/>
            <a:chExt cx="10850880" cy="117043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850880" cy="1170432"/>
            </a:xfrm>
            <a:custGeom>
              <a:avLst/>
              <a:gdLst/>
              <a:ahLst/>
              <a:cxnLst/>
              <a:rect l="l" t="t" r="r" b="b"/>
              <a:pathLst>
                <a:path w="10850880" h="1170432">
                  <a:moveTo>
                    <a:pt x="0" y="0"/>
                  </a:moveTo>
                  <a:lnTo>
                    <a:pt x="10850880" y="0"/>
                  </a:lnTo>
                  <a:lnTo>
                    <a:pt x="10850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0642" b="-13064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10850880" cy="11704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✓  기관 표준 양식 자동 적용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961120" y="5669280"/>
            <a:ext cx="8686800" cy="877824"/>
            <a:chOff x="0" y="0"/>
            <a:chExt cx="11582400" cy="117043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582400" cy="1170432"/>
            </a:xfrm>
            <a:custGeom>
              <a:avLst/>
              <a:gdLst/>
              <a:ahLst/>
              <a:cxnLst/>
              <a:rect l="l" t="t" r="r" b="b"/>
              <a:pathLst>
                <a:path w="11582400" h="1170432">
                  <a:moveTo>
                    <a:pt x="0" y="0"/>
                  </a:moveTo>
                  <a:lnTo>
                    <a:pt x="11582400" y="0"/>
                  </a:lnTo>
                  <a:lnTo>
                    <a:pt x="115824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9235440" y="5669280"/>
            <a:ext cx="8138160" cy="877824"/>
            <a:chOff x="0" y="0"/>
            <a:chExt cx="10850880" cy="117043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850880" cy="1170432"/>
            </a:xfrm>
            <a:custGeom>
              <a:avLst/>
              <a:gdLst/>
              <a:ahLst/>
              <a:cxnLst/>
              <a:rect l="l" t="t" r="r" b="b"/>
              <a:pathLst>
                <a:path w="10850880" h="1170432">
                  <a:moveTo>
                    <a:pt x="0" y="0"/>
                  </a:moveTo>
                  <a:lnTo>
                    <a:pt x="10850880" y="0"/>
                  </a:lnTo>
                  <a:lnTo>
                    <a:pt x="10850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0642" b="-13064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10850880" cy="11704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✓  5분 이내 초안 완성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961120" y="6693408"/>
            <a:ext cx="8686800" cy="877824"/>
            <a:chOff x="0" y="0"/>
            <a:chExt cx="11582400" cy="117043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1582400" cy="1170432"/>
            </a:xfrm>
            <a:custGeom>
              <a:avLst/>
              <a:gdLst/>
              <a:ahLst/>
              <a:cxnLst/>
              <a:rect l="l" t="t" r="r" b="b"/>
              <a:pathLst>
                <a:path w="11582400" h="1170432">
                  <a:moveTo>
                    <a:pt x="0" y="0"/>
                  </a:moveTo>
                  <a:lnTo>
                    <a:pt x="11582400" y="0"/>
                  </a:lnTo>
                  <a:lnTo>
                    <a:pt x="115824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9235440" y="6693408"/>
            <a:ext cx="8138160" cy="877824"/>
            <a:chOff x="0" y="0"/>
            <a:chExt cx="10850880" cy="117043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850880" cy="1170432"/>
            </a:xfrm>
            <a:custGeom>
              <a:avLst/>
              <a:gdLst/>
              <a:ahLst/>
              <a:cxnLst/>
              <a:rect l="l" t="t" r="r" b="b"/>
              <a:pathLst>
                <a:path w="10850880" h="1170432">
                  <a:moveTo>
                    <a:pt x="0" y="0"/>
                  </a:moveTo>
                  <a:lnTo>
                    <a:pt x="10850880" y="0"/>
                  </a:lnTo>
                  <a:lnTo>
                    <a:pt x="10850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0642" b="-130642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10850880" cy="11704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✓  일관된 표준 형식 유지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40080" y="7581900"/>
            <a:ext cx="17007840" cy="768096"/>
            <a:chOff x="0" y="0"/>
            <a:chExt cx="22677120" cy="102412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2677120" cy="1024128"/>
            </a:xfrm>
            <a:custGeom>
              <a:avLst/>
              <a:gdLst/>
              <a:ahLst/>
              <a:cxnLst/>
              <a:rect l="l" t="t" r="r" b="b"/>
              <a:pathLst>
                <a:path w="22677120" h="1024128">
                  <a:moveTo>
                    <a:pt x="0" y="0"/>
                  </a:moveTo>
                  <a:lnTo>
                    <a:pt x="22677120" y="0"/>
                  </a:lnTo>
                  <a:lnTo>
                    <a:pt x="22677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822960" y="7581900"/>
            <a:ext cx="16642080" cy="768096"/>
            <a:chOff x="0" y="0"/>
            <a:chExt cx="22189440" cy="102412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2189439" cy="1024128"/>
            </a:xfrm>
            <a:custGeom>
              <a:avLst/>
              <a:gdLst/>
              <a:ahLst/>
              <a:cxnLst/>
              <a:rect l="l" t="t" r="r" b="b"/>
              <a:pathLst>
                <a:path w="22189439" h="1024128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75" b="-372175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22189440" cy="10241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i="1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📝 보고서 자동화 프롬프트: "다음 상담 내용을 [기관명] 민원처리 결과 보고서 양식에 맞게 정리해줘. 항목: 접수일시/민원유형/요청내용/처리내용/후속조치/담당자"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40080" y="8478012"/>
            <a:ext cx="17007840" cy="877824"/>
            <a:chOff x="0" y="0"/>
            <a:chExt cx="22677120" cy="117043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2677120" cy="1170432"/>
            </a:xfrm>
            <a:custGeom>
              <a:avLst/>
              <a:gdLst/>
              <a:ahLst/>
              <a:cxnLst/>
              <a:rect l="l" t="t" r="r" b="b"/>
              <a:pathLst>
                <a:path w="22677120" h="1170432">
                  <a:moveTo>
                    <a:pt x="0" y="0"/>
                  </a:moveTo>
                  <a:lnTo>
                    <a:pt x="22677120" y="0"/>
                  </a:lnTo>
                  <a:lnTo>
                    <a:pt x="22677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D2340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822960" y="8478012"/>
            <a:ext cx="16642080" cy="877824"/>
            <a:chOff x="0" y="0"/>
            <a:chExt cx="22189440" cy="117043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2189439" cy="1170432"/>
            </a:xfrm>
            <a:custGeom>
              <a:avLst/>
              <a:gdLst/>
              <a:ahLst/>
              <a:cxnLst/>
              <a:rect l="l" t="t" r="r" b="b"/>
              <a:pathLst>
                <a:path w="22189439" h="1170432">
                  <a:moveTo>
                    <a:pt x="0" y="0"/>
                  </a:moveTo>
                  <a:lnTo>
                    <a:pt x="22189439" y="0"/>
                  </a:lnTo>
                  <a:lnTo>
                    <a:pt x="221894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9403" b="-319403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22189440" cy="11704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⚡ AI가 초안을 생성하면 담당자는 내용 확인·서명만 → 업무 시간 70% 이상 절감 가능</a:t>
              </a:r>
            </a:p>
          </p:txBody>
        </p:sp>
      </p:grpSp>
      <p:grpSp>
        <p:nvGrpSpPr>
          <p:cNvPr id="74" name="Group 79"/>
          <p:cNvGrpSpPr/>
          <p:nvPr/>
        </p:nvGrpSpPr>
        <p:grpSpPr>
          <a:xfrm>
            <a:off x="0" y="9710928"/>
            <a:ext cx="18287543" cy="576072"/>
            <a:chOff x="0" y="0"/>
            <a:chExt cx="24383390" cy="768096"/>
          </a:xfrm>
        </p:grpSpPr>
        <p:sp>
          <p:nvSpPr>
            <p:cNvPr id="75" name="Freeform 80"/>
            <p:cNvSpPr/>
            <p:nvPr/>
          </p:nvSpPr>
          <p:spPr>
            <a:xfrm>
              <a:off x="0" y="0"/>
              <a:ext cx="24383364" cy="768096"/>
            </a:xfrm>
            <a:custGeom>
              <a:avLst/>
              <a:gdLst/>
              <a:ahLst/>
              <a:cxnLst/>
              <a:rect l="l" t="t" r="r" b="b"/>
              <a:pathLst>
                <a:path w="24383364" h="768096">
                  <a:moveTo>
                    <a:pt x="0" y="0"/>
                  </a:moveTo>
                  <a:lnTo>
                    <a:pt x="24383364" y="0"/>
                  </a:lnTo>
                  <a:lnTo>
                    <a:pt x="24383364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76" name="Group 81"/>
          <p:cNvGrpSpPr/>
          <p:nvPr/>
        </p:nvGrpSpPr>
        <p:grpSpPr>
          <a:xfrm>
            <a:off x="754380" y="9710928"/>
            <a:ext cx="8915400" cy="576072"/>
            <a:chOff x="0" y="0"/>
            <a:chExt cx="11887200" cy="768096"/>
          </a:xfrm>
        </p:grpSpPr>
        <p:sp>
          <p:nvSpPr>
            <p:cNvPr id="77" name="Freeform 82"/>
            <p:cNvSpPr/>
            <p:nvPr/>
          </p:nvSpPr>
          <p:spPr>
            <a:xfrm>
              <a:off x="0" y="0"/>
              <a:ext cx="11887200" cy="768096"/>
            </a:xfrm>
            <a:custGeom>
              <a:avLst/>
              <a:gdLst/>
              <a:ahLst/>
              <a:cxnLst/>
              <a:rect l="l" t="t" r="r" b="b"/>
              <a:pathLst>
                <a:path w="11887200" h="768096">
                  <a:moveTo>
                    <a:pt x="0" y="0"/>
                  </a:moveTo>
                  <a:lnTo>
                    <a:pt x="11887200" y="0"/>
                  </a:lnTo>
                  <a:lnTo>
                    <a:pt x="11887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554" b="-251554"/>
              </a:stretch>
            </a:blipFill>
          </p:spPr>
        </p:sp>
        <p:sp>
          <p:nvSpPr>
            <p:cNvPr id="78" name="TextBox 83"/>
            <p:cNvSpPr txBox="1"/>
            <p:nvPr/>
          </p:nvSpPr>
          <p:spPr>
            <a:xfrm>
              <a:off x="0" y="-9525"/>
              <a:ext cx="118872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3차시 | 실습 3 가상 상담 사례 AI 요약</a:t>
              </a:r>
            </a:p>
          </p:txBody>
        </p:sp>
      </p:grpSp>
      <p:grpSp>
        <p:nvGrpSpPr>
          <p:cNvPr id="79" name="Group 84"/>
          <p:cNvGrpSpPr/>
          <p:nvPr/>
        </p:nvGrpSpPr>
        <p:grpSpPr>
          <a:xfrm>
            <a:off x="9326880" y="9710928"/>
            <a:ext cx="8229600" cy="576072"/>
            <a:chOff x="0" y="0"/>
            <a:chExt cx="10972800" cy="768096"/>
          </a:xfrm>
        </p:grpSpPr>
        <p:sp>
          <p:nvSpPr>
            <p:cNvPr id="80" name="Freeform 85"/>
            <p:cNvSpPr/>
            <p:nvPr/>
          </p:nvSpPr>
          <p:spPr>
            <a:xfrm>
              <a:off x="0" y="0"/>
              <a:ext cx="10972800" cy="768096"/>
            </a:xfrm>
            <a:custGeom>
              <a:avLst/>
              <a:gdLst/>
              <a:ahLst/>
              <a:cxnLst/>
              <a:rect l="l" t="t" r="r" b="b"/>
              <a:pathLst>
                <a:path w="10972800" h="768096">
                  <a:moveTo>
                    <a:pt x="0" y="0"/>
                  </a:moveTo>
                  <a:lnTo>
                    <a:pt x="10972800" y="0"/>
                  </a:lnTo>
                  <a:lnTo>
                    <a:pt x="10972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81" name="TextBox 86"/>
            <p:cNvSpPr txBox="1"/>
            <p:nvPr/>
          </p:nvSpPr>
          <p:spPr>
            <a:xfrm>
              <a:off x="0" y="-9525"/>
              <a:ext cx="109728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ko-KR" altLang="en-US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부산여자대학교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DX교육운영센터</a:t>
              </a:r>
              <a:endParaRPr lang="en-US" sz="1575" dirty="0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3차시 핵심 정리 &amp; 자가 체크리스트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906524"/>
            <a:ext cx="1188720" cy="950976"/>
            <a:chOff x="0" y="0"/>
            <a:chExt cx="1584960" cy="12679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84960" cy="1267968"/>
            </a:xfrm>
            <a:custGeom>
              <a:avLst/>
              <a:gdLst/>
              <a:ahLst/>
              <a:cxnLst/>
              <a:rect l="l" t="t" r="r" b="b"/>
              <a:pathLst>
                <a:path w="1584960" h="1267968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0080" y="1906524"/>
            <a:ext cx="1188720" cy="950976"/>
            <a:chOff x="0" y="0"/>
            <a:chExt cx="1584960" cy="12679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84960" cy="1267968"/>
            </a:xfrm>
            <a:custGeom>
              <a:avLst/>
              <a:gdLst/>
              <a:ahLst/>
              <a:cxnLst/>
              <a:rect l="l" t="t" r="r" b="b"/>
              <a:pathLst>
                <a:path w="1584960" h="1267968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58496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spc="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기본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11680" y="1906524"/>
            <a:ext cx="768096" cy="768096"/>
            <a:chOff x="0" y="0"/>
            <a:chExt cx="1024128" cy="10241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2011680" y="1837944"/>
            <a:ext cx="768096" cy="768096"/>
            <a:chOff x="0" y="0"/>
            <a:chExt cx="1024128" cy="102412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1024128" cy="1014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962656" y="1906524"/>
            <a:ext cx="14593824" cy="950976"/>
            <a:chOff x="0" y="0"/>
            <a:chExt cx="19458432" cy="126796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458432" cy="1267968"/>
            </a:xfrm>
            <a:custGeom>
              <a:avLst/>
              <a:gdLst/>
              <a:ahLst/>
              <a:cxnLst/>
              <a:rect l="l" t="t" r="r" b="b"/>
              <a:pathLst>
                <a:path w="19458432" h="1267968">
                  <a:moveTo>
                    <a:pt x="0" y="0"/>
                  </a:moveTo>
                  <a:lnTo>
                    <a:pt x="19458432" y="0"/>
                  </a:lnTo>
                  <a:lnTo>
                    <a:pt x="1945843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3145536" y="1906524"/>
            <a:ext cx="14264640" cy="950976"/>
            <a:chOff x="0" y="0"/>
            <a:chExt cx="19019520" cy="12679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019520" cy="1267968"/>
            </a:xfrm>
            <a:custGeom>
              <a:avLst/>
              <a:gdLst/>
              <a:ahLst/>
              <a:cxnLst/>
              <a:rect l="l" t="t" r="r" b="b"/>
              <a:pathLst>
                <a:path w="19019520" h="1267968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19019520" cy="12584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클로바Note를 활용한 음성→텍스트 변환 프로세스를 이해하고 직접 해보았다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0080" y="3113532"/>
            <a:ext cx="1188720" cy="950976"/>
            <a:chOff x="0" y="0"/>
            <a:chExt cx="1584960" cy="126796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84960" cy="1267968"/>
            </a:xfrm>
            <a:custGeom>
              <a:avLst/>
              <a:gdLst/>
              <a:ahLst/>
              <a:cxnLst/>
              <a:rect l="l" t="t" r="r" b="b"/>
              <a:pathLst>
                <a:path w="1584960" h="1267968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40080" y="3113532"/>
            <a:ext cx="1188720" cy="950976"/>
            <a:chOff x="0" y="0"/>
            <a:chExt cx="1584960" cy="126796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84960" cy="1267968"/>
            </a:xfrm>
            <a:custGeom>
              <a:avLst/>
              <a:gdLst/>
              <a:ahLst/>
              <a:cxnLst/>
              <a:rect l="l" t="t" r="r" b="b"/>
              <a:pathLst>
                <a:path w="1584960" h="1267968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158496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spc="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기본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011680" y="3113532"/>
            <a:ext cx="768096" cy="768096"/>
            <a:chOff x="0" y="0"/>
            <a:chExt cx="1024128" cy="10241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2011680" y="3204972"/>
            <a:ext cx="768096" cy="768096"/>
            <a:chOff x="0" y="0"/>
            <a:chExt cx="1024128" cy="102412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1024128" cy="1014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962656" y="3113532"/>
            <a:ext cx="14593824" cy="950976"/>
            <a:chOff x="0" y="0"/>
            <a:chExt cx="19458432" cy="126796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9458432" cy="1267968"/>
            </a:xfrm>
            <a:custGeom>
              <a:avLst/>
              <a:gdLst/>
              <a:ahLst/>
              <a:cxnLst/>
              <a:rect l="l" t="t" r="r" b="b"/>
              <a:pathLst>
                <a:path w="19458432" h="1267968">
                  <a:moveTo>
                    <a:pt x="0" y="0"/>
                  </a:moveTo>
                  <a:lnTo>
                    <a:pt x="19458432" y="0"/>
                  </a:lnTo>
                  <a:lnTo>
                    <a:pt x="1945843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3145536" y="3113532"/>
            <a:ext cx="14264640" cy="950976"/>
            <a:chOff x="0" y="0"/>
            <a:chExt cx="19019520" cy="126796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019520" cy="1267968"/>
            </a:xfrm>
            <a:custGeom>
              <a:avLst/>
              <a:gdLst/>
              <a:ahLst/>
              <a:cxnLst/>
              <a:rect l="l" t="t" r="r" b="b"/>
              <a:pathLst>
                <a:path w="19019520" h="1267968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9525"/>
              <a:ext cx="19019520" cy="12584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상담 내용을 ChatGPT에 붙여넣어 AI 요약을 생성해보았다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0080" y="4375404"/>
            <a:ext cx="1188720" cy="950976"/>
            <a:chOff x="0" y="0"/>
            <a:chExt cx="1584960" cy="126796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584960" cy="1267968"/>
            </a:xfrm>
            <a:custGeom>
              <a:avLst/>
              <a:gdLst/>
              <a:ahLst/>
              <a:cxnLst/>
              <a:rect l="l" t="t" r="r" b="b"/>
              <a:pathLst>
                <a:path w="1584960" h="1267968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40080" y="4375404"/>
            <a:ext cx="1188720" cy="950976"/>
            <a:chOff x="0" y="0"/>
            <a:chExt cx="1584960" cy="126796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584960" cy="1267968"/>
            </a:xfrm>
            <a:custGeom>
              <a:avLst/>
              <a:gdLst/>
              <a:ahLst/>
              <a:cxnLst/>
              <a:rect l="l" t="t" r="r" b="b"/>
              <a:pathLst>
                <a:path w="1584960" h="1267968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158496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spc="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응용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011680" y="4375404"/>
            <a:ext cx="768096" cy="768096"/>
            <a:chOff x="0" y="0"/>
            <a:chExt cx="1024128" cy="102412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2011680" y="4466844"/>
            <a:ext cx="768096" cy="768096"/>
            <a:chOff x="0" y="0"/>
            <a:chExt cx="1024128" cy="102412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9525"/>
              <a:ext cx="1024128" cy="1014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962656" y="4375404"/>
            <a:ext cx="14593824" cy="950976"/>
            <a:chOff x="0" y="0"/>
            <a:chExt cx="19458432" cy="126796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9458432" cy="1267968"/>
            </a:xfrm>
            <a:custGeom>
              <a:avLst/>
              <a:gdLst/>
              <a:ahLst/>
              <a:cxnLst/>
              <a:rect l="l" t="t" r="r" b="b"/>
              <a:pathLst>
                <a:path w="19458432" h="1267968">
                  <a:moveTo>
                    <a:pt x="0" y="0"/>
                  </a:moveTo>
                  <a:lnTo>
                    <a:pt x="19458432" y="0"/>
                  </a:lnTo>
                  <a:lnTo>
                    <a:pt x="1945843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3145536" y="4375404"/>
            <a:ext cx="14264640" cy="950976"/>
            <a:chOff x="0" y="0"/>
            <a:chExt cx="19019520" cy="126796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9019520" cy="1267968"/>
            </a:xfrm>
            <a:custGeom>
              <a:avLst/>
              <a:gdLst/>
              <a:ahLst/>
              <a:cxnLst/>
              <a:rect l="l" t="t" r="r" b="b"/>
              <a:pathLst>
                <a:path w="19019520" h="1267968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9525"/>
              <a:ext cx="19019520" cy="12584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표준 기록 양식 기반 보고서 초안 생성 프롬프트를 작성해보았다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40080" y="5637276"/>
            <a:ext cx="1188720" cy="950976"/>
            <a:chOff x="0" y="0"/>
            <a:chExt cx="1584960" cy="126796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584960" cy="1267968"/>
            </a:xfrm>
            <a:custGeom>
              <a:avLst/>
              <a:gdLst/>
              <a:ahLst/>
              <a:cxnLst/>
              <a:rect l="l" t="t" r="r" b="b"/>
              <a:pathLst>
                <a:path w="1584960" h="1267968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640080" y="5637276"/>
            <a:ext cx="1188720" cy="950976"/>
            <a:chOff x="0" y="0"/>
            <a:chExt cx="1584960" cy="126796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584960" cy="1267968"/>
            </a:xfrm>
            <a:custGeom>
              <a:avLst/>
              <a:gdLst/>
              <a:ahLst/>
              <a:cxnLst/>
              <a:rect l="l" t="t" r="r" b="b"/>
              <a:pathLst>
                <a:path w="1584960" h="1267968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158496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spc="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응용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011680" y="5637276"/>
            <a:ext cx="768096" cy="768096"/>
            <a:chOff x="0" y="0"/>
            <a:chExt cx="1024128" cy="102412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2011680" y="5728716"/>
            <a:ext cx="768096" cy="768096"/>
            <a:chOff x="0" y="0"/>
            <a:chExt cx="1024128" cy="102412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9525"/>
              <a:ext cx="1024128" cy="1014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2962656" y="5637276"/>
            <a:ext cx="14593824" cy="950976"/>
            <a:chOff x="0" y="0"/>
            <a:chExt cx="19458432" cy="126796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9458432" cy="1267968"/>
            </a:xfrm>
            <a:custGeom>
              <a:avLst/>
              <a:gdLst/>
              <a:ahLst/>
              <a:cxnLst/>
              <a:rect l="l" t="t" r="r" b="b"/>
              <a:pathLst>
                <a:path w="19458432" h="1267968">
                  <a:moveTo>
                    <a:pt x="0" y="0"/>
                  </a:moveTo>
                  <a:lnTo>
                    <a:pt x="19458432" y="0"/>
                  </a:lnTo>
                  <a:lnTo>
                    <a:pt x="1945843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3145536" y="5637276"/>
            <a:ext cx="14264640" cy="950976"/>
            <a:chOff x="0" y="0"/>
            <a:chExt cx="19019520" cy="126796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9019520" cy="1267968"/>
            </a:xfrm>
            <a:custGeom>
              <a:avLst/>
              <a:gdLst/>
              <a:ahLst/>
              <a:cxnLst/>
              <a:rect l="l" t="t" r="r" b="b"/>
              <a:pathLst>
                <a:path w="19019520" h="1267968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9525"/>
              <a:ext cx="19019520" cy="12584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NotebookLM에 자료를 업로드하고 FAQ 10개를 자동 생성해보았다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40080" y="6899148"/>
            <a:ext cx="1188720" cy="950976"/>
            <a:chOff x="0" y="0"/>
            <a:chExt cx="1584960" cy="126796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584960" cy="1267968"/>
            </a:xfrm>
            <a:custGeom>
              <a:avLst/>
              <a:gdLst/>
              <a:ahLst/>
              <a:cxnLst/>
              <a:rect l="l" t="t" r="r" b="b"/>
              <a:pathLst>
                <a:path w="1584960" h="1267968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640080" y="6899148"/>
            <a:ext cx="1188720" cy="950976"/>
            <a:chOff x="0" y="0"/>
            <a:chExt cx="1584960" cy="126796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584960" cy="1267968"/>
            </a:xfrm>
            <a:custGeom>
              <a:avLst/>
              <a:gdLst/>
              <a:ahLst/>
              <a:cxnLst/>
              <a:rect l="l" t="t" r="r" b="b"/>
              <a:pathLst>
                <a:path w="1584960" h="1267968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158496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spc="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필수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2011680" y="6899148"/>
            <a:ext cx="768096" cy="768096"/>
            <a:chOff x="0" y="0"/>
            <a:chExt cx="1024128" cy="102412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2011680" y="6990588"/>
            <a:ext cx="768096" cy="768096"/>
            <a:chOff x="0" y="0"/>
            <a:chExt cx="1024128" cy="1024128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9525"/>
              <a:ext cx="1024128" cy="1014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2962656" y="6899148"/>
            <a:ext cx="14593824" cy="950976"/>
            <a:chOff x="0" y="0"/>
            <a:chExt cx="19458432" cy="126796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9458432" cy="1267968"/>
            </a:xfrm>
            <a:custGeom>
              <a:avLst/>
              <a:gdLst/>
              <a:ahLst/>
              <a:cxnLst/>
              <a:rect l="l" t="t" r="r" b="b"/>
              <a:pathLst>
                <a:path w="19458432" h="1267968">
                  <a:moveTo>
                    <a:pt x="0" y="0"/>
                  </a:moveTo>
                  <a:lnTo>
                    <a:pt x="19458432" y="0"/>
                  </a:lnTo>
                  <a:lnTo>
                    <a:pt x="1945843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3145536" y="6899148"/>
            <a:ext cx="14264640" cy="950976"/>
            <a:chOff x="0" y="0"/>
            <a:chExt cx="19019520" cy="1267968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9019520" cy="1267968"/>
            </a:xfrm>
            <a:custGeom>
              <a:avLst/>
              <a:gdLst/>
              <a:ahLst/>
              <a:cxnLst/>
              <a:rect l="l" t="t" r="r" b="b"/>
              <a:pathLst>
                <a:path w="19019520" h="1267968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9525"/>
              <a:ext cx="19019520" cy="12584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생성된 기록·보고서에서 개인정보 포함 여부를 검토했다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40080" y="8161020"/>
            <a:ext cx="1188720" cy="950976"/>
            <a:chOff x="0" y="0"/>
            <a:chExt cx="1584960" cy="126796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584960" cy="1267968"/>
            </a:xfrm>
            <a:custGeom>
              <a:avLst/>
              <a:gdLst/>
              <a:ahLst/>
              <a:cxnLst/>
              <a:rect l="l" t="t" r="r" b="b"/>
              <a:pathLst>
                <a:path w="1584960" h="1267968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640080" y="8161020"/>
            <a:ext cx="1188720" cy="950976"/>
            <a:chOff x="0" y="0"/>
            <a:chExt cx="1584960" cy="126796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584960" cy="1267968"/>
            </a:xfrm>
            <a:custGeom>
              <a:avLst/>
              <a:gdLst/>
              <a:ahLst/>
              <a:cxnLst/>
              <a:rect l="l" t="t" r="r" b="b"/>
              <a:pathLst>
                <a:path w="1584960" h="1267968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0"/>
              <a:ext cx="158496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spc="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심화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2011680" y="8161020"/>
            <a:ext cx="768096" cy="768096"/>
            <a:chOff x="0" y="0"/>
            <a:chExt cx="1024128" cy="102412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2011680" y="8252460"/>
            <a:ext cx="768096" cy="768096"/>
            <a:chOff x="0" y="0"/>
            <a:chExt cx="1024128" cy="1024128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9525"/>
              <a:ext cx="1024128" cy="1014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2962656" y="8161020"/>
            <a:ext cx="14593824" cy="950976"/>
            <a:chOff x="0" y="0"/>
            <a:chExt cx="19458432" cy="1267968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9458432" cy="1267968"/>
            </a:xfrm>
            <a:custGeom>
              <a:avLst/>
              <a:gdLst/>
              <a:ahLst/>
              <a:cxnLst/>
              <a:rect l="l" t="t" r="r" b="b"/>
              <a:pathLst>
                <a:path w="19458432" h="1267968">
                  <a:moveTo>
                    <a:pt x="0" y="0"/>
                  </a:moveTo>
                  <a:lnTo>
                    <a:pt x="19458432" y="0"/>
                  </a:lnTo>
                  <a:lnTo>
                    <a:pt x="1945843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3145536" y="8161020"/>
            <a:ext cx="14264640" cy="950976"/>
            <a:chOff x="0" y="0"/>
            <a:chExt cx="19019520" cy="1267968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9019520" cy="1267968"/>
            </a:xfrm>
            <a:custGeom>
              <a:avLst/>
              <a:gdLst/>
              <a:ahLst/>
              <a:cxnLst/>
              <a:rect l="l" t="t" r="r" b="b"/>
              <a:pathLst>
                <a:path w="19019520" h="1267968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9525"/>
              <a:ext cx="19019520" cy="12584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반복 민원 패턴 분석 프롬프트를 직접 설계해보았다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40080" y="9182100"/>
            <a:ext cx="17007840" cy="402336"/>
            <a:chOff x="0" y="0"/>
            <a:chExt cx="22677120" cy="536448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822960" y="9182100"/>
            <a:ext cx="16642080" cy="402336"/>
            <a:chOff x="0" y="0"/>
            <a:chExt cx="22189440" cy="536448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9525"/>
              <a:ext cx="22189440" cy="545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spc="8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✔ 4개 이상 체크: 충분한 이해   ✔ 2~3개: 추가 연습 필요   ✔ 1개 이하: 강사에게 질문하세요!</a:t>
              </a:r>
            </a:p>
          </p:txBody>
        </p:sp>
      </p:grpSp>
      <p:grpSp>
        <p:nvGrpSpPr>
          <p:cNvPr id="104" name="Group 79"/>
          <p:cNvGrpSpPr/>
          <p:nvPr/>
        </p:nvGrpSpPr>
        <p:grpSpPr>
          <a:xfrm>
            <a:off x="0" y="9710928"/>
            <a:ext cx="18287543" cy="576072"/>
            <a:chOff x="0" y="0"/>
            <a:chExt cx="24383390" cy="768096"/>
          </a:xfrm>
        </p:grpSpPr>
        <p:sp>
          <p:nvSpPr>
            <p:cNvPr id="105" name="Freeform 80"/>
            <p:cNvSpPr/>
            <p:nvPr/>
          </p:nvSpPr>
          <p:spPr>
            <a:xfrm>
              <a:off x="0" y="0"/>
              <a:ext cx="24383364" cy="768096"/>
            </a:xfrm>
            <a:custGeom>
              <a:avLst/>
              <a:gdLst/>
              <a:ahLst/>
              <a:cxnLst/>
              <a:rect l="l" t="t" r="r" b="b"/>
              <a:pathLst>
                <a:path w="24383364" h="768096">
                  <a:moveTo>
                    <a:pt x="0" y="0"/>
                  </a:moveTo>
                  <a:lnTo>
                    <a:pt x="24383364" y="0"/>
                  </a:lnTo>
                  <a:lnTo>
                    <a:pt x="24383364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06" name="Group 81"/>
          <p:cNvGrpSpPr/>
          <p:nvPr/>
        </p:nvGrpSpPr>
        <p:grpSpPr>
          <a:xfrm>
            <a:off x="754380" y="9710928"/>
            <a:ext cx="8915400" cy="576072"/>
            <a:chOff x="0" y="0"/>
            <a:chExt cx="11887200" cy="768096"/>
          </a:xfrm>
        </p:grpSpPr>
        <p:sp>
          <p:nvSpPr>
            <p:cNvPr id="107" name="Freeform 82"/>
            <p:cNvSpPr/>
            <p:nvPr/>
          </p:nvSpPr>
          <p:spPr>
            <a:xfrm>
              <a:off x="0" y="0"/>
              <a:ext cx="11887200" cy="768096"/>
            </a:xfrm>
            <a:custGeom>
              <a:avLst/>
              <a:gdLst/>
              <a:ahLst/>
              <a:cxnLst/>
              <a:rect l="l" t="t" r="r" b="b"/>
              <a:pathLst>
                <a:path w="11887200" h="768096">
                  <a:moveTo>
                    <a:pt x="0" y="0"/>
                  </a:moveTo>
                  <a:lnTo>
                    <a:pt x="11887200" y="0"/>
                  </a:lnTo>
                  <a:lnTo>
                    <a:pt x="11887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554" b="-251554"/>
              </a:stretch>
            </a:blipFill>
          </p:spPr>
        </p:sp>
        <p:sp>
          <p:nvSpPr>
            <p:cNvPr id="108" name="TextBox 83"/>
            <p:cNvSpPr txBox="1"/>
            <p:nvPr/>
          </p:nvSpPr>
          <p:spPr>
            <a:xfrm>
              <a:off x="0" y="-9525"/>
              <a:ext cx="118872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3차시 |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실습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3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가상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상담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사례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AI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요약</a:t>
              </a:r>
              <a:endParaRPr lang="en-US" sz="1575" dirty="0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roup 84"/>
          <p:cNvGrpSpPr/>
          <p:nvPr/>
        </p:nvGrpSpPr>
        <p:grpSpPr>
          <a:xfrm>
            <a:off x="9326880" y="9710928"/>
            <a:ext cx="8229600" cy="576072"/>
            <a:chOff x="0" y="0"/>
            <a:chExt cx="10972800" cy="768096"/>
          </a:xfrm>
        </p:grpSpPr>
        <p:sp>
          <p:nvSpPr>
            <p:cNvPr id="110" name="Freeform 85"/>
            <p:cNvSpPr/>
            <p:nvPr/>
          </p:nvSpPr>
          <p:spPr>
            <a:xfrm>
              <a:off x="0" y="0"/>
              <a:ext cx="10972800" cy="768096"/>
            </a:xfrm>
            <a:custGeom>
              <a:avLst/>
              <a:gdLst/>
              <a:ahLst/>
              <a:cxnLst/>
              <a:rect l="l" t="t" r="r" b="b"/>
              <a:pathLst>
                <a:path w="10972800" h="768096">
                  <a:moveTo>
                    <a:pt x="0" y="0"/>
                  </a:moveTo>
                  <a:lnTo>
                    <a:pt x="10972800" y="0"/>
                  </a:lnTo>
                  <a:lnTo>
                    <a:pt x="10972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11" name="TextBox 86"/>
            <p:cNvSpPr txBox="1"/>
            <p:nvPr/>
          </p:nvSpPr>
          <p:spPr>
            <a:xfrm>
              <a:off x="0" y="-9525"/>
              <a:ext cx="109728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ko-KR" altLang="en-US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부산여자대학교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DX교육운영센터</a:t>
              </a:r>
              <a:endParaRPr lang="en-US" sz="1575" dirty="0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5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67360" y="-1463040"/>
            <a:ext cx="8229600" cy="8229600"/>
            <a:chOff x="0" y="0"/>
            <a:chExt cx="109728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10972800"/>
            </a:xfrm>
            <a:custGeom>
              <a:avLst/>
              <a:gdLst/>
              <a:ahLst/>
              <a:cxnLst/>
              <a:rect l="l" t="t" r="r" b="b"/>
              <a:pathLst>
                <a:path w="10972800" h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0A7B83">
                <a:alpha val="5882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264640" y="4572000"/>
            <a:ext cx="5486400" cy="5486400"/>
            <a:chOff x="0" y="0"/>
            <a:chExt cx="7315200" cy="731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9A84C">
                <a:alpha val="392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97280" y="1282770"/>
            <a:ext cx="5486400" cy="914400"/>
            <a:chOff x="0" y="0"/>
            <a:chExt cx="7315200" cy="121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15200" cy="1219200"/>
            </a:xfrm>
            <a:custGeom>
              <a:avLst/>
              <a:gdLst/>
              <a:ahLst/>
              <a:cxnLst/>
              <a:rect l="l" t="t" r="r" b="b"/>
              <a:pathLst>
                <a:path w="7315200" h="1219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7315200" cy="1209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spc="12">
                  <a:solidFill>
                    <a:srgbClr val="F0D080"/>
                  </a:solidFill>
                  <a:latin typeface="Mandali"/>
                  <a:ea typeface="Mandali"/>
                  <a:cs typeface="Mandali"/>
                  <a:sym typeface="Mandali"/>
                </a:rPr>
                <a:t>4차시 | 2H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7280" y="7556849"/>
            <a:ext cx="4572000" cy="109728"/>
            <a:chOff x="0" y="0"/>
            <a:chExt cx="6096000" cy="1463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096000" cy="146304"/>
            </a:xfrm>
            <a:custGeom>
              <a:avLst/>
              <a:gdLst/>
              <a:ahLst/>
              <a:cxnLst/>
              <a:rect l="l" t="t" r="r" b="b"/>
              <a:pathLst>
                <a:path w="6096000" h="146304">
                  <a:moveTo>
                    <a:pt x="0" y="0"/>
                  </a:moveTo>
                  <a:lnTo>
                    <a:pt x="6096000" y="0"/>
                  </a:lnTo>
                  <a:lnTo>
                    <a:pt x="6096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97280" y="4253802"/>
            <a:ext cx="13716000" cy="2512758"/>
            <a:chOff x="0" y="0"/>
            <a:chExt cx="18288000" cy="33503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88000" cy="3350344"/>
            </a:xfrm>
            <a:custGeom>
              <a:avLst/>
              <a:gdLst/>
              <a:ahLst/>
              <a:cxnLst/>
              <a:rect l="l" t="t" r="r" b="b"/>
              <a:pathLst>
                <a:path w="18288000" h="3350344">
                  <a:moveTo>
                    <a:pt x="0" y="0"/>
                  </a:moveTo>
                  <a:lnTo>
                    <a:pt x="18288000" y="0"/>
                  </a:lnTo>
                  <a:lnTo>
                    <a:pt x="18288000" y="3350344"/>
                  </a:lnTo>
                  <a:lnTo>
                    <a:pt x="0" y="3350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70" b="-1654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47650"/>
              <a:ext cx="18288000" cy="3597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376"/>
                </a:lnSpc>
              </a:pPr>
              <a:r>
                <a:rPr lang="en-US" sz="2400">
                  <a:solidFill>
                    <a:srgbClr val="D0CECE"/>
                  </a:solidFill>
                  <a:latin typeface="Arimo"/>
                  <a:ea typeface="Arimo"/>
                  <a:cs typeface="Arimo"/>
                  <a:sym typeface="Arimo"/>
                </a:rPr>
                <a:t>-   기관 CS 특화 FAQ 챗봇 설계 원리 및 구조 이해</a:t>
              </a:r>
            </a:p>
            <a:p>
              <a:pPr algn="l">
                <a:lnSpc>
                  <a:spcPts val="5376"/>
                </a:lnSpc>
              </a:pPr>
              <a:r>
                <a:rPr lang="en-US" sz="2400">
                  <a:solidFill>
                    <a:srgbClr val="D0CECE"/>
                  </a:solidFill>
                  <a:latin typeface="Arimo"/>
                  <a:ea typeface="Arimo"/>
                  <a:cs typeface="Arimo"/>
                  <a:sym typeface="Arimo"/>
                </a:rPr>
                <a:t>-   실제 민원 Q&amp;A 데이터 기반 챗봇 시나리오 작성</a:t>
              </a:r>
            </a:p>
            <a:p>
              <a:pPr algn="l">
                <a:lnSpc>
                  <a:spcPts val="5376"/>
                </a:lnSpc>
              </a:pPr>
              <a:r>
                <a:rPr lang="en-US" sz="2400">
                  <a:solidFill>
                    <a:srgbClr val="D0CECE"/>
                  </a:solidFill>
                  <a:latin typeface="Arimo"/>
                  <a:ea typeface="Arimo"/>
                  <a:cs typeface="Arimo"/>
                  <a:sym typeface="Arimo"/>
                </a:rPr>
                <a:t>-   ChatGPT GPTs를 활용한 기관 안내·민원 응답 챗봇 제작 실습</a:t>
              </a:r>
            </a:p>
            <a:p>
              <a:pPr algn="l">
                <a:lnSpc>
                  <a:spcPts val="5376"/>
                </a:lnSpc>
              </a:pPr>
              <a:r>
                <a:rPr lang="en-US" sz="2400">
                  <a:solidFill>
                    <a:srgbClr val="D0CECE"/>
                  </a:solidFill>
                  <a:latin typeface="Arimo"/>
                  <a:ea typeface="Arimo"/>
                  <a:cs typeface="Arimo"/>
                  <a:sym typeface="Arimo"/>
                </a:rPr>
                <a:t>-   챗봇 테스트·오류 수정 및 개인정보 처리 주의사항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97280" y="2253348"/>
            <a:ext cx="14630400" cy="1572768"/>
            <a:chOff x="0" y="0"/>
            <a:chExt cx="19507200" cy="209702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507200" cy="2097024"/>
            </a:xfrm>
            <a:custGeom>
              <a:avLst/>
              <a:gdLst/>
              <a:ahLst/>
              <a:cxnLst/>
              <a:rect l="l" t="t" r="r" b="b"/>
              <a:pathLst>
                <a:path w="19507200" h="2097024">
                  <a:moveTo>
                    <a:pt x="0" y="0"/>
                  </a:moveTo>
                  <a:lnTo>
                    <a:pt x="19507200" y="0"/>
                  </a:lnTo>
                  <a:lnTo>
                    <a:pt x="19507200" y="2097024"/>
                  </a:lnTo>
                  <a:lnTo>
                    <a:pt x="0" y="2097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256" b="-13125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9507200" cy="21351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CS 맞춤형 FAQ 챗봇 구축 실습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4차시 | CS 특화 챗봇 설계·구현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0263" y="849687"/>
            <a:ext cx="3500123" cy="537467"/>
            <a:chOff x="0" y="0"/>
            <a:chExt cx="4666831" cy="7166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6869" cy="716661"/>
            </a:xfrm>
            <a:custGeom>
              <a:avLst/>
              <a:gdLst/>
              <a:ahLst/>
              <a:cxnLst/>
              <a:rect l="l" t="t" r="r" b="b"/>
              <a:pathLst>
                <a:path w="4666869" h="716661">
                  <a:moveTo>
                    <a:pt x="0" y="0"/>
                  </a:moveTo>
                  <a:lnTo>
                    <a:pt x="4666869" y="0"/>
                  </a:lnTo>
                  <a:lnTo>
                    <a:pt x="466686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F5760D"/>
            </a:solidFill>
            <a:ln w="25400" cap="sq">
              <a:solidFill>
                <a:srgbClr val="6D28D9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822960" y="862384"/>
            <a:ext cx="3474720" cy="512064"/>
            <a:chOff x="0" y="0"/>
            <a:chExt cx="4632960" cy="6827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32960" cy="682752"/>
            </a:xfrm>
            <a:custGeom>
              <a:avLst/>
              <a:gdLst/>
              <a:ahLst/>
              <a:cxnLst/>
              <a:rect l="l" t="t" r="r" b="b"/>
              <a:pathLst>
                <a:path w="4632960" h="682752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219" b="-8221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463296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4차시-01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520752"/>
            <a:ext cx="16642080" cy="1316736"/>
            <a:chOff x="0" y="0"/>
            <a:chExt cx="22189440" cy="17556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9439" cy="1755648"/>
            </a:xfrm>
            <a:custGeom>
              <a:avLst/>
              <a:gdLst/>
              <a:ahLst/>
              <a:cxnLst/>
              <a:rect l="l" t="t" r="r" b="b"/>
              <a:pathLst>
                <a:path w="22189439" h="1755648">
                  <a:moveTo>
                    <a:pt x="0" y="0"/>
                  </a:moveTo>
                  <a:lnTo>
                    <a:pt x="22189439" y="0"/>
                  </a:lnTo>
                  <a:lnTo>
                    <a:pt x="221894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269" b="-19626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2189440" cy="1774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CS 특화 FAQ 챗봇 구조 설계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75097" y="2650198"/>
            <a:ext cx="2219963" cy="107699"/>
            <a:chOff x="0" y="0"/>
            <a:chExt cx="2959951" cy="1435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59989" cy="143637"/>
            </a:xfrm>
            <a:custGeom>
              <a:avLst/>
              <a:gdLst/>
              <a:ahLst/>
              <a:cxnLst/>
              <a:rect l="l" t="t" r="r" b="b"/>
              <a:pathLst>
                <a:path w="2959989" h="143637">
                  <a:moveTo>
                    <a:pt x="0" y="0"/>
                  </a:moveTo>
                  <a:lnTo>
                    <a:pt x="2959989" y="0"/>
                  </a:lnTo>
                  <a:lnTo>
                    <a:pt x="2959989" y="143637"/>
                  </a:lnTo>
                  <a:lnTo>
                    <a:pt x="0" y="14363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2960" y="3128391"/>
            <a:ext cx="16642080" cy="548640"/>
            <a:chOff x="0" y="0"/>
            <a:chExt cx="2218944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21894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rimo"/>
                  <a:ea typeface="Arimo"/>
                  <a:cs typeface="Arimo"/>
                  <a:sym typeface="Arimo"/>
                </a:rPr>
                <a:t>의도(Intent) 분류 → 응답 흐름 → Fallback 전략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6607" y="3231766"/>
            <a:ext cx="8150857" cy="4804153"/>
            <a:chOff x="0" y="0"/>
            <a:chExt cx="10867809" cy="64055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67771" cy="6405499"/>
            </a:xfrm>
            <a:custGeom>
              <a:avLst/>
              <a:gdLst/>
              <a:ahLst/>
              <a:cxnLst/>
              <a:rect l="l" t="t" r="r" b="b"/>
              <a:pathLst>
                <a:path w="10867771" h="6405499">
                  <a:moveTo>
                    <a:pt x="0" y="0"/>
                  </a:moveTo>
                  <a:lnTo>
                    <a:pt x="10867771" y="0"/>
                  </a:lnTo>
                  <a:lnTo>
                    <a:pt x="1086777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10263" y="3225422"/>
            <a:ext cx="135131" cy="4816859"/>
            <a:chOff x="0" y="0"/>
            <a:chExt cx="180175" cy="642247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F5760D"/>
            </a:solidFill>
            <a:ln w="25400" cap="sq">
              <a:solidFill>
                <a:srgbClr val="6D28D9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152144" y="3475863"/>
            <a:ext cx="7680960" cy="548640"/>
            <a:chOff x="0" y="0"/>
            <a:chExt cx="1024128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🤖 챗봇 설계 5단계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87803" y="4115943"/>
            <a:ext cx="7680960" cy="3730752"/>
            <a:chOff x="0" y="0"/>
            <a:chExt cx="10241280" cy="49743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41280" cy="4974336"/>
            </a:xfrm>
            <a:custGeom>
              <a:avLst/>
              <a:gdLst/>
              <a:ahLst/>
              <a:cxnLst/>
              <a:rect l="l" t="t" r="r" b="b"/>
              <a:pathLst>
                <a:path w="10241280" h="4974336">
                  <a:moveTo>
                    <a:pt x="0" y="0"/>
                  </a:moveTo>
                  <a:lnTo>
                    <a:pt x="10241280" y="0"/>
                  </a:lnTo>
                  <a:lnTo>
                    <a:pt x="1024128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18" r="-1231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024128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841374" lvl="1" indent="-420687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① 목적 정의: 어떤 질문에 답할 챗봇인가?</a:t>
              </a:r>
            </a:p>
            <a:p>
              <a:pPr marL="841374" lvl="1" indent="-420687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② 의도(Intent) 분류: 예약/수납/민원/안내 구분</a:t>
              </a:r>
            </a:p>
            <a:p>
              <a:pPr marL="841374" lvl="1" indent="-420687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③ 응답 흐름 설계: 질문→응답→추가 안내 구조</a:t>
              </a:r>
            </a:p>
            <a:p>
              <a:pPr marL="841374" lvl="1" indent="-420687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④ Fallback 처리: 모르는 질문 → 담당자 연결</a:t>
              </a:r>
            </a:p>
            <a:p>
              <a:pPr marL="841374" lvl="1" indent="-420687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⑤ 시스템 프롬프트 작성: 챗봇의 역할·규칙 정의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29087" y="3231766"/>
            <a:ext cx="8242297" cy="4804153"/>
            <a:chOff x="0" y="0"/>
            <a:chExt cx="10989729" cy="64055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89691" cy="6405499"/>
            </a:xfrm>
            <a:custGeom>
              <a:avLst/>
              <a:gdLst/>
              <a:ahLst/>
              <a:cxnLst/>
              <a:rect l="l" t="t" r="r" b="b"/>
              <a:pathLst>
                <a:path w="10989691" h="6405499">
                  <a:moveTo>
                    <a:pt x="0" y="0"/>
                  </a:moveTo>
                  <a:lnTo>
                    <a:pt x="10989691" y="0"/>
                  </a:lnTo>
                  <a:lnTo>
                    <a:pt x="1098969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222743" y="3225422"/>
            <a:ext cx="135131" cy="4816859"/>
            <a:chOff x="0" y="0"/>
            <a:chExt cx="180175" cy="642247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564624" y="3475863"/>
            <a:ext cx="7772400" cy="548640"/>
            <a:chOff x="0" y="0"/>
            <a:chExt cx="1036320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363200" cy="731520"/>
            </a:xfrm>
            <a:custGeom>
              <a:avLst/>
              <a:gdLst/>
              <a:ahLst/>
              <a:cxnLst/>
              <a:rect l="l" t="t" r="r" b="b"/>
              <a:pathLst>
                <a:path w="10363200" h="731520">
                  <a:moveTo>
                    <a:pt x="0" y="0"/>
                  </a:moveTo>
                  <a:lnTo>
                    <a:pt x="10363200" y="0"/>
                  </a:lnTo>
                  <a:lnTo>
                    <a:pt x="1036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038" b="-22603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103632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💡 병원 CS 챗봇 Intent 예시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200283" y="4115943"/>
            <a:ext cx="7772400" cy="3730752"/>
            <a:chOff x="0" y="0"/>
            <a:chExt cx="10363200" cy="497433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363200" cy="4974336"/>
            </a:xfrm>
            <a:custGeom>
              <a:avLst/>
              <a:gdLst/>
              <a:ahLst/>
              <a:cxnLst/>
              <a:rect l="l" t="t" r="r" b="b"/>
              <a:pathLst>
                <a:path w="10363200" h="4974336">
                  <a:moveTo>
                    <a:pt x="0" y="0"/>
                  </a:moveTo>
                  <a:lnTo>
                    <a:pt x="10363200" y="0"/>
                  </a:lnTo>
                  <a:lnTo>
                    <a:pt x="1036320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r="-1158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036320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841374" lvl="1" indent="-420687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예약 의도: 예약하고 싶어요, 날짜 변경해줘</a:t>
              </a:r>
            </a:p>
            <a:p>
              <a:pPr marL="841374" lvl="1" indent="-420687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수납 의도: 영수증 주세요, 비용이 얼마예요</a:t>
              </a:r>
            </a:p>
            <a:p>
              <a:pPr marL="841374" lvl="1" indent="-420687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안내 의도: 주차 어디예요, 화장실 어디예요</a:t>
              </a:r>
            </a:p>
            <a:p>
              <a:pPr marL="841374" lvl="1" indent="-420687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민원 의도: 불만이 있어요, 담당자 연결해줘</a:t>
              </a:r>
            </a:p>
            <a:p>
              <a:pPr marL="841374" lvl="1" indent="-420687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긴급 의도: 응급실 어디예요, 빨리 도와주세요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0263" y="8173745"/>
            <a:ext cx="17033243" cy="1261558"/>
            <a:chOff x="0" y="0"/>
            <a:chExt cx="22710991" cy="168207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711029" cy="1682115"/>
            </a:xfrm>
            <a:custGeom>
              <a:avLst/>
              <a:gdLst/>
              <a:ahLst/>
              <a:cxnLst/>
              <a:rect l="l" t="t" r="r" b="b"/>
              <a:pathLst>
                <a:path w="22711029" h="1682115">
                  <a:moveTo>
                    <a:pt x="0" y="0"/>
                  </a:moveTo>
                  <a:lnTo>
                    <a:pt x="22711029" y="0"/>
                  </a:lnTo>
                  <a:lnTo>
                    <a:pt x="22711029" y="1682115"/>
                  </a:lnTo>
                  <a:lnTo>
                    <a:pt x="0" y="1682115"/>
                  </a:lnTo>
                  <a:close/>
                </a:path>
              </a:pathLst>
            </a:custGeom>
            <a:solidFill>
              <a:srgbClr val="FEF2F2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810263" y="8173745"/>
            <a:ext cx="135131" cy="976379"/>
            <a:chOff x="0" y="0"/>
            <a:chExt cx="180175" cy="13018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80213" cy="1301877"/>
            </a:xfrm>
            <a:custGeom>
              <a:avLst/>
              <a:gdLst/>
              <a:ahLst/>
              <a:cxnLst/>
              <a:rect l="l" t="t" r="r" b="b"/>
              <a:pathLst>
                <a:path w="180213" h="1301877">
                  <a:moveTo>
                    <a:pt x="0" y="0"/>
                  </a:moveTo>
                  <a:lnTo>
                    <a:pt x="180213" y="0"/>
                  </a:lnTo>
                  <a:lnTo>
                    <a:pt x="180213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078992" y="8277882"/>
            <a:ext cx="16605504" cy="365760"/>
            <a:chOff x="0" y="0"/>
            <a:chExt cx="22140672" cy="4876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140672" cy="487680"/>
            </a:xfrm>
            <a:custGeom>
              <a:avLst/>
              <a:gdLst/>
              <a:ahLst/>
              <a:cxnLst/>
              <a:rect l="l" t="t" r="r" b="b"/>
              <a:pathLst>
                <a:path w="22140672" h="487680">
                  <a:moveTo>
                    <a:pt x="0" y="0"/>
                  </a:moveTo>
                  <a:lnTo>
                    <a:pt x="22140672" y="0"/>
                  </a:lnTo>
                  <a:lnTo>
                    <a:pt x="22140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4620" b="-83462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22140672" cy="497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EF44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⚠️  주의사항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07614" y="8680218"/>
            <a:ext cx="16605504" cy="701526"/>
            <a:chOff x="0" y="0"/>
            <a:chExt cx="22140672" cy="93536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140672" cy="935373"/>
            </a:xfrm>
            <a:custGeom>
              <a:avLst/>
              <a:gdLst/>
              <a:ahLst/>
              <a:cxnLst/>
              <a:rect l="l" t="t" r="r" b="b"/>
              <a:pathLst>
                <a:path w="22140672" h="935373">
                  <a:moveTo>
                    <a:pt x="0" y="0"/>
                  </a:moveTo>
                  <a:lnTo>
                    <a:pt x="22140672" y="0"/>
                  </a:lnTo>
                  <a:lnTo>
                    <a:pt x="22140672" y="935373"/>
                  </a:lnTo>
                  <a:lnTo>
                    <a:pt x="0" y="9353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219" b="-411218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22140672" cy="9448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챗봇이 응답 못하는 케이스(Edge Case) 반드시 설계 — Fallback 없이 배포 시 환자 혼란 발생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개인정보 요청(이름·생년월일·진료기록) 챗봇 처리 금지 — 담당자 연결 또는 별도 인증 시스템 사용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4차시-01 | CS 특화 FAQ 챗봇 구조 설계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53" name="AutoShape 53"/>
          <p:cNvSpPr/>
          <p:nvPr/>
        </p:nvSpPr>
        <p:spPr>
          <a:xfrm rot="6540">
            <a:off x="-792166" y="836190"/>
            <a:ext cx="6705552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CS 챗봇 종류 비교 및 GPTs 선택 이유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48640" y="1920240"/>
            <a:ext cx="2560320" cy="731520"/>
            <a:chOff x="0" y="0"/>
            <a:chExt cx="3413760" cy="975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13760" cy="975360"/>
            </a:xfrm>
            <a:custGeom>
              <a:avLst/>
              <a:gdLst/>
              <a:ahLst/>
              <a:cxnLst/>
              <a:rect l="l" t="t" r="r" b="b"/>
              <a:pathLst>
                <a:path w="3413760" h="9753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48640" y="1920240"/>
            <a:ext cx="2560320" cy="731520"/>
            <a:chOff x="0" y="0"/>
            <a:chExt cx="3413760" cy="975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13760" cy="975360"/>
            </a:xfrm>
            <a:custGeom>
              <a:avLst/>
              <a:gdLst/>
              <a:ahLst/>
              <a:cxnLst/>
              <a:rect l="l" t="t" r="r" b="b"/>
              <a:pathLst>
                <a:path w="3413760" h="9753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3413760" cy="965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구분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00400" y="1920240"/>
            <a:ext cx="2560320" cy="731520"/>
            <a:chOff x="0" y="0"/>
            <a:chExt cx="3413760" cy="9753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13760" cy="975360"/>
            </a:xfrm>
            <a:custGeom>
              <a:avLst/>
              <a:gdLst/>
              <a:ahLst/>
              <a:cxnLst/>
              <a:rect l="l" t="t" r="r" b="b"/>
              <a:pathLst>
                <a:path w="3413760" h="9753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3200400" y="1920240"/>
            <a:ext cx="2560320" cy="731520"/>
            <a:chOff x="0" y="0"/>
            <a:chExt cx="3413760" cy="9753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13760" cy="975360"/>
            </a:xfrm>
            <a:custGeom>
              <a:avLst/>
              <a:gdLst/>
              <a:ahLst/>
              <a:cxnLst/>
              <a:rect l="l" t="t" r="r" b="b"/>
              <a:pathLst>
                <a:path w="3413760" h="9753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3413760" cy="965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예시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852160" y="1920240"/>
            <a:ext cx="3840480" cy="731520"/>
            <a:chOff x="0" y="0"/>
            <a:chExt cx="5120640" cy="9753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20640" cy="975360"/>
            </a:xfrm>
            <a:custGeom>
              <a:avLst/>
              <a:gdLst/>
              <a:ahLst/>
              <a:cxnLst/>
              <a:rect l="l" t="t" r="r" b="b"/>
              <a:pathLst>
                <a:path w="5120640" h="97536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5852160" y="1920240"/>
            <a:ext cx="3840480" cy="731520"/>
            <a:chOff x="0" y="0"/>
            <a:chExt cx="5120640" cy="975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120640" cy="975360"/>
            </a:xfrm>
            <a:custGeom>
              <a:avLst/>
              <a:gdLst/>
              <a:ahLst/>
              <a:cxnLst/>
              <a:rect l="l" t="t" r="r" b="b"/>
              <a:pathLst>
                <a:path w="5120640" h="97536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96" b="-5229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5120640" cy="965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장점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784080" y="1920240"/>
            <a:ext cx="4389120" cy="731520"/>
            <a:chOff x="0" y="0"/>
            <a:chExt cx="5852160" cy="9753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852160" cy="975360"/>
            </a:xfrm>
            <a:custGeom>
              <a:avLst/>
              <a:gdLst/>
              <a:ahLst/>
              <a:cxnLst/>
              <a:rect l="l" t="t" r="r" b="b"/>
              <a:pathLst>
                <a:path w="5852160" h="9753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784080" y="1920240"/>
            <a:ext cx="4389120" cy="731520"/>
            <a:chOff x="0" y="0"/>
            <a:chExt cx="5852160" cy="9753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852160" cy="975360"/>
            </a:xfrm>
            <a:custGeom>
              <a:avLst/>
              <a:gdLst/>
              <a:ahLst/>
              <a:cxnLst/>
              <a:rect l="l" t="t" r="r" b="b"/>
              <a:pathLst>
                <a:path w="5852160" h="9753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5852160" cy="965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단점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4264640" y="1920240"/>
            <a:ext cx="3383280" cy="731520"/>
            <a:chOff x="0" y="0"/>
            <a:chExt cx="4511040" cy="9753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11040" cy="975360"/>
            </a:xfrm>
            <a:custGeom>
              <a:avLst/>
              <a:gdLst/>
              <a:ahLst/>
              <a:cxnLst/>
              <a:rect l="l" t="t" r="r" b="b"/>
              <a:pathLst>
                <a:path w="4511040" h="97536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4264640" y="1920240"/>
            <a:ext cx="3383280" cy="731520"/>
            <a:chOff x="0" y="0"/>
            <a:chExt cx="4511040" cy="9753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511040" cy="975360"/>
            </a:xfrm>
            <a:custGeom>
              <a:avLst/>
              <a:gdLst/>
              <a:ahLst/>
              <a:cxnLst/>
              <a:rect l="l" t="t" r="r" b="b"/>
              <a:pathLst>
                <a:path w="4511040" h="97536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118" b="-40118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4511040" cy="965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추천도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48640" y="2779776"/>
            <a:ext cx="2560320" cy="1975104"/>
            <a:chOff x="0" y="0"/>
            <a:chExt cx="3413760" cy="26334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3200400" y="2779776"/>
            <a:ext cx="2560320" cy="1975104"/>
            <a:chOff x="0" y="0"/>
            <a:chExt cx="3413760" cy="26334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5852160" y="2779776"/>
            <a:ext cx="3840480" cy="1975104"/>
            <a:chOff x="0" y="0"/>
            <a:chExt cx="5120640" cy="263347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120640" cy="2633472"/>
            </a:xfrm>
            <a:custGeom>
              <a:avLst/>
              <a:gdLst/>
              <a:ahLst/>
              <a:cxnLst/>
              <a:rect l="l" t="t" r="r" b="b"/>
              <a:pathLst>
                <a:path w="5120640" h="2633472">
                  <a:moveTo>
                    <a:pt x="0" y="0"/>
                  </a:moveTo>
                  <a:lnTo>
                    <a:pt x="5120640" y="0"/>
                  </a:lnTo>
                  <a:lnTo>
                    <a:pt x="512064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9784080" y="2779776"/>
            <a:ext cx="4389120" cy="1975104"/>
            <a:chOff x="0" y="0"/>
            <a:chExt cx="5852160" cy="263347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852160" cy="2633472"/>
            </a:xfrm>
            <a:custGeom>
              <a:avLst/>
              <a:gdLst/>
              <a:ahLst/>
              <a:cxnLst/>
              <a:rect l="l" t="t" r="r" b="b"/>
              <a:pathLst>
                <a:path w="5852160" h="2633472">
                  <a:moveTo>
                    <a:pt x="0" y="0"/>
                  </a:moveTo>
                  <a:lnTo>
                    <a:pt x="5852160" y="0"/>
                  </a:lnTo>
                  <a:lnTo>
                    <a:pt x="58521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4264640" y="2779776"/>
            <a:ext cx="3383280" cy="1975104"/>
            <a:chOff x="0" y="0"/>
            <a:chExt cx="4511040" cy="263347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511040" cy="2633472"/>
            </a:xfrm>
            <a:custGeom>
              <a:avLst/>
              <a:gdLst/>
              <a:ahLst/>
              <a:cxnLst/>
              <a:rect l="l" t="t" r="r" b="b"/>
              <a:pathLst>
                <a:path w="4511040" h="2633472">
                  <a:moveTo>
                    <a:pt x="0" y="0"/>
                  </a:moveTo>
                  <a:lnTo>
                    <a:pt x="4511040" y="0"/>
                  </a:lnTo>
                  <a:lnTo>
                    <a:pt x="451104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548640" y="2779776"/>
            <a:ext cx="2560320" cy="1975104"/>
            <a:chOff x="0" y="0"/>
            <a:chExt cx="3413760" cy="263347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6B7A8D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548640" y="2779776"/>
            <a:ext cx="2560320" cy="1975104"/>
            <a:chOff x="0" y="0"/>
            <a:chExt cx="3413760" cy="263347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977" r="-48977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3413760" cy="263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규칙 기반 챗봇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200400" y="2779776"/>
            <a:ext cx="2560320" cy="1975104"/>
            <a:chOff x="0" y="0"/>
            <a:chExt cx="3413760" cy="263347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977" r="-48977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3413760" cy="263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단순 버튼식 메뉴형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852160" y="2779776"/>
            <a:ext cx="3840480" cy="1975104"/>
            <a:chOff x="0" y="0"/>
            <a:chExt cx="5120640" cy="263347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120640" cy="2633472"/>
            </a:xfrm>
            <a:custGeom>
              <a:avLst/>
              <a:gdLst/>
              <a:ahLst/>
              <a:cxnLst/>
              <a:rect l="l" t="t" r="r" b="b"/>
              <a:pathLst>
                <a:path w="5120640" h="2633472">
                  <a:moveTo>
                    <a:pt x="0" y="0"/>
                  </a:moveTo>
                  <a:lnTo>
                    <a:pt x="5120640" y="0"/>
                  </a:lnTo>
                  <a:lnTo>
                    <a:pt x="512064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r="-15984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5120640" cy="263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구축 간단, 오류 없음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784080" y="2779776"/>
            <a:ext cx="4389120" cy="1975104"/>
            <a:chOff x="0" y="0"/>
            <a:chExt cx="5852160" cy="263347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852160" cy="2633472"/>
            </a:xfrm>
            <a:custGeom>
              <a:avLst/>
              <a:gdLst/>
              <a:ahLst/>
              <a:cxnLst/>
              <a:rect l="l" t="t" r="r" b="b"/>
              <a:pathLst>
                <a:path w="5852160" h="2633472">
                  <a:moveTo>
                    <a:pt x="0" y="0"/>
                  </a:moveTo>
                  <a:lnTo>
                    <a:pt x="5852160" y="0"/>
                  </a:lnTo>
                  <a:lnTo>
                    <a:pt x="585216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r="-7736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0"/>
              <a:ext cx="5852160" cy="263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정해진 답변만 가능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새 질문 대응 불가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264640" y="2779776"/>
            <a:ext cx="3383280" cy="1975104"/>
            <a:chOff x="0" y="0"/>
            <a:chExt cx="4511040" cy="263347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511040" cy="2633472"/>
            </a:xfrm>
            <a:custGeom>
              <a:avLst/>
              <a:gdLst/>
              <a:ahLst/>
              <a:cxnLst/>
              <a:rect l="l" t="t" r="r" b="b"/>
              <a:pathLst>
                <a:path w="4511040" h="2633472">
                  <a:moveTo>
                    <a:pt x="0" y="0"/>
                  </a:moveTo>
                  <a:lnTo>
                    <a:pt x="4511040" y="0"/>
                  </a:lnTo>
                  <a:lnTo>
                    <a:pt x="451104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901" r="-24901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9525"/>
              <a:ext cx="4511040" cy="26239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△ 단순 FAQ만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48640" y="4937760"/>
            <a:ext cx="2560320" cy="1975104"/>
            <a:chOff x="0" y="0"/>
            <a:chExt cx="3413760" cy="263347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3200400" y="4937760"/>
            <a:ext cx="2560320" cy="1975104"/>
            <a:chOff x="0" y="0"/>
            <a:chExt cx="3413760" cy="263347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5852160" y="4937760"/>
            <a:ext cx="3840480" cy="1975104"/>
            <a:chOff x="0" y="0"/>
            <a:chExt cx="5120640" cy="263347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120640" cy="2633472"/>
            </a:xfrm>
            <a:custGeom>
              <a:avLst/>
              <a:gdLst/>
              <a:ahLst/>
              <a:cxnLst/>
              <a:rect l="l" t="t" r="r" b="b"/>
              <a:pathLst>
                <a:path w="5120640" h="2633472">
                  <a:moveTo>
                    <a:pt x="0" y="0"/>
                  </a:moveTo>
                  <a:lnTo>
                    <a:pt x="5120640" y="0"/>
                  </a:lnTo>
                  <a:lnTo>
                    <a:pt x="512064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9784080" y="4937760"/>
            <a:ext cx="4389120" cy="1975104"/>
            <a:chOff x="0" y="0"/>
            <a:chExt cx="5852160" cy="263347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852160" cy="2633472"/>
            </a:xfrm>
            <a:custGeom>
              <a:avLst/>
              <a:gdLst/>
              <a:ahLst/>
              <a:cxnLst/>
              <a:rect l="l" t="t" r="r" b="b"/>
              <a:pathLst>
                <a:path w="5852160" h="2633472">
                  <a:moveTo>
                    <a:pt x="0" y="0"/>
                  </a:moveTo>
                  <a:lnTo>
                    <a:pt x="5852160" y="0"/>
                  </a:lnTo>
                  <a:lnTo>
                    <a:pt x="58521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14264640" y="4937760"/>
            <a:ext cx="3383280" cy="1975104"/>
            <a:chOff x="0" y="0"/>
            <a:chExt cx="4511040" cy="263347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511040" cy="2633472"/>
            </a:xfrm>
            <a:custGeom>
              <a:avLst/>
              <a:gdLst/>
              <a:ahLst/>
              <a:cxnLst/>
              <a:rect l="l" t="t" r="r" b="b"/>
              <a:pathLst>
                <a:path w="4511040" h="2633472">
                  <a:moveTo>
                    <a:pt x="0" y="0"/>
                  </a:moveTo>
                  <a:lnTo>
                    <a:pt x="4511040" y="0"/>
                  </a:lnTo>
                  <a:lnTo>
                    <a:pt x="451104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548640" y="4937760"/>
            <a:ext cx="2560320" cy="1975104"/>
            <a:chOff x="0" y="0"/>
            <a:chExt cx="3413760" cy="263347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548640" y="4937760"/>
            <a:ext cx="2560320" cy="1975104"/>
            <a:chOff x="0" y="0"/>
            <a:chExt cx="3413760" cy="263347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977" r="-48977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0"/>
              <a:ext cx="3413760" cy="263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 dirty="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AI </a:t>
              </a:r>
              <a:r>
                <a:rPr lang="en-US" sz="2200" spc="8" dirty="0" err="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챗봇</a:t>
              </a:r>
              <a:r>
                <a:rPr lang="en-US" sz="2200" spc="8" dirty="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 ( </a:t>
              </a:r>
              <a:r>
                <a:rPr lang="en-US" sz="2200" spc="8" dirty="0" err="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플랫폼</a:t>
              </a:r>
              <a:r>
                <a:rPr lang="en-US" sz="2200" spc="8" dirty="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)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3200400" y="4937760"/>
            <a:ext cx="2560320" cy="1975104"/>
            <a:chOff x="0" y="0"/>
            <a:chExt cx="3413760" cy="263347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977" r="-48977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3413760" cy="263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카카오</a:t>
              </a:r>
              <a:r>
                <a:rPr lang="en-US" sz="22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, </a:t>
              </a:r>
              <a:r>
                <a:rPr lang="en-US" sz="22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네이버</a:t>
              </a:r>
              <a:r>
                <a:rPr lang="en-US" sz="2200" spc="8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spc="8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클로바</a:t>
              </a:r>
              <a:endParaRPr lang="en-US" sz="2200" spc="8" dirty="0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852160" y="4937760"/>
            <a:ext cx="3840480" cy="1975104"/>
            <a:chOff x="0" y="0"/>
            <a:chExt cx="5120640" cy="263347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5120640" cy="2633472"/>
            </a:xfrm>
            <a:custGeom>
              <a:avLst/>
              <a:gdLst/>
              <a:ahLst/>
              <a:cxnLst/>
              <a:rect l="l" t="t" r="r" b="b"/>
              <a:pathLst>
                <a:path w="5120640" h="2633472">
                  <a:moveTo>
                    <a:pt x="0" y="0"/>
                  </a:moveTo>
                  <a:lnTo>
                    <a:pt x="5120640" y="0"/>
                  </a:lnTo>
                  <a:lnTo>
                    <a:pt x="512064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r="-15984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0"/>
              <a:ext cx="5120640" cy="263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정교함, 연동 우수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784080" y="4937760"/>
            <a:ext cx="4389120" cy="1975104"/>
            <a:chOff x="0" y="0"/>
            <a:chExt cx="5852160" cy="263347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852160" cy="2633472"/>
            </a:xfrm>
            <a:custGeom>
              <a:avLst/>
              <a:gdLst/>
              <a:ahLst/>
              <a:cxnLst/>
              <a:rect l="l" t="t" r="r" b="b"/>
              <a:pathLst>
                <a:path w="5852160" h="2633472">
                  <a:moveTo>
                    <a:pt x="0" y="0"/>
                  </a:moveTo>
                  <a:lnTo>
                    <a:pt x="5852160" y="0"/>
                  </a:lnTo>
                  <a:lnTo>
                    <a:pt x="585216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r="-7736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5852160" cy="263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높은 구축 비용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전문 인력 필요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4264640" y="4937760"/>
            <a:ext cx="3383280" cy="1975104"/>
            <a:chOff x="0" y="0"/>
            <a:chExt cx="4511040" cy="2633472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4511040" cy="2633472"/>
            </a:xfrm>
            <a:custGeom>
              <a:avLst/>
              <a:gdLst/>
              <a:ahLst/>
              <a:cxnLst/>
              <a:rect l="l" t="t" r="r" b="b"/>
              <a:pathLst>
                <a:path w="4511040" h="2633472">
                  <a:moveTo>
                    <a:pt x="0" y="0"/>
                  </a:moveTo>
                  <a:lnTo>
                    <a:pt x="4511040" y="0"/>
                  </a:lnTo>
                  <a:lnTo>
                    <a:pt x="451104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901" r="-24901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9525"/>
              <a:ext cx="4511040" cy="26239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D05A00"/>
                  </a:solidFill>
                  <a:latin typeface="Mandali"/>
                  <a:ea typeface="Mandali"/>
                  <a:cs typeface="Mandali"/>
                  <a:sym typeface="Mandali"/>
                </a:rPr>
                <a:t>○ 대형 기관 적합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48640" y="7095744"/>
            <a:ext cx="2560320" cy="1975104"/>
            <a:chOff x="0" y="0"/>
            <a:chExt cx="3413760" cy="2633472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90" name="Group 90"/>
          <p:cNvGrpSpPr/>
          <p:nvPr/>
        </p:nvGrpSpPr>
        <p:grpSpPr>
          <a:xfrm>
            <a:off x="3200400" y="7095744"/>
            <a:ext cx="2560320" cy="1975104"/>
            <a:chOff x="0" y="0"/>
            <a:chExt cx="3413760" cy="2633472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92" name="Group 92"/>
          <p:cNvGrpSpPr/>
          <p:nvPr/>
        </p:nvGrpSpPr>
        <p:grpSpPr>
          <a:xfrm>
            <a:off x="5852160" y="7095744"/>
            <a:ext cx="3840480" cy="1975104"/>
            <a:chOff x="0" y="0"/>
            <a:chExt cx="5120640" cy="263347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5120640" cy="2633472"/>
            </a:xfrm>
            <a:custGeom>
              <a:avLst/>
              <a:gdLst/>
              <a:ahLst/>
              <a:cxnLst/>
              <a:rect l="l" t="t" r="r" b="b"/>
              <a:pathLst>
                <a:path w="5120640" h="2633472">
                  <a:moveTo>
                    <a:pt x="0" y="0"/>
                  </a:moveTo>
                  <a:lnTo>
                    <a:pt x="5120640" y="0"/>
                  </a:lnTo>
                  <a:lnTo>
                    <a:pt x="512064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9784080" y="7095744"/>
            <a:ext cx="4389120" cy="1975104"/>
            <a:chOff x="0" y="0"/>
            <a:chExt cx="5852160" cy="2633472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5852160" cy="2633472"/>
            </a:xfrm>
            <a:custGeom>
              <a:avLst/>
              <a:gdLst/>
              <a:ahLst/>
              <a:cxnLst/>
              <a:rect l="l" t="t" r="r" b="b"/>
              <a:pathLst>
                <a:path w="5852160" h="2633472">
                  <a:moveTo>
                    <a:pt x="0" y="0"/>
                  </a:moveTo>
                  <a:lnTo>
                    <a:pt x="5852160" y="0"/>
                  </a:lnTo>
                  <a:lnTo>
                    <a:pt x="58521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14264640" y="7095744"/>
            <a:ext cx="3383280" cy="1975104"/>
            <a:chOff x="0" y="0"/>
            <a:chExt cx="4511040" cy="2633472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4511040" cy="2633472"/>
            </a:xfrm>
            <a:custGeom>
              <a:avLst/>
              <a:gdLst/>
              <a:ahLst/>
              <a:cxnLst/>
              <a:rect l="l" t="t" r="r" b="b"/>
              <a:pathLst>
                <a:path w="4511040" h="2633472">
                  <a:moveTo>
                    <a:pt x="0" y="0"/>
                  </a:moveTo>
                  <a:lnTo>
                    <a:pt x="4511040" y="0"/>
                  </a:lnTo>
                  <a:lnTo>
                    <a:pt x="451104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98" name="Group 98"/>
          <p:cNvGrpSpPr/>
          <p:nvPr/>
        </p:nvGrpSpPr>
        <p:grpSpPr>
          <a:xfrm>
            <a:off x="548640" y="7095744"/>
            <a:ext cx="2560320" cy="1975104"/>
            <a:chOff x="0" y="0"/>
            <a:chExt cx="3413760" cy="2633472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100" name="Group 100"/>
          <p:cNvGrpSpPr/>
          <p:nvPr/>
        </p:nvGrpSpPr>
        <p:grpSpPr>
          <a:xfrm>
            <a:off x="548640" y="7095744"/>
            <a:ext cx="2560320" cy="1975104"/>
            <a:chOff x="0" y="0"/>
            <a:chExt cx="3413760" cy="2633472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977" r="-48977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0"/>
              <a:ext cx="3413760" cy="263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ChatGPT GPTs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3200400" y="7095744"/>
            <a:ext cx="2560320" cy="1975104"/>
            <a:chOff x="0" y="0"/>
            <a:chExt cx="3413760" cy="2633472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3413760" cy="2633472"/>
            </a:xfrm>
            <a:custGeom>
              <a:avLst/>
              <a:gdLst/>
              <a:ahLst/>
              <a:cxnLst/>
              <a:rect l="l" t="t" r="r" b="b"/>
              <a:pathLst>
                <a:path w="3413760" h="2633472">
                  <a:moveTo>
                    <a:pt x="0" y="0"/>
                  </a:moveTo>
                  <a:lnTo>
                    <a:pt x="3413760" y="0"/>
                  </a:lnTo>
                  <a:lnTo>
                    <a:pt x="341376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977" r="-48977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0"/>
              <a:ext cx="3413760" cy="263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GPTs 빌더 활용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5852160" y="7095744"/>
            <a:ext cx="3840480" cy="1975104"/>
            <a:chOff x="0" y="0"/>
            <a:chExt cx="5120640" cy="2633472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5120640" cy="2633472"/>
            </a:xfrm>
            <a:custGeom>
              <a:avLst/>
              <a:gdLst/>
              <a:ahLst/>
              <a:cxnLst/>
              <a:rect l="l" t="t" r="r" b="b"/>
              <a:pathLst>
                <a:path w="5120640" h="2633472">
                  <a:moveTo>
                    <a:pt x="0" y="0"/>
                  </a:moveTo>
                  <a:lnTo>
                    <a:pt x="5120640" y="0"/>
                  </a:lnTo>
                  <a:lnTo>
                    <a:pt x="512064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r="-15984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0"/>
              <a:ext cx="5120640" cy="263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무코딩 제작 가능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강력한 AI 기반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784080" y="7095744"/>
            <a:ext cx="4389120" cy="1975104"/>
            <a:chOff x="0" y="0"/>
            <a:chExt cx="5852160" cy="2633472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5852160" cy="2633472"/>
            </a:xfrm>
            <a:custGeom>
              <a:avLst/>
              <a:gdLst/>
              <a:ahLst/>
              <a:cxnLst/>
              <a:rect l="l" t="t" r="r" b="b"/>
              <a:pathLst>
                <a:path w="5852160" h="2633472">
                  <a:moveTo>
                    <a:pt x="0" y="0"/>
                  </a:moveTo>
                  <a:lnTo>
                    <a:pt x="5852160" y="0"/>
                  </a:lnTo>
                  <a:lnTo>
                    <a:pt x="585216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r="-7736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0"/>
              <a:ext cx="5852160" cy="263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ChatGPT Plus 필요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외부 연동 제한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4264640" y="7095744"/>
            <a:ext cx="3383280" cy="1975104"/>
            <a:chOff x="0" y="0"/>
            <a:chExt cx="4511040" cy="2633472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4511040" cy="2633472"/>
            </a:xfrm>
            <a:custGeom>
              <a:avLst/>
              <a:gdLst/>
              <a:ahLst/>
              <a:cxnLst/>
              <a:rect l="l" t="t" r="r" b="b"/>
              <a:pathLst>
                <a:path w="4511040" h="2633472">
                  <a:moveTo>
                    <a:pt x="0" y="0"/>
                  </a:moveTo>
                  <a:lnTo>
                    <a:pt x="4511040" y="0"/>
                  </a:lnTo>
                  <a:lnTo>
                    <a:pt x="451104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901" r="-24901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9525"/>
              <a:ext cx="4511040" cy="26239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◎ 교육용 최적</a:t>
              </a:r>
            </a:p>
          </p:txBody>
        </p:sp>
      </p:grpSp>
      <p:grpSp>
        <p:nvGrpSpPr>
          <p:cNvPr id="115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16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17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18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19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4차시-01 | CS 특화 FAQ 챗봇 구조 설계</a:t>
              </a:r>
            </a:p>
          </p:txBody>
        </p:sp>
      </p:grpSp>
      <p:grpSp>
        <p:nvGrpSpPr>
          <p:cNvPr id="120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21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22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ChatGPT GPTs 챗봇 구조 이해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31520" y="1920240"/>
            <a:ext cx="16824960" cy="731520"/>
            <a:chOff x="0" y="0"/>
            <a:chExt cx="22433280" cy="975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33280" cy="975360"/>
            </a:xfrm>
            <a:custGeom>
              <a:avLst/>
              <a:gdLst/>
              <a:ahLst/>
              <a:cxnLst/>
              <a:rect l="l" t="t" r="r" b="b"/>
              <a:pathLst>
                <a:path w="22433280" h="975360">
                  <a:moveTo>
                    <a:pt x="0" y="0"/>
                  </a:moveTo>
                  <a:lnTo>
                    <a:pt x="22433280" y="0"/>
                  </a:lnTo>
                  <a:lnTo>
                    <a:pt x="22433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8155" b="-39815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2433280" cy="965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spc="9">
                  <a:solidFill>
                    <a:srgbClr val="D05A00"/>
                  </a:solidFill>
                  <a:latin typeface="Mandali"/>
                  <a:ea typeface="Mandali"/>
                  <a:cs typeface="Mandali"/>
                  <a:sym typeface="Mandali"/>
                </a:rPr>
                <a:t>🤖 GPTs = ChatGPT를 나만의 용도에 맞게 커스터마이징한 AI 에이전트 (코딩 불필요)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0080" y="2834640"/>
            <a:ext cx="8321040" cy="2743200"/>
            <a:chOff x="0" y="0"/>
            <a:chExt cx="11094720" cy="3657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094720" cy="3657600"/>
            </a:xfrm>
            <a:custGeom>
              <a:avLst/>
              <a:gdLst/>
              <a:ahLst/>
              <a:cxnLst/>
              <a:rect l="l" t="t" r="r" b="b"/>
              <a:pathLst>
                <a:path w="11094720" h="3657600">
                  <a:moveTo>
                    <a:pt x="0" y="0"/>
                  </a:moveTo>
                  <a:lnTo>
                    <a:pt x="11094720" y="0"/>
                  </a:lnTo>
                  <a:lnTo>
                    <a:pt x="110947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40080" y="2834640"/>
            <a:ext cx="8321040" cy="822960"/>
            <a:chOff x="0" y="0"/>
            <a:chExt cx="11094720" cy="10972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94720" cy="1097280"/>
            </a:xfrm>
            <a:custGeom>
              <a:avLst/>
              <a:gdLst/>
              <a:ahLst/>
              <a:cxnLst/>
              <a:rect l="l" t="t" r="r" b="b"/>
              <a:pathLst>
                <a:path w="11094720" h="1097280">
                  <a:moveTo>
                    <a:pt x="0" y="0"/>
                  </a:moveTo>
                  <a:lnTo>
                    <a:pt x="11094720" y="0"/>
                  </a:lnTo>
                  <a:lnTo>
                    <a:pt x="11094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22960" y="2834640"/>
            <a:ext cx="7955280" cy="822960"/>
            <a:chOff x="0" y="0"/>
            <a:chExt cx="10607040" cy="10972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07040" cy="1097280"/>
            </a:xfrm>
            <a:custGeom>
              <a:avLst/>
              <a:gdLst/>
              <a:ahLst/>
              <a:cxnLst/>
              <a:rect l="l" t="t" r="r" b="b"/>
              <a:pathLst>
                <a:path w="10607040" h="1097280">
                  <a:moveTo>
                    <a:pt x="0" y="0"/>
                  </a:moveTo>
                  <a:lnTo>
                    <a:pt x="10607040" y="0"/>
                  </a:lnTo>
                  <a:lnTo>
                    <a:pt x="10607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355" b="-13835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1060704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📛  이름 &amp; 설명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10333" y="3825240"/>
            <a:ext cx="7736843" cy="685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챗봇의 이름과 역할 설명</a:t>
            </a:r>
          </a:p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예: oo병원 CS 안내 챗봇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509760" y="2834640"/>
            <a:ext cx="8321040" cy="2743200"/>
            <a:chOff x="0" y="0"/>
            <a:chExt cx="11094720" cy="3657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094720" cy="3657600"/>
            </a:xfrm>
            <a:custGeom>
              <a:avLst/>
              <a:gdLst/>
              <a:ahLst/>
              <a:cxnLst/>
              <a:rect l="l" t="t" r="r" b="b"/>
              <a:pathLst>
                <a:path w="11094720" h="3657600">
                  <a:moveTo>
                    <a:pt x="0" y="0"/>
                  </a:moveTo>
                  <a:lnTo>
                    <a:pt x="11094720" y="0"/>
                  </a:lnTo>
                  <a:lnTo>
                    <a:pt x="110947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509760" y="2834640"/>
            <a:ext cx="8321040" cy="822960"/>
            <a:chOff x="0" y="0"/>
            <a:chExt cx="11094720" cy="1097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094720" cy="1097280"/>
            </a:xfrm>
            <a:custGeom>
              <a:avLst/>
              <a:gdLst/>
              <a:ahLst/>
              <a:cxnLst/>
              <a:rect l="l" t="t" r="r" b="b"/>
              <a:pathLst>
                <a:path w="11094720" h="1097280">
                  <a:moveTo>
                    <a:pt x="0" y="0"/>
                  </a:moveTo>
                  <a:lnTo>
                    <a:pt x="11094720" y="0"/>
                  </a:lnTo>
                  <a:lnTo>
                    <a:pt x="11094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692640" y="2834640"/>
            <a:ext cx="7955280" cy="822960"/>
            <a:chOff x="0" y="0"/>
            <a:chExt cx="10607040" cy="10972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607040" cy="1097280"/>
            </a:xfrm>
            <a:custGeom>
              <a:avLst/>
              <a:gdLst/>
              <a:ahLst/>
              <a:cxnLst/>
              <a:rect l="l" t="t" r="r" b="b"/>
              <a:pathLst>
                <a:path w="10607040" h="1097280">
                  <a:moveTo>
                    <a:pt x="0" y="0"/>
                  </a:moveTo>
                  <a:lnTo>
                    <a:pt x="10607040" y="0"/>
                  </a:lnTo>
                  <a:lnTo>
                    <a:pt x="10607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355" b="-13835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1060704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📋  지시사항 (Instructions)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780013" y="3825240"/>
            <a:ext cx="7736843" cy="1610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챗봇이 어떻게 행동할지 정의</a:t>
            </a:r>
          </a:p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응대 톤·답변 범위·금지 사항 포함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40080" y="5943600"/>
            <a:ext cx="8321040" cy="2743200"/>
            <a:chOff x="0" y="0"/>
            <a:chExt cx="11094720" cy="3657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094720" cy="3657600"/>
            </a:xfrm>
            <a:custGeom>
              <a:avLst/>
              <a:gdLst/>
              <a:ahLst/>
              <a:cxnLst/>
              <a:rect l="l" t="t" r="r" b="b"/>
              <a:pathLst>
                <a:path w="11094720" h="3657600">
                  <a:moveTo>
                    <a:pt x="0" y="0"/>
                  </a:moveTo>
                  <a:lnTo>
                    <a:pt x="11094720" y="0"/>
                  </a:lnTo>
                  <a:lnTo>
                    <a:pt x="110947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640080" y="5943600"/>
            <a:ext cx="8321040" cy="822960"/>
            <a:chOff x="0" y="0"/>
            <a:chExt cx="11094720" cy="10972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094720" cy="1097280"/>
            </a:xfrm>
            <a:custGeom>
              <a:avLst/>
              <a:gdLst/>
              <a:ahLst/>
              <a:cxnLst/>
              <a:rect l="l" t="t" r="r" b="b"/>
              <a:pathLst>
                <a:path w="11094720" h="1097280">
                  <a:moveTo>
                    <a:pt x="0" y="0"/>
                  </a:moveTo>
                  <a:lnTo>
                    <a:pt x="11094720" y="0"/>
                  </a:lnTo>
                  <a:lnTo>
                    <a:pt x="11094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822960" y="5943600"/>
            <a:ext cx="7955280" cy="822960"/>
            <a:chOff x="0" y="0"/>
            <a:chExt cx="10607040" cy="10972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607040" cy="1097280"/>
            </a:xfrm>
            <a:custGeom>
              <a:avLst/>
              <a:gdLst/>
              <a:ahLst/>
              <a:cxnLst/>
              <a:rect l="l" t="t" r="r" b="b"/>
              <a:pathLst>
                <a:path w="10607040" h="1097280">
                  <a:moveTo>
                    <a:pt x="0" y="0"/>
                  </a:moveTo>
                  <a:lnTo>
                    <a:pt x="10607040" y="0"/>
                  </a:lnTo>
                  <a:lnTo>
                    <a:pt x="10607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355" b="-13835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1060704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📁  지식 파일 업로드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10333" y="6934200"/>
            <a:ext cx="7736843" cy="1610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FAQ 문서·민원 매뉴얼·안내문 업로드</a:t>
            </a:r>
          </a:p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AI가 해당 자료 기반으로 답변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509760" y="5943600"/>
            <a:ext cx="8321040" cy="2743200"/>
            <a:chOff x="0" y="0"/>
            <a:chExt cx="11094720" cy="36576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094720" cy="3657600"/>
            </a:xfrm>
            <a:custGeom>
              <a:avLst/>
              <a:gdLst/>
              <a:ahLst/>
              <a:cxnLst/>
              <a:rect l="l" t="t" r="r" b="b"/>
              <a:pathLst>
                <a:path w="11094720" h="3657600">
                  <a:moveTo>
                    <a:pt x="0" y="0"/>
                  </a:moveTo>
                  <a:lnTo>
                    <a:pt x="11094720" y="0"/>
                  </a:lnTo>
                  <a:lnTo>
                    <a:pt x="110947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9509760" y="5943600"/>
            <a:ext cx="8321040" cy="822960"/>
            <a:chOff x="0" y="0"/>
            <a:chExt cx="11094720" cy="10972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094720" cy="1097280"/>
            </a:xfrm>
            <a:custGeom>
              <a:avLst/>
              <a:gdLst/>
              <a:ahLst/>
              <a:cxnLst/>
              <a:rect l="l" t="t" r="r" b="b"/>
              <a:pathLst>
                <a:path w="11094720" h="1097280">
                  <a:moveTo>
                    <a:pt x="0" y="0"/>
                  </a:moveTo>
                  <a:lnTo>
                    <a:pt x="11094720" y="0"/>
                  </a:lnTo>
                  <a:lnTo>
                    <a:pt x="11094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9692640" y="5943600"/>
            <a:ext cx="7955280" cy="822960"/>
            <a:chOff x="0" y="0"/>
            <a:chExt cx="10607040" cy="10972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607040" cy="1097280"/>
            </a:xfrm>
            <a:custGeom>
              <a:avLst/>
              <a:gdLst/>
              <a:ahLst/>
              <a:cxnLst/>
              <a:rect l="l" t="t" r="r" b="b"/>
              <a:pathLst>
                <a:path w="10607040" h="1097280">
                  <a:moveTo>
                    <a:pt x="0" y="0"/>
                  </a:moveTo>
                  <a:lnTo>
                    <a:pt x="10607040" y="0"/>
                  </a:lnTo>
                  <a:lnTo>
                    <a:pt x="10607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355" b="-13835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9525"/>
              <a:ext cx="10607040" cy="1087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💬  대화 스타터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9780013" y="6934200"/>
            <a:ext cx="7736843" cy="1610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사용자가 자주 묻는 질문 버튼 설정</a:t>
            </a:r>
          </a:p>
          <a:p>
            <a:pPr algn="l">
              <a:lnSpc>
                <a:spcPts val="2760"/>
              </a:lnSpc>
            </a:pPr>
            <a:r>
              <a:rPr lang="en-US" sz="23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진입 장벽을 낮추고 사용 편의성 향상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640080" y="8493396"/>
            <a:ext cx="17007840" cy="548640"/>
            <a:chOff x="0" y="0"/>
            <a:chExt cx="22677120" cy="7315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D2340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822960" y="8493396"/>
            <a:ext cx="16642080" cy="548640"/>
            <a:chOff x="0" y="0"/>
            <a:chExt cx="22189440" cy="7315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2218944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🔗 접속 방법: chat.openai.com → 왼쪽 메뉴 'Explore GPTs' → 'Create' 버튼 클릭 (ChatGPT Plus 계정 필요)</a:t>
              </a:r>
            </a:p>
          </p:txBody>
        </p:sp>
      </p:grpSp>
      <p:grpSp>
        <p:nvGrpSpPr>
          <p:cNvPr id="49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50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51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52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53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4차시-01 | CS 특화 FAQ 챗봇 구조 설계</a:t>
              </a:r>
            </a:p>
          </p:txBody>
        </p:sp>
      </p:grpSp>
      <p:grpSp>
        <p:nvGrpSpPr>
          <p:cNvPr id="54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55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56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보건의료 CS Q&amp;A 데이터 설계 예시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920240"/>
            <a:ext cx="8046720" cy="731520"/>
            <a:chOff x="0" y="0"/>
            <a:chExt cx="10728960" cy="975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28960" cy="975360"/>
            </a:xfrm>
            <a:custGeom>
              <a:avLst/>
              <a:gdLst/>
              <a:ahLst/>
              <a:cxnLst/>
              <a:rect l="l" t="t" r="r" b="b"/>
              <a:pathLst>
                <a:path w="10728960" h="9753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869680" y="1920240"/>
            <a:ext cx="8778240" cy="731520"/>
            <a:chOff x="0" y="0"/>
            <a:chExt cx="11704320" cy="975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704320" cy="975360"/>
            </a:xfrm>
            <a:custGeom>
              <a:avLst/>
              <a:gdLst/>
              <a:ahLst/>
              <a:cxnLst/>
              <a:rect l="l" t="t" r="r" b="b"/>
              <a:pathLst>
                <a:path w="11704320" h="975360">
                  <a:moveTo>
                    <a:pt x="0" y="0"/>
                  </a:moveTo>
                  <a:lnTo>
                    <a:pt x="11704320" y="0"/>
                  </a:lnTo>
                  <a:lnTo>
                    <a:pt x="117043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40080" y="1920240"/>
            <a:ext cx="8046720" cy="731520"/>
            <a:chOff x="0" y="0"/>
            <a:chExt cx="10728960" cy="9753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28960" cy="975360"/>
            </a:xfrm>
            <a:custGeom>
              <a:avLst/>
              <a:gdLst/>
              <a:ahLst/>
              <a:cxnLst/>
              <a:rect l="l" t="t" r="r" b="b"/>
              <a:pathLst>
                <a:path w="10728960" h="9753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072896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Q (고객 질문)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869680" y="1920240"/>
            <a:ext cx="8778240" cy="731520"/>
            <a:chOff x="0" y="0"/>
            <a:chExt cx="11704320" cy="9753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704320" cy="975360"/>
            </a:xfrm>
            <a:custGeom>
              <a:avLst/>
              <a:gdLst/>
              <a:ahLst/>
              <a:cxnLst/>
              <a:rect l="l" t="t" r="r" b="b"/>
              <a:pathLst>
                <a:path w="11704320" h="975360">
                  <a:moveTo>
                    <a:pt x="0" y="0"/>
                  </a:moveTo>
                  <a:lnTo>
                    <a:pt x="11704320" y="0"/>
                  </a:lnTo>
                  <a:lnTo>
                    <a:pt x="11704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170432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A (표준 답변)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0080" y="2779776"/>
            <a:ext cx="8046720" cy="1133856"/>
            <a:chOff x="0" y="0"/>
            <a:chExt cx="10728960" cy="1511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28960" cy="1511808"/>
            </a:xfrm>
            <a:custGeom>
              <a:avLst/>
              <a:gdLst/>
              <a:ahLst/>
              <a:cxnLst/>
              <a:rect l="l" t="t" r="r" b="b"/>
              <a:pathLst>
                <a:path w="10728960" h="1511808">
                  <a:moveTo>
                    <a:pt x="0" y="0"/>
                  </a:moveTo>
                  <a:lnTo>
                    <a:pt x="10728960" y="0"/>
                  </a:lnTo>
                  <a:lnTo>
                    <a:pt x="1072896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8869680" y="2779776"/>
            <a:ext cx="8778240" cy="1133856"/>
            <a:chOff x="0" y="0"/>
            <a:chExt cx="11704320" cy="15118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704320" cy="1511808"/>
            </a:xfrm>
            <a:custGeom>
              <a:avLst/>
              <a:gdLst/>
              <a:ahLst/>
              <a:cxnLst/>
              <a:rect l="l" t="t" r="r" b="b"/>
              <a:pathLst>
                <a:path w="11704320" h="1511808">
                  <a:moveTo>
                    <a:pt x="0" y="0"/>
                  </a:moveTo>
                  <a:lnTo>
                    <a:pt x="11704320" y="0"/>
                  </a:lnTo>
                  <a:lnTo>
                    <a:pt x="11704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822960" y="2779776"/>
            <a:ext cx="7680960" cy="1133856"/>
            <a:chOff x="0" y="0"/>
            <a:chExt cx="10241280" cy="151180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241280" cy="1511808"/>
            </a:xfrm>
            <a:custGeom>
              <a:avLst/>
              <a:gdLst/>
              <a:ahLst/>
              <a:cxnLst/>
              <a:rect l="l" t="t" r="r" b="b"/>
              <a:pathLst>
                <a:path w="10241280" h="1511808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995" b="-8199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1024128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Q. 진료 예약은 어떻게 하나요?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052560" y="2779776"/>
            <a:ext cx="8412480" cy="1133856"/>
            <a:chOff x="0" y="0"/>
            <a:chExt cx="11216640" cy="151180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216640" cy="1511808"/>
            </a:xfrm>
            <a:custGeom>
              <a:avLst/>
              <a:gdLst/>
              <a:ahLst/>
              <a:cxnLst/>
              <a:rect l="l" t="t" r="r" b="b"/>
              <a:pathLst>
                <a:path w="11216640" h="1511808">
                  <a:moveTo>
                    <a:pt x="0" y="0"/>
                  </a:moveTo>
                  <a:lnTo>
                    <a:pt x="11216640" y="0"/>
                  </a:lnTo>
                  <a:lnTo>
                    <a:pt x="112166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66" b="-9456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1121664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A. 전화(대표번호), 홈페이지 온라인 예약, 원무과 방문 접수 중 편한 방법을 이용하시면 됩니다.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0080" y="4096512"/>
            <a:ext cx="8046720" cy="1133856"/>
            <a:chOff x="0" y="0"/>
            <a:chExt cx="10728960" cy="151180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728960" cy="1511808"/>
            </a:xfrm>
            <a:custGeom>
              <a:avLst/>
              <a:gdLst/>
              <a:ahLst/>
              <a:cxnLst/>
              <a:rect l="l" t="t" r="r" b="b"/>
              <a:pathLst>
                <a:path w="10728960" h="1511808">
                  <a:moveTo>
                    <a:pt x="0" y="0"/>
                  </a:moveTo>
                  <a:lnTo>
                    <a:pt x="10728960" y="0"/>
                  </a:lnTo>
                  <a:lnTo>
                    <a:pt x="1072896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8869680" y="4096512"/>
            <a:ext cx="8778240" cy="1133856"/>
            <a:chOff x="0" y="0"/>
            <a:chExt cx="11704320" cy="151180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704320" cy="1511808"/>
            </a:xfrm>
            <a:custGeom>
              <a:avLst/>
              <a:gdLst/>
              <a:ahLst/>
              <a:cxnLst/>
              <a:rect l="l" t="t" r="r" b="b"/>
              <a:pathLst>
                <a:path w="11704320" h="1511808">
                  <a:moveTo>
                    <a:pt x="0" y="0"/>
                  </a:moveTo>
                  <a:lnTo>
                    <a:pt x="11704320" y="0"/>
                  </a:lnTo>
                  <a:lnTo>
                    <a:pt x="11704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822960" y="4096512"/>
            <a:ext cx="7680960" cy="1133856"/>
            <a:chOff x="0" y="0"/>
            <a:chExt cx="10241280" cy="151180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241280" cy="1511808"/>
            </a:xfrm>
            <a:custGeom>
              <a:avLst/>
              <a:gdLst/>
              <a:ahLst/>
              <a:cxnLst/>
              <a:rect l="l" t="t" r="r" b="b"/>
              <a:pathLst>
                <a:path w="10241280" h="1511808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995" b="-81995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1024128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Q. 진료비 영수증 재발급이 가능한가요?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052560" y="4096512"/>
            <a:ext cx="8412480" cy="1133856"/>
            <a:chOff x="0" y="0"/>
            <a:chExt cx="11216640" cy="151180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216640" cy="1511808"/>
            </a:xfrm>
            <a:custGeom>
              <a:avLst/>
              <a:gdLst/>
              <a:ahLst/>
              <a:cxnLst/>
              <a:rect l="l" t="t" r="r" b="b"/>
              <a:pathLst>
                <a:path w="11216640" h="1511808">
                  <a:moveTo>
                    <a:pt x="0" y="0"/>
                  </a:moveTo>
                  <a:lnTo>
                    <a:pt x="11216640" y="0"/>
                  </a:lnTo>
                  <a:lnTo>
                    <a:pt x="112166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66" b="-94566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121664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A. 원무과 방문 또는 전화 신청으로 재발급 가능합니다. 발급 수수료 300원이 발생합니다.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0080" y="5413248"/>
            <a:ext cx="8046720" cy="1133856"/>
            <a:chOff x="0" y="0"/>
            <a:chExt cx="10728960" cy="151180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728960" cy="1511808"/>
            </a:xfrm>
            <a:custGeom>
              <a:avLst/>
              <a:gdLst/>
              <a:ahLst/>
              <a:cxnLst/>
              <a:rect l="l" t="t" r="r" b="b"/>
              <a:pathLst>
                <a:path w="10728960" h="1511808">
                  <a:moveTo>
                    <a:pt x="0" y="0"/>
                  </a:moveTo>
                  <a:lnTo>
                    <a:pt x="10728960" y="0"/>
                  </a:lnTo>
                  <a:lnTo>
                    <a:pt x="1072896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8869680" y="5413248"/>
            <a:ext cx="8778240" cy="1133856"/>
            <a:chOff x="0" y="0"/>
            <a:chExt cx="11704320" cy="151180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704320" cy="1511808"/>
            </a:xfrm>
            <a:custGeom>
              <a:avLst/>
              <a:gdLst/>
              <a:ahLst/>
              <a:cxnLst/>
              <a:rect l="l" t="t" r="r" b="b"/>
              <a:pathLst>
                <a:path w="11704320" h="1511808">
                  <a:moveTo>
                    <a:pt x="0" y="0"/>
                  </a:moveTo>
                  <a:lnTo>
                    <a:pt x="11704320" y="0"/>
                  </a:lnTo>
                  <a:lnTo>
                    <a:pt x="11704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822960" y="5413248"/>
            <a:ext cx="7680960" cy="1133856"/>
            <a:chOff x="0" y="0"/>
            <a:chExt cx="10241280" cy="151180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241280" cy="1511808"/>
            </a:xfrm>
            <a:custGeom>
              <a:avLst/>
              <a:gdLst/>
              <a:ahLst/>
              <a:cxnLst/>
              <a:rect l="l" t="t" r="r" b="b"/>
              <a:pathLst>
                <a:path w="10241280" h="1511808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995" b="-81995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1024128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Q. 주차는 어떻게 하나요?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52560" y="5413248"/>
            <a:ext cx="8412480" cy="1133856"/>
            <a:chOff x="0" y="0"/>
            <a:chExt cx="11216640" cy="151180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216640" cy="1511808"/>
            </a:xfrm>
            <a:custGeom>
              <a:avLst/>
              <a:gdLst/>
              <a:ahLst/>
              <a:cxnLst/>
              <a:rect l="l" t="t" r="r" b="b"/>
              <a:pathLst>
                <a:path w="11216640" h="1511808">
                  <a:moveTo>
                    <a:pt x="0" y="0"/>
                  </a:moveTo>
                  <a:lnTo>
                    <a:pt x="11216640" y="0"/>
                  </a:lnTo>
                  <a:lnTo>
                    <a:pt x="112166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66" b="-94566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1121664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A. 본관 지하주차장 이용 가능하며, 외래 진료 시 2시간 무료입니다. 장기주차는 유료입니다.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40080" y="6729984"/>
            <a:ext cx="8046720" cy="1133856"/>
            <a:chOff x="0" y="0"/>
            <a:chExt cx="10728960" cy="151180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728960" cy="1511808"/>
            </a:xfrm>
            <a:custGeom>
              <a:avLst/>
              <a:gdLst/>
              <a:ahLst/>
              <a:cxnLst/>
              <a:rect l="l" t="t" r="r" b="b"/>
              <a:pathLst>
                <a:path w="10728960" h="1511808">
                  <a:moveTo>
                    <a:pt x="0" y="0"/>
                  </a:moveTo>
                  <a:lnTo>
                    <a:pt x="10728960" y="0"/>
                  </a:lnTo>
                  <a:lnTo>
                    <a:pt x="1072896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8869680" y="6729984"/>
            <a:ext cx="8778240" cy="1133856"/>
            <a:chOff x="0" y="0"/>
            <a:chExt cx="11704320" cy="151180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704320" cy="1511808"/>
            </a:xfrm>
            <a:custGeom>
              <a:avLst/>
              <a:gdLst/>
              <a:ahLst/>
              <a:cxnLst/>
              <a:rect l="l" t="t" r="r" b="b"/>
              <a:pathLst>
                <a:path w="11704320" h="1511808">
                  <a:moveTo>
                    <a:pt x="0" y="0"/>
                  </a:moveTo>
                  <a:lnTo>
                    <a:pt x="11704320" y="0"/>
                  </a:lnTo>
                  <a:lnTo>
                    <a:pt x="11704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822960" y="6729984"/>
            <a:ext cx="7680960" cy="1133856"/>
            <a:chOff x="0" y="0"/>
            <a:chExt cx="10241280" cy="151180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241280" cy="1511808"/>
            </a:xfrm>
            <a:custGeom>
              <a:avLst/>
              <a:gdLst/>
              <a:ahLst/>
              <a:cxnLst/>
              <a:rect l="l" t="t" r="r" b="b"/>
              <a:pathLst>
                <a:path w="10241280" h="1511808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995" b="-81995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1024128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Q. 진단서 발급 절차를 알고 싶어요.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052560" y="6729984"/>
            <a:ext cx="8412480" cy="1133856"/>
            <a:chOff x="0" y="0"/>
            <a:chExt cx="11216640" cy="151180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216640" cy="1511808"/>
            </a:xfrm>
            <a:custGeom>
              <a:avLst/>
              <a:gdLst/>
              <a:ahLst/>
              <a:cxnLst/>
              <a:rect l="l" t="t" r="r" b="b"/>
              <a:pathLst>
                <a:path w="11216640" h="1511808">
                  <a:moveTo>
                    <a:pt x="0" y="0"/>
                  </a:moveTo>
                  <a:lnTo>
                    <a:pt x="11216640" y="0"/>
                  </a:lnTo>
                  <a:lnTo>
                    <a:pt x="112166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66" b="-94566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1121664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A. 담당 의사 진료 후 원무과에서 신청 가능합니다. 발급 기간은 영업일 기준 3일 소요됩니다.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37903" y="7863840"/>
            <a:ext cx="8046720" cy="1133856"/>
            <a:chOff x="0" y="0"/>
            <a:chExt cx="10728960" cy="151180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728960" cy="1511808"/>
            </a:xfrm>
            <a:custGeom>
              <a:avLst/>
              <a:gdLst/>
              <a:ahLst/>
              <a:cxnLst/>
              <a:rect l="l" t="t" r="r" b="b"/>
              <a:pathLst>
                <a:path w="10728960" h="1511808">
                  <a:moveTo>
                    <a:pt x="0" y="0"/>
                  </a:moveTo>
                  <a:lnTo>
                    <a:pt x="10728960" y="0"/>
                  </a:lnTo>
                  <a:lnTo>
                    <a:pt x="1072896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8867503" y="7863840"/>
            <a:ext cx="8778240" cy="1133856"/>
            <a:chOff x="0" y="0"/>
            <a:chExt cx="11704320" cy="151180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1704320" cy="1511808"/>
            </a:xfrm>
            <a:custGeom>
              <a:avLst/>
              <a:gdLst/>
              <a:ahLst/>
              <a:cxnLst/>
              <a:rect l="l" t="t" r="r" b="b"/>
              <a:pathLst>
                <a:path w="11704320" h="1511808">
                  <a:moveTo>
                    <a:pt x="0" y="0"/>
                  </a:moveTo>
                  <a:lnTo>
                    <a:pt x="11704320" y="0"/>
                  </a:lnTo>
                  <a:lnTo>
                    <a:pt x="11704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820783" y="7863840"/>
            <a:ext cx="7680960" cy="1133856"/>
            <a:chOff x="0" y="0"/>
            <a:chExt cx="10241280" cy="151180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241280" cy="1511808"/>
            </a:xfrm>
            <a:custGeom>
              <a:avLst/>
              <a:gdLst/>
              <a:ahLst/>
              <a:cxnLst/>
              <a:rect l="l" t="t" r="r" b="b"/>
              <a:pathLst>
                <a:path w="10241280" h="1511808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995" b="-81995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1024128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Q. 응급실 이용 방법을 알려주세요.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050383" y="7863840"/>
            <a:ext cx="8412480" cy="1133856"/>
            <a:chOff x="0" y="0"/>
            <a:chExt cx="11216640" cy="151180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1216640" cy="1511808"/>
            </a:xfrm>
            <a:custGeom>
              <a:avLst/>
              <a:gdLst/>
              <a:ahLst/>
              <a:cxnLst/>
              <a:rect l="l" t="t" r="r" b="b"/>
              <a:pathLst>
                <a:path w="11216640" h="1511808">
                  <a:moveTo>
                    <a:pt x="0" y="0"/>
                  </a:moveTo>
                  <a:lnTo>
                    <a:pt x="11216640" y="0"/>
                  </a:lnTo>
                  <a:lnTo>
                    <a:pt x="112166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66" b="-94566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11216640" cy="151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A. 응급실은 24시간 운영 중입니다. 중증도에 따라 대기 시간이 달라질 수 있으며, 접수 즉시 의료진이 확인합니다.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79120" y="8974836"/>
            <a:ext cx="17007840" cy="402336"/>
            <a:chOff x="0" y="0"/>
            <a:chExt cx="22677120" cy="53644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762000" y="9088424"/>
            <a:ext cx="16642080" cy="402336"/>
            <a:chOff x="0" y="0"/>
            <a:chExt cx="22189440" cy="53644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22189440" cy="545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💡 이와 같은 Q&amp;A 데이터 10~30개를 Word/PDF로 저장하여 GPTs에 업로드하면 즉시 챗봇 지식으로 활용됩니다</a:t>
              </a:r>
            </a:p>
          </p:txBody>
        </p:sp>
      </p:grpSp>
      <p:grpSp>
        <p:nvGrpSpPr>
          <p:cNvPr id="74" name="Group 45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75" name="Freeform 46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76" name="Group 47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77" name="Freeform 48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78" name="TextBox 49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4차시-01 | CS 특화 FAQ 챗봇 구조 설계</a:t>
              </a:r>
            </a:p>
          </p:txBody>
        </p:sp>
      </p:grpSp>
      <p:grpSp>
        <p:nvGrpSpPr>
          <p:cNvPr id="79" name="Group 50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80" name="Freeform 51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81" name="TextBox 52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0263" y="856831"/>
            <a:ext cx="3500123" cy="537467"/>
            <a:chOff x="0" y="0"/>
            <a:chExt cx="4666831" cy="7166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6869" cy="716661"/>
            </a:xfrm>
            <a:custGeom>
              <a:avLst/>
              <a:gdLst/>
              <a:ahLst/>
              <a:cxnLst/>
              <a:rect l="l" t="t" r="r" b="b"/>
              <a:pathLst>
                <a:path w="4666869" h="716661">
                  <a:moveTo>
                    <a:pt x="0" y="0"/>
                  </a:moveTo>
                  <a:lnTo>
                    <a:pt x="4666869" y="0"/>
                  </a:lnTo>
                  <a:lnTo>
                    <a:pt x="466686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F5760D"/>
            </a:solidFill>
            <a:ln w="25400" cap="sq">
              <a:solidFill>
                <a:srgbClr val="6D28D9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822960" y="869528"/>
            <a:ext cx="3474720" cy="512064"/>
            <a:chOff x="0" y="0"/>
            <a:chExt cx="4632960" cy="6827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32960" cy="682752"/>
            </a:xfrm>
            <a:custGeom>
              <a:avLst/>
              <a:gdLst/>
              <a:ahLst/>
              <a:cxnLst/>
              <a:rect l="l" t="t" r="r" b="b"/>
              <a:pathLst>
                <a:path w="4632960" h="682752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219" b="-8221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463296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4차시-02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527896"/>
            <a:ext cx="16642080" cy="1316736"/>
            <a:chOff x="0" y="0"/>
            <a:chExt cx="22189440" cy="17556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9439" cy="1755648"/>
            </a:xfrm>
            <a:custGeom>
              <a:avLst/>
              <a:gdLst/>
              <a:ahLst/>
              <a:cxnLst/>
              <a:rect l="l" t="t" r="r" b="b"/>
              <a:pathLst>
                <a:path w="22189439" h="1755648">
                  <a:moveTo>
                    <a:pt x="0" y="0"/>
                  </a:moveTo>
                  <a:lnTo>
                    <a:pt x="22189439" y="0"/>
                  </a:lnTo>
                  <a:lnTo>
                    <a:pt x="221894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269" b="-19626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2189440" cy="1774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ChatGPT GPTs 기반 챗봇 구현 실습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0263" y="2692213"/>
            <a:ext cx="2219963" cy="107699"/>
            <a:chOff x="0" y="0"/>
            <a:chExt cx="2959951" cy="1435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59989" cy="143637"/>
            </a:xfrm>
            <a:custGeom>
              <a:avLst/>
              <a:gdLst/>
              <a:ahLst/>
              <a:cxnLst/>
              <a:rect l="l" t="t" r="r" b="b"/>
              <a:pathLst>
                <a:path w="2959989" h="143637">
                  <a:moveTo>
                    <a:pt x="0" y="0"/>
                  </a:moveTo>
                  <a:lnTo>
                    <a:pt x="2959989" y="0"/>
                  </a:lnTo>
                  <a:lnTo>
                    <a:pt x="2959989" y="143637"/>
                  </a:lnTo>
                  <a:lnTo>
                    <a:pt x="0" y="14363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2960" y="3064088"/>
            <a:ext cx="16642080" cy="548640"/>
            <a:chOff x="0" y="0"/>
            <a:chExt cx="2218944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21894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rimo"/>
                  <a:ea typeface="Arimo"/>
                  <a:cs typeface="Arimo"/>
                  <a:sym typeface="Arimo"/>
                </a:rPr>
                <a:t>코딩 없이 병원 특화 AI 챗봇 직접 만들기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6607" y="3617528"/>
            <a:ext cx="8150857" cy="4804153"/>
            <a:chOff x="0" y="0"/>
            <a:chExt cx="10867809" cy="64055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67771" cy="6405499"/>
            </a:xfrm>
            <a:custGeom>
              <a:avLst/>
              <a:gdLst/>
              <a:ahLst/>
              <a:cxnLst/>
              <a:rect l="l" t="t" r="r" b="b"/>
              <a:pathLst>
                <a:path w="10867771" h="6405499">
                  <a:moveTo>
                    <a:pt x="0" y="0"/>
                  </a:moveTo>
                  <a:lnTo>
                    <a:pt x="10867771" y="0"/>
                  </a:lnTo>
                  <a:lnTo>
                    <a:pt x="1086777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10263" y="3611185"/>
            <a:ext cx="135131" cy="4816859"/>
            <a:chOff x="0" y="0"/>
            <a:chExt cx="180175" cy="642247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F5760D"/>
            </a:solidFill>
            <a:ln w="25400" cap="sq">
              <a:solidFill>
                <a:srgbClr val="6D28D9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152144" y="3861626"/>
            <a:ext cx="7680960" cy="548640"/>
            <a:chOff x="0" y="0"/>
            <a:chExt cx="1024128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⚙️ GPTs 구현 5단계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52144" y="4501706"/>
            <a:ext cx="7680960" cy="3730752"/>
            <a:chOff x="0" y="0"/>
            <a:chExt cx="10241280" cy="49743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41280" cy="4974336"/>
            </a:xfrm>
            <a:custGeom>
              <a:avLst/>
              <a:gdLst/>
              <a:ahLst/>
              <a:cxnLst/>
              <a:rect l="l" t="t" r="r" b="b"/>
              <a:pathLst>
                <a:path w="10241280" h="4974336">
                  <a:moveTo>
                    <a:pt x="0" y="0"/>
                  </a:moveTo>
                  <a:lnTo>
                    <a:pt x="10241280" y="0"/>
                  </a:lnTo>
                  <a:lnTo>
                    <a:pt x="1024128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18" r="-1231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024128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① ChatGPT → Explore GPTs → Create 클릭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② Name &amp; Description: 챗봇 이름·역할 설정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③ Instructions: 시스템 프롬프트 작성 (핵심!)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④ Knowledge: 병원 안내 문서 업로드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⑤ Actions 없이 배포 → 링크 공유 또는 팀 사용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29087" y="3617528"/>
            <a:ext cx="8242297" cy="4804153"/>
            <a:chOff x="0" y="0"/>
            <a:chExt cx="10989729" cy="64055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89691" cy="6405499"/>
            </a:xfrm>
            <a:custGeom>
              <a:avLst/>
              <a:gdLst/>
              <a:ahLst/>
              <a:cxnLst/>
              <a:rect l="l" t="t" r="r" b="b"/>
              <a:pathLst>
                <a:path w="10989691" h="6405499">
                  <a:moveTo>
                    <a:pt x="0" y="0"/>
                  </a:moveTo>
                  <a:lnTo>
                    <a:pt x="10989691" y="0"/>
                  </a:lnTo>
                  <a:lnTo>
                    <a:pt x="1098969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222743" y="3611185"/>
            <a:ext cx="135131" cy="4816859"/>
            <a:chOff x="0" y="0"/>
            <a:chExt cx="180175" cy="642247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0369A1"/>
            </a:solidFill>
            <a:ln w="25400" cap="sq">
              <a:solidFill>
                <a:srgbClr val="0369A1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564624" y="3861626"/>
            <a:ext cx="7772400" cy="548640"/>
            <a:chOff x="0" y="0"/>
            <a:chExt cx="1036320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363200" cy="731520"/>
            </a:xfrm>
            <a:custGeom>
              <a:avLst/>
              <a:gdLst/>
              <a:ahLst/>
              <a:cxnLst/>
              <a:rect l="l" t="t" r="r" b="b"/>
              <a:pathLst>
                <a:path w="10363200" h="731520">
                  <a:moveTo>
                    <a:pt x="0" y="0"/>
                  </a:moveTo>
                  <a:lnTo>
                    <a:pt x="10363200" y="0"/>
                  </a:lnTo>
                  <a:lnTo>
                    <a:pt x="1036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038" b="-22603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103632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📝 Instructions 작성 핵심 요소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64624" y="4501706"/>
            <a:ext cx="7772400" cy="3730752"/>
            <a:chOff x="0" y="0"/>
            <a:chExt cx="10363200" cy="497433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363200" cy="4974336"/>
            </a:xfrm>
            <a:custGeom>
              <a:avLst/>
              <a:gdLst/>
              <a:ahLst/>
              <a:cxnLst/>
              <a:rect l="l" t="t" r="r" b="b"/>
              <a:pathLst>
                <a:path w="10363200" h="4974336">
                  <a:moveTo>
                    <a:pt x="0" y="0"/>
                  </a:moveTo>
                  <a:lnTo>
                    <a:pt x="10363200" y="0"/>
                  </a:lnTo>
                  <a:lnTo>
                    <a:pt x="1036320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r="-1158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036320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역할 정의: '당신은 ○○병원 CS 챗봇입니다'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응대 규칙: 공손한 말투, 3문장 이내 답변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금지 사항: 진단·처방·법적 판단 불가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Fallback: 모르면 '담당자 연결' 안내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개인정보: 절대 수집·저장 금지 명시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0263" y="8548945"/>
            <a:ext cx="17033243" cy="903227"/>
            <a:chOff x="0" y="0"/>
            <a:chExt cx="22710991" cy="120430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711029" cy="1204341"/>
            </a:xfrm>
            <a:custGeom>
              <a:avLst/>
              <a:gdLst/>
              <a:ahLst/>
              <a:cxnLst/>
              <a:rect l="l" t="t" r="r" b="b"/>
              <a:pathLst>
                <a:path w="22711029" h="1204341">
                  <a:moveTo>
                    <a:pt x="0" y="0"/>
                  </a:moveTo>
                  <a:lnTo>
                    <a:pt x="22711029" y="0"/>
                  </a:lnTo>
                  <a:lnTo>
                    <a:pt x="22711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EDE9FE"/>
            </a:solidFill>
            <a:ln w="25400" cap="sq">
              <a:solidFill>
                <a:srgbClr val="6D28D9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97280" y="8561642"/>
            <a:ext cx="16642080" cy="877824"/>
            <a:chOff x="0" y="0"/>
            <a:chExt cx="22189440" cy="117043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2189439" cy="1170432"/>
            </a:xfrm>
            <a:custGeom>
              <a:avLst/>
              <a:gdLst/>
              <a:ahLst/>
              <a:cxnLst/>
              <a:rect l="l" t="t" r="r" b="b"/>
              <a:pathLst>
                <a:path w="22189439" h="1170432">
                  <a:moveTo>
                    <a:pt x="0" y="0"/>
                  </a:moveTo>
                  <a:lnTo>
                    <a:pt x="22189439" y="0"/>
                  </a:lnTo>
                  <a:lnTo>
                    <a:pt x="221894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9403" b="-31940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22189440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B0764"/>
                  </a:solidFill>
                  <a:latin typeface="Arimo"/>
                  <a:ea typeface="Arimo"/>
                  <a:cs typeface="Arimo"/>
                  <a:sym typeface="Arimo"/>
                </a:rPr>
                <a:t>🛠️ 실습: ChatGPT → Create a GPT → 우리 병원 CS 챗봇 Instructions 작성 → Knowledge에 FAQ 문서 업로드 → 테스트!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4차시-02 | ChatGPT GPTs 기반 챗봇 구현 실습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48" name="AutoShape 48"/>
          <p:cNvSpPr/>
          <p:nvPr/>
        </p:nvSpPr>
        <p:spPr>
          <a:xfrm rot="6540">
            <a:off x="-792166" y="836190"/>
            <a:ext cx="6705552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GPTs 챗봇 구축 실습 – STEP 1~2: 기본 설정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920240"/>
            <a:ext cx="8321040" cy="768096"/>
            <a:chOff x="0" y="0"/>
            <a:chExt cx="11094720" cy="1024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094720" cy="1024128"/>
            </a:xfrm>
            <a:custGeom>
              <a:avLst/>
              <a:gdLst/>
              <a:ahLst/>
              <a:cxnLst/>
              <a:rect l="l" t="t" r="r" b="b"/>
              <a:pathLst>
                <a:path w="11094720" h="1024128">
                  <a:moveTo>
                    <a:pt x="0" y="0"/>
                  </a:moveTo>
                  <a:lnTo>
                    <a:pt x="11094720" y="0"/>
                  </a:lnTo>
                  <a:lnTo>
                    <a:pt x="110947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235440" y="1920240"/>
            <a:ext cx="8412480" cy="768096"/>
            <a:chOff x="0" y="0"/>
            <a:chExt cx="11216640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216640" cy="1024128"/>
            </a:xfrm>
            <a:custGeom>
              <a:avLst/>
              <a:gdLst/>
              <a:ahLst/>
              <a:cxnLst/>
              <a:rect l="l" t="t" r="r" b="b"/>
              <a:pathLst>
                <a:path w="11216640" h="1024128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40080" y="1920240"/>
            <a:ext cx="8321040" cy="768096"/>
            <a:chOff x="0" y="0"/>
            <a:chExt cx="11094720" cy="102412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094720" cy="1024128"/>
            </a:xfrm>
            <a:custGeom>
              <a:avLst/>
              <a:gdLst/>
              <a:ahLst/>
              <a:cxnLst/>
              <a:rect l="l" t="t" r="r" b="b"/>
              <a:pathLst>
                <a:path w="11094720" h="1024128">
                  <a:moveTo>
                    <a:pt x="0" y="0"/>
                  </a:moveTo>
                  <a:lnTo>
                    <a:pt x="11094720" y="0"/>
                  </a:lnTo>
                  <a:lnTo>
                    <a:pt x="11094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87" b="-16108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1094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1. 챗봇 기본 정보 설정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235440" y="1920240"/>
            <a:ext cx="8412480" cy="768096"/>
            <a:chOff x="0" y="0"/>
            <a:chExt cx="11216640" cy="102412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216640" cy="1024128"/>
            </a:xfrm>
            <a:custGeom>
              <a:avLst/>
              <a:gdLst/>
              <a:ahLst/>
              <a:cxnLst/>
              <a:rect l="l" t="t" r="r" b="b"/>
              <a:pathLst>
                <a:path w="11216640" h="1024128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3407" b="-16340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11216640" cy="1014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2. 지시사항(Instructions) 작성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0080" y="2852928"/>
            <a:ext cx="694944" cy="914400"/>
            <a:chOff x="0" y="0"/>
            <a:chExt cx="926592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640080" y="2852928"/>
            <a:ext cx="694944" cy="914400"/>
            <a:chOff x="0" y="0"/>
            <a:chExt cx="926592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17904" y="2852928"/>
            <a:ext cx="7443216" cy="914400"/>
            <a:chOff x="0" y="0"/>
            <a:chExt cx="9924288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924288" cy="1219200"/>
            </a:xfrm>
            <a:custGeom>
              <a:avLst/>
              <a:gdLst/>
              <a:ahLst/>
              <a:cxnLst/>
              <a:rect l="l" t="t" r="r" b="b"/>
              <a:pathLst>
                <a:path w="9924288" h="1219200">
                  <a:moveTo>
                    <a:pt x="0" y="0"/>
                  </a:moveTo>
                  <a:lnTo>
                    <a:pt x="9924288" y="0"/>
                  </a:lnTo>
                  <a:lnTo>
                    <a:pt x="992428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700784" y="2852928"/>
            <a:ext cx="7132320" cy="914400"/>
            <a:chOff x="0" y="0"/>
            <a:chExt cx="950976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509760" cy="1219200"/>
            </a:xfrm>
            <a:custGeom>
              <a:avLst/>
              <a:gdLst/>
              <a:ahLst/>
              <a:cxnLst/>
              <a:rect l="l" t="t" r="r" b="b"/>
              <a:pathLst>
                <a:path w="9509760" h="121920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983" b="-10198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95097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챗봇 이름 입력: 예) ‘ooo 병원 CS 안내봇'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0080" y="3986784"/>
            <a:ext cx="694944" cy="914400"/>
            <a:chOff x="0" y="0"/>
            <a:chExt cx="926592" cy="1219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40080" y="3986784"/>
            <a:ext cx="694944" cy="914400"/>
            <a:chOff x="0" y="0"/>
            <a:chExt cx="926592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17904" y="3986784"/>
            <a:ext cx="7443216" cy="914400"/>
            <a:chOff x="0" y="0"/>
            <a:chExt cx="9924288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924288" cy="1219200"/>
            </a:xfrm>
            <a:custGeom>
              <a:avLst/>
              <a:gdLst/>
              <a:ahLst/>
              <a:cxnLst/>
              <a:rect l="l" t="t" r="r" b="b"/>
              <a:pathLst>
                <a:path w="9924288" h="1219200">
                  <a:moveTo>
                    <a:pt x="0" y="0"/>
                  </a:moveTo>
                  <a:lnTo>
                    <a:pt x="9924288" y="0"/>
                  </a:lnTo>
                  <a:lnTo>
                    <a:pt x="992428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700784" y="3986784"/>
            <a:ext cx="7132320" cy="914400"/>
            <a:chOff x="0" y="0"/>
            <a:chExt cx="9509760" cy="1219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509760" cy="1219200"/>
            </a:xfrm>
            <a:custGeom>
              <a:avLst/>
              <a:gdLst/>
              <a:ahLst/>
              <a:cxnLst/>
              <a:rect l="l" t="t" r="r" b="b"/>
              <a:pathLst>
                <a:path w="9509760" h="121920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983" b="-101983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95097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챗봇 역할 설명: '병원 내 원무·환자 민원 응대 전담'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0080" y="5120640"/>
            <a:ext cx="694944" cy="914400"/>
            <a:chOff x="0" y="0"/>
            <a:chExt cx="926592" cy="1219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40080" y="5120640"/>
            <a:ext cx="694944" cy="914400"/>
            <a:chOff x="0" y="0"/>
            <a:chExt cx="926592" cy="1219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17904" y="5120640"/>
            <a:ext cx="7443216" cy="914400"/>
            <a:chOff x="0" y="0"/>
            <a:chExt cx="9924288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924288" cy="1219200"/>
            </a:xfrm>
            <a:custGeom>
              <a:avLst/>
              <a:gdLst/>
              <a:ahLst/>
              <a:cxnLst/>
              <a:rect l="l" t="t" r="r" b="b"/>
              <a:pathLst>
                <a:path w="9924288" h="1219200">
                  <a:moveTo>
                    <a:pt x="0" y="0"/>
                  </a:moveTo>
                  <a:lnTo>
                    <a:pt x="9924288" y="0"/>
                  </a:lnTo>
                  <a:lnTo>
                    <a:pt x="992428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700784" y="5120640"/>
            <a:ext cx="7132320" cy="914400"/>
            <a:chOff x="0" y="0"/>
            <a:chExt cx="9509760" cy="1219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509760" cy="1219200"/>
            </a:xfrm>
            <a:custGeom>
              <a:avLst/>
              <a:gdLst/>
              <a:ahLst/>
              <a:cxnLst/>
              <a:rect l="l" t="t" r="r" b="b"/>
              <a:pathLst>
                <a:path w="9509760" h="121920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983" b="-101983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95097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프로필 이미지 생성 (DALL·E 자동 생성 가능)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40080" y="6254496"/>
            <a:ext cx="694944" cy="914400"/>
            <a:chOff x="0" y="0"/>
            <a:chExt cx="926592" cy="12192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640080" y="6254496"/>
            <a:ext cx="694944" cy="914400"/>
            <a:chOff x="0" y="0"/>
            <a:chExt cx="926592" cy="12192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4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517904" y="6254496"/>
            <a:ext cx="7443216" cy="914400"/>
            <a:chOff x="0" y="0"/>
            <a:chExt cx="9924288" cy="12192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924288" cy="1219200"/>
            </a:xfrm>
            <a:custGeom>
              <a:avLst/>
              <a:gdLst/>
              <a:ahLst/>
              <a:cxnLst/>
              <a:rect l="l" t="t" r="r" b="b"/>
              <a:pathLst>
                <a:path w="9924288" h="1219200">
                  <a:moveTo>
                    <a:pt x="0" y="0"/>
                  </a:moveTo>
                  <a:lnTo>
                    <a:pt x="9924288" y="0"/>
                  </a:lnTo>
                  <a:lnTo>
                    <a:pt x="992428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700784" y="6254496"/>
            <a:ext cx="7132320" cy="914400"/>
            <a:chOff x="0" y="0"/>
            <a:chExt cx="9509760" cy="12192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509760" cy="1219200"/>
            </a:xfrm>
            <a:custGeom>
              <a:avLst/>
              <a:gdLst/>
              <a:ahLst/>
              <a:cxnLst/>
              <a:rect l="l" t="t" r="r" b="b"/>
              <a:pathLst>
                <a:path w="9509760" h="121920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983" b="-10198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95097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공개 범위 설정: 나만 사용 / 링크 공유 / 전체 공개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235440" y="2852928"/>
            <a:ext cx="694944" cy="914400"/>
            <a:chOff x="0" y="0"/>
            <a:chExt cx="926592" cy="12192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9235440" y="2852928"/>
            <a:ext cx="694944" cy="914400"/>
            <a:chOff x="0" y="0"/>
            <a:chExt cx="926592" cy="12192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1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0113264" y="2852928"/>
            <a:ext cx="7534656" cy="914400"/>
            <a:chOff x="0" y="0"/>
            <a:chExt cx="10046208" cy="12192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046208" cy="1219200"/>
            </a:xfrm>
            <a:custGeom>
              <a:avLst/>
              <a:gdLst/>
              <a:ahLst/>
              <a:cxnLst/>
              <a:rect l="l" t="t" r="r" b="b"/>
              <a:pathLst>
                <a:path w="10046208" h="1219200">
                  <a:moveTo>
                    <a:pt x="0" y="0"/>
                  </a:moveTo>
                  <a:lnTo>
                    <a:pt x="10046208" y="0"/>
                  </a:lnTo>
                  <a:lnTo>
                    <a:pt x="1004620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0296144" y="2852928"/>
            <a:ext cx="7223760" cy="914400"/>
            <a:chOff x="0" y="0"/>
            <a:chExt cx="9631680" cy="12192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631680" cy="1219200"/>
            </a:xfrm>
            <a:custGeom>
              <a:avLst/>
              <a:gdLst/>
              <a:ahLst/>
              <a:cxnLst/>
              <a:rect l="l" t="t" r="r" b="b"/>
              <a:pathLst>
                <a:path w="9631680" h="1219200">
                  <a:moveTo>
                    <a:pt x="0" y="0"/>
                  </a:moveTo>
                  <a:lnTo>
                    <a:pt x="9631680" y="0"/>
                  </a:lnTo>
                  <a:lnTo>
                    <a:pt x="9631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931" b="-103931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963168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역할: ‘너는 ooo병원 CS 전담 안내 AI야'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235440" y="3986784"/>
            <a:ext cx="694944" cy="914400"/>
            <a:chOff x="0" y="0"/>
            <a:chExt cx="926592" cy="12192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9235440" y="3986784"/>
            <a:ext cx="694944" cy="914400"/>
            <a:chOff x="0" y="0"/>
            <a:chExt cx="926592" cy="12192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2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113264" y="3986784"/>
            <a:ext cx="7534656" cy="914400"/>
            <a:chOff x="0" y="0"/>
            <a:chExt cx="10046208" cy="12192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046208" cy="1219200"/>
            </a:xfrm>
            <a:custGeom>
              <a:avLst/>
              <a:gdLst/>
              <a:ahLst/>
              <a:cxnLst/>
              <a:rect l="l" t="t" r="r" b="b"/>
              <a:pathLst>
                <a:path w="10046208" h="1219200">
                  <a:moveTo>
                    <a:pt x="0" y="0"/>
                  </a:moveTo>
                  <a:lnTo>
                    <a:pt x="10046208" y="0"/>
                  </a:lnTo>
                  <a:lnTo>
                    <a:pt x="1004620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10296144" y="3986784"/>
            <a:ext cx="7223760" cy="914400"/>
            <a:chOff x="0" y="0"/>
            <a:chExt cx="9631680" cy="12192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631680" cy="1219200"/>
            </a:xfrm>
            <a:custGeom>
              <a:avLst/>
              <a:gdLst/>
              <a:ahLst/>
              <a:cxnLst/>
              <a:rect l="l" t="t" r="r" b="b"/>
              <a:pathLst>
                <a:path w="9631680" h="1219200">
                  <a:moveTo>
                    <a:pt x="0" y="0"/>
                  </a:moveTo>
                  <a:lnTo>
                    <a:pt x="9631680" y="0"/>
                  </a:lnTo>
                  <a:lnTo>
                    <a:pt x="9631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931" b="-103931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963168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응대 원칙: '항상 경어체, 3문장 이내, 공감 포함'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235440" y="5120640"/>
            <a:ext cx="694944" cy="914400"/>
            <a:chOff x="0" y="0"/>
            <a:chExt cx="926592" cy="12192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9235440" y="5120640"/>
            <a:ext cx="694944" cy="914400"/>
            <a:chOff x="0" y="0"/>
            <a:chExt cx="926592" cy="12192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3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0113264" y="5120640"/>
            <a:ext cx="7534656" cy="914400"/>
            <a:chOff x="0" y="0"/>
            <a:chExt cx="10046208" cy="12192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0046208" cy="1219200"/>
            </a:xfrm>
            <a:custGeom>
              <a:avLst/>
              <a:gdLst/>
              <a:ahLst/>
              <a:cxnLst/>
              <a:rect l="l" t="t" r="r" b="b"/>
              <a:pathLst>
                <a:path w="10046208" h="1219200">
                  <a:moveTo>
                    <a:pt x="0" y="0"/>
                  </a:moveTo>
                  <a:lnTo>
                    <a:pt x="10046208" y="0"/>
                  </a:lnTo>
                  <a:lnTo>
                    <a:pt x="1004620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10296144" y="5120640"/>
            <a:ext cx="7223760" cy="914400"/>
            <a:chOff x="0" y="0"/>
            <a:chExt cx="9631680" cy="12192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9631680" cy="1219200"/>
            </a:xfrm>
            <a:custGeom>
              <a:avLst/>
              <a:gdLst/>
              <a:ahLst/>
              <a:cxnLst/>
              <a:rect l="l" t="t" r="r" b="b"/>
              <a:pathLst>
                <a:path w="9631680" h="1219200">
                  <a:moveTo>
                    <a:pt x="0" y="0"/>
                  </a:moveTo>
                  <a:lnTo>
                    <a:pt x="9631680" y="0"/>
                  </a:lnTo>
                  <a:lnTo>
                    <a:pt x="9631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931" b="-103931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0"/>
              <a:ext cx="963168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답변 범위: '원무·민원·진료·시설 안내만 답변'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235440" y="6254496"/>
            <a:ext cx="694944" cy="914400"/>
            <a:chOff x="0" y="0"/>
            <a:chExt cx="926592" cy="12192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9235440" y="6254496"/>
            <a:ext cx="694944" cy="914400"/>
            <a:chOff x="0" y="0"/>
            <a:chExt cx="926592" cy="12192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4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0113264" y="6254496"/>
            <a:ext cx="7534656" cy="914400"/>
            <a:chOff x="0" y="0"/>
            <a:chExt cx="10046208" cy="12192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0046208" cy="1219200"/>
            </a:xfrm>
            <a:custGeom>
              <a:avLst/>
              <a:gdLst/>
              <a:ahLst/>
              <a:cxnLst/>
              <a:rect l="l" t="t" r="r" b="b"/>
              <a:pathLst>
                <a:path w="10046208" h="1219200">
                  <a:moveTo>
                    <a:pt x="0" y="0"/>
                  </a:moveTo>
                  <a:lnTo>
                    <a:pt x="10046208" y="0"/>
                  </a:lnTo>
                  <a:lnTo>
                    <a:pt x="1004620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10296144" y="6254496"/>
            <a:ext cx="7223760" cy="914400"/>
            <a:chOff x="0" y="0"/>
            <a:chExt cx="9631680" cy="12192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9631680" cy="1219200"/>
            </a:xfrm>
            <a:custGeom>
              <a:avLst/>
              <a:gdLst/>
              <a:ahLst/>
              <a:cxnLst/>
              <a:rect l="l" t="t" r="r" b="b"/>
              <a:pathLst>
                <a:path w="9631680" h="1219200">
                  <a:moveTo>
                    <a:pt x="0" y="0"/>
                  </a:moveTo>
                  <a:lnTo>
                    <a:pt x="9631680" y="0"/>
                  </a:lnTo>
                  <a:lnTo>
                    <a:pt x="9631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931" b="-103931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0"/>
              <a:ext cx="963168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금지 사항: '의료 진단, 환자 개인정보 제공 금지'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40080" y="7498080"/>
            <a:ext cx="17007840" cy="2103120"/>
            <a:chOff x="0" y="0"/>
            <a:chExt cx="22677120" cy="280416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2677120" cy="2804160"/>
            </a:xfrm>
            <a:custGeom>
              <a:avLst/>
              <a:gdLst/>
              <a:ahLst/>
              <a:cxnLst/>
              <a:rect l="l" t="t" r="r" b="b"/>
              <a:pathLst>
                <a:path w="22677120" h="2804160">
                  <a:moveTo>
                    <a:pt x="0" y="0"/>
                  </a:moveTo>
                  <a:lnTo>
                    <a:pt x="22677120" y="0"/>
                  </a:lnTo>
                  <a:lnTo>
                    <a:pt x="226771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914400" y="7552944"/>
            <a:ext cx="16642080" cy="548640"/>
            <a:chOff x="0" y="0"/>
            <a:chExt cx="22189440" cy="73152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9525"/>
              <a:ext cx="2218944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💡 Instructions 작성 예시 (복사 사용 가능)</a:t>
              </a:r>
            </a:p>
          </p:txBody>
        </p:sp>
      </p:grpSp>
      <p:sp>
        <p:nvSpPr>
          <p:cNvPr id="104" name="TextBox 104"/>
          <p:cNvSpPr txBox="1"/>
          <p:nvPr/>
        </p:nvSpPr>
        <p:spPr>
          <a:xfrm>
            <a:off x="965197" y="8250936"/>
            <a:ext cx="16515083" cy="124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i="1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너는 [기관명]의 고객서비스(CS) 전담 AI 어시스턴트야. 방문 고객·환자·보호자의 민원·문의에 친절하고 정확하게 답변해줘. 항상 경어체를 사용하고, 모르는 내용은 '담당자 연결'을 안내해. 개인정보·의료 판단·비방 내용에는 답변하지 마.</a:t>
            </a:r>
          </a:p>
        </p:txBody>
      </p:sp>
      <p:grpSp>
        <p:nvGrpSpPr>
          <p:cNvPr id="105" name="Group 40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06" name="Freeform 41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07" name="Group 42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08" name="Freeform 4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9" name="TextBox 4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4차시-02 | ChatGPT GPTs 기반 챗봇 구현 실습</a:t>
              </a:r>
            </a:p>
          </p:txBody>
        </p:sp>
      </p:grpSp>
      <p:grpSp>
        <p:nvGrpSpPr>
          <p:cNvPr id="110" name="Group 45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11" name="Freeform 46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12" name="TextBox 4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GPTs 챗봇 구축 실습 – STEP 3~4: 지식 업로드 및 테스트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920240"/>
            <a:ext cx="8321040" cy="768096"/>
            <a:chOff x="0" y="0"/>
            <a:chExt cx="11094720" cy="1024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094720" cy="1024128"/>
            </a:xfrm>
            <a:custGeom>
              <a:avLst/>
              <a:gdLst/>
              <a:ahLst/>
              <a:cxnLst/>
              <a:rect l="l" t="t" r="r" b="b"/>
              <a:pathLst>
                <a:path w="11094720" h="1024128">
                  <a:moveTo>
                    <a:pt x="0" y="0"/>
                  </a:moveTo>
                  <a:lnTo>
                    <a:pt x="11094720" y="0"/>
                  </a:lnTo>
                  <a:lnTo>
                    <a:pt x="110947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235440" y="1920240"/>
            <a:ext cx="8412480" cy="768096"/>
            <a:chOff x="0" y="0"/>
            <a:chExt cx="11216640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216640" cy="1024128"/>
            </a:xfrm>
            <a:custGeom>
              <a:avLst/>
              <a:gdLst/>
              <a:ahLst/>
              <a:cxnLst/>
              <a:rect l="l" t="t" r="r" b="b"/>
              <a:pathLst>
                <a:path w="11216640" h="1024128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40080" y="1920240"/>
            <a:ext cx="8321040" cy="768096"/>
            <a:chOff x="0" y="0"/>
            <a:chExt cx="11094720" cy="102412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094720" cy="1024128"/>
            </a:xfrm>
            <a:custGeom>
              <a:avLst/>
              <a:gdLst/>
              <a:ahLst/>
              <a:cxnLst/>
              <a:rect l="l" t="t" r="r" b="b"/>
              <a:pathLst>
                <a:path w="11094720" h="1024128">
                  <a:moveTo>
                    <a:pt x="0" y="0"/>
                  </a:moveTo>
                  <a:lnTo>
                    <a:pt x="11094720" y="0"/>
                  </a:lnTo>
                  <a:lnTo>
                    <a:pt x="11094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87" b="-16108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1094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3. 지식 파일 업로드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235440" y="1920240"/>
            <a:ext cx="8412480" cy="768096"/>
            <a:chOff x="0" y="0"/>
            <a:chExt cx="11216640" cy="102412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216640" cy="1024128"/>
            </a:xfrm>
            <a:custGeom>
              <a:avLst/>
              <a:gdLst/>
              <a:ahLst/>
              <a:cxnLst/>
              <a:rect l="l" t="t" r="r" b="b"/>
              <a:pathLst>
                <a:path w="11216640" h="1024128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3407" b="-16340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121664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STEP 4. 테스트 및 오류 수정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0080" y="2852928"/>
            <a:ext cx="694944" cy="914400"/>
            <a:chOff x="0" y="0"/>
            <a:chExt cx="926592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640080" y="2852928"/>
            <a:ext cx="694944" cy="914400"/>
            <a:chOff x="0" y="0"/>
            <a:chExt cx="926592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17904" y="2852928"/>
            <a:ext cx="7443216" cy="914400"/>
            <a:chOff x="0" y="0"/>
            <a:chExt cx="9924288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924288" cy="1219200"/>
            </a:xfrm>
            <a:custGeom>
              <a:avLst/>
              <a:gdLst/>
              <a:ahLst/>
              <a:cxnLst/>
              <a:rect l="l" t="t" r="r" b="b"/>
              <a:pathLst>
                <a:path w="9924288" h="1219200">
                  <a:moveTo>
                    <a:pt x="0" y="0"/>
                  </a:moveTo>
                  <a:lnTo>
                    <a:pt x="9924288" y="0"/>
                  </a:lnTo>
                  <a:lnTo>
                    <a:pt x="992428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700784" y="2852928"/>
            <a:ext cx="7132320" cy="914400"/>
            <a:chOff x="0" y="0"/>
            <a:chExt cx="950976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509760" cy="1219200"/>
            </a:xfrm>
            <a:custGeom>
              <a:avLst/>
              <a:gdLst/>
              <a:ahLst/>
              <a:cxnLst/>
              <a:rect l="l" t="t" r="r" b="b"/>
              <a:pathLst>
                <a:path w="9509760" h="121920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983" b="-10198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95097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PDF/Word 형식 FAQ 문서 업로드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0080" y="3986784"/>
            <a:ext cx="694944" cy="914400"/>
            <a:chOff x="0" y="0"/>
            <a:chExt cx="926592" cy="1219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40080" y="3986784"/>
            <a:ext cx="694944" cy="914400"/>
            <a:chOff x="0" y="0"/>
            <a:chExt cx="926592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17904" y="3986784"/>
            <a:ext cx="7443216" cy="914400"/>
            <a:chOff x="0" y="0"/>
            <a:chExt cx="9924288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924288" cy="1219200"/>
            </a:xfrm>
            <a:custGeom>
              <a:avLst/>
              <a:gdLst/>
              <a:ahLst/>
              <a:cxnLst/>
              <a:rect l="l" t="t" r="r" b="b"/>
              <a:pathLst>
                <a:path w="9924288" h="1219200">
                  <a:moveTo>
                    <a:pt x="0" y="0"/>
                  </a:moveTo>
                  <a:lnTo>
                    <a:pt x="9924288" y="0"/>
                  </a:lnTo>
                  <a:lnTo>
                    <a:pt x="992428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700784" y="3986784"/>
            <a:ext cx="7132320" cy="914400"/>
            <a:chOff x="0" y="0"/>
            <a:chExt cx="9509760" cy="1219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509760" cy="1219200"/>
            </a:xfrm>
            <a:custGeom>
              <a:avLst/>
              <a:gdLst/>
              <a:ahLst/>
              <a:cxnLst/>
              <a:rect l="l" t="t" r="r" b="b"/>
              <a:pathLst>
                <a:path w="9509760" h="121920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983" b="-101983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95097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기관 안내문·원무 매뉴얼 업로드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0080" y="5120640"/>
            <a:ext cx="694944" cy="914400"/>
            <a:chOff x="0" y="0"/>
            <a:chExt cx="926592" cy="1219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40080" y="5120640"/>
            <a:ext cx="694944" cy="914400"/>
            <a:chOff x="0" y="0"/>
            <a:chExt cx="926592" cy="1219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17904" y="5120640"/>
            <a:ext cx="7443216" cy="914400"/>
            <a:chOff x="0" y="0"/>
            <a:chExt cx="9924288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924288" cy="1219200"/>
            </a:xfrm>
            <a:custGeom>
              <a:avLst/>
              <a:gdLst/>
              <a:ahLst/>
              <a:cxnLst/>
              <a:rect l="l" t="t" r="r" b="b"/>
              <a:pathLst>
                <a:path w="9924288" h="1219200">
                  <a:moveTo>
                    <a:pt x="0" y="0"/>
                  </a:moveTo>
                  <a:lnTo>
                    <a:pt x="9924288" y="0"/>
                  </a:lnTo>
                  <a:lnTo>
                    <a:pt x="992428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700784" y="5120640"/>
            <a:ext cx="7132320" cy="914400"/>
            <a:chOff x="0" y="0"/>
            <a:chExt cx="9509760" cy="1219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509760" cy="1219200"/>
            </a:xfrm>
            <a:custGeom>
              <a:avLst/>
              <a:gdLst/>
              <a:ahLst/>
              <a:cxnLst/>
              <a:rect l="l" t="t" r="r" b="b"/>
              <a:pathLst>
                <a:path w="9509760" h="121920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983" b="-101983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95097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자주 묻는 Q&amp;A 텍스트 파일 추가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40080" y="6254496"/>
            <a:ext cx="694944" cy="914400"/>
            <a:chOff x="0" y="0"/>
            <a:chExt cx="926592" cy="12192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640080" y="6254496"/>
            <a:ext cx="694944" cy="914400"/>
            <a:chOff x="0" y="0"/>
            <a:chExt cx="926592" cy="12192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4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517904" y="6254496"/>
            <a:ext cx="7443216" cy="914400"/>
            <a:chOff x="0" y="0"/>
            <a:chExt cx="9924288" cy="12192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924288" cy="1219200"/>
            </a:xfrm>
            <a:custGeom>
              <a:avLst/>
              <a:gdLst/>
              <a:ahLst/>
              <a:cxnLst/>
              <a:rect l="l" t="t" r="r" b="b"/>
              <a:pathLst>
                <a:path w="9924288" h="1219200">
                  <a:moveTo>
                    <a:pt x="0" y="0"/>
                  </a:moveTo>
                  <a:lnTo>
                    <a:pt x="9924288" y="0"/>
                  </a:lnTo>
                  <a:lnTo>
                    <a:pt x="992428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700784" y="6254496"/>
            <a:ext cx="7132320" cy="914400"/>
            <a:chOff x="0" y="0"/>
            <a:chExt cx="9509760" cy="12192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509760" cy="1219200"/>
            </a:xfrm>
            <a:custGeom>
              <a:avLst/>
              <a:gdLst/>
              <a:ahLst/>
              <a:cxnLst/>
              <a:rect l="l" t="t" r="r" b="b"/>
              <a:pathLst>
                <a:path w="9509760" h="121920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983" b="-10198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95097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파일 총 20개, 각 512MB 이내 가능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235440" y="2852928"/>
            <a:ext cx="694944" cy="914400"/>
            <a:chOff x="0" y="0"/>
            <a:chExt cx="926592" cy="12192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9235440" y="2852928"/>
            <a:ext cx="694944" cy="914400"/>
            <a:chOff x="0" y="0"/>
            <a:chExt cx="926592" cy="12192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1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0113264" y="2852928"/>
            <a:ext cx="7534656" cy="914400"/>
            <a:chOff x="0" y="0"/>
            <a:chExt cx="10046208" cy="12192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046208" cy="1219200"/>
            </a:xfrm>
            <a:custGeom>
              <a:avLst/>
              <a:gdLst/>
              <a:ahLst/>
              <a:cxnLst/>
              <a:rect l="l" t="t" r="r" b="b"/>
              <a:pathLst>
                <a:path w="10046208" h="1219200">
                  <a:moveTo>
                    <a:pt x="0" y="0"/>
                  </a:moveTo>
                  <a:lnTo>
                    <a:pt x="10046208" y="0"/>
                  </a:lnTo>
                  <a:lnTo>
                    <a:pt x="1004620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0296144" y="2852928"/>
            <a:ext cx="7223760" cy="914400"/>
            <a:chOff x="0" y="0"/>
            <a:chExt cx="9631680" cy="12192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631680" cy="1219200"/>
            </a:xfrm>
            <a:custGeom>
              <a:avLst/>
              <a:gdLst/>
              <a:ahLst/>
              <a:cxnLst/>
              <a:rect l="l" t="t" r="r" b="b"/>
              <a:pathLst>
                <a:path w="9631680" h="1219200">
                  <a:moveTo>
                    <a:pt x="0" y="0"/>
                  </a:moveTo>
                  <a:lnTo>
                    <a:pt x="9631680" y="0"/>
                  </a:lnTo>
                  <a:lnTo>
                    <a:pt x="9631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931" b="-103931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963168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오른쪽 미리보기 창에서 직접 테스트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235440" y="3986784"/>
            <a:ext cx="694944" cy="914400"/>
            <a:chOff x="0" y="0"/>
            <a:chExt cx="926592" cy="12192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9235440" y="3986784"/>
            <a:ext cx="694944" cy="914400"/>
            <a:chOff x="0" y="0"/>
            <a:chExt cx="926592" cy="12192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2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113264" y="3986784"/>
            <a:ext cx="7534656" cy="914400"/>
            <a:chOff x="0" y="0"/>
            <a:chExt cx="10046208" cy="12192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046208" cy="1219200"/>
            </a:xfrm>
            <a:custGeom>
              <a:avLst/>
              <a:gdLst/>
              <a:ahLst/>
              <a:cxnLst/>
              <a:rect l="l" t="t" r="r" b="b"/>
              <a:pathLst>
                <a:path w="10046208" h="1219200">
                  <a:moveTo>
                    <a:pt x="0" y="0"/>
                  </a:moveTo>
                  <a:lnTo>
                    <a:pt x="10046208" y="0"/>
                  </a:lnTo>
                  <a:lnTo>
                    <a:pt x="1004620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10296144" y="3986784"/>
            <a:ext cx="7223760" cy="914400"/>
            <a:chOff x="0" y="0"/>
            <a:chExt cx="9631680" cy="12192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631680" cy="1219200"/>
            </a:xfrm>
            <a:custGeom>
              <a:avLst/>
              <a:gdLst/>
              <a:ahLst/>
              <a:cxnLst/>
              <a:rect l="l" t="t" r="r" b="b"/>
              <a:pathLst>
                <a:path w="9631680" h="1219200">
                  <a:moveTo>
                    <a:pt x="0" y="0"/>
                  </a:moveTo>
                  <a:lnTo>
                    <a:pt x="9631680" y="0"/>
                  </a:lnTo>
                  <a:lnTo>
                    <a:pt x="9631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931" b="-103931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963168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틀린 답변 발견 시 Instructions 수정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235440" y="5120640"/>
            <a:ext cx="694944" cy="914400"/>
            <a:chOff x="0" y="0"/>
            <a:chExt cx="926592" cy="12192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9235440" y="5120640"/>
            <a:ext cx="694944" cy="914400"/>
            <a:chOff x="0" y="0"/>
            <a:chExt cx="926592" cy="12192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3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0113264" y="5120640"/>
            <a:ext cx="7534656" cy="914400"/>
            <a:chOff x="0" y="0"/>
            <a:chExt cx="10046208" cy="12192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0046208" cy="1219200"/>
            </a:xfrm>
            <a:custGeom>
              <a:avLst/>
              <a:gdLst/>
              <a:ahLst/>
              <a:cxnLst/>
              <a:rect l="l" t="t" r="r" b="b"/>
              <a:pathLst>
                <a:path w="10046208" h="1219200">
                  <a:moveTo>
                    <a:pt x="0" y="0"/>
                  </a:moveTo>
                  <a:lnTo>
                    <a:pt x="10046208" y="0"/>
                  </a:lnTo>
                  <a:lnTo>
                    <a:pt x="1004620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10296144" y="5120640"/>
            <a:ext cx="7223760" cy="914400"/>
            <a:chOff x="0" y="0"/>
            <a:chExt cx="9631680" cy="12192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9631680" cy="1219200"/>
            </a:xfrm>
            <a:custGeom>
              <a:avLst/>
              <a:gdLst/>
              <a:ahLst/>
              <a:cxnLst/>
              <a:rect l="l" t="t" r="r" b="b"/>
              <a:pathLst>
                <a:path w="9631680" h="1219200">
                  <a:moveTo>
                    <a:pt x="0" y="0"/>
                  </a:moveTo>
                  <a:lnTo>
                    <a:pt x="9631680" y="0"/>
                  </a:lnTo>
                  <a:lnTo>
                    <a:pt x="9631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931" b="-103931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0"/>
              <a:ext cx="963168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동료에게 테스트 요청 → 피드백 반영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235440" y="6254496"/>
            <a:ext cx="694944" cy="914400"/>
            <a:chOff x="0" y="0"/>
            <a:chExt cx="926592" cy="12192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9235440" y="6254496"/>
            <a:ext cx="694944" cy="914400"/>
            <a:chOff x="0" y="0"/>
            <a:chExt cx="926592" cy="12192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926592" cy="1219200"/>
            </a:xfrm>
            <a:custGeom>
              <a:avLst/>
              <a:gdLst/>
              <a:ahLst/>
              <a:cxnLst/>
              <a:rect l="l" t="t" r="r" b="b"/>
              <a:pathLst>
                <a:path w="926592" h="1219200">
                  <a:moveTo>
                    <a:pt x="0" y="0"/>
                  </a:moveTo>
                  <a:lnTo>
                    <a:pt x="926592" y="0"/>
                  </a:lnTo>
                  <a:lnTo>
                    <a:pt x="92659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820" r="-118820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9525"/>
              <a:ext cx="926592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4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0113264" y="6254496"/>
            <a:ext cx="7534656" cy="914400"/>
            <a:chOff x="0" y="0"/>
            <a:chExt cx="10046208" cy="12192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0046208" cy="1219200"/>
            </a:xfrm>
            <a:custGeom>
              <a:avLst/>
              <a:gdLst/>
              <a:ahLst/>
              <a:cxnLst/>
              <a:rect l="l" t="t" r="r" b="b"/>
              <a:pathLst>
                <a:path w="10046208" h="1219200">
                  <a:moveTo>
                    <a:pt x="0" y="0"/>
                  </a:moveTo>
                  <a:lnTo>
                    <a:pt x="10046208" y="0"/>
                  </a:lnTo>
                  <a:lnTo>
                    <a:pt x="1004620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10296144" y="6254496"/>
            <a:ext cx="7223760" cy="914400"/>
            <a:chOff x="0" y="0"/>
            <a:chExt cx="9631680" cy="12192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9631680" cy="1219200"/>
            </a:xfrm>
            <a:custGeom>
              <a:avLst/>
              <a:gdLst/>
              <a:ahLst/>
              <a:cxnLst/>
              <a:rect l="l" t="t" r="r" b="b"/>
              <a:pathLst>
                <a:path w="9631680" h="1219200">
                  <a:moveTo>
                    <a:pt x="0" y="0"/>
                  </a:moveTo>
                  <a:lnTo>
                    <a:pt x="9631680" y="0"/>
                  </a:lnTo>
                  <a:lnTo>
                    <a:pt x="9631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931" b="-103931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0"/>
              <a:ext cx="963168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운영 전 개인정보 응답 여부 최종 점검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40080" y="7498080"/>
            <a:ext cx="17007840" cy="1243584"/>
            <a:chOff x="0" y="0"/>
            <a:chExt cx="22677120" cy="1658112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2677120" cy="1658112"/>
            </a:xfrm>
            <a:custGeom>
              <a:avLst/>
              <a:gdLst/>
              <a:ahLst/>
              <a:cxnLst/>
              <a:rect l="l" t="t" r="r" b="b"/>
              <a:pathLst>
                <a:path w="22677120" h="1658112">
                  <a:moveTo>
                    <a:pt x="0" y="0"/>
                  </a:moveTo>
                  <a:lnTo>
                    <a:pt x="22677120" y="0"/>
                  </a:lnTo>
                  <a:lnTo>
                    <a:pt x="2267712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0D2340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822960" y="7498080"/>
            <a:ext cx="16642080" cy="1243584"/>
            <a:chOff x="0" y="0"/>
            <a:chExt cx="22189440" cy="1658112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2189439" cy="1658112"/>
            </a:xfrm>
            <a:custGeom>
              <a:avLst/>
              <a:gdLst/>
              <a:ahLst/>
              <a:cxnLst/>
              <a:rect l="l" t="t" r="r" b="b"/>
              <a:pathLst>
                <a:path w="22189439" h="1658112">
                  <a:moveTo>
                    <a:pt x="0" y="0"/>
                  </a:moveTo>
                  <a:lnTo>
                    <a:pt x="22189439" y="0"/>
                  </a:lnTo>
                  <a:lnTo>
                    <a:pt x="22189439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755" b="-210755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0"/>
              <a:ext cx="22189440" cy="16581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🎯 실습 과제: 오늘 수업에서 만든 FAQ Q&amp;A 10개를 Word로 저장 → GPTs에 업로드 → 실제 질문으로 테스트</a:t>
              </a:r>
            </a:p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→ 완성된 GPTs 링크를 카카오톡/메시지로 팀원과 공유해보세요!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40080" y="8869680"/>
            <a:ext cx="17007840" cy="768096"/>
            <a:chOff x="0" y="0"/>
            <a:chExt cx="22677120" cy="1024128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2677120" cy="1024128"/>
            </a:xfrm>
            <a:custGeom>
              <a:avLst/>
              <a:gdLst/>
              <a:ahLst/>
              <a:cxnLst/>
              <a:rect l="l" t="t" r="r" b="b"/>
              <a:pathLst>
                <a:path w="22677120" h="1024128">
                  <a:moveTo>
                    <a:pt x="0" y="0"/>
                  </a:moveTo>
                  <a:lnTo>
                    <a:pt x="22677120" y="0"/>
                  </a:lnTo>
                  <a:lnTo>
                    <a:pt x="22677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06" name="Group 106"/>
          <p:cNvGrpSpPr/>
          <p:nvPr/>
        </p:nvGrpSpPr>
        <p:grpSpPr>
          <a:xfrm>
            <a:off x="822960" y="8869680"/>
            <a:ext cx="16642080" cy="768096"/>
            <a:chOff x="0" y="0"/>
            <a:chExt cx="22189440" cy="1024128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22189439" cy="1024128"/>
            </a:xfrm>
            <a:custGeom>
              <a:avLst/>
              <a:gdLst/>
              <a:ahLst/>
              <a:cxnLst/>
              <a:rect l="l" t="t" r="r" b="b"/>
              <a:pathLst>
                <a:path w="22189439" h="1024128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75" b="-372175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0"/>
              <a:ext cx="22189440" cy="10241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⚠️ 주의: 실제 환자정보·개인 연락처는 절대 업로드 금지 | 테스트용 가상 데이터만 사용할 것</a:t>
              </a:r>
            </a:p>
          </p:txBody>
        </p:sp>
      </p:grpSp>
      <p:grpSp>
        <p:nvGrpSpPr>
          <p:cNvPr id="109" name="Group 40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10" name="Freeform 41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11" name="Group 42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12" name="Freeform 4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13" name="TextBox 4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4차시-02 | ChatGPT GPTs 기반 챗봇 구현 실습</a:t>
              </a:r>
            </a:p>
          </p:txBody>
        </p:sp>
      </p:grpSp>
      <p:grpSp>
        <p:nvGrpSpPr>
          <p:cNvPr id="114" name="Group 45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15" name="Freeform 46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16" name="TextBox 4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챗봇 운영 개인정보 보호 &amp; 주의사항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2011680"/>
            <a:ext cx="8321040" cy="2157984"/>
            <a:chOff x="0" y="0"/>
            <a:chExt cx="11094720" cy="28773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094720" cy="2877312"/>
            </a:xfrm>
            <a:custGeom>
              <a:avLst/>
              <a:gdLst/>
              <a:ahLst/>
              <a:cxnLst/>
              <a:rect l="l" t="t" r="r" b="b"/>
              <a:pathLst>
                <a:path w="11094720" h="2877312">
                  <a:moveTo>
                    <a:pt x="0" y="0"/>
                  </a:moveTo>
                  <a:lnTo>
                    <a:pt x="11094720" y="0"/>
                  </a:lnTo>
                  <a:lnTo>
                    <a:pt x="1109472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0080" y="2011680"/>
            <a:ext cx="1005840" cy="2157984"/>
            <a:chOff x="0" y="0"/>
            <a:chExt cx="1341120" cy="28773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41120" cy="2877312"/>
            </a:xfrm>
            <a:custGeom>
              <a:avLst/>
              <a:gdLst/>
              <a:ahLst/>
              <a:cxnLst/>
              <a:rect l="l" t="t" r="r" b="b"/>
              <a:pathLst>
                <a:path w="1341120" h="2877312">
                  <a:moveTo>
                    <a:pt x="0" y="0"/>
                  </a:moveTo>
                  <a:lnTo>
                    <a:pt x="1341120" y="0"/>
                  </a:lnTo>
                  <a:lnTo>
                    <a:pt x="134112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40080" y="2011680"/>
            <a:ext cx="1005840" cy="2157984"/>
            <a:chOff x="0" y="0"/>
            <a:chExt cx="1341120" cy="28773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41120" cy="2877312"/>
            </a:xfrm>
            <a:custGeom>
              <a:avLst/>
              <a:gdLst/>
              <a:ahLst/>
              <a:cxnLst/>
              <a:rect l="l" t="t" r="r" b="b"/>
              <a:pathLst>
                <a:path w="1341120" h="2877312">
                  <a:moveTo>
                    <a:pt x="0" y="0"/>
                  </a:moveTo>
                  <a:lnTo>
                    <a:pt x="1341120" y="0"/>
                  </a:lnTo>
                  <a:lnTo>
                    <a:pt x="1341120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5269" r="-22526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341120" cy="28773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spc="13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🚫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955280" y="2011680"/>
            <a:ext cx="1005840" cy="585216"/>
            <a:chOff x="0" y="0"/>
            <a:chExt cx="1341120" cy="78028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41120" cy="780288"/>
            </a:xfrm>
            <a:custGeom>
              <a:avLst/>
              <a:gdLst/>
              <a:ahLst/>
              <a:cxnLst/>
              <a:rect l="l" t="t" r="r" b="b"/>
              <a:pathLst>
                <a:path w="1341120" h="780288">
                  <a:moveTo>
                    <a:pt x="0" y="0"/>
                  </a:moveTo>
                  <a:lnTo>
                    <a:pt x="1341120" y="0"/>
                  </a:lnTo>
                  <a:lnTo>
                    <a:pt x="13411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7955280" y="2011680"/>
            <a:ext cx="1005840" cy="585216"/>
            <a:chOff x="0" y="0"/>
            <a:chExt cx="1341120" cy="7802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41120" cy="780288"/>
            </a:xfrm>
            <a:custGeom>
              <a:avLst/>
              <a:gdLst/>
              <a:ahLst/>
              <a:cxnLst/>
              <a:rect l="l" t="t" r="r" b="b"/>
              <a:pathLst>
                <a:path w="1341120" h="780288">
                  <a:moveTo>
                    <a:pt x="0" y="0"/>
                  </a:moveTo>
                  <a:lnTo>
                    <a:pt x="1341120" y="0"/>
                  </a:lnTo>
                  <a:lnTo>
                    <a:pt x="1341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649" r="-24649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341120" cy="780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spc="6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필수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28800" y="2103120"/>
            <a:ext cx="6035040" cy="694944"/>
            <a:chOff x="0" y="0"/>
            <a:chExt cx="8046720" cy="92659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046720" cy="926592"/>
            </a:xfrm>
            <a:custGeom>
              <a:avLst/>
              <a:gdLst/>
              <a:ahLst/>
              <a:cxnLst/>
              <a:rect l="l" t="t" r="r" b="b"/>
              <a:pathLst>
                <a:path w="8046720" h="926592">
                  <a:moveTo>
                    <a:pt x="0" y="0"/>
                  </a:moveTo>
                  <a:lnTo>
                    <a:pt x="8046720" y="0"/>
                  </a:lnTo>
                  <a:lnTo>
                    <a:pt x="8046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212" b="-11921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8046720" cy="917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개인식별 정보 입력 금지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79597" y="2910840"/>
            <a:ext cx="5908043" cy="111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환자명·주민번호·연락처·진료기록 등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절대로 GPTs 지식 파일에 포함 금지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509760" y="2011680"/>
            <a:ext cx="8321040" cy="2157984"/>
            <a:chOff x="0" y="0"/>
            <a:chExt cx="11094720" cy="287731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094720" cy="2877312"/>
            </a:xfrm>
            <a:custGeom>
              <a:avLst/>
              <a:gdLst/>
              <a:ahLst/>
              <a:cxnLst/>
              <a:rect l="l" t="t" r="r" b="b"/>
              <a:pathLst>
                <a:path w="11094720" h="2877312">
                  <a:moveTo>
                    <a:pt x="0" y="0"/>
                  </a:moveTo>
                  <a:lnTo>
                    <a:pt x="11094720" y="0"/>
                  </a:lnTo>
                  <a:lnTo>
                    <a:pt x="1109472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9509760" y="2011680"/>
            <a:ext cx="1005840" cy="2157984"/>
            <a:chOff x="0" y="0"/>
            <a:chExt cx="1341120" cy="28773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41120" cy="2877312"/>
            </a:xfrm>
            <a:custGeom>
              <a:avLst/>
              <a:gdLst/>
              <a:ahLst/>
              <a:cxnLst/>
              <a:rect l="l" t="t" r="r" b="b"/>
              <a:pathLst>
                <a:path w="1341120" h="2877312">
                  <a:moveTo>
                    <a:pt x="0" y="0"/>
                  </a:moveTo>
                  <a:lnTo>
                    <a:pt x="1341120" y="0"/>
                  </a:lnTo>
                  <a:lnTo>
                    <a:pt x="134112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509760" y="2011680"/>
            <a:ext cx="1005840" cy="2157984"/>
            <a:chOff x="0" y="0"/>
            <a:chExt cx="1341120" cy="287731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41120" cy="2877312"/>
            </a:xfrm>
            <a:custGeom>
              <a:avLst/>
              <a:gdLst/>
              <a:ahLst/>
              <a:cxnLst/>
              <a:rect l="l" t="t" r="r" b="b"/>
              <a:pathLst>
                <a:path w="1341120" h="2877312">
                  <a:moveTo>
                    <a:pt x="0" y="0"/>
                  </a:moveTo>
                  <a:lnTo>
                    <a:pt x="1341120" y="0"/>
                  </a:lnTo>
                  <a:lnTo>
                    <a:pt x="1341120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5269" r="-225269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1341120" cy="28773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spc="13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🔒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824960" y="2011680"/>
            <a:ext cx="1005840" cy="585216"/>
            <a:chOff x="0" y="0"/>
            <a:chExt cx="1341120" cy="7802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41120" cy="780288"/>
            </a:xfrm>
            <a:custGeom>
              <a:avLst/>
              <a:gdLst/>
              <a:ahLst/>
              <a:cxnLst/>
              <a:rect l="l" t="t" r="r" b="b"/>
              <a:pathLst>
                <a:path w="1341120" h="780288">
                  <a:moveTo>
                    <a:pt x="0" y="0"/>
                  </a:moveTo>
                  <a:lnTo>
                    <a:pt x="1341120" y="0"/>
                  </a:lnTo>
                  <a:lnTo>
                    <a:pt x="13411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6824960" y="2011680"/>
            <a:ext cx="1005840" cy="585216"/>
            <a:chOff x="0" y="0"/>
            <a:chExt cx="1341120" cy="78028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41120" cy="780288"/>
            </a:xfrm>
            <a:custGeom>
              <a:avLst/>
              <a:gdLst/>
              <a:ahLst/>
              <a:cxnLst/>
              <a:rect l="l" t="t" r="r" b="b"/>
              <a:pathLst>
                <a:path w="1341120" h="780288">
                  <a:moveTo>
                    <a:pt x="0" y="0"/>
                  </a:moveTo>
                  <a:lnTo>
                    <a:pt x="1341120" y="0"/>
                  </a:lnTo>
                  <a:lnTo>
                    <a:pt x="1341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649" r="-24649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1341120" cy="780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spc="6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필수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698480" y="2103120"/>
            <a:ext cx="6035040" cy="694944"/>
            <a:chOff x="0" y="0"/>
            <a:chExt cx="8046720" cy="92659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046720" cy="926592"/>
            </a:xfrm>
            <a:custGeom>
              <a:avLst/>
              <a:gdLst/>
              <a:ahLst/>
              <a:cxnLst/>
              <a:rect l="l" t="t" r="r" b="b"/>
              <a:pathLst>
                <a:path w="8046720" h="926592">
                  <a:moveTo>
                    <a:pt x="0" y="0"/>
                  </a:moveTo>
                  <a:lnTo>
                    <a:pt x="8046720" y="0"/>
                  </a:lnTo>
                  <a:lnTo>
                    <a:pt x="8046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212" b="-119212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9525"/>
              <a:ext cx="8046720" cy="917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익명화 데이터만 활용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749277" y="2910840"/>
            <a:ext cx="5908043" cy="111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가상 사례 또는 익명화 처리된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민원 사례만 학습 데이터로 사용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40080" y="4535424"/>
            <a:ext cx="8321040" cy="2157984"/>
            <a:chOff x="0" y="0"/>
            <a:chExt cx="11094720" cy="28773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094720" cy="2877312"/>
            </a:xfrm>
            <a:custGeom>
              <a:avLst/>
              <a:gdLst/>
              <a:ahLst/>
              <a:cxnLst/>
              <a:rect l="l" t="t" r="r" b="b"/>
              <a:pathLst>
                <a:path w="11094720" h="2877312">
                  <a:moveTo>
                    <a:pt x="0" y="0"/>
                  </a:moveTo>
                  <a:lnTo>
                    <a:pt x="11094720" y="0"/>
                  </a:lnTo>
                  <a:lnTo>
                    <a:pt x="1109472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640080" y="4535424"/>
            <a:ext cx="1005840" cy="2157984"/>
            <a:chOff x="0" y="0"/>
            <a:chExt cx="1341120" cy="287731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341120" cy="2877312"/>
            </a:xfrm>
            <a:custGeom>
              <a:avLst/>
              <a:gdLst/>
              <a:ahLst/>
              <a:cxnLst/>
              <a:rect l="l" t="t" r="r" b="b"/>
              <a:pathLst>
                <a:path w="1341120" h="2877312">
                  <a:moveTo>
                    <a:pt x="0" y="0"/>
                  </a:moveTo>
                  <a:lnTo>
                    <a:pt x="1341120" y="0"/>
                  </a:lnTo>
                  <a:lnTo>
                    <a:pt x="134112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640080" y="4535424"/>
            <a:ext cx="1005840" cy="2157984"/>
            <a:chOff x="0" y="0"/>
            <a:chExt cx="1341120" cy="287731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341120" cy="2877312"/>
            </a:xfrm>
            <a:custGeom>
              <a:avLst/>
              <a:gdLst/>
              <a:ahLst/>
              <a:cxnLst/>
              <a:rect l="l" t="t" r="r" b="b"/>
              <a:pathLst>
                <a:path w="1341120" h="2877312">
                  <a:moveTo>
                    <a:pt x="0" y="0"/>
                  </a:moveTo>
                  <a:lnTo>
                    <a:pt x="1341120" y="0"/>
                  </a:lnTo>
                  <a:lnTo>
                    <a:pt x="1341120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5269" r="-225269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1341120" cy="28773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spc="13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✅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955280" y="4535424"/>
            <a:ext cx="1005840" cy="585216"/>
            <a:chOff x="0" y="0"/>
            <a:chExt cx="1341120" cy="78028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341120" cy="780288"/>
            </a:xfrm>
            <a:custGeom>
              <a:avLst/>
              <a:gdLst/>
              <a:ahLst/>
              <a:cxnLst/>
              <a:rect l="l" t="t" r="r" b="b"/>
              <a:pathLst>
                <a:path w="1341120" h="780288">
                  <a:moveTo>
                    <a:pt x="0" y="0"/>
                  </a:moveTo>
                  <a:lnTo>
                    <a:pt x="1341120" y="0"/>
                  </a:lnTo>
                  <a:lnTo>
                    <a:pt x="13411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7955280" y="4535424"/>
            <a:ext cx="1005840" cy="585216"/>
            <a:chOff x="0" y="0"/>
            <a:chExt cx="1341120" cy="78028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341120" cy="780288"/>
            </a:xfrm>
            <a:custGeom>
              <a:avLst/>
              <a:gdLst/>
              <a:ahLst/>
              <a:cxnLst/>
              <a:rect l="l" t="t" r="r" b="b"/>
              <a:pathLst>
                <a:path w="1341120" h="780288">
                  <a:moveTo>
                    <a:pt x="0" y="0"/>
                  </a:moveTo>
                  <a:lnTo>
                    <a:pt x="1341120" y="0"/>
                  </a:lnTo>
                  <a:lnTo>
                    <a:pt x="1341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649" r="-24649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1341120" cy="780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spc="6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중요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828800" y="4626864"/>
            <a:ext cx="6035040" cy="694944"/>
            <a:chOff x="0" y="0"/>
            <a:chExt cx="8046720" cy="92659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046720" cy="926592"/>
            </a:xfrm>
            <a:custGeom>
              <a:avLst/>
              <a:gdLst/>
              <a:ahLst/>
              <a:cxnLst/>
              <a:rect l="l" t="t" r="r" b="b"/>
              <a:pathLst>
                <a:path w="8046720" h="926592">
                  <a:moveTo>
                    <a:pt x="0" y="0"/>
                  </a:moveTo>
                  <a:lnTo>
                    <a:pt x="8046720" y="0"/>
                  </a:lnTo>
                  <a:lnTo>
                    <a:pt x="8046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212" b="-119212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9525"/>
              <a:ext cx="8046720" cy="917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D05A00"/>
                  </a:solidFill>
                  <a:latin typeface="Mandali"/>
                  <a:ea typeface="Mandali"/>
                  <a:cs typeface="Mandali"/>
                  <a:sym typeface="Mandali"/>
                </a:rPr>
                <a:t>AI 답변 최종 검토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879597" y="5434584"/>
            <a:ext cx="5908043" cy="111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챗봇이 생성한 답변은 반드시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담당자가 정확성 검토 후 공개 운영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9509760" y="4535424"/>
            <a:ext cx="8321040" cy="2157984"/>
            <a:chOff x="0" y="0"/>
            <a:chExt cx="11094720" cy="287731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1094720" cy="2877312"/>
            </a:xfrm>
            <a:custGeom>
              <a:avLst/>
              <a:gdLst/>
              <a:ahLst/>
              <a:cxnLst/>
              <a:rect l="l" t="t" r="r" b="b"/>
              <a:pathLst>
                <a:path w="11094720" h="2877312">
                  <a:moveTo>
                    <a:pt x="0" y="0"/>
                  </a:moveTo>
                  <a:lnTo>
                    <a:pt x="11094720" y="0"/>
                  </a:lnTo>
                  <a:lnTo>
                    <a:pt x="1109472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9509760" y="4535424"/>
            <a:ext cx="1005840" cy="2157984"/>
            <a:chOff x="0" y="0"/>
            <a:chExt cx="1341120" cy="287731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341120" cy="2877312"/>
            </a:xfrm>
            <a:custGeom>
              <a:avLst/>
              <a:gdLst/>
              <a:ahLst/>
              <a:cxnLst/>
              <a:rect l="l" t="t" r="r" b="b"/>
              <a:pathLst>
                <a:path w="1341120" h="2877312">
                  <a:moveTo>
                    <a:pt x="0" y="0"/>
                  </a:moveTo>
                  <a:lnTo>
                    <a:pt x="1341120" y="0"/>
                  </a:lnTo>
                  <a:lnTo>
                    <a:pt x="134112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9509760" y="4535424"/>
            <a:ext cx="1005840" cy="2157984"/>
            <a:chOff x="0" y="0"/>
            <a:chExt cx="1341120" cy="287731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341120" cy="2877312"/>
            </a:xfrm>
            <a:custGeom>
              <a:avLst/>
              <a:gdLst/>
              <a:ahLst/>
              <a:cxnLst/>
              <a:rect l="l" t="t" r="r" b="b"/>
              <a:pathLst>
                <a:path w="1341120" h="2877312">
                  <a:moveTo>
                    <a:pt x="0" y="0"/>
                  </a:moveTo>
                  <a:lnTo>
                    <a:pt x="1341120" y="0"/>
                  </a:lnTo>
                  <a:lnTo>
                    <a:pt x="1341120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5269" r="-225269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1341120" cy="28773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spc="13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📋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6824960" y="4535424"/>
            <a:ext cx="1005840" cy="585216"/>
            <a:chOff x="0" y="0"/>
            <a:chExt cx="1341120" cy="78028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341120" cy="780288"/>
            </a:xfrm>
            <a:custGeom>
              <a:avLst/>
              <a:gdLst/>
              <a:ahLst/>
              <a:cxnLst/>
              <a:rect l="l" t="t" r="r" b="b"/>
              <a:pathLst>
                <a:path w="1341120" h="780288">
                  <a:moveTo>
                    <a:pt x="0" y="0"/>
                  </a:moveTo>
                  <a:lnTo>
                    <a:pt x="1341120" y="0"/>
                  </a:lnTo>
                  <a:lnTo>
                    <a:pt x="13411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6824960" y="4535424"/>
            <a:ext cx="1005840" cy="585216"/>
            <a:chOff x="0" y="0"/>
            <a:chExt cx="1341120" cy="78028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341120" cy="780288"/>
            </a:xfrm>
            <a:custGeom>
              <a:avLst/>
              <a:gdLst/>
              <a:ahLst/>
              <a:cxnLst/>
              <a:rect l="l" t="t" r="r" b="b"/>
              <a:pathLst>
                <a:path w="1341120" h="780288">
                  <a:moveTo>
                    <a:pt x="0" y="0"/>
                  </a:moveTo>
                  <a:lnTo>
                    <a:pt x="1341120" y="0"/>
                  </a:lnTo>
                  <a:lnTo>
                    <a:pt x="1341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649" r="-24649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1341120" cy="780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spc="6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중요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698480" y="4626864"/>
            <a:ext cx="6035040" cy="694944"/>
            <a:chOff x="0" y="0"/>
            <a:chExt cx="8046720" cy="92659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046720" cy="926592"/>
            </a:xfrm>
            <a:custGeom>
              <a:avLst/>
              <a:gdLst/>
              <a:ahLst/>
              <a:cxnLst/>
              <a:rect l="l" t="t" r="r" b="b"/>
              <a:pathLst>
                <a:path w="8046720" h="926592">
                  <a:moveTo>
                    <a:pt x="0" y="0"/>
                  </a:moveTo>
                  <a:lnTo>
                    <a:pt x="8046720" y="0"/>
                  </a:lnTo>
                  <a:lnTo>
                    <a:pt x="8046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212" b="-119212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9525"/>
              <a:ext cx="8046720" cy="917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D05A00"/>
                  </a:solidFill>
                  <a:latin typeface="Mandali"/>
                  <a:ea typeface="Mandali"/>
                  <a:cs typeface="Mandali"/>
                  <a:sym typeface="Mandali"/>
                </a:rPr>
                <a:t>기관 보안 정책 사전 확인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0749277" y="5434584"/>
            <a:ext cx="5908043" cy="111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ChatGPT GPTs 외부 서비스 사용 전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기관 IT 보안팀·개인정보 담당자 승인 필요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640080" y="7059168"/>
            <a:ext cx="8321040" cy="2157984"/>
            <a:chOff x="0" y="0"/>
            <a:chExt cx="11094720" cy="287731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1094720" cy="2877312"/>
            </a:xfrm>
            <a:custGeom>
              <a:avLst/>
              <a:gdLst/>
              <a:ahLst/>
              <a:cxnLst/>
              <a:rect l="l" t="t" r="r" b="b"/>
              <a:pathLst>
                <a:path w="11094720" h="2877312">
                  <a:moveTo>
                    <a:pt x="0" y="0"/>
                  </a:moveTo>
                  <a:lnTo>
                    <a:pt x="11094720" y="0"/>
                  </a:lnTo>
                  <a:lnTo>
                    <a:pt x="1109472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640080" y="7059168"/>
            <a:ext cx="1005840" cy="2157984"/>
            <a:chOff x="0" y="0"/>
            <a:chExt cx="1341120" cy="287731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341120" cy="2877312"/>
            </a:xfrm>
            <a:custGeom>
              <a:avLst/>
              <a:gdLst/>
              <a:ahLst/>
              <a:cxnLst/>
              <a:rect l="l" t="t" r="r" b="b"/>
              <a:pathLst>
                <a:path w="1341120" h="2877312">
                  <a:moveTo>
                    <a:pt x="0" y="0"/>
                  </a:moveTo>
                  <a:lnTo>
                    <a:pt x="1341120" y="0"/>
                  </a:lnTo>
                  <a:lnTo>
                    <a:pt x="134112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640080" y="7059168"/>
            <a:ext cx="1005840" cy="2157984"/>
            <a:chOff x="0" y="0"/>
            <a:chExt cx="1341120" cy="287731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341120" cy="2877312"/>
            </a:xfrm>
            <a:custGeom>
              <a:avLst/>
              <a:gdLst/>
              <a:ahLst/>
              <a:cxnLst/>
              <a:rect l="l" t="t" r="r" b="b"/>
              <a:pathLst>
                <a:path w="1341120" h="2877312">
                  <a:moveTo>
                    <a:pt x="0" y="0"/>
                  </a:moveTo>
                  <a:lnTo>
                    <a:pt x="1341120" y="0"/>
                  </a:lnTo>
                  <a:lnTo>
                    <a:pt x="1341120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5269" r="-225269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1341120" cy="28773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spc="13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⚠️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955280" y="7059168"/>
            <a:ext cx="1005840" cy="585216"/>
            <a:chOff x="0" y="0"/>
            <a:chExt cx="1341120" cy="78028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341120" cy="780288"/>
            </a:xfrm>
            <a:custGeom>
              <a:avLst/>
              <a:gdLst/>
              <a:ahLst/>
              <a:cxnLst/>
              <a:rect l="l" t="t" r="r" b="b"/>
              <a:pathLst>
                <a:path w="1341120" h="780288">
                  <a:moveTo>
                    <a:pt x="0" y="0"/>
                  </a:moveTo>
                  <a:lnTo>
                    <a:pt x="1341120" y="0"/>
                  </a:lnTo>
                  <a:lnTo>
                    <a:pt x="13411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7955280" y="7059168"/>
            <a:ext cx="1005840" cy="585216"/>
            <a:chOff x="0" y="0"/>
            <a:chExt cx="1341120" cy="780288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341120" cy="780288"/>
            </a:xfrm>
            <a:custGeom>
              <a:avLst/>
              <a:gdLst/>
              <a:ahLst/>
              <a:cxnLst/>
              <a:rect l="l" t="t" r="r" b="b"/>
              <a:pathLst>
                <a:path w="1341120" h="780288">
                  <a:moveTo>
                    <a:pt x="0" y="0"/>
                  </a:moveTo>
                  <a:lnTo>
                    <a:pt x="1341120" y="0"/>
                  </a:lnTo>
                  <a:lnTo>
                    <a:pt x="1341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649" r="-24649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1341120" cy="780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spc="6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필수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828800" y="7150608"/>
            <a:ext cx="6035040" cy="694944"/>
            <a:chOff x="0" y="0"/>
            <a:chExt cx="8046720" cy="926592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046720" cy="926592"/>
            </a:xfrm>
            <a:custGeom>
              <a:avLst/>
              <a:gdLst/>
              <a:ahLst/>
              <a:cxnLst/>
              <a:rect l="l" t="t" r="r" b="b"/>
              <a:pathLst>
                <a:path w="8046720" h="926592">
                  <a:moveTo>
                    <a:pt x="0" y="0"/>
                  </a:moveTo>
                  <a:lnTo>
                    <a:pt x="8046720" y="0"/>
                  </a:lnTo>
                  <a:lnTo>
                    <a:pt x="8046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212" b="-119212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9525"/>
              <a:ext cx="8046720" cy="917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의료 판단 절대 금지</a:t>
              </a: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1879597" y="7958328"/>
            <a:ext cx="5908043" cy="111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증상 진단·처방·의료적 판단은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AI 챗봇의 응답 범위 제외 설정 필수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9509760" y="7059168"/>
            <a:ext cx="8321040" cy="2157984"/>
            <a:chOff x="0" y="0"/>
            <a:chExt cx="11094720" cy="287731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1094720" cy="2877312"/>
            </a:xfrm>
            <a:custGeom>
              <a:avLst/>
              <a:gdLst/>
              <a:ahLst/>
              <a:cxnLst/>
              <a:rect l="l" t="t" r="r" b="b"/>
              <a:pathLst>
                <a:path w="11094720" h="2877312">
                  <a:moveTo>
                    <a:pt x="0" y="0"/>
                  </a:moveTo>
                  <a:lnTo>
                    <a:pt x="11094720" y="0"/>
                  </a:lnTo>
                  <a:lnTo>
                    <a:pt x="1109472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9509760" y="7059168"/>
            <a:ext cx="1005840" cy="2157984"/>
            <a:chOff x="0" y="0"/>
            <a:chExt cx="1341120" cy="2877312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341120" cy="2877312"/>
            </a:xfrm>
            <a:custGeom>
              <a:avLst/>
              <a:gdLst/>
              <a:ahLst/>
              <a:cxnLst/>
              <a:rect l="l" t="t" r="r" b="b"/>
              <a:pathLst>
                <a:path w="1341120" h="2877312">
                  <a:moveTo>
                    <a:pt x="0" y="0"/>
                  </a:moveTo>
                  <a:lnTo>
                    <a:pt x="1341120" y="0"/>
                  </a:lnTo>
                  <a:lnTo>
                    <a:pt x="134112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93" name="Group 93"/>
          <p:cNvGrpSpPr/>
          <p:nvPr/>
        </p:nvGrpSpPr>
        <p:grpSpPr>
          <a:xfrm>
            <a:off x="9509760" y="7059168"/>
            <a:ext cx="1005840" cy="2157984"/>
            <a:chOff x="0" y="0"/>
            <a:chExt cx="1341120" cy="2877312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341120" cy="2877312"/>
            </a:xfrm>
            <a:custGeom>
              <a:avLst/>
              <a:gdLst/>
              <a:ahLst/>
              <a:cxnLst/>
              <a:rect l="l" t="t" r="r" b="b"/>
              <a:pathLst>
                <a:path w="1341120" h="2877312">
                  <a:moveTo>
                    <a:pt x="0" y="0"/>
                  </a:moveTo>
                  <a:lnTo>
                    <a:pt x="1341120" y="0"/>
                  </a:lnTo>
                  <a:lnTo>
                    <a:pt x="1341120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5269" r="-225269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0"/>
              <a:ext cx="1341120" cy="28773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spc="13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🔄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6824960" y="7059168"/>
            <a:ext cx="1005840" cy="585216"/>
            <a:chOff x="0" y="0"/>
            <a:chExt cx="1341120" cy="780288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341120" cy="780288"/>
            </a:xfrm>
            <a:custGeom>
              <a:avLst/>
              <a:gdLst/>
              <a:ahLst/>
              <a:cxnLst/>
              <a:rect l="l" t="t" r="r" b="b"/>
              <a:pathLst>
                <a:path w="1341120" h="780288">
                  <a:moveTo>
                    <a:pt x="0" y="0"/>
                  </a:moveTo>
                  <a:lnTo>
                    <a:pt x="1341120" y="0"/>
                  </a:lnTo>
                  <a:lnTo>
                    <a:pt x="13411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98" name="Group 98"/>
          <p:cNvGrpSpPr/>
          <p:nvPr/>
        </p:nvGrpSpPr>
        <p:grpSpPr>
          <a:xfrm>
            <a:off x="16824960" y="7059168"/>
            <a:ext cx="1005840" cy="585216"/>
            <a:chOff x="0" y="0"/>
            <a:chExt cx="1341120" cy="780288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341120" cy="780288"/>
            </a:xfrm>
            <a:custGeom>
              <a:avLst/>
              <a:gdLst/>
              <a:ahLst/>
              <a:cxnLst/>
              <a:rect l="l" t="t" r="r" b="b"/>
              <a:pathLst>
                <a:path w="1341120" h="780288">
                  <a:moveTo>
                    <a:pt x="0" y="0"/>
                  </a:moveTo>
                  <a:lnTo>
                    <a:pt x="1341120" y="0"/>
                  </a:lnTo>
                  <a:lnTo>
                    <a:pt x="1341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649" r="-24649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0"/>
              <a:ext cx="1341120" cy="780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spc="6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권장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0698480" y="7150608"/>
            <a:ext cx="6035040" cy="694944"/>
            <a:chOff x="0" y="0"/>
            <a:chExt cx="8046720" cy="926592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8046720" cy="926592"/>
            </a:xfrm>
            <a:custGeom>
              <a:avLst/>
              <a:gdLst/>
              <a:ahLst/>
              <a:cxnLst/>
              <a:rect l="l" t="t" r="r" b="b"/>
              <a:pathLst>
                <a:path w="8046720" h="926592">
                  <a:moveTo>
                    <a:pt x="0" y="0"/>
                  </a:moveTo>
                  <a:lnTo>
                    <a:pt x="8046720" y="0"/>
                  </a:lnTo>
                  <a:lnTo>
                    <a:pt x="8046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212" b="-119212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9525"/>
              <a:ext cx="8046720" cy="917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0A7B83"/>
                  </a:solidFill>
                  <a:latin typeface="Mandali"/>
                  <a:ea typeface="Mandali"/>
                  <a:cs typeface="Mandali"/>
                  <a:sym typeface="Mandali"/>
                </a:rPr>
                <a:t>정기적 내용 업데이트</a:t>
              </a:r>
            </a:p>
          </p:txBody>
        </p:sp>
      </p:grpSp>
      <p:sp>
        <p:nvSpPr>
          <p:cNvPr id="104" name="TextBox 104"/>
          <p:cNvSpPr txBox="1"/>
          <p:nvPr/>
        </p:nvSpPr>
        <p:spPr>
          <a:xfrm>
            <a:off x="10749277" y="7958328"/>
            <a:ext cx="5908043" cy="111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기관 정책 변경 시 FAQ 데이터 갱신</a:t>
            </a:r>
          </a:p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오래된 정보로 인한 민원 재발 방지</a:t>
            </a:r>
          </a:p>
        </p:txBody>
      </p:sp>
      <p:grpSp>
        <p:nvGrpSpPr>
          <p:cNvPr id="105" name="Group 40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06" name="Freeform 41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07" name="Group 42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08" name="Freeform 4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9" name="TextBox 4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4차시-02 | ChatGPT GPTs 기반 챗봇 구현 실습</a:t>
              </a:r>
            </a:p>
          </p:txBody>
        </p:sp>
      </p:grpSp>
      <p:grpSp>
        <p:nvGrpSpPr>
          <p:cNvPr id="110" name="Group 45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11" name="Freeform 46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12" name="TextBox 4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5943" y="316487"/>
            <a:ext cx="2951483" cy="610619"/>
            <a:chOff x="0" y="0"/>
            <a:chExt cx="3935311" cy="814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35349" cy="814197"/>
            </a:xfrm>
            <a:custGeom>
              <a:avLst/>
              <a:gdLst/>
              <a:ahLst/>
              <a:cxnLst/>
              <a:rect l="l" t="t" r="r" b="b"/>
              <a:pathLst>
                <a:path w="3935349" h="814197">
                  <a:moveTo>
                    <a:pt x="0" y="127254"/>
                  </a:moveTo>
                  <a:cubicBezTo>
                    <a:pt x="0" y="56896"/>
                    <a:pt x="56896" y="0"/>
                    <a:pt x="127254" y="0"/>
                  </a:cubicBezTo>
                  <a:lnTo>
                    <a:pt x="3808095" y="0"/>
                  </a:lnTo>
                  <a:cubicBezTo>
                    <a:pt x="3878326" y="0"/>
                    <a:pt x="3935349" y="56896"/>
                    <a:pt x="3935349" y="127254"/>
                  </a:cubicBezTo>
                  <a:lnTo>
                    <a:pt x="3935349" y="686943"/>
                  </a:lnTo>
                  <a:cubicBezTo>
                    <a:pt x="3935349" y="757174"/>
                    <a:pt x="3878453" y="814197"/>
                    <a:pt x="3808095" y="814197"/>
                  </a:cubicBezTo>
                  <a:lnTo>
                    <a:pt x="127254" y="814197"/>
                  </a:lnTo>
                  <a:cubicBezTo>
                    <a:pt x="56896" y="814197"/>
                    <a:pt x="0" y="757174"/>
                    <a:pt x="0" y="686943"/>
                  </a:cubicBezTo>
                  <a:close/>
                </a:path>
              </a:pathLst>
            </a:custGeom>
            <a:solidFill>
              <a:srgbClr val="7B2D8B"/>
            </a:solidFill>
            <a:ln w="25400" cap="sq">
              <a:solidFill>
                <a:srgbClr val="7B2D8B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548640" y="329184"/>
            <a:ext cx="2926080" cy="585216"/>
            <a:chOff x="0" y="0"/>
            <a:chExt cx="3901440" cy="780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01440" cy="780288"/>
            </a:xfrm>
            <a:custGeom>
              <a:avLst/>
              <a:gdLst/>
              <a:ahLst/>
              <a:cxnLst/>
              <a:rect l="l" t="t" r="r" b="b"/>
              <a:pathLst>
                <a:path w="3901440" h="780288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90144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4차시-03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48640" y="1060704"/>
            <a:ext cx="17190720" cy="1280160"/>
            <a:chOff x="0" y="0"/>
            <a:chExt cx="2292096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920961" cy="1706880"/>
            </a:xfrm>
            <a:custGeom>
              <a:avLst/>
              <a:gdLst/>
              <a:ahLst/>
              <a:cxnLst/>
              <a:rect l="l" t="t" r="r" b="b"/>
              <a:pathLst>
                <a:path w="22920961" h="1706880">
                  <a:moveTo>
                    <a:pt x="0" y="0"/>
                  </a:moveTo>
                  <a:lnTo>
                    <a:pt x="22920961" y="0"/>
                  </a:lnTo>
                  <a:lnTo>
                    <a:pt x="22920961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22920960" cy="1830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 b="1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바이브코딩(Vibe Coding) 이해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5943" y="2328167"/>
            <a:ext cx="17216123" cy="98555"/>
            <a:chOff x="0" y="0"/>
            <a:chExt cx="22954831" cy="1314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954869" cy="131445"/>
            </a:xfrm>
            <a:custGeom>
              <a:avLst/>
              <a:gdLst/>
              <a:ahLst/>
              <a:cxnLst/>
              <a:rect l="l" t="t" r="r" b="b"/>
              <a:pathLst>
                <a:path w="22954869" h="131445">
                  <a:moveTo>
                    <a:pt x="0" y="0"/>
                  </a:moveTo>
                  <a:lnTo>
                    <a:pt x="22954869" y="0"/>
                  </a:lnTo>
                  <a:lnTo>
                    <a:pt x="2295486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C9A84C"/>
            </a:solidFill>
            <a:ln w="25400" cap="sq">
              <a:solidFill>
                <a:srgbClr val="C9A84C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48640" y="2596896"/>
            <a:ext cx="8321040" cy="6492240"/>
            <a:chOff x="0" y="0"/>
            <a:chExt cx="11094720" cy="86563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094720" cy="8656320"/>
            </a:xfrm>
            <a:custGeom>
              <a:avLst/>
              <a:gdLst/>
              <a:ahLst/>
              <a:cxnLst/>
              <a:rect l="l" t="t" r="r" b="b"/>
              <a:pathLst>
                <a:path w="11094720" h="86563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850880" y="0"/>
                  </a:lnTo>
                  <a:cubicBezTo>
                    <a:pt x="10985500" y="0"/>
                    <a:pt x="11094720" y="109220"/>
                    <a:pt x="11094720" y="243840"/>
                  </a:cubicBezTo>
                  <a:lnTo>
                    <a:pt x="11094720" y="8412480"/>
                  </a:lnTo>
                  <a:cubicBezTo>
                    <a:pt x="11094720" y="8547100"/>
                    <a:pt x="10985500" y="8656320"/>
                    <a:pt x="10850880" y="8656320"/>
                  </a:cubicBezTo>
                  <a:lnTo>
                    <a:pt x="243840" y="8656320"/>
                  </a:lnTo>
                  <a:cubicBezTo>
                    <a:pt x="109220" y="8656320"/>
                    <a:pt x="0" y="8547100"/>
                    <a:pt x="0" y="8412480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35943" y="2584199"/>
            <a:ext cx="8346443" cy="939803"/>
            <a:chOff x="0" y="0"/>
            <a:chExt cx="11128591" cy="12530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128502" cy="1252982"/>
            </a:xfrm>
            <a:custGeom>
              <a:avLst/>
              <a:gdLst/>
              <a:ahLst/>
              <a:cxnLst/>
              <a:rect l="l" t="t" r="r" b="b"/>
              <a:pathLst>
                <a:path w="11128502" h="1252982">
                  <a:moveTo>
                    <a:pt x="0" y="250571"/>
                  </a:moveTo>
                  <a:cubicBezTo>
                    <a:pt x="0" y="112141"/>
                    <a:pt x="112141" y="0"/>
                    <a:pt x="250571" y="0"/>
                  </a:cubicBezTo>
                  <a:lnTo>
                    <a:pt x="10877931" y="0"/>
                  </a:lnTo>
                  <a:cubicBezTo>
                    <a:pt x="11016361" y="0"/>
                    <a:pt x="11128502" y="112141"/>
                    <a:pt x="11128502" y="250571"/>
                  </a:cubicBezTo>
                  <a:lnTo>
                    <a:pt x="11128502" y="1002411"/>
                  </a:lnTo>
                  <a:cubicBezTo>
                    <a:pt x="11128502" y="1140841"/>
                    <a:pt x="11016361" y="1252982"/>
                    <a:pt x="10877931" y="1252982"/>
                  </a:cubicBezTo>
                  <a:lnTo>
                    <a:pt x="250571" y="1252982"/>
                  </a:lnTo>
                  <a:cubicBezTo>
                    <a:pt x="112141" y="1253109"/>
                    <a:pt x="0" y="1140841"/>
                    <a:pt x="0" y="1002411"/>
                  </a:cubicBezTo>
                  <a:close/>
                </a:path>
              </a:pathLst>
            </a:custGeom>
            <a:solidFill>
              <a:srgbClr val="7B2D8B"/>
            </a:solidFill>
            <a:ln w="25400" cap="sq">
              <a:solidFill>
                <a:srgbClr val="7B2D8B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0080" y="2596896"/>
            <a:ext cx="8138160" cy="914400"/>
            <a:chOff x="0" y="0"/>
            <a:chExt cx="10850880" cy="121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50880" cy="1219200"/>
            </a:xfrm>
            <a:custGeom>
              <a:avLst/>
              <a:gdLst/>
              <a:ahLst/>
              <a:cxnLst/>
              <a:rect l="l" t="t" r="r" b="b"/>
              <a:pathLst>
                <a:path w="10850880" h="1219200">
                  <a:moveTo>
                    <a:pt x="0" y="0"/>
                  </a:moveTo>
                  <a:lnTo>
                    <a:pt x="10850880" y="0"/>
                  </a:lnTo>
                  <a:lnTo>
                    <a:pt x="10850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3416" b="-123416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0850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💻  바이브코딩(Vibe Coding)이란?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0263" y="3681479"/>
            <a:ext cx="7797803" cy="976379"/>
            <a:chOff x="0" y="0"/>
            <a:chExt cx="10397071" cy="130183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397109" cy="1301877"/>
            </a:xfrm>
            <a:custGeom>
              <a:avLst/>
              <a:gdLst/>
              <a:ahLst/>
              <a:cxnLst/>
              <a:rect l="l" t="t" r="r" b="b"/>
              <a:pathLst>
                <a:path w="10397109" h="1301877">
                  <a:moveTo>
                    <a:pt x="0" y="175260"/>
                  </a:moveTo>
                  <a:cubicBezTo>
                    <a:pt x="0" y="78486"/>
                    <a:pt x="78486" y="0"/>
                    <a:pt x="175260" y="0"/>
                  </a:cubicBezTo>
                  <a:lnTo>
                    <a:pt x="10221849" y="0"/>
                  </a:lnTo>
                  <a:cubicBezTo>
                    <a:pt x="10318623" y="0"/>
                    <a:pt x="10397109" y="78486"/>
                    <a:pt x="10397109" y="175260"/>
                  </a:cubicBezTo>
                  <a:lnTo>
                    <a:pt x="10397109" y="1126617"/>
                  </a:lnTo>
                  <a:cubicBezTo>
                    <a:pt x="10397109" y="1223391"/>
                    <a:pt x="10318623" y="1301877"/>
                    <a:pt x="10221849" y="1301877"/>
                  </a:cubicBezTo>
                  <a:lnTo>
                    <a:pt x="175260" y="1301877"/>
                  </a:lnTo>
                  <a:cubicBezTo>
                    <a:pt x="78486" y="1301877"/>
                    <a:pt x="0" y="1223391"/>
                    <a:pt x="0" y="1126617"/>
                  </a:cubicBezTo>
                  <a:close/>
                </a:path>
              </a:pathLst>
            </a:custGeom>
            <a:solidFill>
              <a:srgbClr val="F3E8F7"/>
            </a:solidFill>
            <a:ln w="25400" cap="sq">
              <a:solidFill>
                <a:srgbClr val="7B2D8B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22960" y="3694176"/>
            <a:ext cx="7772400" cy="950976"/>
            <a:chOff x="0" y="0"/>
            <a:chExt cx="10363200" cy="12679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63200" cy="1267968"/>
            </a:xfrm>
            <a:custGeom>
              <a:avLst/>
              <a:gdLst/>
              <a:ahLst/>
              <a:cxnLst/>
              <a:rect l="l" t="t" r="r" b="b"/>
              <a:pathLst>
                <a:path w="10363200" h="1267968">
                  <a:moveTo>
                    <a:pt x="0" y="0"/>
                  </a:moveTo>
                  <a:lnTo>
                    <a:pt x="10363200" y="0"/>
                  </a:lnTo>
                  <a:lnTo>
                    <a:pt x="103632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9252" b="-10925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0363200" cy="1315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자연어(말·글)로 AI에게 지시하면</a:t>
              </a:r>
              <a:r>
                <a:rPr lang="en-US" sz="2199">
                  <a:solidFill>
                    <a:srgbClr val="1E3A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AI가 코드를 대신 작성해주는 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E3A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개발 방식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99160" y="4579620"/>
            <a:ext cx="7620000" cy="271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 b="1">
                <a:solidFill>
                  <a:srgbClr val="7B2D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① </a:t>
            </a:r>
            <a:r>
              <a:rPr lang="en-US" sz="2400" b="1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코딩 지식 불필요</a:t>
            </a:r>
            <a:r>
              <a:rPr lang="en-US" sz="24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 — 말로 설명하면 AI가 구현</a:t>
            </a:r>
          </a:p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7B2D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② </a:t>
            </a:r>
            <a:r>
              <a:rPr lang="en-US" sz="2400" b="1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ChatGPT에서 바로 실행</a:t>
            </a:r>
            <a:r>
              <a:rPr lang="en-US" sz="24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 — 별도 도구 불필요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475569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7B2D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③ </a:t>
            </a:r>
            <a:r>
              <a:rPr lang="en-US" sz="2400" b="1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HTML/CSS 코드 자동 생성</a:t>
            </a:r>
            <a:r>
              <a:rPr lang="en-US" sz="24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 — 브라우저에서 즉시 실행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475569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7B2D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④ </a:t>
            </a:r>
            <a:r>
              <a:rPr lang="en-US" sz="2400" b="1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수정·개선도 말로</a:t>
            </a:r>
            <a:r>
              <a:rPr lang="en-US" sz="24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 — “더 예쁘게”, “버튼 추가해줘”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418320" y="2596896"/>
            <a:ext cx="8321040" cy="6492240"/>
            <a:chOff x="0" y="0"/>
            <a:chExt cx="11094720" cy="86563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094720" cy="8656320"/>
            </a:xfrm>
            <a:custGeom>
              <a:avLst/>
              <a:gdLst/>
              <a:ahLst/>
              <a:cxnLst/>
              <a:rect l="l" t="t" r="r" b="b"/>
              <a:pathLst>
                <a:path w="11094720" h="86563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850880" y="0"/>
                  </a:lnTo>
                  <a:cubicBezTo>
                    <a:pt x="10985500" y="0"/>
                    <a:pt x="11094720" y="109220"/>
                    <a:pt x="11094720" y="243840"/>
                  </a:cubicBezTo>
                  <a:lnTo>
                    <a:pt x="11094720" y="8412480"/>
                  </a:lnTo>
                  <a:cubicBezTo>
                    <a:pt x="11094720" y="8547100"/>
                    <a:pt x="10985500" y="8656320"/>
                    <a:pt x="10850880" y="8656320"/>
                  </a:cubicBezTo>
                  <a:lnTo>
                    <a:pt x="243840" y="8656320"/>
                  </a:lnTo>
                  <a:cubicBezTo>
                    <a:pt x="109220" y="8656320"/>
                    <a:pt x="0" y="8547100"/>
                    <a:pt x="0" y="8412480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9405623" y="2584199"/>
            <a:ext cx="8346443" cy="939803"/>
            <a:chOff x="0" y="0"/>
            <a:chExt cx="11128591" cy="125307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128502" cy="1252982"/>
            </a:xfrm>
            <a:custGeom>
              <a:avLst/>
              <a:gdLst/>
              <a:ahLst/>
              <a:cxnLst/>
              <a:rect l="l" t="t" r="r" b="b"/>
              <a:pathLst>
                <a:path w="11128502" h="1252982">
                  <a:moveTo>
                    <a:pt x="0" y="250571"/>
                  </a:moveTo>
                  <a:cubicBezTo>
                    <a:pt x="0" y="112141"/>
                    <a:pt x="112141" y="0"/>
                    <a:pt x="250571" y="0"/>
                  </a:cubicBezTo>
                  <a:lnTo>
                    <a:pt x="10877931" y="0"/>
                  </a:lnTo>
                  <a:cubicBezTo>
                    <a:pt x="11016361" y="0"/>
                    <a:pt x="11128502" y="112141"/>
                    <a:pt x="11128502" y="250571"/>
                  </a:cubicBezTo>
                  <a:lnTo>
                    <a:pt x="11128502" y="1002411"/>
                  </a:lnTo>
                  <a:cubicBezTo>
                    <a:pt x="11128502" y="1140841"/>
                    <a:pt x="11016361" y="1252982"/>
                    <a:pt x="10877931" y="1252982"/>
                  </a:cubicBezTo>
                  <a:lnTo>
                    <a:pt x="250571" y="1252982"/>
                  </a:lnTo>
                  <a:cubicBezTo>
                    <a:pt x="112141" y="1253109"/>
                    <a:pt x="0" y="1140841"/>
                    <a:pt x="0" y="1002411"/>
                  </a:cubicBezTo>
                  <a:close/>
                </a:path>
              </a:pathLst>
            </a:custGeom>
            <a:solidFill>
              <a:srgbClr val="C85A0E"/>
            </a:solidFill>
            <a:ln w="25400" cap="sq">
              <a:solidFill>
                <a:srgbClr val="C85A0E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509760" y="2596896"/>
            <a:ext cx="8138160" cy="914400"/>
            <a:chOff x="0" y="0"/>
            <a:chExt cx="10850880" cy="1219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850880" cy="1219200"/>
            </a:xfrm>
            <a:custGeom>
              <a:avLst/>
              <a:gdLst/>
              <a:ahLst/>
              <a:cxnLst/>
              <a:rect l="l" t="t" r="r" b="b"/>
              <a:pathLst>
                <a:path w="10850880" h="1219200">
                  <a:moveTo>
                    <a:pt x="0" y="0"/>
                  </a:moveTo>
                  <a:lnTo>
                    <a:pt x="10850880" y="0"/>
                  </a:lnTo>
                  <a:lnTo>
                    <a:pt x="10850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3416" b="-123416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0850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🏥  CS 현장에서 만들 수 있는 것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601200" y="3694176"/>
            <a:ext cx="3840480" cy="2340864"/>
            <a:chOff x="0" y="0"/>
            <a:chExt cx="5120640" cy="312115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120640" cy="3121152"/>
            </a:xfrm>
            <a:custGeom>
              <a:avLst/>
              <a:gdLst/>
              <a:ahLst/>
              <a:cxnLst/>
              <a:rect l="l" t="t" r="r" b="b"/>
              <a:pathLst>
                <a:path w="5120640" h="312115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4925568" y="0"/>
                  </a:lnTo>
                  <a:cubicBezTo>
                    <a:pt x="5033264" y="0"/>
                    <a:pt x="5120640" y="87376"/>
                    <a:pt x="5120640" y="195072"/>
                  </a:cubicBezTo>
                  <a:lnTo>
                    <a:pt x="5120640" y="2926080"/>
                  </a:lnTo>
                  <a:cubicBezTo>
                    <a:pt x="5120640" y="3033776"/>
                    <a:pt x="5033264" y="3121152"/>
                    <a:pt x="4925568" y="3121152"/>
                  </a:cubicBezTo>
                  <a:lnTo>
                    <a:pt x="195072" y="3121152"/>
                  </a:lnTo>
                  <a:cubicBezTo>
                    <a:pt x="87376" y="3121152"/>
                    <a:pt x="0" y="3033776"/>
                    <a:pt x="0" y="2926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9729216" y="3785616"/>
            <a:ext cx="3584448" cy="548640"/>
            <a:chOff x="0" y="0"/>
            <a:chExt cx="4779264" cy="731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779264" cy="731520"/>
            </a:xfrm>
            <a:custGeom>
              <a:avLst/>
              <a:gdLst/>
              <a:ahLst/>
              <a:cxnLst/>
              <a:rect l="l" t="t" r="r" b="b"/>
              <a:pathLst>
                <a:path w="4779264" h="731520">
                  <a:moveTo>
                    <a:pt x="0" y="0"/>
                  </a:moveTo>
                  <a:lnTo>
                    <a:pt x="4779264" y="0"/>
                  </a:lnTo>
                  <a:lnTo>
                    <a:pt x="47792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302" b="-77302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4779264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📋  민원 접수 폼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29216" y="4352544"/>
            <a:ext cx="3584448" cy="1499616"/>
            <a:chOff x="0" y="0"/>
            <a:chExt cx="4779264" cy="199948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779264" cy="1999488"/>
            </a:xfrm>
            <a:custGeom>
              <a:avLst/>
              <a:gdLst/>
              <a:ahLst/>
              <a:cxnLst/>
              <a:rect l="l" t="t" r="r" b="b"/>
              <a:pathLst>
                <a:path w="4779264" h="1999488">
                  <a:moveTo>
                    <a:pt x="0" y="0"/>
                  </a:moveTo>
                  <a:lnTo>
                    <a:pt x="4779264" y="0"/>
                  </a:lnTo>
                  <a:lnTo>
                    <a:pt x="4779264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78" r="-3678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4779264" cy="2037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유형선택·내용입력·제출 버튼 포함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실습 주제 추천 ★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624560" y="3694176"/>
            <a:ext cx="3840480" cy="2340864"/>
            <a:chOff x="0" y="0"/>
            <a:chExt cx="5120640" cy="312115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120640" cy="3121152"/>
            </a:xfrm>
            <a:custGeom>
              <a:avLst/>
              <a:gdLst/>
              <a:ahLst/>
              <a:cxnLst/>
              <a:rect l="l" t="t" r="r" b="b"/>
              <a:pathLst>
                <a:path w="5120640" h="312115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4925568" y="0"/>
                  </a:lnTo>
                  <a:cubicBezTo>
                    <a:pt x="5033264" y="0"/>
                    <a:pt x="5120640" y="87376"/>
                    <a:pt x="5120640" y="195072"/>
                  </a:cubicBezTo>
                  <a:lnTo>
                    <a:pt x="5120640" y="2926080"/>
                  </a:lnTo>
                  <a:cubicBezTo>
                    <a:pt x="5120640" y="3033776"/>
                    <a:pt x="5033264" y="3121152"/>
                    <a:pt x="4925568" y="3121152"/>
                  </a:cubicBezTo>
                  <a:lnTo>
                    <a:pt x="195072" y="3121152"/>
                  </a:lnTo>
                  <a:cubicBezTo>
                    <a:pt x="87376" y="3121152"/>
                    <a:pt x="0" y="3033776"/>
                    <a:pt x="0" y="2926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3752576" y="3785616"/>
            <a:ext cx="3584448" cy="548640"/>
            <a:chOff x="0" y="0"/>
            <a:chExt cx="4779264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779264" cy="731520"/>
            </a:xfrm>
            <a:custGeom>
              <a:avLst/>
              <a:gdLst/>
              <a:ahLst/>
              <a:cxnLst/>
              <a:rect l="l" t="t" r="r" b="b"/>
              <a:pathLst>
                <a:path w="4779264" h="731520">
                  <a:moveTo>
                    <a:pt x="0" y="0"/>
                  </a:moveTo>
                  <a:lnTo>
                    <a:pt x="4779264" y="0"/>
                  </a:lnTo>
                  <a:lnTo>
                    <a:pt x="47792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302" b="-77302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4779264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응대 체크리스트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752576" y="4352544"/>
            <a:ext cx="3584448" cy="1499616"/>
            <a:chOff x="0" y="0"/>
            <a:chExt cx="4779264" cy="199948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779264" cy="1999488"/>
            </a:xfrm>
            <a:custGeom>
              <a:avLst/>
              <a:gdLst/>
              <a:ahLst/>
              <a:cxnLst/>
              <a:rect l="l" t="t" r="r" b="b"/>
              <a:pathLst>
                <a:path w="4779264" h="1999488">
                  <a:moveTo>
                    <a:pt x="0" y="0"/>
                  </a:moveTo>
                  <a:lnTo>
                    <a:pt x="4779264" y="0"/>
                  </a:lnTo>
                  <a:lnTo>
                    <a:pt x="4779264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78" r="-3678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4779264" cy="2037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민원 처리 단계별 체크 도구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담당자 업무 가이드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601200" y="6254496"/>
            <a:ext cx="3840480" cy="2340864"/>
            <a:chOff x="0" y="0"/>
            <a:chExt cx="5120640" cy="312115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120640" cy="3121152"/>
            </a:xfrm>
            <a:custGeom>
              <a:avLst/>
              <a:gdLst/>
              <a:ahLst/>
              <a:cxnLst/>
              <a:rect l="l" t="t" r="r" b="b"/>
              <a:pathLst>
                <a:path w="5120640" h="312115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4925568" y="0"/>
                  </a:lnTo>
                  <a:cubicBezTo>
                    <a:pt x="5033264" y="0"/>
                    <a:pt x="5120640" y="87376"/>
                    <a:pt x="5120640" y="195072"/>
                  </a:cubicBezTo>
                  <a:lnTo>
                    <a:pt x="5120640" y="2926080"/>
                  </a:lnTo>
                  <a:cubicBezTo>
                    <a:pt x="5120640" y="3033776"/>
                    <a:pt x="5033264" y="3121152"/>
                    <a:pt x="4925568" y="3121152"/>
                  </a:cubicBezTo>
                  <a:lnTo>
                    <a:pt x="195072" y="3121152"/>
                  </a:lnTo>
                  <a:cubicBezTo>
                    <a:pt x="87376" y="3121152"/>
                    <a:pt x="0" y="3033776"/>
                    <a:pt x="0" y="2926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9729216" y="6345936"/>
            <a:ext cx="3584448" cy="548640"/>
            <a:chOff x="0" y="0"/>
            <a:chExt cx="4779264" cy="7315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779264" cy="731520"/>
            </a:xfrm>
            <a:custGeom>
              <a:avLst/>
              <a:gdLst/>
              <a:ahLst/>
              <a:cxnLst/>
              <a:rect l="l" t="t" r="r" b="b"/>
              <a:pathLst>
                <a:path w="4779264" h="731520">
                  <a:moveTo>
                    <a:pt x="0" y="0"/>
                  </a:moveTo>
                  <a:lnTo>
                    <a:pt x="4779264" y="0"/>
                  </a:lnTo>
                  <a:lnTo>
                    <a:pt x="47792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302" b="-77302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4779264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🔍  민원 유형 분류기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729216" y="6912864"/>
            <a:ext cx="3584448" cy="1499616"/>
            <a:chOff x="0" y="0"/>
            <a:chExt cx="4779264" cy="199948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779264" cy="1999488"/>
            </a:xfrm>
            <a:custGeom>
              <a:avLst/>
              <a:gdLst/>
              <a:ahLst/>
              <a:cxnLst/>
              <a:rect l="l" t="t" r="r" b="b"/>
              <a:pathLst>
                <a:path w="4779264" h="1999488">
                  <a:moveTo>
                    <a:pt x="0" y="0"/>
                  </a:moveTo>
                  <a:lnTo>
                    <a:pt x="4779264" y="0"/>
                  </a:lnTo>
                  <a:lnTo>
                    <a:pt x="4779264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78" r="-3678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4779264" cy="2037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키워드 입력 → 유형 자동 분류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스크립트 연계 활용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624560" y="6254496"/>
            <a:ext cx="3840480" cy="2340864"/>
            <a:chOff x="0" y="0"/>
            <a:chExt cx="5120640" cy="312115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120640" cy="3121152"/>
            </a:xfrm>
            <a:custGeom>
              <a:avLst/>
              <a:gdLst/>
              <a:ahLst/>
              <a:cxnLst/>
              <a:rect l="l" t="t" r="r" b="b"/>
              <a:pathLst>
                <a:path w="5120640" h="312115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4925568" y="0"/>
                  </a:lnTo>
                  <a:cubicBezTo>
                    <a:pt x="5033264" y="0"/>
                    <a:pt x="5120640" y="87376"/>
                    <a:pt x="5120640" y="195072"/>
                  </a:cubicBezTo>
                  <a:lnTo>
                    <a:pt x="5120640" y="2926080"/>
                  </a:lnTo>
                  <a:cubicBezTo>
                    <a:pt x="5120640" y="3033776"/>
                    <a:pt x="5033264" y="3121152"/>
                    <a:pt x="4925568" y="3121152"/>
                  </a:cubicBezTo>
                  <a:lnTo>
                    <a:pt x="195072" y="3121152"/>
                  </a:lnTo>
                  <a:cubicBezTo>
                    <a:pt x="87376" y="3121152"/>
                    <a:pt x="0" y="3033776"/>
                    <a:pt x="0" y="2926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3752576" y="6345936"/>
            <a:ext cx="3584448" cy="548640"/>
            <a:chOff x="0" y="0"/>
            <a:chExt cx="4779264" cy="7315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779264" cy="731520"/>
            </a:xfrm>
            <a:custGeom>
              <a:avLst/>
              <a:gdLst/>
              <a:ahLst/>
              <a:cxnLst/>
              <a:rect l="l" t="t" r="r" b="b"/>
              <a:pathLst>
                <a:path w="4779264" h="731520">
                  <a:moveTo>
                    <a:pt x="0" y="0"/>
                  </a:moveTo>
                  <a:lnTo>
                    <a:pt x="4779264" y="0"/>
                  </a:lnTo>
                  <a:lnTo>
                    <a:pt x="47792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302" b="-7730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4779264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📢  병원 안내 미니페이지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752576" y="6912864"/>
            <a:ext cx="3584448" cy="1499616"/>
            <a:chOff x="0" y="0"/>
            <a:chExt cx="4779264" cy="199948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779264" cy="1999488"/>
            </a:xfrm>
            <a:custGeom>
              <a:avLst/>
              <a:gdLst/>
              <a:ahLst/>
              <a:cxnLst/>
              <a:rect l="l" t="t" r="r" b="b"/>
              <a:pathLst>
                <a:path w="4779264" h="1999488">
                  <a:moveTo>
                    <a:pt x="0" y="0"/>
                  </a:moveTo>
                  <a:lnTo>
                    <a:pt x="4779264" y="0"/>
                  </a:lnTo>
                  <a:lnTo>
                    <a:pt x="4779264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78" r="-3678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4779264" cy="2037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외래 안내·주차·연락처 표시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QR코드로 공유 가능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29046" y="8409214"/>
            <a:ext cx="17216123" cy="793499"/>
            <a:chOff x="0" y="0"/>
            <a:chExt cx="22954831" cy="1057999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2954742" cy="1057910"/>
            </a:xfrm>
            <a:custGeom>
              <a:avLst/>
              <a:gdLst/>
              <a:ahLst/>
              <a:cxnLst/>
              <a:rect l="l" t="t" r="r" b="b"/>
              <a:pathLst>
                <a:path w="22954742" h="1057910">
                  <a:moveTo>
                    <a:pt x="0" y="176276"/>
                  </a:moveTo>
                  <a:cubicBezTo>
                    <a:pt x="0" y="78994"/>
                    <a:pt x="78994" y="0"/>
                    <a:pt x="176276" y="0"/>
                  </a:cubicBezTo>
                  <a:lnTo>
                    <a:pt x="22778465" y="0"/>
                  </a:lnTo>
                  <a:cubicBezTo>
                    <a:pt x="22875875" y="0"/>
                    <a:pt x="22954742" y="78994"/>
                    <a:pt x="22954742" y="176276"/>
                  </a:cubicBezTo>
                  <a:lnTo>
                    <a:pt x="22954742" y="881634"/>
                  </a:lnTo>
                  <a:cubicBezTo>
                    <a:pt x="22954742" y="979043"/>
                    <a:pt x="22875748" y="1057910"/>
                    <a:pt x="22778465" y="1057910"/>
                  </a:cubicBezTo>
                  <a:lnTo>
                    <a:pt x="176276" y="1057910"/>
                  </a:lnTo>
                  <a:cubicBezTo>
                    <a:pt x="78994" y="1058037"/>
                    <a:pt x="0" y="979043"/>
                    <a:pt x="0" y="881634"/>
                  </a:cubicBezTo>
                  <a:close/>
                </a:path>
              </a:pathLst>
            </a:custGeom>
            <a:solidFill>
              <a:srgbClr val="FFF3CD"/>
            </a:solidFill>
            <a:ln w="25400" cap="sq">
              <a:solidFill>
                <a:srgbClr val="FFC107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724623" y="8464207"/>
            <a:ext cx="16824960" cy="768096"/>
            <a:chOff x="0" y="0"/>
            <a:chExt cx="22433280" cy="102412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2433280" cy="1024128"/>
            </a:xfrm>
            <a:custGeom>
              <a:avLst/>
              <a:gdLst/>
              <a:ahLst/>
              <a:cxnLst/>
              <a:rect l="l" t="t" r="r" b="b"/>
              <a:pathLst>
                <a:path w="22433280" h="1024128">
                  <a:moveTo>
                    <a:pt x="0" y="0"/>
                  </a:moveTo>
                  <a:lnTo>
                    <a:pt x="22433280" y="0"/>
                  </a:lnTo>
                  <a:lnTo>
                    <a:pt x="22433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6815" b="-376815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2243328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주의사항: </a:t>
              </a:r>
              <a:r>
                <a:rPr lang="en-US" sz="2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ChatGPT가 생성한 코드는 로컬 브라우저에서만 실행 가능 — 실제 병원 시스템 연동 불가  |  환자 개인정보 절대 입력 금지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48640" y="9700260"/>
            <a:ext cx="10058400" cy="548640"/>
            <a:chOff x="0" y="0"/>
            <a:chExt cx="13411200" cy="73152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3411200" cy="731520"/>
            </a:xfrm>
            <a:custGeom>
              <a:avLst/>
              <a:gdLst/>
              <a:ahLst/>
              <a:cxnLst/>
              <a:rect l="l" t="t" r="r" b="b"/>
              <a:pathLst>
                <a:path w="13411200" h="73152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13411200" cy="769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4차시-03 | 바이브코딩(Vibe Coding) 이해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693666" y="9671685"/>
            <a:ext cx="10058400" cy="577215"/>
            <a:chOff x="0" y="-38100"/>
            <a:chExt cx="13411200" cy="76962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3411200" cy="731520"/>
            </a:xfrm>
            <a:custGeom>
              <a:avLst/>
              <a:gdLst/>
              <a:ahLst/>
              <a:cxnLst/>
              <a:rect l="l" t="t" r="r" b="b"/>
              <a:pathLst>
                <a:path w="13411200" h="73152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13411200" cy="769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800" dirty="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| </a:t>
              </a:r>
              <a:r>
                <a:rPr lang="en-US" sz="1800" dirty="0" err="1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부산여자대학교</a:t>
              </a:r>
              <a:r>
                <a:rPr lang="en-US" sz="1800" dirty="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1800" dirty="0" err="1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DX교육운영센터</a:t>
              </a:r>
              <a:endParaRPr lang="en-US" sz="1800" dirty="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5943" y="316487"/>
            <a:ext cx="2951483" cy="610619"/>
            <a:chOff x="0" y="0"/>
            <a:chExt cx="3935311" cy="814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35349" cy="814197"/>
            </a:xfrm>
            <a:custGeom>
              <a:avLst/>
              <a:gdLst/>
              <a:ahLst/>
              <a:cxnLst/>
              <a:rect l="l" t="t" r="r" b="b"/>
              <a:pathLst>
                <a:path w="3935349" h="814197">
                  <a:moveTo>
                    <a:pt x="0" y="127254"/>
                  </a:moveTo>
                  <a:cubicBezTo>
                    <a:pt x="0" y="56896"/>
                    <a:pt x="56896" y="0"/>
                    <a:pt x="127254" y="0"/>
                  </a:cubicBezTo>
                  <a:lnTo>
                    <a:pt x="3808095" y="0"/>
                  </a:lnTo>
                  <a:cubicBezTo>
                    <a:pt x="3878326" y="0"/>
                    <a:pt x="3935349" y="56896"/>
                    <a:pt x="3935349" y="127254"/>
                  </a:cubicBezTo>
                  <a:lnTo>
                    <a:pt x="3935349" y="686943"/>
                  </a:lnTo>
                  <a:cubicBezTo>
                    <a:pt x="3935349" y="757174"/>
                    <a:pt x="3878453" y="814197"/>
                    <a:pt x="3808095" y="814197"/>
                  </a:cubicBezTo>
                  <a:lnTo>
                    <a:pt x="127254" y="814197"/>
                  </a:lnTo>
                  <a:cubicBezTo>
                    <a:pt x="56896" y="814197"/>
                    <a:pt x="0" y="757174"/>
                    <a:pt x="0" y="686943"/>
                  </a:cubicBezTo>
                  <a:close/>
                </a:path>
              </a:pathLst>
            </a:custGeom>
            <a:solidFill>
              <a:srgbClr val="7B2D8B"/>
            </a:solidFill>
            <a:ln w="25400" cap="sq">
              <a:solidFill>
                <a:srgbClr val="7B2D8B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548640" y="329184"/>
            <a:ext cx="2926080" cy="585216"/>
            <a:chOff x="0" y="0"/>
            <a:chExt cx="3901440" cy="780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01440" cy="780288"/>
            </a:xfrm>
            <a:custGeom>
              <a:avLst/>
              <a:gdLst/>
              <a:ahLst/>
              <a:cxnLst/>
              <a:rect l="l" t="t" r="r" b="b"/>
              <a:pathLst>
                <a:path w="3901440" h="780288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90144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4차시-04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48640" y="1060704"/>
            <a:ext cx="17190720" cy="1280160"/>
            <a:chOff x="0" y="0"/>
            <a:chExt cx="2292096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920961" cy="1706880"/>
            </a:xfrm>
            <a:custGeom>
              <a:avLst/>
              <a:gdLst/>
              <a:ahLst/>
              <a:cxnLst/>
              <a:rect l="l" t="t" r="r" b="b"/>
              <a:pathLst>
                <a:path w="22920961" h="1706880">
                  <a:moveTo>
                    <a:pt x="0" y="0"/>
                  </a:moveTo>
                  <a:lnTo>
                    <a:pt x="22920961" y="0"/>
                  </a:lnTo>
                  <a:lnTo>
                    <a:pt x="22920961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22920960" cy="1830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 b="1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바이브코딩(Vibe Coding) 구현 실습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48640" y="2194560"/>
            <a:ext cx="17190720" cy="512064"/>
            <a:chOff x="0" y="0"/>
            <a:chExt cx="22920960" cy="6827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920961" cy="682752"/>
            </a:xfrm>
            <a:custGeom>
              <a:avLst/>
              <a:gdLst/>
              <a:ahLst/>
              <a:cxnLst/>
              <a:rect l="l" t="t" r="r" b="b"/>
              <a:pathLst>
                <a:path w="22920961" h="682752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4140" b="-60414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92096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나만의 미니 웹앱 만들기 - 민원 접수 폼 만들기 실습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5943" y="2693927"/>
            <a:ext cx="17216123" cy="98555"/>
            <a:chOff x="0" y="0"/>
            <a:chExt cx="22954831" cy="1314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954869" cy="131445"/>
            </a:xfrm>
            <a:custGeom>
              <a:avLst/>
              <a:gdLst/>
              <a:ahLst/>
              <a:cxnLst/>
              <a:rect l="l" t="t" r="r" b="b"/>
              <a:pathLst>
                <a:path w="22954869" h="131445">
                  <a:moveTo>
                    <a:pt x="0" y="0"/>
                  </a:moveTo>
                  <a:lnTo>
                    <a:pt x="22954869" y="0"/>
                  </a:lnTo>
                  <a:lnTo>
                    <a:pt x="2295486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C9A84C"/>
            </a:solidFill>
            <a:ln w="25400" cap="sq">
              <a:solidFill>
                <a:srgbClr val="C9A84C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48640" y="2962656"/>
            <a:ext cx="8321040" cy="6035040"/>
            <a:chOff x="0" y="0"/>
            <a:chExt cx="11094720" cy="80467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94720" cy="8046720"/>
            </a:xfrm>
            <a:custGeom>
              <a:avLst/>
              <a:gdLst/>
              <a:ahLst/>
              <a:cxnLst/>
              <a:rect l="l" t="t" r="r" b="b"/>
              <a:pathLst>
                <a:path w="11094720" h="80467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850880" y="0"/>
                  </a:lnTo>
                  <a:cubicBezTo>
                    <a:pt x="10985500" y="0"/>
                    <a:pt x="11094720" y="109220"/>
                    <a:pt x="11094720" y="243840"/>
                  </a:cubicBezTo>
                  <a:lnTo>
                    <a:pt x="11094720" y="7802880"/>
                  </a:lnTo>
                  <a:cubicBezTo>
                    <a:pt x="11094720" y="7937500"/>
                    <a:pt x="10985500" y="8046720"/>
                    <a:pt x="10850880" y="8046720"/>
                  </a:cubicBezTo>
                  <a:lnTo>
                    <a:pt x="243840" y="8046720"/>
                  </a:lnTo>
                  <a:cubicBezTo>
                    <a:pt x="109220" y="8046720"/>
                    <a:pt x="0" y="7937500"/>
                    <a:pt x="0" y="7802880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35943" y="2949959"/>
            <a:ext cx="8346443" cy="866651"/>
            <a:chOff x="0" y="0"/>
            <a:chExt cx="11128591" cy="115553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128629" cy="1155573"/>
            </a:xfrm>
            <a:custGeom>
              <a:avLst/>
              <a:gdLst/>
              <a:ahLst/>
              <a:cxnLst/>
              <a:rect l="l" t="t" r="r" b="b"/>
              <a:pathLst>
                <a:path w="11128629" h="1155573">
                  <a:moveTo>
                    <a:pt x="0" y="251206"/>
                  </a:moveTo>
                  <a:cubicBezTo>
                    <a:pt x="0" y="112522"/>
                    <a:pt x="112522" y="0"/>
                    <a:pt x="251206" y="0"/>
                  </a:cubicBezTo>
                  <a:lnTo>
                    <a:pt x="10877423" y="0"/>
                  </a:lnTo>
                  <a:cubicBezTo>
                    <a:pt x="11016107" y="0"/>
                    <a:pt x="11128629" y="112522"/>
                    <a:pt x="11128629" y="251206"/>
                  </a:cubicBezTo>
                  <a:lnTo>
                    <a:pt x="11128629" y="904367"/>
                  </a:lnTo>
                  <a:cubicBezTo>
                    <a:pt x="11128629" y="1043051"/>
                    <a:pt x="11016107" y="1155573"/>
                    <a:pt x="10877423" y="1155573"/>
                  </a:cubicBezTo>
                  <a:lnTo>
                    <a:pt x="251206" y="1155573"/>
                  </a:lnTo>
                  <a:cubicBezTo>
                    <a:pt x="112522" y="1155573"/>
                    <a:pt x="0" y="1043051"/>
                    <a:pt x="0" y="904367"/>
                  </a:cubicBezTo>
                  <a:close/>
                </a:path>
              </a:pathLst>
            </a:custGeom>
            <a:solidFill>
              <a:srgbClr val="7B2D8B"/>
            </a:solidFill>
            <a:ln w="25400" cap="sq">
              <a:solidFill>
                <a:srgbClr val="7B2D8B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40080" y="2962656"/>
            <a:ext cx="8138160" cy="841248"/>
            <a:chOff x="0" y="0"/>
            <a:chExt cx="10850880" cy="11216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850880" cy="1121664"/>
            </a:xfrm>
            <a:custGeom>
              <a:avLst/>
              <a:gdLst/>
              <a:ahLst/>
              <a:cxnLst/>
              <a:rect l="l" t="t" r="r" b="b"/>
              <a:pathLst>
                <a:path w="10850880" h="1121664">
                  <a:moveTo>
                    <a:pt x="0" y="0"/>
                  </a:moveTo>
                  <a:lnTo>
                    <a:pt x="10850880" y="0"/>
                  </a:lnTo>
                  <a:lnTo>
                    <a:pt x="10850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496" b="-138496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0850880" cy="11788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⚙️  바이브코딩 실습 4단계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5399" y="4010663"/>
            <a:ext cx="720347" cy="720347"/>
            <a:chOff x="0" y="0"/>
            <a:chExt cx="960463" cy="96046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60501" cy="960501"/>
            </a:xfrm>
            <a:custGeom>
              <a:avLst/>
              <a:gdLst/>
              <a:ahLst/>
              <a:cxnLst/>
              <a:rect l="l" t="t" r="r" b="b"/>
              <a:pathLst>
                <a:path w="960501" h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7B2D8B"/>
            </a:solidFill>
            <a:ln w="25400" cap="sq">
              <a:solidFill>
                <a:srgbClr val="7B2D8B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68096" y="4023360"/>
            <a:ext cx="694944" cy="694944"/>
            <a:chOff x="0" y="0"/>
            <a:chExt cx="926592" cy="92659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09344" y="3986784"/>
            <a:ext cx="6949440" cy="475488"/>
            <a:chOff x="0" y="0"/>
            <a:chExt cx="9265920" cy="63398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265920" cy="633984"/>
            </a:xfrm>
            <a:custGeom>
              <a:avLst/>
              <a:gdLst/>
              <a:ahLst/>
              <a:cxnLst/>
              <a:rect l="l" t="t" r="r" b="b"/>
              <a:pathLst>
                <a:path w="9265920" h="633984">
                  <a:moveTo>
                    <a:pt x="0" y="0"/>
                  </a:moveTo>
                  <a:lnTo>
                    <a:pt x="9265920" y="0"/>
                  </a:lnTo>
                  <a:lnTo>
                    <a:pt x="92659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4781" b="-23478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9265920" cy="672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ChatGPT 접속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09344" y="4462272"/>
            <a:ext cx="6949440" cy="694944"/>
            <a:chOff x="0" y="0"/>
            <a:chExt cx="9265920" cy="92659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265920" cy="926592"/>
            </a:xfrm>
            <a:custGeom>
              <a:avLst/>
              <a:gdLst/>
              <a:ahLst/>
              <a:cxnLst/>
              <a:rect l="l" t="t" r="r" b="b"/>
              <a:pathLst>
                <a:path w="9265920" h="926592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926592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chat.openai.com 접속 후 로그인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새 채팅(New Chat) 시작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5399" y="5327399"/>
            <a:ext cx="720347" cy="720347"/>
            <a:chOff x="0" y="0"/>
            <a:chExt cx="960463" cy="96046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60501" cy="960501"/>
            </a:xfrm>
            <a:custGeom>
              <a:avLst/>
              <a:gdLst/>
              <a:ahLst/>
              <a:cxnLst/>
              <a:rect l="l" t="t" r="r" b="b"/>
              <a:pathLst>
                <a:path w="960501" h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7B2D8B"/>
            </a:solidFill>
            <a:ln w="25400" cap="sq">
              <a:solidFill>
                <a:srgbClr val="7B2D8B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68096" y="5340096"/>
            <a:ext cx="694944" cy="694944"/>
            <a:chOff x="0" y="0"/>
            <a:chExt cx="926592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09344" y="5303520"/>
            <a:ext cx="6949440" cy="475488"/>
            <a:chOff x="0" y="0"/>
            <a:chExt cx="9265920" cy="63398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265920" cy="633984"/>
            </a:xfrm>
            <a:custGeom>
              <a:avLst/>
              <a:gdLst/>
              <a:ahLst/>
              <a:cxnLst/>
              <a:rect l="l" t="t" r="r" b="b"/>
              <a:pathLst>
                <a:path w="9265920" h="633984">
                  <a:moveTo>
                    <a:pt x="0" y="0"/>
                  </a:moveTo>
                  <a:lnTo>
                    <a:pt x="9265920" y="0"/>
                  </a:lnTo>
                  <a:lnTo>
                    <a:pt x="92659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4781" b="-234781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9265920" cy="672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프롬프트 입력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609344" y="5779008"/>
            <a:ext cx="6949440" cy="694944"/>
            <a:chOff x="0" y="0"/>
            <a:chExt cx="9265920" cy="92659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265920" cy="926592"/>
            </a:xfrm>
            <a:custGeom>
              <a:avLst/>
              <a:gdLst/>
              <a:ahLst/>
              <a:cxnLst/>
              <a:rect l="l" t="t" r="r" b="b"/>
              <a:pathLst>
                <a:path w="9265920" h="926592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926592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아래 템플릿 복사 후 붙여넣기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민원 유형·항목 맞게 수정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55399" y="6644135"/>
            <a:ext cx="720347" cy="720347"/>
            <a:chOff x="0" y="0"/>
            <a:chExt cx="960463" cy="96046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60501" cy="960501"/>
            </a:xfrm>
            <a:custGeom>
              <a:avLst/>
              <a:gdLst/>
              <a:ahLst/>
              <a:cxnLst/>
              <a:rect l="l" t="t" r="r" b="b"/>
              <a:pathLst>
                <a:path w="960501" h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7B2D8B"/>
            </a:solidFill>
            <a:ln w="25400" cap="sq">
              <a:solidFill>
                <a:srgbClr val="7B2D8B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768096" y="6656832"/>
            <a:ext cx="694944" cy="694944"/>
            <a:chOff x="0" y="0"/>
            <a:chExt cx="926592" cy="92659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609344" y="6620256"/>
            <a:ext cx="6949440" cy="475488"/>
            <a:chOff x="0" y="0"/>
            <a:chExt cx="9265920" cy="6339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265920" cy="633984"/>
            </a:xfrm>
            <a:custGeom>
              <a:avLst/>
              <a:gdLst/>
              <a:ahLst/>
              <a:cxnLst/>
              <a:rect l="l" t="t" r="r" b="b"/>
              <a:pathLst>
                <a:path w="9265920" h="633984">
                  <a:moveTo>
                    <a:pt x="0" y="0"/>
                  </a:moveTo>
                  <a:lnTo>
                    <a:pt x="9265920" y="0"/>
                  </a:lnTo>
                  <a:lnTo>
                    <a:pt x="92659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4781" b="-234781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9265920" cy="672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코드 복사·저장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609344" y="7095744"/>
            <a:ext cx="6949440" cy="694944"/>
            <a:chOff x="0" y="0"/>
            <a:chExt cx="9265920" cy="92659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265920" cy="926592"/>
            </a:xfrm>
            <a:custGeom>
              <a:avLst/>
              <a:gdLst/>
              <a:ahLst/>
              <a:cxnLst/>
              <a:rect l="l" t="t" r="r" b="b"/>
              <a:pathLst>
                <a:path w="9265920" h="926592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926592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생성된 HTML 코드 전체 복사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메모장에 붙여넣기 → .html 저장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55399" y="7960871"/>
            <a:ext cx="720347" cy="720347"/>
            <a:chOff x="0" y="0"/>
            <a:chExt cx="960463" cy="96046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960501" cy="960501"/>
            </a:xfrm>
            <a:custGeom>
              <a:avLst/>
              <a:gdLst/>
              <a:ahLst/>
              <a:cxnLst/>
              <a:rect l="l" t="t" r="r" b="b"/>
              <a:pathLst>
                <a:path w="960501" h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7B2D8B"/>
            </a:solidFill>
            <a:ln w="25400" cap="sq">
              <a:solidFill>
                <a:srgbClr val="7B2D8B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768096" y="7973568"/>
            <a:ext cx="694944" cy="694944"/>
            <a:chOff x="0" y="0"/>
            <a:chExt cx="926592" cy="92659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609344" y="7936992"/>
            <a:ext cx="6949440" cy="475488"/>
            <a:chOff x="0" y="0"/>
            <a:chExt cx="9265920" cy="63398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265920" cy="633984"/>
            </a:xfrm>
            <a:custGeom>
              <a:avLst/>
              <a:gdLst/>
              <a:ahLst/>
              <a:cxnLst/>
              <a:rect l="l" t="t" r="r" b="b"/>
              <a:pathLst>
                <a:path w="9265920" h="633984">
                  <a:moveTo>
                    <a:pt x="0" y="0"/>
                  </a:moveTo>
                  <a:lnTo>
                    <a:pt x="9265920" y="0"/>
                  </a:lnTo>
                  <a:lnTo>
                    <a:pt x="92659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4781" b="-234781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9265920" cy="672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브라우저 실행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609344" y="8412480"/>
            <a:ext cx="6949440" cy="694944"/>
            <a:chOff x="0" y="0"/>
            <a:chExt cx="9265920" cy="92659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265920" cy="926592"/>
            </a:xfrm>
            <a:custGeom>
              <a:avLst/>
              <a:gdLst/>
              <a:ahLst/>
              <a:cxnLst/>
              <a:rect l="l" t="t" r="r" b="b"/>
              <a:pathLst>
                <a:path w="9265920" h="926592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926592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저장된 .html 파일 더블클릭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브라우저에서 결과 확인·수정 요청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418320" y="2962656"/>
            <a:ext cx="8321040" cy="6035040"/>
            <a:chOff x="0" y="0"/>
            <a:chExt cx="11094720" cy="80467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1094720" cy="8046720"/>
            </a:xfrm>
            <a:custGeom>
              <a:avLst/>
              <a:gdLst/>
              <a:ahLst/>
              <a:cxnLst/>
              <a:rect l="l" t="t" r="r" b="b"/>
              <a:pathLst>
                <a:path w="11094720" h="80467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850880" y="0"/>
                  </a:lnTo>
                  <a:cubicBezTo>
                    <a:pt x="10985500" y="0"/>
                    <a:pt x="11094720" y="109220"/>
                    <a:pt x="11094720" y="243840"/>
                  </a:cubicBezTo>
                  <a:lnTo>
                    <a:pt x="11094720" y="7802880"/>
                  </a:lnTo>
                  <a:cubicBezTo>
                    <a:pt x="11094720" y="7937500"/>
                    <a:pt x="10985500" y="8046720"/>
                    <a:pt x="10850880" y="8046720"/>
                  </a:cubicBezTo>
                  <a:lnTo>
                    <a:pt x="243840" y="8046720"/>
                  </a:lnTo>
                  <a:cubicBezTo>
                    <a:pt x="109220" y="8046720"/>
                    <a:pt x="0" y="7937500"/>
                    <a:pt x="0" y="7802880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9405623" y="2949959"/>
            <a:ext cx="8346443" cy="866651"/>
            <a:chOff x="0" y="0"/>
            <a:chExt cx="11128591" cy="115553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1128629" cy="1155573"/>
            </a:xfrm>
            <a:custGeom>
              <a:avLst/>
              <a:gdLst/>
              <a:ahLst/>
              <a:cxnLst/>
              <a:rect l="l" t="t" r="r" b="b"/>
              <a:pathLst>
                <a:path w="11128629" h="1155573">
                  <a:moveTo>
                    <a:pt x="0" y="251206"/>
                  </a:moveTo>
                  <a:cubicBezTo>
                    <a:pt x="0" y="112522"/>
                    <a:pt x="112522" y="0"/>
                    <a:pt x="251206" y="0"/>
                  </a:cubicBezTo>
                  <a:lnTo>
                    <a:pt x="10877423" y="0"/>
                  </a:lnTo>
                  <a:cubicBezTo>
                    <a:pt x="11016107" y="0"/>
                    <a:pt x="11128629" y="112522"/>
                    <a:pt x="11128629" y="251206"/>
                  </a:cubicBezTo>
                  <a:lnTo>
                    <a:pt x="11128629" y="904367"/>
                  </a:lnTo>
                  <a:cubicBezTo>
                    <a:pt x="11128629" y="1043051"/>
                    <a:pt x="11016107" y="1155573"/>
                    <a:pt x="10877423" y="1155573"/>
                  </a:cubicBezTo>
                  <a:lnTo>
                    <a:pt x="251206" y="1155573"/>
                  </a:lnTo>
                  <a:cubicBezTo>
                    <a:pt x="112522" y="1155573"/>
                    <a:pt x="0" y="1043051"/>
                    <a:pt x="0" y="904367"/>
                  </a:cubicBezTo>
                  <a:close/>
                </a:path>
              </a:pathLst>
            </a:custGeom>
            <a:solidFill>
              <a:srgbClr val="C85A0E"/>
            </a:solidFill>
            <a:ln w="25400" cap="sq">
              <a:solidFill>
                <a:srgbClr val="C85A0E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9509760" y="2962656"/>
            <a:ext cx="8138160" cy="841248"/>
            <a:chOff x="0" y="0"/>
            <a:chExt cx="10850880" cy="112166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0850880" cy="1121664"/>
            </a:xfrm>
            <a:custGeom>
              <a:avLst/>
              <a:gdLst/>
              <a:ahLst/>
              <a:cxnLst/>
              <a:rect l="l" t="t" r="r" b="b"/>
              <a:pathLst>
                <a:path w="10850880" h="1121664">
                  <a:moveTo>
                    <a:pt x="0" y="0"/>
                  </a:moveTo>
                  <a:lnTo>
                    <a:pt x="10850880" y="0"/>
                  </a:lnTo>
                  <a:lnTo>
                    <a:pt x="10850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496" b="-138496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10850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📋  실습 프롬프트 템플릿 (복사 사용)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588503" y="3974087"/>
            <a:ext cx="7980683" cy="2951483"/>
            <a:chOff x="0" y="0"/>
            <a:chExt cx="10640911" cy="3935311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0640822" cy="3935222"/>
            </a:xfrm>
            <a:custGeom>
              <a:avLst/>
              <a:gdLst/>
              <a:ahLst/>
              <a:cxnLst/>
              <a:rect l="l" t="t" r="r" b="b"/>
              <a:pathLst>
                <a:path w="10640822" h="3935222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10444099" y="0"/>
                  </a:lnTo>
                  <a:cubicBezTo>
                    <a:pt x="10552811" y="0"/>
                    <a:pt x="10640822" y="88138"/>
                    <a:pt x="10640822" y="196723"/>
                  </a:cubicBezTo>
                  <a:lnTo>
                    <a:pt x="10640822" y="3738499"/>
                  </a:lnTo>
                  <a:cubicBezTo>
                    <a:pt x="10640822" y="3847211"/>
                    <a:pt x="10552684" y="3935222"/>
                    <a:pt x="10444099" y="3935222"/>
                  </a:cubicBezTo>
                  <a:lnTo>
                    <a:pt x="196723" y="3935222"/>
                  </a:lnTo>
                  <a:cubicBezTo>
                    <a:pt x="88138" y="3935349"/>
                    <a:pt x="0" y="3847211"/>
                    <a:pt x="0" y="3738499"/>
                  </a:cubicBezTo>
                  <a:close/>
                </a:path>
              </a:pathLst>
            </a:custGeom>
            <a:solidFill>
              <a:srgbClr val="1E293B"/>
            </a:solidFill>
            <a:ln w="25400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id="75" name="TextBox 75"/>
          <p:cNvSpPr txBox="1"/>
          <p:nvPr/>
        </p:nvSpPr>
        <p:spPr>
          <a:xfrm>
            <a:off x="9780013" y="4101208"/>
            <a:ext cx="7615933" cy="26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병원 CS 민원 접수 폼을 만들어줘.</a:t>
            </a:r>
          </a:p>
          <a:p>
            <a:pPr algn="l">
              <a:lnSpc>
                <a:spcPts val="2280"/>
              </a:lnSpc>
            </a:pPr>
            <a:endParaRPr lang="en-US" sz="1900">
              <a:solidFill>
                <a:srgbClr val="A5F3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포함할 항목: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민원 유형 선택 (대기/수납/태도/시설/기타)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내용 입력 (텍스트 박스)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제출 버튼</a:t>
            </a:r>
          </a:p>
          <a:p>
            <a:pPr algn="l">
              <a:lnSpc>
                <a:spcPts val="2280"/>
              </a:lnSpc>
            </a:pPr>
            <a:endParaRPr lang="en-US" sz="19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디자인: 흰 배경, 파란 버튼, 깔끔하게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HTML 파일로 바로 쓸 수 있게 만들어줘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9601200" y="7059168"/>
            <a:ext cx="7955280" cy="475488"/>
            <a:chOff x="0" y="0"/>
            <a:chExt cx="10607040" cy="63398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607040" cy="633984"/>
            </a:xfrm>
            <a:custGeom>
              <a:avLst/>
              <a:gdLst/>
              <a:ahLst/>
              <a:cxnLst/>
              <a:rect l="l" t="t" r="r" b="b"/>
              <a:pathLst>
                <a:path w="10607040" h="633984">
                  <a:moveTo>
                    <a:pt x="0" y="0"/>
                  </a:moveTo>
                  <a:lnTo>
                    <a:pt x="10607040" y="0"/>
                  </a:lnTo>
                  <a:lnTo>
                    <a:pt x="10607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5999" b="-275999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47625"/>
              <a:ext cx="10607040" cy="6816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 결과물 개선 추가 프롬프트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601200" y="7571232"/>
            <a:ext cx="7955280" cy="402336"/>
            <a:chOff x="0" y="0"/>
            <a:chExt cx="10607040" cy="53644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0607040" cy="536448"/>
            </a:xfrm>
            <a:custGeom>
              <a:avLst/>
              <a:gdLst/>
              <a:ahLst/>
              <a:cxnLst/>
              <a:rect l="l" t="t" r="r" b="b"/>
              <a:pathLst>
                <a:path w="10607040" h="536448">
                  <a:moveTo>
                    <a:pt x="0" y="0"/>
                  </a:moveTo>
                  <a:lnTo>
                    <a:pt x="10607040" y="0"/>
                  </a:lnTo>
                  <a:lnTo>
                    <a:pt x="10607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5272" b="-335272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106070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7B2D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"색상을 병원 분위기에 맞게 바꿔줘"</a:t>
              </a: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→ 색상 변경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601200" y="8010144"/>
            <a:ext cx="7955280" cy="402336"/>
            <a:chOff x="0" y="0"/>
            <a:chExt cx="10607040" cy="536448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0607040" cy="536448"/>
            </a:xfrm>
            <a:custGeom>
              <a:avLst/>
              <a:gdLst/>
              <a:ahLst/>
              <a:cxnLst/>
              <a:rect l="l" t="t" r="r" b="b"/>
              <a:pathLst>
                <a:path w="10607040" h="536448">
                  <a:moveTo>
                    <a:pt x="0" y="0"/>
                  </a:moveTo>
                  <a:lnTo>
                    <a:pt x="10607040" y="0"/>
                  </a:lnTo>
                  <a:lnTo>
                    <a:pt x="10607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5272" b="-335272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106070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7B2D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"접수 날짜·시간 항목도 추가해줘"</a:t>
              </a: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→ 항목 추가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9601200" y="8449056"/>
            <a:ext cx="7955280" cy="402336"/>
            <a:chOff x="0" y="0"/>
            <a:chExt cx="10607040" cy="536448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0607040" cy="536448"/>
            </a:xfrm>
            <a:custGeom>
              <a:avLst/>
              <a:gdLst/>
              <a:ahLst/>
              <a:cxnLst/>
              <a:rect l="l" t="t" r="r" b="b"/>
              <a:pathLst>
                <a:path w="10607040" h="536448">
                  <a:moveTo>
                    <a:pt x="0" y="0"/>
                  </a:moveTo>
                  <a:lnTo>
                    <a:pt x="10607040" y="0"/>
                  </a:lnTo>
                  <a:lnTo>
                    <a:pt x="10607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5272" b="-335272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38100"/>
              <a:ext cx="106070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7B2D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"제출 후 감사 메시지가 뜨게 해줘"</a:t>
              </a: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→ 기능 추가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-12697" y="9826247"/>
            <a:ext cx="18313403" cy="482603"/>
            <a:chOff x="0" y="0"/>
            <a:chExt cx="24417871" cy="643471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24417910" cy="643509"/>
            </a:xfrm>
            <a:custGeom>
              <a:avLst/>
              <a:gdLst/>
              <a:ahLst/>
              <a:cxnLst/>
              <a:rect l="l" t="t" r="r" b="b"/>
              <a:pathLst>
                <a:path w="24417910" h="643509">
                  <a:moveTo>
                    <a:pt x="0" y="0"/>
                  </a:moveTo>
                  <a:lnTo>
                    <a:pt x="24417910" y="0"/>
                  </a:lnTo>
                  <a:lnTo>
                    <a:pt x="24417910" y="643509"/>
                  </a:lnTo>
                  <a:lnTo>
                    <a:pt x="0" y="643509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274320" y="9838944"/>
            <a:ext cx="10058400" cy="457200"/>
            <a:chOff x="0" y="0"/>
            <a:chExt cx="13411200" cy="6096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3411200" cy="609600"/>
            </a:xfrm>
            <a:custGeom>
              <a:avLst/>
              <a:gdLst/>
              <a:ahLst/>
              <a:cxnLst/>
              <a:rect l="l" t="t" r="r" b="b"/>
              <a:pathLst>
                <a:path w="13411200" h="6096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8670" b="-378670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1341120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4차시-04 | 바이브코딩(Vibe Coding) 구현 실습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7955280" y="9838944"/>
            <a:ext cx="10058400" cy="457200"/>
            <a:chOff x="0" y="0"/>
            <a:chExt cx="13411200" cy="60960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3411200" cy="609600"/>
            </a:xfrm>
            <a:custGeom>
              <a:avLst/>
              <a:gdLst/>
              <a:ahLst/>
              <a:cxnLst/>
              <a:rect l="l" t="t" r="r" b="b"/>
              <a:pathLst>
                <a:path w="13411200" h="6096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8670" b="-378670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1341120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800" dirty="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| </a:t>
              </a:r>
              <a:r>
                <a:rPr lang="en-US" sz="1800" dirty="0" err="1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부산여자대학교</a:t>
              </a:r>
              <a:r>
                <a:rPr lang="en-US" sz="1800" dirty="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1800" dirty="0" err="1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DX교육운영센터</a:t>
              </a:r>
              <a:endParaRPr lang="en-US" sz="1800" dirty="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4차시 종합 실습 – 나만의 CS 챗봇 완성하기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920240"/>
            <a:ext cx="17007840" cy="768096"/>
            <a:chOff x="0" y="0"/>
            <a:chExt cx="22677120" cy="1024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77120" cy="1024128"/>
            </a:xfrm>
            <a:custGeom>
              <a:avLst/>
              <a:gdLst/>
              <a:ahLst/>
              <a:cxnLst/>
              <a:rect l="l" t="t" r="r" b="b"/>
              <a:pathLst>
                <a:path w="22677120" h="1024128">
                  <a:moveTo>
                    <a:pt x="0" y="0"/>
                  </a:moveTo>
                  <a:lnTo>
                    <a:pt x="22677120" y="0"/>
                  </a:lnTo>
                  <a:lnTo>
                    <a:pt x="22677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22960" y="1920240"/>
            <a:ext cx="16642080" cy="768096"/>
            <a:chOff x="0" y="0"/>
            <a:chExt cx="22189440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189439" cy="1024128"/>
            </a:xfrm>
            <a:custGeom>
              <a:avLst/>
              <a:gdLst/>
              <a:ahLst/>
              <a:cxnLst/>
              <a:rect l="l" t="t" r="r" b="b"/>
              <a:pathLst>
                <a:path w="22189439" h="1024128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75" b="-37217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22189440" cy="1014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🎯 오늘의 최종 목표: 우리 기관 맞춤형 FAQ 챗봇 1개를 직접 완성하여 팀원과 공유합니다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0" y="2889504"/>
            <a:ext cx="2651760" cy="1243584"/>
            <a:chOff x="0" y="0"/>
            <a:chExt cx="3535680" cy="16581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35680" cy="1658112"/>
            </a:xfrm>
            <a:custGeom>
              <a:avLst/>
              <a:gdLst/>
              <a:ahLst/>
              <a:cxnLst/>
              <a:rect l="l" t="t" r="r" b="b"/>
              <a:pathLst>
                <a:path w="3535680" h="1658112">
                  <a:moveTo>
                    <a:pt x="0" y="0"/>
                  </a:moveTo>
                  <a:lnTo>
                    <a:pt x="3535680" y="0"/>
                  </a:lnTo>
                  <a:lnTo>
                    <a:pt x="353568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40080" y="2889504"/>
            <a:ext cx="2651760" cy="1243584"/>
            <a:chOff x="0" y="0"/>
            <a:chExt cx="3535680" cy="16581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535680" cy="1658112"/>
            </a:xfrm>
            <a:custGeom>
              <a:avLst/>
              <a:gdLst/>
              <a:ahLst/>
              <a:cxnLst/>
              <a:rect l="l" t="t" r="r" b="b"/>
              <a:pathLst>
                <a:path w="3535680" h="1658112">
                  <a:moveTo>
                    <a:pt x="0" y="0"/>
                  </a:moveTo>
                  <a:lnTo>
                    <a:pt x="3535680" y="0"/>
                  </a:lnTo>
                  <a:lnTo>
                    <a:pt x="3535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69" r="-10169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3535680" cy="16581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0~15분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74720" y="2889504"/>
            <a:ext cx="10058400" cy="1243584"/>
            <a:chOff x="0" y="0"/>
            <a:chExt cx="13411200" cy="16581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11200" cy="1658112"/>
            </a:xfrm>
            <a:custGeom>
              <a:avLst/>
              <a:gdLst/>
              <a:ahLst/>
              <a:cxnLst/>
              <a:rect l="l" t="t" r="r" b="b"/>
              <a:pathLst>
                <a:path w="13411200" h="1658112">
                  <a:moveTo>
                    <a:pt x="0" y="0"/>
                  </a:moveTo>
                  <a:lnTo>
                    <a:pt x="13411200" y="0"/>
                  </a:lnTo>
                  <a:lnTo>
                    <a:pt x="1341120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3657600" y="2889504"/>
            <a:ext cx="9692640" cy="1243584"/>
            <a:chOff x="0" y="0"/>
            <a:chExt cx="12923520" cy="16581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923520" cy="1658112"/>
            </a:xfrm>
            <a:custGeom>
              <a:avLst/>
              <a:gdLst/>
              <a:ahLst/>
              <a:cxnLst/>
              <a:rect l="l" t="t" r="r" b="b"/>
              <a:pathLst>
                <a:path w="12923520" h="1658112">
                  <a:moveTo>
                    <a:pt x="0" y="0"/>
                  </a:moveTo>
                  <a:lnTo>
                    <a:pt x="12923520" y="0"/>
                  </a:lnTo>
                  <a:lnTo>
                    <a:pt x="129235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68" b="-101868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1292352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0A7B83"/>
                  </a:solidFill>
                  <a:latin typeface="Mandali"/>
                  <a:ea typeface="Mandali"/>
                  <a:cs typeface="Mandali"/>
                  <a:sym typeface="Mandali"/>
                </a:rPr>
                <a:t>Q&amp;A 데이터 10개 작성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716000" y="2889504"/>
            <a:ext cx="3931920" cy="1243584"/>
            <a:chOff x="0" y="0"/>
            <a:chExt cx="5242560" cy="165811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242560" cy="1658112"/>
            </a:xfrm>
            <a:custGeom>
              <a:avLst/>
              <a:gdLst/>
              <a:ahLst/>
              <a:cxnLst/>
              <a:rect l="l" t="t" r="r" b="b"/>
              <a:pathLst>
                <a:path w="5242560" h="1658112">
                  <a:moveTo>
                    <a:pt x="0" y="0"/>
                  </a:moveTo>
                  <a:lnTo>
                    <a:pt x="5242560" y="0"/>
                  </a:lnTo>
                  <a:lnTo>
                    <a:pt x="524256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3898880" y="2889504"/>
            <a:ext cx="3566160" cy="1243584"/>
            <a:chOff x="0" y="0"/>
            <a:chExt cx="4754880" cy="16581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754880" cy="1658112"/>
            </a:xfrm>
            <a:custGeom>
              <a:avLst/>
              <a:gdLst/>
              <a:ahLst/>
              <a:cxnLst/>
              <a:rect l="l" t="t" r="r" b="b"/>
              <a:pathLst>
                <a:path w="4754880" h="1658112">
                  <a:moveTo>
                    <a:pt x="0" y="0"/>
                  </a:moveTo>
                  <a:lnTo>
                    <a:pt x="4754880" y="0"/>
                  </a:lnTo>
                  <a:lnTo>
                    <a:pt x="47548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76" b="-587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754880" cy="1667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i="1" spc="8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ChatGPT 보조 활용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0080" y="4389120"/>
            <a:ext cx="2651760" cy="1243584"/>
            <a:chOff x="0" y="0"/>
            <a:chExt cx="3535680" cy="165811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535680" cy="1658112"/>
            </a:xfrm>
            <a:custGeom>
              <a:avLst/>
              <a:gdLst/>
              <a:ahLst/>
              <a:cxnLst/>
              <a:rect l="l" t="t" r="r" b="b"/>
              <a:pathLst>
                <a:path w="3535680" h="1658112">
                  <a:moveTo>
                    <a:pt x="0" y="0"/>
                  </a:moveTo>
                  <a:lnTo>
                    <a:pt x="3535680" y="0"/>
                  </a:lnTo>
                  <a:lnTo>
                    <a:pt x="353568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40080" y="4389120"/>
            <a:ext cx="2651760" cy="1243584"/>
            <a:chOff x="0" y="0"/>
            <a:chExt cx="3535680" cy="165811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535680" cy="1658112"/>
            </a:xfrm>
            <a:custGeom>
              <a:avLst/>
              <a:gdLst/>
              <a:ahLst/>
              <a:cxnLst/>
              <a:rect l="l" t="t" r="r" b="b"/>
              <a:pathLst>
                <a:path w="3535680" h="1658112">
                  <a:moveTo>
                    <a:pt x="0" y="0"/>
                  </a:moveTo>
                  <a:lnTo>
                    <a:pt x="3535680" y="0"/>
                  </a:lnTo>
                  <a:lnTo>
                    <a:pt x="3535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69" r="-10169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3535680" cy="16581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15~40분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474720" y="4389120"/>
            <a:ext cx="10058400" cy="1243584"/>
            <a:chOff x="0" y="0"/>
            <a:chExt cx="13411200" cy="165811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411200" cy="1658112"/>
            </a:xfrm>
            <a:custGeom>
              <a:avLst/>
              <a:gdLst/>
              <a:ahLst/>
              <a:cxnLst/>
              <a:rect l="l" t="t" r="r" b="b"/>
              <a:pathLst>
                <a:path w="13411200" h="1658112">
                  <a:moveTo>
                    <a:pt x="0" y="0"/>
                  </a:moveTo>
                  <a:lnTo>
                    <a:pt x="13411200" y="0"/>
                  </a:lnTo>
                  <a:lnTo>
                    <a:pt x="1341120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3657600" y="4389120"/>
            <a:ext cx="9692640" cy="1243584"/>
            <a:chOff x="0" y="0"/>
            <a:chExt cx="12923520" cy="165811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923520" cy="1658112"/>
            </a:xfrm>
            <a:custGeom>
              <a:avLst/>
              <a:gdLst/>
              <a:ahLst/>
              <a:cxnLst/>
              <a:rect l="l" t="t" r="r" b="b"/>
              <a:pathLst>
                <a:path w="12923520" h="1658112">
                  <a:moveTo>
                    <a:pt x="0" y="0"/>
                  </a:moveTo>
                  <a:lnTo>
                    <a:pt x="12923520" y="0"/>
                  </a:lnTo>
                  <a:lnTo>
                    <a:pt x="129235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68" b="-101868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9525"/>
              <a:ext cx="1292352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GPTs 챗봇 기본 설정 + 지시사항 작성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716000" y="4389120"/>
            <a:ext cx="3931920" cy="1243584"/>
            <a:chOff x="0" y="0"/>
            <a:chExt cx="5242560" cy="165811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242560" cy="1658112"/>
            </a:xfrm>
            <a:custGeom>
              <a:avLst/>
              <a:gdLst/>
              <a:ahLst/>
              <a:cxnLst/>
              <a:rect l="l" t="t" r="r" b="b"/>
              <a:pathLst>
                <a:path w="5242560" h="1658112">
                  <a:moveTo>
                    <a:pt x="0" y="0"/>
                  </a:moveTo>
                  <a:lnTo>
                    <a:pt x="5242560" y="0"/>
                  </a:lnTo>
                  <a:lnTo>
                    <a:pt x="524256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3898880" y="4389120"/>
            <a:ext cx="3566160" cy="1243584"/>
            <a:chOff x="0" y="0"/>
            <a:chExt cx="4754880" cy="16581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754880" cy="1658112"/>
            </a:xfrm>
            <a:custGeom>
              <a:avLst/>
              <a:gdLst/>
              <a:ahLst/>
              <a:cxnLst/>
              <a:rect l="l" t="t" r="r" b="b"/>
              <a:pathLst>
                <a:path w="4754880" h="1658112">
                  <a:moveTo>
                    <a:pt x="0" y="0"/>
                  </a:moveTo>
                  <a:lnTo>
                    <a:pt x="4754880" y="0"/>
                  </a:lnTo>
                  <a:lnTo>
                    <a:pt x="47548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76" b="-5876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4754880" cy="1667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i="1" spc="8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ChatGPT GPTs 빌더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0080" y="5888736"/>
            <a:ext cx="2651760" cy="1243584"/>
            <a:chOff x="0" y="0"/>
            <a:chExt cx="3535680" cy="165811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535680" cy="1658112"/>
            </a:xfrm>
            <a:custGeom>
              <a:avLst/>
              <a:gdLst/>
              <a:ahLst/>
              <a:cxnLst/>
              <a:rect l="l" t="t" r="r" b="b"/>
              <a:pathLst>
                <a:path w="3535680" h="1658112">
                  <a:moveTo>
                    <a:pt x="0" y="0"/>
                  </a:moveTo>
                  <a:lnTo>
                    <a:pt x="3535680" y="0"/>
                  </a:lnTo>
                  <a:lnTo>
                    <a:pt x="353568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640080" y="5888736"/>
            <a:ext cx="2651760" cy="1243584"/>
            <a:chOff x="0" y="0"/>
            <a:chExt cx="3535680" cy="165811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535680" cy="1658112"/>
            </a:xfrm>
            <a:custGeom>
              <a:avLst/>
              <a:gdLst/>
              <a:ahLst/>
              <a:cxnLst/>
              <a:rect l="l" t="t" r="r" b="b"/>
              <a:pathLst>
                <a:path w="3535680" h="1658112">
                  <a:moveTo>
                    <a:pt x="0" y="0"/>
                  </a:moveTo>
                  <a:lnTo>
                    <a:pt x="3535680" y="0"/>
                  </a:lnTo>
                  <a:lnTo>
                    <a:pt x="3535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69" r="-10169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3535680" cy="16581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40~58분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474720" y="5888736"/>
            <a:ext cx="10058400" cy="1243584"/>
            <a:chOff x="0" y="0"/>
            <a:chExt cx="13411200" cy="165811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3411200" cy="1658112"/>
            </a:xfrm>
            <a:custGeom>
              <a:avLst/>
              <a:gdLst/>
              <a:ahLst/>
              <a:cxnLst/>
              <a:rect l="l" t="t" r="r" b="b"/>
              <a:pathLst>
                <a:path w="13411200" h="1658112">
                  <a:moveTo>
                    <a:pt x="0" y="0"/>
                  </a:moveTo>
                  <a:lnTo>
                    <a:pt x="13411200" y="0"/>
                  </a:lnTo>
                  <a:lnTo>
                    <a:pt x="1341120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3657600" y="5888736"/>
            <a:ext cx="9692640" cy="1243584"/>
            <a:chOff x="0" y="0"/>
            <a:chExt cx="12923520" cy="165811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2923520" cy="1658112"/>
            </a:xfrm>
            <a:custGeom>
              <a:avLst/>
              <a:gdLst/>
              <a:ahLst/>
              <a:cxnLst/>
              <a:rect l="l" t="t" r="r" b="b"/>
              <a:pathLst>
                <a:path w="12923520" h="1658112">
                  <a:moveTo>
                    <a:pt x="0" y="0"/>
                  </a:moveTo>
                  <a:lnTo>
                    <a:pt x="12923520" y="0"/>
                  </a:lnTo>
                  <a:lnTo>
                    <a:pt x="129235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68" b="-101868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9525"/>
              <a:ext cx="1292352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FAQ 파일 업로드 + 테스트 및 오류 수정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716000" y="5888736"/>
            <a:ext cx="3931920" cy="1243584"/>
            <a:chOff x="0" y="0"/>
            <a:chExt cx="5242560" cy="165811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242560" cy="1658112"/>
            </a:xfrm>
            <a:custGeom>
              <a:avLst/>
              <a:gdLst/>
              <a:ahLst/>
              <a:cxnLst/>
              <a:rect l="l" t="t" r="r" b="b"/>
              <a:pathLst>
                <a:path w="5242560" h="1658112">
                  <a:moveTo>
                    <a:pt x="0" y="0"/>
                  </a:moveTo>
                  <a:lnTo>
                    <a:pt x="5242560" y="0"/>
                  </a:lnTo>
                  <a:lnTo>
                    <a:pt x="524256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3898880" y="5888736"/>
            <a:ext cx="3566160" cy="1243584"/>
            <a:chOff x="0" y="0"/>
            <a:chExt cx="4754880" cy="165811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754880" cy="1658112"/>
            </a:xfrm>
            <a:custGeom>
              <a:avLst/>
              <a:gdLst/>
              <a:ahLst/>
              <a:cxnLst/>
              <a:rect l="l" t="t" r="r" b="b"/>
              <a:pathLst>
                <a:path w="4754880" h="1658112">
                  <a:moveTo>
                    <a:pt x="0" y="0"/>
                  </a:moveTo>
                  <a:lnTo>
                    <a:pt x="4754880" y="0"/>
                  </a:lnTo>
                  <a:lnTo>
                    <a:pt x="47548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76" b="-5876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4754880" cy="1667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i="1" spc="8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GPTs + 팀원 교차 테스트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40080" y="7388352"/>
            <a:ext cx="2651760" cy="1243584"/>
            <a:chOff x="0" y="0"/>
            <a:chExt cx="3535680" cy="165811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535680" cy="1658112"/>
            </a:xfrm>
            <a:custGeom>
              <a:avLst/>
              <a:gdLst/>
              <a:ahLst/>
              <a:cxnLst/>
              <a:rect l="l" t="t" r="r" b="b"/>
              <a:pathLst>
                <a:path w="3535680" h="1658112">
                  <a:moveTo>
                    <a:pt x="0" y="0"/>
                  </a:moveTo>
                  <a:lnTo>
                    <a:pt x="3535680" y="0"/>
                  </a:lnTo>
                  <a:lnTo>
                    <a:pt x="353568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640080" y="7388352"/>
            <a:ext cx="2651760" cy="1243584"/>
            <a:chOff x="0" y="0"/>
            <a:chExt cx="3535680" cy="165811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535680" cy="1658112"/>
            </a:xfrm>
            <a:custGeom>
              <a:avLst/>
              <a:gdLst/>
              <a:ahLst/>
              <a:cxnLst/>
              <a:rect l="l" t="t" r="r" b="b"/>
              <a:pathLst>
                <a:path w="3535680" h="1658112">
                  <a:moveTo>
                    <a:pt x="0" y="0"/>
                  </a:moveTo>
                  <a:lnTo>
                    <a:pt x="3535680" y="0"/>
                  </a:lnTo>
                  <a:lnTo>
                    <a:pt x="3535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69" r="-10169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3535680" cy="16581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58~70분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474720" y="7388352"/>
            <a:ext cx="10058400" cy="1243584"/>
            <a:chOff x="0" y="0"/>
            <a:chExt cx="13411200" cy="165811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3411200" cy="1658112"/>
            </a:xfrm>
            <a:custGeom>
              <a:avLst/>
              <a:gdLst/>
              <a:ahLst/>
              <a:cxnLst/>
              <a:rect l="l" t="t" r="r" b="b"/>
              <a:pathLst>
                <a:path w="13411200" h="1658112">
                  <a:moveTo>
                    <a:pt x="0" y="0"/>
                  </a:moveTo>
                  <a:lnTo>
                    <a:pt x="13411200" y="0"/>
                  </a:lnTo>
                  <a:lnTo>
                    <a:pt x="1341120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3657600" y="7388352"/>
            <a:ext cx="9692640" cy="1243584"/>
            <a:chOff x="0" y="0"/>
            <a:chExt cx="12923520" cy="165811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2923520" cy="1658112"/>
            </a:xfrm>
            <a:custGeom>
              <a:avLst/>
              <a:gdLst/>
              <a:ahLst/>
              <a:cxnLst/>
              <a:rect l="l" t="t" r="r" b="b"/>
              <a:pathLst>
                <a:path w="12923520" h="1658112">
                  <a:moveTo>
                    <a:pt x="0" y="0"/>
                  </a:moveTo>
                  <a:lnTo>
                    <a:pt x="12923520" y="0"/>
                  </a:lnTo>
                  <a:lnTo>
                    <a:pt x="129235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68" b="-101868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9525"/>
              <a:ext cx="1292352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D05A00"/>
                  </a:solidFill>
                  <a:latin typeface="Mandali"/>
                  <a:ea typeface="Mandali"/>
                  <a:cs typeface="Mandali"/>
                  <a:sym typeface="Mandali"/>
                </a:rPr>
                <a:t>챗봇 링크 공유 + 팀 발표 (팀당 3분)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3716000" y="7388352"/>
            <a:ext cx="3931920" cy="1243584"/>
            <a:chOff x="0" y="0"/>
            <a:chExt cx="5242560" cy="165811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242560" cy="1658112"/>
            </a:xfrm>
            <a:custGeom>
              <a:avLst/>
              <a:gdLst/>
              <a:ahLst/>
              <a:cxnLst/>
              <a:rect l="l" t="t" r="r" b="b"/>
              <a:pathLst>
                <a:path w="5242560" h="1658112">
                  <a:moveTo>
                    <a:pt x="0" y="0"/>
                  </a:moveTo>
                  <a:lnTo>
                    <a:pt x="5242560" y="0"/>
                  </a:lnTo>
                  <a:lnTo>
                    <a:pt x="524256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13898880" y="7388352"/>
            <a:ext cx="3566160" cy="1243584"/>
            <a:chOff x="0" y="0"/>
            <a:chExt cx="4754880" cy="165811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754880" cy="1658112"/>
            </a:xfrm>
            <a:custGeom>
              <a:avLst/>
              <a:gdLst/>
              <a:ahLst/>
              <a:cxnLst/>
              <a:rect l="l" t="t" r="r" b="b"/>
              <a:pathLst>
                <a:path w="4754880" h="1658112">
                  <a:moveTo>
                    <a:pt x="0" y="0"/>
                  </a:moveTo>
                  <a:lnTo>
                    <a:pt x="4754880" y="0"/>
                  </a:lnTo>
                  <a:lnTo>
                    <a:pt x="47548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76" b="-5876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4754880" cy="1667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i="1" spc="8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스마트폰 테스트 가능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40079" y="8646087"/>
            <a:ext cx="17007840" cy="640080"/>
            <a:chOff x="0" y="0"/>
            <a:chExt cx="22677120" cy="8534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677120" cy="853440"/>
            </a:xfrm>
            <a:custGeom>
              <a:avLst/>
              <a:gdLst/>
              <a:ahLst/>
              <a:cxnLst/>
              <a:rect l="l" t="t" r="r" b="b"/>
              <a:pathLst>
                <a:path w="22677120" h="853440">
                  <a:moveTo>
                    <a:pt x="0" y="0"/>
                  </a:moveTo>
                  <a:lnTo>
                    <a:pt x="22677120" y="0"/>
                  </a:lnTo>
                  <a:lnTo>
                    <a:pt x="226771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D2340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822959" y="8646087"/>
            <a:ext cx="16642080" cy="640080"/>
            <a:chOff x="0" y="0"/>
            <a:chExt cx="22189440" cy="8534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2189439" cy="853440"/>
            </a:xfrm>
            <a:custGeom>
              <a:avLst/>
              <a:gdLst/>
              <a:ahLst/>
              <a:cxnLst/>
              <a:rect l="l" t="t" r="r" b="b"/>
              <a:pathLst>
                <a:path w="22189439" h="853440">
                  <a:moveTo>
                    <a:pt x="0" y="0"/>
                  </a:moveTo>
                  <a:lnTo>
                    <a:pt x="22189439" y="0"/>
                  </a:lnTo>
                  <a:lnTo>
                    <a:pt x="221894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6610" b="-456610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22189440" cy="853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📋 제출물: 완성된 GPTs 챗봇 링크 + Q&amp;A 10개 파일 → 카카오톡 단체방에 공유</a:t>
              </a:r>
            </a:p>
          </p:txBody>
        </p:sp>
      </p:grpSp>
      <p:grpSp>
        <p:nvGrpSpPr>
          <p:cNvPr id="79" name="Group 88"/>
          <p:cNvGrpSpPr/>
          <p:nvPr/>
        </p:nvGrpSpPr>
        <p:grpSpPr>
          <a:xfrm>
            <a:off x="-12697" y="9826247"/>
            <a:ext cx="18313403" cy="482603"/>
            <a:chOff x="0" y="0"/>
            <a:chExt cx="24417871" cy="643471"/>
          </a:xfrm>
        </p:grpSpPr>
        <p:sp>
          <p:nvSpPr>
            <p:cNvPr id="80" name="Freeform 89"/>
            <p:cNvSpPr/>
            <p:nvPr/>
          </p:nvSpPr>
          <p:spPr>
            <a:xfrm>
              <a:off x="0" y="0"/>
              <a:ext cx="24417910" cy="643509"/>
            </a:xfrm>
            <a:custGeom>
              <a:avLst/>
              <a:gdLst/>
              <a:ahLst/>
              <a:cxnLst/>
              <a:rect l="l" t="t" r="r" b="b"/>
              <a:pathLst>
                <a:path w="24417910" h="643509">
                  <a:moveTo>
                    <a:pt x="0" y="0"/>
                  </a:moveTo>
                  <a:lnTo>
                    <a:pt x="24417910" y="0"/>
                  </a:lnTo>
                  <a:lnTo>
                    <a:pt x="24417910" y="643509"/>
                  </a:lnTo>
                  <a:lnTo>
                    <a:pt x="0" y="643509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id="81" name="Group 90"/>
          <p:cNvGrpSpPr/>
          <p:nvPr/>
        </p:nvGrpSpPr>
        <p:grpSpPr>
          <a:xfrm>
            <a:off x="274320" y="9838944"/>
            <a:ext cx="10058400" cy="457200"/>
            <a:chOff x="0" y="0"/>
            <a:chExt cx="13411200" cy="609600"/>
          </a:xfrm>
        </p:grpSpPr>
        <p:sp>
          <p:nvSpPr>
            <p:cNvPr id="82" name="Freeform 91"/>
            <p:cNvSpPr/>
            <p:nvPr/>
          </p:nvSpPr>
          <p:spPr>
            <a:xfrm>
              <a:off x="0" y="0"/>
              <a:ext cx="13411200" cy="609600"/>
            </a:xfrm>
            <a:custGeom>
              <a:avLst/>
              <a:gdLst/>
              <a:ahLst/>
              <a:cxnLst/>
              <a:rect l="l" t="t" r="r" b="b"/>
              <a:pathLst>
                <a:path w="13411200" h="6096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8670" b="-378670"/>
              </a:stretch>
            </a:blipFill>
          </p:spPr>
        </p:sp>
        <p:sp>
          <p:nvSpPr>
            <p:cNvPr id="83" name="TextBox 92"/>
            <p:cNvSpPr txBox="1"/>
            <p:nvPr/>
          </p:nvSpPr>
          <p:spPr>
            <a:xfrm>
              <a:off x="0" y="-38100"/>
              <a:ext cx="1341120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4차시-04 | 바이브코딩(Vibe Coding) 구현 실습</a:t>
              </a:r>
            </a:p>
          </p:txBody>
        </p:sp>
      </p:grpSp>
      <p:grpSp>
        <p:nvGrpSpPr>
          <p:cNvPr id="84" name="Group 93"/>
          <p:cNvGrpSpPr/>
          <p:nvPr/>
        </p:nvGrpSpPr>
        <p:grpSpPr>
          <a:xfrm>
            <a:off x="7955280" y="9838944"/>
            <a:ext cx="10058400" cy="457200"/>
            <a:chOff x="0" y="0"/>
            <a:chExt cx="13411200" cy="609600"/>
          </a:xfrm>
        </p:grpSpPr>
        <p:sp>
          <p:nvSpPr>
            <p:cNvPr id="85" name="Freeform 94"/>
            <p:cNvSpPr/>
            <p:nvPr/>
          </p:nvSpPr>
          <p:spPr>
            <a:xfrm>
              <a:off x="0" y="0"/>
              <a:ext cx="13411200" cy="609600"/>
            </a:xfrm>
            <a:custGeom>
              <a:avLst/>
              <a:gdLst/>
              <a:ahLst/>
              <a:cxnLst/>
              <a:rect l="l" t="t" r="r" b="b"/>
              <a:pathLst>
                <a:path w="13411200" h="6096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8670" b="-378670"/>
              </a:stretch>
            </a:blipFill>
          </p:spPr>
        </p:sp>
        <p:sp>
          <p:nvSpPr>
            <p:cNvPr id="86" name="TextBox 95"/>
            <p:cNvSpPr txBox="1"/>
            <p:nvPr/>
          </p:nvSpPr>
          <p:spPr>
            <a:xfrm>
              <a:off x="0" y="-38100"/>
              <a:ext cx="1341120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800" dirty="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| </a:t>
              </a:r>
              <a:r>
                <a:rPr lang="en-US" sz="1800" dirty="0" err="1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부산여자대학교</a:t>
              </a:r>
              <a:r>
                <a:rPr lang="en-US" sz="1800" dirty="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1800" dirty="0" err="1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DX교육운영센터</a:t>
              </a:r>
              <a:endParaRPr lang="en-US" sz="1800" dirty="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303020"/>
            <a:chOff x="0" y="0"/>
            <a:chExt cx="2438339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737360"/>
            </a:xfrm>
            <a:custGeom>
              <a:avLst/>
              <a:gdLst/>
              <a:ahLst/>
              <a:cxnLst/>
              <a:rect l="l" t="t" r="r" b="b"/>
              <a:pathLst>
                <a:path w="24383364" h="1737360">
                  <a:moveTo>
                    <a:pt x="0" y="0"/>
                  </a:moveTo>
                  <a:lnTo>
                    <a:pt x="24383364" y="0"/>
                  </a:lnTo>
                  <a:lnTo>
                    <a:pt x="2438336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380" y="96012"/>
            <a:ext cx="15773400" cy="1097280"/>
            <a:chOff x="0" y="0"/>
            <a:chExt cx="2103120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1463040"/>
            </a:xfrm>
            <a:custGeom>
              <a:avLst/>
              <a:gdLst/>
              <a:ahLst/>
              <a:cxnLst/>
              <a:rect l="l" t="t" r="r" b="b"/>
              <a:pathLst>
                <a:path w="21031200" h="146304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0097" b="-23009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103120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[자가 평가] 완성된 CS 챗봇 자가 평가 기준표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303020"/>
            <a:ext cx="18287543" cy="82296"/>
            <a:chOff x="0" y="0"/>
            <a:chExt cx="24383390" cy="1097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3364" cy="109728"/>
            </a:xfrm>
            <a:custGeom>
              <a:avLst/>
              <a:gdLst/>
              <a:ahLst/>
              <a:cxnLst/>
              <a:rect l="l" t="t" r="r" b="b"/>
              <a:pathLst>
                <a:path w="24383364" h="109728">
                  <a:moveTo>
                    <a:pt x="0" y="0"/>
                  </a:moveTo>
                  <a:lnTo>
                    <a:pt x="24383364" y="0"/>
                  </a:lnTo>
                  <a:lnTo>
                    <a:pt x="24383364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54380" y="1645920"/>
            <a:ext cx="11727180" cy="630936"/>
            <a:chOff x="0" y="0"/>
            <a:chExt cx="15636240" cy="8412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636239" cy="841248"/>
            </a:xfrm>
            <a:custGeom>
              <a:avLst/>
              <a:gdLst/>
              <a:ahLst/>
              <a:cxnLst/>
              <a:rect l="l" t="t" r="r" b="b"/>
              <a:pathLst>
                <a:path w="15636239" h="841248">
                  <a:moveTo>
                    <a:pt x="0" y="0"/>
                  </a:moveTo>
                  <a:lnTo>
                    <a:pt x="15636239" y="0"/>
                  </a:lnTo>
                  <a:lnTo>
                    <a:pt x="15636239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54380" y="1645920"/>
            <a:ext cx="11727180" cy="630936"/>
            <a:chOff x="0" y="0"/>
            <a:chExt cx="15636240" cy="8412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636239" cy="841248"/>
            </a:xfrm>
            <a:custGeom>
              <a:avLst/>
              <a:gdLst/>
              <a:ahLst/>
              <a:cxnLst/>
              <a:rect l="l" t="t" r="r" b="b"/>
              <a:pathLst>
                <a:path w="15636239" h="841248">
                  <a:moveTo>
                    <a:pt x="0" y="0"/>
                  </a:moveTo>
                  <a:lnTo>
                    <a:pt x="15636239" y="0"/>
                  </a:lnTo>
                  <a:lnTo>
                    <a:pt x="156362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2167" b="-31216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5636240" cy="850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평가 항목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618720" y="1645920"/>
            <a:ext cx="2057400" cy="630936"/>
            <a:chOff x="0" y="0"/>
            <a:chExt cx="2743200" cy="8412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43200" cy="841248"/>
            </a:xfrm>
            <a:custGeom>
              <a:avLst/>
              <a:gdLst/>
              <a:ahLst/>
              <a:cxnLst/>
              <a:rect l="l" t="t" r="r" b="b"/>
              <a:pathLst>
                <a:path w="2743200" h="841248">
                  <a:moveTo>
                    <a:pt x="0" y="0"/>
                  </a:moveTo>
                  <a:lnTo>
                    <a:pt x="2743200" y="0"/>
                  </a:lnTo>
                  <a:lnTo>
                    <a:pt x="274320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2618720" y="1645920"/>
            <a:ext cx="2057400" cy="630936"/>
            <a:chOff x="0" y="0"/>
            <a:chExt cx="2743200" cy="84124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43200" cy="841248"/>
            </a:xfrm>
            <a:custGeom>
              <a:avLst/>
              <a:gdLst/>
              <a:ahLst/>
              <a:cxnLst/>
              <a:rect l="l" t="t" r="r" b="b"/>
              <a:pathLst>
                <a:path w="2743200" h="841248">
                  <a:moveTo>
                    <a:pt x="0" y="0"/>
                  </a:moveTo>
                  <a:lnTo>
                    <a:pt x="2743200" y="0"/>
                  </a:lnTo>
                  <a:lnTo>
                    <a:pt x="27432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538" b="-1353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2743200" cy="850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배점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813280" y="1645920"/>
            <a:ext cx="2743200" cy="630936"/>
            <a:chOff x="0" y="0"/>
            <a:chExt cx="3657600" cy="8412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657600" cy="841248"/>
            </a:xfrm>
            <a:custGeom>
              <a:avLst/>
              <a:gdLst/>
              <a:ahLst/>
              <a:cxnLst/>
              <a:rect l="l" t="t" r="r" b="b"/>
              <a:pathLst>
                <a:path w="3657600" h="841248">
                  <a:moveTo>
                    <a:pt x="0" y="0"/>
                  </a:moveTo>
                  <a:lnTo>
                    <a:pt x="3657600" y="0"/>
                  </a:lnTo>
                  <a:lnTo>
                    <a:pt x="365760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4813280" y="1645920"/>
            <a:ext cx="2743200" cy="630936"/>
            <a:chOff x="0" y="0"/>
            <a:chExt cx="3657600" cy="8412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57600" cy="841248"/>
            </a:xfrm>
            <a:custGeom>
              <a:avLst/>
              <a:gdLst/>
              <a:ahLst/>
              <a:cxnLst/>
              <a:rect l="l" t="t" r="r" b="b"/>
              <a:pathLst>
                <a:path w="3657600" h="841248">
                  <a:moveTo>
                    <a:pt x="0" y="0"/>
                  </a:moveTo>
                  <a:lnTo>
                    <a:pt x="3657600" y="0"/>
                  </a:lnTo>
                  <a:lnTo>
                    <a:pt x="3657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717" b="-3471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3657600" cy="850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자가 점수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4380" y="2414016"/>
            <a:ext cx="11727180" cy="740664"/>
            <a:chOff x="0" y="0"/>
            <a:chExt cx="15636240" cy="9875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636239" cy="987552"/>
            </a:xfrm>
            <a:custGeom>
              <a:avLst/>
              <a:gdLst/>
              <a:ahLst/>
              <a:cxnLst/>
              <a:rect l="l" t="t" r="r" b="b"/>
              <a:pathLst>
                <a:path w="15636239" h="987552">
                  <a:moveTo>
                    <a:pt x="0" y="0"/>
                  </a:moveTo>
                  <a:lnTo>
                    <a:pt x="15636239" y="0"/>
                  </a:lnTo>
                  <a:lnTo>
                    <a:pt x="15636239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097280" y="2414016"/>
            <a:ext cx="11178540" cy="740664"/>
            <a:chOff x="0" y="0"/>
            <a:chExt cx="14904720" cy="98755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904720" cy="987552"/>
            </a:xfrm>
            <a:custGeom>
              <a:avLst/>
              <a:gdLst/>
              <a:ahLst/>
              <a:cxnLst/>
              <a:rect l="l" t="t" r="r" b="b"/>
              <a:pathLst>
                <a:path w="14904720" h="987552">
                  <a:moveTo>
                    <a:pt x="0" y="0"/>
                  </a:moveTo>
                  <a:lnTo>
                    <a:pt x="14904720" y="0"/>
                  </a:lnTo>
                  <a:lnTo>
                    <a:pt x="1490472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4079" b="-24407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14904720" cy="10066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F7E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  </a:t>
              </a:r>
              <a:r>
                <a:rPr lang="en-US" sz="1950">
                  <a:solidFill>
                    <a:srgbClr val="2B3A4A"/>
                  </a:solidFill>
                  <a:latin typeface="Arial"/>
                  <a:ea typeface="Arial"/>
                  <a:cs typeface="Arial"/>
                  <a:sym typeface="Arial"/>
                </a:rPr>
                <a:t>챗봇 이름과 역할이 명확하게 설정되어 있다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618720" y="2414016"/>
            <a:ext cx="2057400" cy="740664"/>
            <a:chOff x="0" y="0"/>
            <a:chExt cx="2743200" cy="9875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743200" cy="987552"/>
            </a:xfrm>
            <a:custGeom>
              <a:avLst/>
              <a:gdLst/>
              <a:ahLst/>
              <a:cxnLst/>
              <a:rect l="l" t="t" r="r" b="b"/>
              <a:pathLst>
                <a:path w="2743200" h="987552">
                  <a:moveTo>
                    <a:pt x="0" y="0"/>
                  </a:moveTo>
                  <a:lnTo>
                    <a:pt x="2743200" y="0"/>
                  </a:lnTo>
                  <a:lnTo>
                    <a:pt x="2743200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E7EDF5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2618720" y="2414016"/>
            <a:ext cx="2057400" cy="740664"/>
            <a:chOff x="0" y="0"/>
            <a:chExt cx="2743200" cy="98755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743200" cy="987552"/>
            </a:xfrm>
            <a:custGeom>
              <a:avLst/>
              <a:gdLst/>
              <a:ahLst/>
              <a:cxnLst/>
              <a:rect l="l" t="t" r="r" b="b"/>
              <a:pathLst>
                <a:path w="2743200" h="987552">
                  <a:moveTo>
                    <a:pt x="0" y="0"/>
                  </a:moveTo>
                  <a:lnTo>
                    <a:pt x="2743200" y="0"/>
                  </a:lnTo>
                  <a:lnTo>
                    <a:pt x="27432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2743200" cy="9970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10점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806136" y="2406872"/>
            <a:ext cx="2757488" cy="754952"/>
            <a:chOff x="0" y="0"/>
            <a:chExt cx="3676650" cy="100660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676650" cy="1006602"/>
            </a:xfrm>
            <a:custGeom>
              <a:avLst/>
              <a:gdLst/>
              <a:ahLst/>
              <a:cxnLst/>
              <a:rect l="l" t="t" r="r" b="b"/>
              <a:pathLst>
                <a:path w="3676650" h="1006602">
                  <a:moveTo>
                    <a:pt x="0" y="0"/>
                  </a:moveTo>
                  <a:lnTo>
                    <a:pt x="3676650" y="0"/>
                  </a:lnTo>
                  <a:lnTo>
                    <a:pt x="3676650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9D4E0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4813280" y="2414016"/>
            <a:ext cx="2743200" cy="740664"/>
            <a:chOff x="0" y="0"/>
            <a:chExt cx="3657600" cy="98755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57600" cy="987552"/>
            </a:xfrm>
            <a:custGeom>
              <a:avLst/>
              <a:gdLst/>
              <a:ahLst/>
              <a:cxnLst/>
              <a:rect l="l" t="t" r="r" b="b"/>
              <a:pathLst>
                <a:path w="3657600" h="987552">
                  <a:moveTo>
                    <a:pt x="0" y="0"/>
                  </a:moveTo>
                  <a:lnTo>
                    <a:pt x="3657600" y="0"/>
                  </a:lnTo>
                  <a:lnTo>
                    <a:pt x="36576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166" b="-22166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3657600" cy="10066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9AA8B6"/>
                  </a:solidFill>
                  <a:latin typeface="Arial"/>
                  <a:ea typeface="Arial"/>
                  <a:cs typeface="Arial"/>
                  <a:sym typeface="Arial"/>
                </a:rPr>
                <a:t>____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54380" y="3257550"/>
            <a:ext cx="11727180" cy="740664"/>
            <a:chOff x="0" y="0"/>
            <a:chExt cx="15636240" cy="98755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5636239" cy="987552"/>
            </a:xfrm>
            <a:custGeom>
              <a:avLst/>
              <a:gdLst/>
              <a:ahLst/>
              <a:cxnLst/>
              <a:rect l="l" t="t" r="r" b="b"/>
              <a:pathLst>
                <a:path w="15636239" h="987552">
                  <a:moveTo>
                    <a:pt x="0" y="0"/>
                  </a:moveTo>
                  <a:lnTo>
                    <a:pt x="15636239" y="0"/>
                  </a:lnTo>
                  <a:lnTo>
                    <a:pt x="15636239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097280" y="3257550"/>
            <a:ext cx="11178540" cy="740664"/>
            <a:chOff x="0" y="0"/>
            <a:chExt cx="14904720" cy="98755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4904720" cy="987552"/>
            </a:xfrm>
            <a:custGeom>
              <a:avLst/>
              <a:gdLst/>
              <a:ahLst/>
              <a:cxnLst/>
              <a:rect l="l" t="t" r="r" b="b"/>
              <a:pathLst>
                <a:path w="14904720" h="987552">
                  <a:moveTo>
                    <a:pt x="0" y="0"/>
                  </a:moveTo>
                  <a:lnTo>
                    <a:pt x="14904720" y="0"/>
                  </a:lnTo>
                  <a:lnTo>
                    <a:pt x="1490472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4079" b="-244079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14904720" cy="10066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F7E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  </a:t>
              </a:r>
              <a:r>
                <a:rPr lang="en-US" sz="1950">
                  <a:solidFill>
                    <a:srgbClr val="2B3A4A"/>
                  </a:solidFill>
                  <a:latin typeface="Arial"/>
                  <a:ea typeface="Arial"/>
                  <a:cs typeface="Arial"/>
                  <a:sym typeface="Arial"/>
                </a:rPr>
                <a:t>지시사항(Instructions)에 역할·어체·금지사항이 포함되어 있다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618720" y="3257550"/>
            <a:ext cx="2057400" cy="740664"/>
            <a:chOff x="0" y="0"/>
            <a:chExt cx="2743200" cy="98755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743200" cy="987552"/>
            </a:xfrm>
            <a:custGeom>
              <a:avLst/>
              <a:gdLst/>
              <a:ahLst/>
              <a:cxnLst/>
              <a:rect l="l" t="t" r="r" b="b"/>
              <a:pathLst>
                <a:path w="2743200" h="987552">
                  <a:moveTo>
                    <a:pt x="0" y="0"/>
                  </a:moveTo>
                  <a:lnTo>
                    <a:pt x="2743200" y="0"/>
                  </a:lnTo>
                  <a:lnTo>
                    <a:pt x="2743200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E7EDF5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2618720" y="3257550"/>
            <a:ext cx="2057400" cy="740664"/>
            <a:chOff x="0" y="0"/>
            <a:chExt cx="2743200" cy="98755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743200" cy="987552"/>
            </a:xfrm>
            <a:custGeom>
              <a:avLst/>
              <a:gdLst/>
              <a:ahLst/>
              <a:cxnLst/>
              <a:rect l="l" t="t" r="r" b="b"/>
              <a:pathLst>
                <a:path w="2743200" h="987552">
                  <a:moveTo>
                    <a:pt x="0" y="0"/>
                  </a:moveTo>
                  <a:lnTo>
                    <a:pt x="2743200" y="0"/>
                  </a:lnTo>
                  <a:lnTo>
                    <a:pt x="27432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2743200" cy="9970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20점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806136" y="3250406"/>
            <a:ext cx="2757488" cy="754952"/>
            <a:chOff x="0" y="0"/>
            <a:chExt cx="3676650" cy="100660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676650" cy="1006602"/>
            </a:xfrm>
            <a:custGeom>
              <a:avLst/>
              <a:gdLst/>
              <a:ahLst/>
              <a:cxnLst/>
              <a:rect l="l" t="t" r="r" b="b"/>
              <a:pathLst>
                <a:path w="3676650" h="1006602">
                  <a:moveTo>
                    <a:pt x="0" y="0"/>
                  </a:moveTo>
                  <a:lnTo>
                    <a:pt x="3676650" y="0"/>
                  </a:lnTo>
                  <a:lnTo>
                    <a:pt x="3676650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9D4E0"/>
              </a:solidFill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14813280" y="3257550"/>
            <a:ext cx="2743200" cy="740664"/>
            <a:chOff x="0" y="0"/>
            <a:chExt cx="3657600" cy="98755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657600" cy="987552"/>
            </a:xfrm>
            <a:custGeom>
              <a:avLst/>
              <a:gdLst/>
              <a:ahLst/>
              <a:cxnLst/>
              <a:rect l="l" t="t" r="r" b="b"/>
              <a:pathLst>
                <a:path w="3657600" h="987552">
                  <a:moveTo>
                    <a:pt x="0" y="0"/>
                  </a:moveTo>
                  <a:lnTo>
                    <a:pt x="3657600" y="0"/>
                  </a:lnTo>
                  <a:lnTo>
                    <a:pt x="36576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166" b="-22166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3657600" cy="10066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9AA8B6"/>
                  </a:solidFill>
                  <a:latin typeface="Arial"/>
                  <a:ea typeface="Arial"/>
                  <a:cs typeface="Arial"/>
                  <a:sym typeface="Arial"/>
                </a:rPr>
                <a:t>____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54380" y="4101084"/>
            <a:ext cx="11727180" cy="740664"/>
            <a:chOff x="0" y="0"/>
            <a:chExt cx="15636240" cy="98755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5636239" cy="987552"/>
            </a:xfrm>
            <a:custGeom>
              <a:avLst/>
              <a:gdLst/>
              <a:ahLst/>
              <a:cxnLst/>
              <a:rect l="l" t="t" r="r" b="b"/>
              <a:pathLst>
                <a:path w="15636239" h="987552">
                  <a:moveTo>
                    <a:pt x="0" y="0"/>
                  </a:moveTo>
                  <a:lnTo>
                    <a:pt x="15636239" y="0"/>
                  </a:lnTo>
                  <a:lnTo>
                    <a:pt x="15636239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097280" y="4101084"/>
            <a:ext cx="11178540" cy="740664"/>
            <a:chOff x="0" y="0"/>
            <a:chExt cx="14904720" cy="98755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4904720" cy="987552"/>
            </a:xfrm>
            <a:custGeom>
              <a:avLst/>
              <a:gdLst/>
              <a:ahLst/>
              <a:cxnLst/>
              <a:rect l="l" t="t" r="r" b="b"/>
              <a:pathLst>
                <a:path w="14904720" h="987552">
                  <a:moveTo>
                    <a:pt x="0" y="0"/>
                  </a:moveTo>
                  <a:lnTo>
                    <a:pt x="14904720" y="0"/>
                  </a:lnTo>
                  <a:lnTo>
                    <a:pt x="1490472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4079" b="-244079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14904720" cy="10066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F7E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 </a:t>
              </a:r>
              <a:r>
                <a:rPr lang="en-US" sz="1950">
                  <a:solidFill>
                    <a:srgbClr val="2B3A4A"/>
                  </a:solidFill>
                  <a:latin typeface="Arial"/>
                  <a:ea typeface="Arial"/>
                  <a:cs typeface="Arial"/>
                  <a:sym typeface="Arial"/>
                </a:rPr>
                <a:t>Q&amp;A 지식 파일 10개 이상이 업로드되어 있다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618720" y="4101084"/>
            <a:ext cx="2057400" cy="740664"/>
            <a:chOff x="0" y="0"/>
            <a:chExt cx="2743200" cy="98755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743200" cy="987552"/>
            </a:xfrm>
            <a:custGeom>
              <a:avLst/>
              <a:gdLst/>
              <a:ahLst/>
              <a:cxnLst/>
              <a:rect l="l" t="t" r="r" b="b"/>
              <a:pathLst>
                <a:path w="2743200" h="987552">
                  <a:moveTo>
                    <a:pt x="0" y="0"/>
                  </a:moveTo>
                  <a:lnTo>
                    <a:pt x="2743200" y="0"/>
                  </a:lnTo>
                  <a:lnTo>
                    <a:pt x="2743200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E7EDF5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2618720" y="4101084"/>
            <a:ext cx="2057400" cy="740664"/>
            <a:chOff x="0" y="0"/>
            <a:chExt cx="2743200" cy="98755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743200" cy="987552"/>
            </a:xfrm>
            <a:custGeom>
              <a:avLst/>
              <a:gdLst/>
              <a:ahLst/>
              <a:cxnLst/>
              <a:rect l="l" t="t" r="r" b="b"/>
              <a:pathLst>
                <a:path w="2743200" h="987552">
                  <a:moveTo>
                    <a:pt x="0" y="0"/>
                  </a:moveTo>
                  <a:lnTo>
                    <a:pt x="2743200" y="0"/>
                  </a:lnTo>
                  <a:lnTo>
                    <a:pt x="27432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2743200" cy="9970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20점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806136" y="4093940"/>
            <a:ext cx="2757488" cy="754952"/>
            <a:chOff x="0" y="0"/>
            <a:chExt cx="3676650" cy="100660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676650" cy="1006602"/>
            </a:xfrm>
            <a:custGeom>
              <a:avLst/>
              <a:gdLst/>
              <a:ahLst/>
              <a:cxnLst/>
              <a:rect l="l" t="t" r="r" b="b"/>
              <a:pathLst>
                <a:path w="3676650" h="1006602">
                  <a:moveTo>
                    <a:pt x="0" y="0"/>
                  </a:moveTo>
                  <a:lnTo>
                    <a:pt x="3676650" y="0"/>
                  </a:lnTo>
                  <a:lnTo>
                    <a:pt x="3676650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9D4E0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14813280" y="4101084"/>
            <a:ext cx="2743200" cy="740664"/>
            <a:chOff x="0" y="0"/>
            <a:chExt cx="3657600" cy="98755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657600" cy="987552"/>
            </a:xfrm>
            <a:custGeom>
              <a:avLst/>
              <a:gdLst/>
              <a:ahLst/>
              <a:cxnLst/>
              <a:rect l="l" t="t" r="r" b="b"/>
              <a:pathLst>
                <a:path w="3657600" h="987552">
                  <a:moveTo>
                    <a:pt x="0" y="0"/>
                  </a:moveTo>
                  <a:lnTo>
                    <a:pt x="3657600" y="0"/>
                  </a:lnTo>
                  <a:lnTo>
                    <a:pt x="36576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166" b="-22166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3657600" cy="10066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9AA8B6"/>
                  </a:solidFill>
                  <a:latin typeface="Arial"/>
                  <a:ea typeface="Arial"/>
                  <a:cs typeface="Arial"/>
                  <a:sym typeface="Arial"/>
                </a:rPr>
                <a:t>____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54380" y="4944618"/>
            <a:ext cx="11727180" cy="740664"/>
            <a:chOff x="0" y="0"/>
            <a:chExt cx="15636240" cy="98755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5636239" cy="987552"/>
            </a:xfrm>
            <a:custGeom>
              <a:avLst/>
              <a:gdLst/>
              <a:ahLst/>
              <a:cxnLst/>
              <a:rect l="l" t="t" r="r" b="b"/>
              <a:pathLst>
                <a:path w="15636239" h="987552">
                  <a:moveTo>
                    <a:pt x="0" y="0"/>
                  </a:moveTo>
                  <a:lnTo>
                    <a:pt x="15636239" y="0"/>
                  </a:lnTo>
                  <a:lnTo>
                    <a:pt x="15636239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1097280" y="4944618"/>
            <a:ext cx="11178540" cy="740664"/>
            <a:chOff x="0" y="0"/>
            <a:chExt cx="14904720" cy="98755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4904720" cy="987552"/>
            </a:xfrm>
            <a:custGeom>
              <a:avLst/>
              <a:gdLst/>
              <a:ahLst/>
              <a:cxnLst/>
              <a:rect l="l" t="t" r="r" b="b"/>
              <a:pathLst>
                <a:path w="14904720" h="987552">
                  <a:moveTo>
                    <a:pt x="0" y="0"/>
                  </a:moveTo>
                  <a:lnTo>
                    <a:pt x="14904720" y="0"/>
                  </a:lnTo>
                  <a:lnTo>
                    <a:pt x="1490472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4079" b="-244079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19050"/>
              <a:ext cx="14904720" cy="10066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F7E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  </a:t>
              </a:r>
              <a:r>
                <a:rPr lang="en-US" sz="1950">
                  <a:solidFill>
                    <a:srgbClr val="2B3A4A"/>
                  </a:solidFill>
                  <a:latin typeface="Arial"/>
                  <a:ea typeface="Arial"/>
                  <a:cs typeface="Arial"/>
                  <a:sym typeface="Arial"/>
                </a:rPr>
                <a:t>주요 민원 유형 3가지 이상에 대해 정확하게 답변한다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618720" y="4944618"/>
            <a:ext cx="2057400" cy="740664"/>
            <a:chOff x="0" y="0"/>
            <a:chExt cx="2743200" cy="98755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743200" cy="987552"/>
            </a:xfrm>
            <a:custGeom>
              <a:avLst/>
              <a:gdLst/>
              <a:ahLst/>
              <a:cxnLst/>
              <a:rect l="l" t="t" r="r" b="b"/>
              <a:pathLst>
                <a:path w="2743200" h="987552">
                  <a:moveTo>
                    <a:pt x="0" y="0"/>
                  </a:moveTo>
                  <a:lnTo>
                    <a:pt x="2743200" y="0"/>
                  </a:lnTo>
                  <a:lnTo>
                    <a:pt x="2743200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E7EDF5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12618720" y="4944618"/>
            <a:ext cx="2057400" cy="740664"/>
            <a:chOff x="0" y="0"/>
            <a:chExt cx="2743200" cy="98755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743200" cy="987552"/>
            </a:xfrm>
            <a:custGeom>
              <a:avLst/>
              <a:gdLst/>
              <a:ahLst/>
              <a:cxnLst/>
              <a:rect l="l" t="t" r="r" b="b"/>
              <a:pathLst>
                <a:path w="2743200" h="987552">
                  <a:moveTo>
                    <a:pt x="0" y="0"/>
                  </a:moveTo>
                  <a:lnTo>
                    <a:pt x="2743200" y="0"/>
                  </a:lnTo>
                  <a:lnTo>
                    <a:pt x="27432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2743200" cy="9970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20점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4806136" y="4937474"/>
            <a:ext cx="2757488" cy="754952"/>
            <a:chOff x="0" y="0"/>
            <a:chExt cx="3676650" cy="100660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3676650" cy="1006602"/>
            </a:xfrm>
            <a:custGeom>
              <a:avLst/>
              <a:gdLst/>
              <a:ahLst/>
              <a:cxnLst/>
              <a:rect l="l" t="t" r="r" b="b"/>
              <a:pathLst>
                <a:path w="3676650" h="1006602">
                  <a:moveTo>
                    <a:pt x="0" y="0"/>
                  </a:moveTo>
                  <a:lnTo>
                    <a:pt x="3676650" y="0"/>
                  </a:lnTo>
                  <a:lnTo>
                    <a:pt x="3676650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9D4E0"/>
              </a:solidFill>
              <a:prstDash val="solid"/>
              <a:miter/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14813280" y="4944618"/>
            <a:ext cx="2743200" cy="740664"/>
            <a:chOff x="0" y="0"/>
            <a:chExt cx="3657600" cy="987552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657600" cy="987552"/>
            </a:xfrm>
            <a:custGeom>
              <a:avLst/>
              <a:gdLst/>
              <a:ahLst/>
              <a:cxnLst/>
              <a:rect l="l" t="t" r="r" b="b"/>
              <a:pathLst>
                <a:path w="3657600" h="987552">
                  <a:moveTo>
                    <a:pt x="0" y="0"/>
                  </a:moveTo>
                  <a:lnTo>
                    <a:pt x="3657600" y="0"/>
                  </a:lnTo>
                  <a:lnTo>
                    <a:pt x="36576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166" b="-22166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19050"/>
              <a:ext cx="3657600" cy="10066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9AA8B6"/>
                  </a:solidFill>
                  <a:latin typeface="Arial"/>
                  <a:ea typeface="Arial"/>
                  <a:cs typeface="Arial"/>
                  <a:sym typeface="Arial"/>
                </a:rPr>
                <a:t>____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54380" y="5788152"/>
            <a:ext cx="11727180" cy="740664"/>
            <a:chOff x="0" y="0"/>
            <a:chExt cx="15636240" cy="98755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5636239" cy="987552"/>
            </a:xfrm>
            <a:custGeom>
              <a:avLst/>
              <a:gdLst/>
              <a:ahLst/>
              <a:cxnLst/>
              <a:rect l="l" t="t" r="r" b="b"/>
              <a:pathLst>
                <a:path w="15636239" h="987552">
                  <a:moveTo>
                    <a:pt x="0" y="0"/>
                  </a:moveTo>
                  <a:lnTo>
                    <a:pt x="15636239" y="0"/>
                  </a:lnTo>
                  <a:lnTo>
                    <a:pt x="15636239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1097280" y="5788152"/>
            <a:ext cx="11178540" cy="740664"/>
            <a:chOff x="0" y="0"/>
            <a:chExt cx="14904720" cy="98755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4904720" cy="987552"/>
            </a:xfrm>
            <a:custGeom>
              <a:avLst/>
              <a:gdLst/>
              <a:ahLst/>
              <a:cxnLst/>
              <a:rect l="l" t="t" r="r" b="b"/>
              <a:pathLst>
                <a:path w="14904720" h="987552">
                  <a:moveTo>
                    <a:pt x="0" y="0"/>
                  </a:moveTo>
                  <a:lnTo>
                    <a:pt x="14904720" y="0"/>
                  </a:lnTo>
                  <a:lnTo>
                    <a:pt x="1490472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4079" b="-244079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14904720" cy="10066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F7E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  </a:t>
              </a:r>
              <a:r>
                <a:rPr lang="en-US" sz="1950">
                  <a:solidFill>
                    <a:srgbClr val="2B3A4A"/>
                  </a:solidFill>
                  <a:latin typeface="Arial"/>
                  <a:ea typeface="Arial"/>
                  <a:cs typeface="Arial"/>
                  <a:sym typeface="Arial"/>
                </a:rPr>
                <a:t>개인정보·민감한 내용에 적절히 거부 응답이 설정되어 있다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618720" y="5788152"/>
            <a:ext cx="2057400" cy="740664"/>
            <a:chOff x="0" y="0"/>
            <a:chExt cx="2743200" cy="98755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743200" cy="987552"/>
            </a:xfrm>
            <a:custGeom>
              <a:avLst/>
              <a:gdLst/>
              <a:ahLst/>
              <a:cxnLst/>
              <a:rect l="l" t="t" r="r" b="b"/>
              <a:pathLst>
                <a:path w="2743200" h="987552">
                  <a:moveTo>
                    <a:pt x="0" y="0"/>
                  </a:moveTo>
                  <a:lnTo>
                    <a:pt x="2743200" y="0"/>
                  </a:lnTo>
                  <a:lnTo>
                    <a:pt x="2743200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E7EDF5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12618720" y="5788152"/>
            <a:ext cx="2057400" cy="740664"/>
            <a:chOff x="0" y="0"/>
            <a:chExt cx="2743200" cy="987552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2743200" cy="987552"/>
            </a:xfrm>
            <a:custGeom>
              <a:avLst/>
              <a:gdLst/>
              <a:ahLst/>
              <a:cxnLst/>
              <a:rect l="l" t="t" r="r" b="b"/>
              <a:pathLst>
                <a:path w="2743200" h="987552">
                  <a:moveTo>
                    <a:pt x="0" y="0"/>
                  </a:moveTo>
                  <a:lnTo>
                    <a:pt x="2743200" y="0"/>
                  </a:lnTo>
                  <a:lnTo>
                    <a:pt x="27432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9525"/>
              <a:ext cx="2743200" cy="9970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15점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4806136" y="5781008"/>
            <a:ext cx="2757488" cy="754952"/>
            <a:chOff x="0" y="0"/>
            <a:chExt cx="3676650" cy="1006602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3676650" cy="1006602"/>
            </a:xfrm>
            <a:custGeom>
              <a:avLst/>
              <a:gdLst/>
              <a:ahLst/>
              <a:cxnLst/>
              <a:rect l="l" t="t" r="r" b="b"/>
              <a:pathLst>
                <a:path w="3676650" h="1006602">
                  <a:moveTo>
                    <a:pt x="0" y="0"/>
                  </a:moveTo>
                  <a:lnTo>
                    <a:pt x="3676650" y="0"/>
                  </a:lnTo>
                  <a:lnTo>
                    <a:pt x="3676650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9D4E0"/>
              </a:solidFill>
              <a:prstDash val="solid"/>
              <a:miter/>
            </a:ln>
          </p:spPr>
        </p:sp>
      </p:grpSp>
      <p:grpSp>
        <p:nvGrpSpPr>
          <p:cNvPr id="96" name="Group 96"/>
          <p:cNvGrpSpPr/>
          <p:nvPr/>
        </p:nvGrpSpPr>
        <p:grpSpPr>
          <a:xfrm>
            <a:off x="14813280" y="5788152"/>
            <a:ext cx="2743200" cy="740664"/>
            <a:chOff x="0" y="0"/>
            <a:chExt cx="3657600" cy="987552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3657600" cy="987552"/>
            </a:xfrm>
            <a:custGeom>
              <a:avLst/>
              <a:gdLst/>
              <a:ahLst/>
              <a:cxnLst/>
              <a:rect l="l" t="t" r="r" b="b"/>
              <a:pathLst>
                <a:path w="3657600" h="987552">
                  <a:moveTo>
                    <a:pt x="0" y="0"/>
                  </a:moveTo>
                  <a:lnTo>
                    <a:pt x="3657600" y="0"/>
                  </a:lnTo>
                  <a:lnTo>
                    <a:pt x="36576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166" b="-22166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19050"/>
              <a:ext cx="3657600" cy="10066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9AA8B6"/>
                  </a:solidFill>
                  <a:latin typeface="Arial"/>
                  <a:ea typeface="Arial"/>
                  <a:cs typeface="Arial"/>
                  <a:sym typeface="Arial"/>
                </a:rPr>
                <a:t>____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54380" y="6631686"/>
            <a:ext cx="11727180" cy="740664"/>
            <a:chOff x="0" y="0"/>
            <a:chExt cx="15636240" cy="987552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5636239" cy="987552"/>
            </a:xfrm>
            <a:custGeom>
              <a:avLst/>
              <a:gdLst/>
              <a:ahLst/>
              <a:cxnLst/>
              <a:rect l="l" t="t" r="r" b="b"/>
              <a:pathLst>
                <a:path w="15636239" h="987552">
                  <a:moveTo>
                    <a:pt x="0" y="0"/>
                  </a:moveTo>
                  <a:lnTo>
                    <a:pt x="15636239" y="0"/>
                  </a:lnTo>
                  <a:lnTo>
                    <a:pt x="15636239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1097280" y="6631686"/>
            <a:ext cx="11178540" cy="740664"/>
            <a:chOff x="0" y="0"/>
            <a:chExt cx="14904720" cy="987552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4904720" cy="987552"/>
            </a:xfrm>
            <a:custGeom>
              <a:avLst/>
              <a:gdLst/>
              <a:ahLst/>
              <a:cxnLst/>
              <a:rect l="l" t="t" r="r" b="b"/>
              <a:pathLst>
                <a:path w="14904720" h="987552">
                  <a:moveTo>
                    <a:pt x="0" y="0"/>
                  </a:moveTo>
                  <a:lnTo>
                    <a:pt x="14904720" y="0"/>
                  </a:lnTo>
                  <a:lnTo>
                    <a:pt x="1490472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4079" b="-244079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19050"/>
              <a:ext cx="14904720" cy="10066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F7E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6.  </a:t>
              </a:r>
              <a:r>
                <a:rPr lang="en-US" sz="1950">
                  <a:solidFill>
                    <a:srgbClr val="2B3A4A"/>
                  </a:solidFill>
                  <a:latin typeface="Arial"/>
                  <a:ea typeface="Arial"/>
                  <a:cs typeface="Arial"/>
                  <a:sym typeface="Arial"/>
                </a:rPr>
                <a:t>대화 스타터(버튼) 3개 이상이 설정되어 있다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2618720" y="6631686"/>
            <a:ext cx="2057400" cy="740664"/>
            <a:chOff x="0" y="0"/>
            <a:chExt cx="2743200" cy="987552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743200" cy="987552"/>
            </a:xfrm>
            <a:custGeom>
              <a:avLst/>
              <a:gdLst/>
              <a:ahLst/>
              <a:cxnLst/>
              <a:rect l="l" t="t" r="r" b="b"/>
              <a:pathLst>
                <a:path w="2743200" h="987552">
                  <a:moveTo>
                    <a:pt x="0" y="0"/>
                  </a:moveTo>
                  <a:lnTo>
                    <a:pt x="2743200" y="0"/>
                  </a:lnTo>
                  <a:lnTo>
                    <a:pt x="2743200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E7EDF5"/>
            </a:solidFill>
          </p:spPr>
        </p:sp>
      </p:grpSp>
      <p:grpSp>
        <p:nvGrpSpPr>
          <p:cNvPr id="106" name="Group 106"/>
          <p:cNvGrpSpPr/>
          <p:nvPr/>
        </p:nvGrpSpPr>
        <p:grpSpPr>
          <a:xfrm>
            <a:off x="12618720" y="6631686"/>
            <a:ext cx="2057400" cy="740664"/>
            <a:chOff x="0" y="0"/>
            <a:chExt cx="2743200" cy="987552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2743200" cy="987552"/>
            </a:xfrm>
            <a:custGeom>
              <a:avLst/>
              <a:gdLst/>
              <a:ahLst/>
              <a:cxnLst/>
              <a:rect l="l" t="t" r="r" b="b"/>
              <a:pathLst>
                <a:path w="2743200" h="987552">
                  <a:moveTo>
                    <a:pt x="0" y="0"/>
                  </a:moveTo>
                  <a:lnTo>
                    <a:pt x="2743200" y="0"/>
                  </a:lnTo>
                  <a:lnTo>
                    <a:pt x="27432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-9525"/>
              <a:ext cx="2743200" cy="9970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10점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4806136" y="6624542"/>
            <a:ext cx="2757488" cy="754952"/>
            <a:chOff x="0" y="0"/>
            <a:chExt cx="3676650" cy="1006602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3676650" cy="1006602"/>
            </a:xfrm>
            <a:custGeom>
              <a:avLst/>
              <a:gdLst/>
              <a:ahLst/>
              <a:cxnLst/>
              <a:rect l="l" t="t" r="r" b="b"/>
              <a:pathLst>
                <a:path w="3676650" h="1006602">
                  <a:moveTo>
                    <a:pt x="0" y="0"/>
                  </a:moveTo>
                  <a:lnTo>
                    <a:pt x="3676650" y="0"/>
                  </a:lnTo>
                  <a:lnTo>
                    <a:pt x="3676650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9D4E0"/>
              </a:solidFill>
              <a:prstDash val="solid"/>
              <a:miter/>
            </a:ln>
          </p:spPr>
        </p:sp>
      </p:grpSp>
      <p:grpSp>
        <p:nvGrpSpPr>
          <p:cNvPr id="111" name="Group 111"/>
          <p:cNvGrpSpPr/>
          <p:nvPr/>
        </p:nvGrpSpPr>
        <p:grpSpPr>
          <a:xfrm>
            <a:off x="14813280" y="6631686"/>
            <a:ext cx="2743200" cy="740664"/>
            <a:chOff x="0" y="0"/>
            <a:chExt cx="3657600" cy="987552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3657600" cy="987552"/>
            </a:xfrm>
            <a:custGeom>
              <a:avLst/>
              <a:gdLst/>
              <a:ahLst/>
              <a:cxnLst/>
              <a:rect l="l" t="t" r="r" b="b"/>
              <a:pathLst>
                <a:path w="3657600" h="987552">
                  <a:moveTo>
                    <a:pt x="0" y="0"/>
                  </a:moveTo>
                  <a:lnTo>
                    <a:pt x="3657600" y="0"/>
                  </a:lnTo>
                  <a:lnTo>
                    <a:pt x="36576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166" b="-22166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19050"/>
              <a:ext cx="3657600" cy="10066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9AA8B6"/>
                  </a:solidFill>
                  <a:latin typeface="Arial"/>
                  <a:ea typeface="Arial"/>
                  <a:cs typeface="Arial"/>
                  <a:sym typeface="Arial"/>
                </a:rPr>
                <a:t>____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754380" y="7475220"/>
            <a:ext cx="11727180" cy="740664"/>
            <a:chOff x="0" y="0"/>
            <a:chExt cx="15636240" cy="987552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15636239" cy="987552"/>
            </a:xfrm>
            <a:custGeom>
              <a:avLst/>
              <a:gdLst/>
              <a:ahLst/>
              <a:cxnLst/>
              <a:rect l="l" t="t" r="r" b="b"/>
              <a:pathLst>
                <a:path w="15636239" h="987552">
                  <a:moveTo>
                    <a:pt x="0" y="0"/>
                  </a:moveTo>
                  <a:lnTo>
                    <a:pt x="15636239" y="0"/>
                  </a:lnTo>
                  <a:lnTo>
                    <a:pt x="15636239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6" name="Group 116"/>
          <p:cNvGrpSpPr/>
          <p:nvPr/>
        </p:nvGrpSpPr>
        <p:grpSpPr>
          <a:xfrm>
            <a:off x="1097280" y="7475220"/>
            <a:ext cx="11178540" cy="740664"/>
            <a:chOff x="0" y="0"/>
            <a:chExt cx="14904720" cy="987552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4904720" cy="987552"/>
            </a:xfrm>
            <a:custGeom>
              <a:avLst/>
              <a:gdLst/>
              <a:ahLst/>
              <a:cxnLst/>
              <a:rect l="l" t="t" r="r" b="b"/>
              <a:pathLst>
                <a:path w="14904720" h="987552">
                  <a:moveTo>
                    <a:pt x="0" y="0"/>
                  </a:moveTo>
                  <a:lnTo>
                    <a:pt x="14904720" y="0"/>
                  </a:lnTo>
                  <a:lnTo>
                    <a:pt x="1490472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4079" b="-244079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19050"/>
              <a:ext cx="14904720" cy="10066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F7E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7.  </a:t>
              </a:r>
              <a:r>
                <a:rPr lang="en-US" sz="1950">
                  <a:solidFill>
                    <a:srgbClr val="2B3A4A"/>
                  </a:solidFill>
                  <a:latin typeface="Arial"/>
                  <a:ea typeface="Arial"/>
                  <a:cs typeface="Arial"/>
                  <a:sym typeface="Arial"/>
                </a:rPr>
                <a:t>응답 어체가 경어체이며 3문장 이내로 간결하다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2618720" y="7475220"/>
            <a:ext cx="2057400" cy="740664"/>
            <a:chOff x="0" y="0"/>
            <a:chExt cx="2743200" cy="987552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2743200" cy="987552"/>
            </a:xfrm>
            <a:custGeom>
              <a:avLst/>
              <a:gdLst/>
              <a:ahLst/>
              <a:cxnLst/>
              <a:rect l="l" t="t" r="r" b="b"/>
              <a:pathLst>
                <a:path w="2743200" h="987552">
                  <a:moveTo>
                    <a:pt x="0" y="0"/>
                  </a:moveTo>
                  <a:lnTo>
                    <a:pt x="2743200" y="0"/>
                  </a:lnTo>
                  <a:lnTo>
                    <a:pt x="2743200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E7EDF5"/>
            </a:solidFill>
          </p:spPr>
        </p:sp>
      </p:grpSp>
      <p:grpSp>
        <p:nvGrpSpPr>
          <p:cNvPr id="121" name="Group 121"/>
          <p:cNvGrpSpPr/>
          <p:nvPr/>
        </p:nvGrpSpPr>
        <p:grpSpPr>
          <a:xfrm>
            <a:off x="12618720" y="7475220"/>
            <a:ext cx="2057400" cy="740664"/>
            <a:chOff x="0" y="0"/>
            <a:chExt cx="2743200" cy="987552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2743200" cy="987552"/>
            </a:xfrm>
            <a:custGeom>
              <a:avLst/>
              <a:gdLst/>
              <a:ahLst/>
              <a:cxnLst/>
              <a:rect l="l" t="t" r="r" b="b"/>
              <a:pathLst>
                <a:path w="2743200" h="987552">
                  <a:moveTo>
                    <a:pt x="0" y="0"/>
                  </a:moveTo>
                  <a:lnTo>
                    <a:pt x="2743200" y="0"/>
                  </a:lnTo>
                  <a:lnTo>
                    <a:pt x="27432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-9525"/>
              <a:ext cx="2743200" cy="9970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1E3A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5점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4806136" y="7468076"/>
            <a:ext cx="2757488" cy="754952"/>
            <a:chOff x="0" y="0"/>
            <a:chExt cx="3676650" cy="1006602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3676650" cy="1006602"/>
            </a:xfrm>
            <a:custGeom>
              <a:avLst/>
              <a:gdLst/>
              <a:ahLst/>
              <a:cxnLst/>
              <a:rect l="l" t="t" r="r" b="b"/>
              <a:pathLst>
                <a:path w="3676650" h="1006602">
                  <a:moveTo>
                    <a:pt x="0" y="0"/>
                  </a:moveTo>
                  <a:lnTo>
                    <a:pt x="3676650" y="0"/>
                  </a:lnTo>
                  <a:lnTo>
                    <a:pt x="3676650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9D4E0"/>
              </a:solidFill>
              <a:prstDash val="solid"/>
              <a:miter/>
            </a:ln>
          </p:spPr>
        </p:sp>
      </p:grpSp>
      <p:grpSp>
        <p:nvGrpSpPr>
          <p:cNvPr id="126" name="Group 126"/>
          <p:cNvGrpSpPr/>
          <p:nvPr/>
        </p:nvGrpSpPr>
        <p:grpSpPr>
          <a:xfrm>
            <a:off x="14813280" y="7475220"/>
            <a:ext cx="2743200" cy="740664"/>
            <a:chOff x="0" y="0"/>
            <a:chExt cx="3657600" cy="987552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3657600" cy="987552"/>
            </a:xfrm>
            <a:custGeom>
              <a:avLst/>
              <a:gdLst/>
              <a:ahLst/>
              <a:cxnLst/>
              <a:rect l="l" t="t" r="r" b="b"/>
              <a:pathLst>
                <a:path w="3657600" h="987552">
                  <a:moveTo>
                    <a:pt x="0" y="0"/>
                  </a:moveTo>
                  <a:lnTo>
                    <a:pt x="3657600" y="0"/>
                  </a:lnTo>
                  <a:lnTo>
                    <a:pt x="365760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166" b="-22166"/>
              </a:stretch>
            </a:blipFill>
          </p:spPr>
        </p:sp>
        <p:sp>
          <p:nvSpPr>
            <p:cNvPr id="128" name="TextBox 128"/>
            <p:cNvSpPr txBox="1"/>
            <p:nvPr/>
          </p:nvSpPr>
          <p:spPr>
            <a:xfrm>
              <a:off x="0" y="-19050"/>
              <a:ext cx="3657600" cy="10066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9AA8B6"/>
                  </a:solidFill>
                  <a:latin typeface="Arial"/>
                  <a:ea typeface="Arial"/>
                  <a:cs typeface="Arial"/>
                  <a:sym typeface="Arial"/>
                </a:rPr>
                <a:t>____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754380" y="8428482"/>
            <a:ext cx="5463540" cy="822960"/>
            <a:chOff x="0" y="0"/>
            <a:chExt cx="7284720" cy="1097280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7284720" cy="1097280"/>
            </a:xfrm>
            <a:custGeom>
              <a:avLst/>
              <a:gdLst/>
              <a:ahLst/>
              <a:cxnLst/>
              <a:rect l="l" t="t" r="r" b="b"/>
              <a:pathLst>
                <a:path w="7284720" h="1097280">
                  <a:moveTo>
                    <a:pt x="0" y="0"/>
                  </a:moveTo>
                  <a:lnTo>
                    <a:pt x="7284720" y="0"/>
                  </a:lnTo>
                  <a:lnTo>
                    <a:pt x="7284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17A46"/>
            </a:solidFill>
          </p:spPr>
        </p:sp>
      </p:grpSp>
      <p:grpSp>
        <p:nvGrpSpPr>
          <p:cNvPr id="131" name="Group 131"/>
          <p:cNvGrpSpPr/>
          <p:nvPr/>
        </p:nvGrpSpPr>
        <p:grpSpPr>
          <a:xfrm>
            <a:off x="754380" y="8428482"/>
            <a:ext cx="5463540" cy="822960"/>
            <a:chOff x="0" y="0"/>
            <a:chExt cx="7284720" cy="1097280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7284720" cy="1097280"/>
            </a:xfrm>
            <a:custGeom>
              <a:avLst/>
              <a:gdLst/>
              <a:ahLst/>
              <a:cxnLst/>
              <a:rect l="l" t="t" r="r" b="b"/>
              <a:pathLst>
                <a:path w="7284720" h="1097280">
                  <a:moveTo>
                    <a:pt x="0" y="0"/>
                  </a:moveTo>
                  <a:lnTo>
                    <a:pt x="7284720" y="0"/>
                  </a:lnTo>
                  <a:lnTo>
                    <a:pt x="728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359" b="-79359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-19050"/>
              <a:ext cx="7284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80점 이상   </a:t>
              </a:r>
              <a:r>
                <a:rPr lang="en-US" sz="17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우수 — 바로 운영 가능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423660" y="8428482"/>
            <a:ext cx="5463540" cy="822960"/>
            <a:chOff x="0" y="0"/>
            <a:chExt cx="7284720" cy="1097280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7284720" cy="1097280"/>
            </a:xfrm>
            <a:custGeom>
              <a:avLst/>
              <a:gdLst/>
              <a:ahLst/>
              <a:cxnLst/>
              <a:rect l="l" t="t" r="r" b="b"/>
              <a:pathLst>
                <a:path w="7284720" h="1097280">
                  <a:moveTo>
                    <a:pt x="0" y="0"/>
                  </a:moveTo>
                  <a:lnTo>
                    <a:pt x="7284720" y="0"/>
                  </a:lnTo>
                  <a:lnTo>
                    <a:pt x="7284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136" name="Group 136"/>
          <p:cNvGrpSpPr/>
          <p:nvPr/>
        </p:nvGrpSpPr>
        <p:grpSpPr>
          <a:xfrm>
            <a:off x="6423660" y="8428482"/>
            <a:ext cx="5463540" cy="822960"/>
            <a:chOff x="0" y="0"/>
            <a:chExt cx="7284720" cy="1097280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7284720" cy="1097280"/>
            </a:xfrm>
            <a:custGeom>
              <a:avLst/>
              <a:gdLst/>
              <a:ahLst/>
              <a:cxnLst/>
              <a:rect l="l" t="t" r="r" b="b"/>
              <a:pathLst>
                <a:path w="7284720" h="1097280">
                  <a:moveTo>
                    <a:pt x="0" y="0"/>
                  </a:moveTo>
                  <a:lnTo>
                    <a:pt x="7284720" y="0"/>
                  </a:lnTo>
                  <a:lnTo>
                    <a:pt x="728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359" b="-79359"/>
              </a:stretch>
            </a:blipFill>
          </p:spPr>
        </p:sp>
        <p:sp>
          <p:nvSpPr>
            <p:cNvPr id="138" name="TextBox 138"/>
            <p:cNvSpPr txBox="1"/>
            <p:nvPr/>
          </p:nvSpPr>
          <p:spPr>
            <a:xfrm>
              <a:off x="0" y="-19050"/>
              <a:ext cx="7284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60 ~ 79점   </a:t>
              </a:r>
              <a:r>
                <a:rPr lang="en-US" sz="17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보완 필요 — Instructions 재점검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2092940" y="8428482"/>
            <a:ext cx="5463540" cy="822960"/>
            <a:chOff x="0" y="0"/>
            <a:chExt cx="7284720" cy="1097280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7284720" cy="1097280"/>
            </a:xfrm>
            <a:custGeom>
              <a:avLst/>
              <a:gdLst/>
              <a:ahLst/>
              <a:cxnLst/>
              <a:rect l="l" t="t" r="r" b="b"/>
              <a:pathLst>
                <a:path w="7284720" h="1097280">
                  <a:moveTo>
                    <a:pt x="0" y="0"/>
                  </a:moveTo>
                  <a:lnTo>
                    <a:pt x="7284720" y="0"/>
                  </a:lnTo>
                  <a:lnTo>
                    <a:pt x="7284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B03A3A"/>
            </a:solidFill>
          </p:spPr>
        </p:sp>
      </p:grpSp>
      <p:grpSp>
        <p:nvGrpSpPr>
          <p:cNvPr id="141" name="Group 141"/>
          <p:cNvGrpSpPr/>
          <p:nvPr/>
        </p:nvGrpSpPr>
        <p:grpSpPr>
          <a:xfrm>
            <a:off x="12092940" y="8428482"/>
            <a:ext cx="5463540" cy="822960"/>
            <a:chOff x="0" y="0"/>
            <a:chExt cx="7284720" cy="1097280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7284720" cy="1097280"/>
            </a:xfrm>
            <a:custGeom>
              <a:avLst/>
              <a:gdLst/>
              <a:ahLst/>
              <a:cxnLst/>
              <a:rect l="l" t="t" r="r" b="b"/>
              <a:pathLst>
                <a:path w="7284720" h="1097280">
                  <a:moveTo>
                    <a:pt x="0" y="0"/>
                  </a:moveTo>
                  <a:lnTo>
                    <a:pt x="7284720" y="0"/>
                  </a:lnTo>
                  <a:lnTo>
                    <a:pt x="728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359" b="-79359"/>
              </a:stretch>
            </a:blipFill>
          </p:spPr>
        </p:sp>
        <p:sp>
          <p:nvSpPr>
            <p:cNvPr id="143" name="TextBox 143"/>
            <p:cNvSpPr txBox="1"/>
            <p:nvPr/>
          </p:nvSpPr>
          <p:spPr>
            <a:xfrm>
              <a:off x="0" y="-19050"/>
              <a:ext cx="7284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60점 미만   </a:t>
              </a:r>
              <a:r>
                <a:rPr lang="en-US" sz="17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강사 1:1 피드백 요청</a:t>
              </a:r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0" y="9710928"/>
            <a:ext cx="18287543" cy="576072"/>
            <a:chOff x="0" y="0"/>
            <a:chExt cx="24383390" cy="768096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24383364" cy="768096"/>
            </a:xfrm>
            <a:custGeom>
              <a:avLst/>
              <a:gdLst/>
              <a:ahLst/>
              <a:cxnLst/>
              <a:rect l="l" t="t" r="r" b="b"/>
              <a:pathLst>
                <a:path w="24383364" h="768096">
                  <a:moveTo>
                    <a:pt x="0" y="0"/>
                  </a:moveTo>
                  <a:lnTo>
                    <a:pt x="24383364" y="0"/>
                  </a:lnTo>
                  <a:lnTo>
                    <a:pt x="24383364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46" name="Group 146"/>
          <p:cNvGrpSpPr/>
          <p:nvPr/>
        </p:nvGrpSpPr>
        <p:grpSpPr>
          <a:xfrm>
            <a:off x="754380" y="9710928"/>
            <a:ext cx="8915400" cy="576072"/>
            <a:chOff x="0" y="0"/>
            <a:chExt cx="11887200" cy="768096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11887200" cy="768096"/>
            </a:xfrm>
            <a:custGeom>
              <a:avLst/>
              <a:gdLst/>
              <a:ahLst/>
              <a:cxnLst/>
              <a:rect l="l" t="t" r="r" b="b"/>
              <a:pathLst>
                <a:path w="11887200" h="768096">
                  <a:moveTo>
                    <a:pt x="0" y="0"/>
                  </a:moveTo>
                  <a:lnTo>
                    <a:pt x="11887200" y="0"/>
                  </a:lnTo>
                  <a:lnTo>
                    <a:pt x="11887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1554" b="-251554"/>
              </a:stretch>
            </a:blipFill>
          </p:spPr>
        </p:sp>
        <p:sp>
          <p:nvSpPr>
            <p:cNvPr id="148" name="TextBox 148"/>
            <p:cNvSpPr txBox="1"/>
            <p:nvPr/>
          </p:nvSpPr>
          <p:spPr>
            <a:xfrm>
              <a:off x="0" y="-9525"/>
              <a:ext cx="118872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4차시 | 챗봇 자가 평가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9326880" y="9710928"/>
            <a:ext cx="8229600" cy="576072"/>
            <a:chOff x="0" y="0"/>
            <a:chExt cx="10972800" cy="768096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10972800" cy="768096"/>
            </a:xfrm>
            <a:custGeom>
              <a:avLst/>
              <a:gdLst/>
              <a:ahLst/>
              <a:cxnLst/>
              <a:rect l="l" t="t" r="r" b="b"/>
              <a:pathLst>
                <a:path w="10972800" h="768096">
                  <a:moveTo>
                    <a:pt x="0" y="0"/>
                  </a:moveTo>
                  <a:lnTo>
                    <a:pt x="10972800" y="0"/>
                  </a:lnTo>
                  <a:lnTo>
                    <a:pt x="10972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51" name="TextBox 151"/>
            <p:cNvSpPr txBox="1"/>
            <p:nvPr/>
          </p:nvSpPr>
          <p:spPr>
            <a:xfrm>
              <a:off x="0" y="-9525"/>
              <a:ext cx="109728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ko-KR" altLang="en-US" sz="16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부산여자대학교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DX교육운영센터</a:t>
              </a:r>
              <a:endParaRPr lang="en-US" sz="1575" dirty="0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3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67360" y="-1463040"/>
            <a:ext cx="8229600" cy="8229600"/>
            <a:chOff x="0" y="0"/>
            <a:chExt cx="109728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10972800"/>
            </a:xfrm>
            <a:custGeom>
              <a:avLst/>
              <a:gdLst/>
              <a:ahLst/>
              <a:cxnLst/>
              <a:rect l="l" t="t" r="r" b="b"/>
              <a:pathLst>
                <a:path w="10972800" h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0A7B83">
                <a:alpha val="5882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264640" y="4572000"/>
            <a:ext cx="5486400" cy="5486400"/>
            <a:chOff x="0" y="0"/>
            <a:chExt cx="7315200" cy="731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9A84C">
                <a:alpha val="392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97280" y="966654"/>
            <a:ext cx="5486400" cy="914400"/>
            <a:chOff x="0" y="0"/>
            <a:chExt cx="7315200" cy="121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15200" cy="1219200"/>
            </a:xfrm>
            <a:custGeom>
              <a:avLst/>
              <a:gdLst/>
              <a:ahLst/>
              <a:cxnLst/>
              <a:rect l="l" t="t" r="r" b="b"/>
              <a:pathLst>
                <a:path w="7315200" h="1219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7315200" cy="1209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spc="12">
                  <a:solidFill>
                    <a:srgbClr val="F0D080"/>
                  </a:solidFill>
                  <a:latin typeface="Mandali"/>
                  <a:ea typeface="Mandali"/>
                  <a:cs typeface="Mandali"/>
                  <a:sym typeface="Mandali"/>
                </a:rPr>
                <a:t>5차시 | 2H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7280" y="7461724"/>
            <a:ext cx="4572000" cy="129794"/>
            <a:chOff x="0" y="0"/>
            <a:chExt cx="6096000" cy="1730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096000" cy="173059"/>
            </a:xfrm>
            <a:custGeom>
              <a:avLst/>
              <a:gdLst/>
              <a:ahLst/>
              <a:cxnLst/>
              <a:rect l="l" t="t" r="r" b="b"/>
              <a:pathLst>
                <a:path w="6096000" h="173059">
                  <a:moveTo>
                    <a:pt x="0" y="0"/>
                  </a:moveTo>
                  <a:lnTo>
                    <a:pt x="6096000" y="0"/>
                  </a:lnTo>
                  <a:lnTo>
                    <a:pt x="6096000" y="173059"/>
                  </a:lnTo>
                  <a:lnTo>
                    <a:pt x="0" y="17305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97280" y="1580673"/>
            <a:ext cx="14630400" cy="2834693"/>
            <a:chOff x="0" y="0"/>
            <a:chExt cx="19507200" cy="37795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507200" cy="3779591"/>
            </a:xfrm>
            <a:custGeom>
              <a:avLst/>
              <a:gdLst/>
              <a:ahLst/>
              <a:cxnLst/>
              <a:rect l="l" t="t" r="r" b="b"/>
              <a:pathLst>
                <a:path w="19507200" h="3779591">
                  <a:moveTo>
                    <a:pt x="0" y="0"/>
                  </a:moveTo>
                  <a:lnTo>
                    <a:pt x="19507200" y="0"/>
                  </a:lnTo>
                  <a:lnTo>
                    <a:pt x="19507200" y="3779591"/>
                  </a:lnTo>
                  <a:lnTo>
                    <a:pt x="0" y="37795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824" b="-2830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507200" cy="38176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endParaRPr/>
            </a:p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CS 업무 통합 실습 및 현장 적용 계획</a:t>
              </a:r>
            </a:p>
            <a:p>
              <a:pPr algn="l">
                <a:lnSpc>
                  <a:spcPts val="6719"/>
                </a:lnSpc>
              </a:pPr>
              <a:endParaRPr lang="en-US" sz="55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4368635"/>
            <a:ext cx="14630400" cy="2946565"/>
            <a:chOff x="0" y="0"/>
            <a:chExt cx="19507200" cy="39287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507200" cy="3928754"/>
            </a:xfrm>
            <a:custGeom>
              <a:avLst/>
              <a:gdLst/>
              <a:ahLst/>
              <a:cxnLst/>
              <a:rect l="l" t="t" r="r" b="b"/>
              <a:pathLst>
                <a:path w="19507200" h="3928754">
                  <a:moveTo>
                    <a:pt x="0" y="0"/>
                  </a:moveTo>
                  <a:lnTo>
                    <a:pt x="19507200" y="0"/>
                  </a:lnTo>
                  <a:lnTo>
                    <a:pt x="19507200" y="3928754"/>
                  </a:lnTo>
                  <a:lnTo>
                    <a:pt x="0" y="39287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576" b="-7919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0"/>
              <a:ext cx="19507200" cy="41192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24"/>
                </a:lnSpc>
              </a:pPr>
              <a:r>
                <a:rPr lang="en-US" sz="2499">
                  <a:solidFill>
                    <a:srgbClr val="90EAD8"/>
                  </a:solidFill>
                  <a:latin typeface="Arimo"/>
                  <a:ea typeface="Arimo"/>
                  <a:cs typeface="Arimo"/>
                  <a:sym typeface="Arimo"/>
                </a:rPr>
                <a:t>-   CS 업무 전반에 AI 적용 시나리오 통합 점검</a:t>
              </a:r>
            </a:p>
            <a:p>
              <a:pPr algn="l">
                <a:lnSpc>
                  <a:spcPts val="4824"/>
                </a:lnSpc>
              </a:pPr>
              <a:r>
                <a:rPr lang="en-US" sz="2499">
                  <a:solidFill>
                    <a:srgbClr val="90EAD8"/>
                  </a:solidFill>
                  <a:latin typeface="Arimo"/>
                  <a:ea typeface="Arimo"/>
                  <a:cs typeface="Arimo"/>
                  <a:sym typeface="Arimo"/>
                </a:rPr>
                <a:t>-   팀별 현장 적용 미니 사례 발표 (5분/팀)</a:t>
              </a:r>
            </a:p>
            <a:p>
              <a:pPr algn="l">
                <a:lnSpc>
                  <a:spcPts val="4824"/>
                </a:lnSpc>
              </a:pPr>
              <a:r>
                <a:rPr lang="en-US" sz="2499">
                  <a:solidFill>
                    <a:srgbClr val="90EAD8"/>
                  </a:solidFill>
                  <a:latin typeface="Arimo"/>
                  <a:ea typeface="Arimo"/>
                  <a:cs typeface="Arimo"/>
                  <a:sym typeface="Arimo"/>
                </a:rPr>
                <a:t>-   도구별 장단점 정리 및 지속 활용 방안 논의</a:t>
              </a:r>
            </a:p>
            <a:p>
              <a:pPr algn="l">
                <a:lnSpc>
                  <a:spcPts val="4824"/>
                </a:lnSpc>
              </a:pPr>
              <a:r>
                <a:rPr lang="en-US" sz="2499">
                  <a:solidFill>
                    <a:srgbClr val="90EAD8"/>
                  </a:solidFill>
                  <a:latin typeface="Arimo"/>
                  <a:ea typeface="Arimo"/>
                  <a:cs typeface="Arimo"/>
                  <a:sym typeface="Arimo"/>
                </a:rPr>
                <a:t>-   수료 후 Action Plan 작성 및 제출</a:t>
              </a:r>
            </a:p>
            <a:p>
              <a:pPr algn="l">
                <a:lnSpc>
                  <a:spcPts val="4824"/>
                </a:lnSpc>
              </a:pPr>
              <a:endParaRPr lang="en-US" sz="2499">
                <a:solidFill>
                  <a:srgbClr val="90EA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12697" y="9604753"/>
            <a:ext cx="18313403" cy="720347"/>
            <a:chOff x="0" y="0"/>
            <a:chExt cx="24417871" cy="9604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48640" y="9709785"/>
            <a:ext cx="10972800" cy="548640"/>
            <a:chOff x="0" y="0"/>
            <a:chExt cx="1463040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5차시 | AI 통합 적용 &amp; Action Plan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" y="9624403"/>
            <a:ext cx="17830800" cy="548640"/>
            <a:chOff x="0" y="0"/>
            <a:chExt cx="23774400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전체 과정 총정리 – 오늘 배운 핵심 내용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48640" y="2011680"/>
            <a:ext cx="2651760" cy="1280160"/>
            <a:chOff x="0" y="0"/>
            <a:chExt cx="353568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35680" cy="1706880"/>
            </a:xfrm>
            <a:custGeom>
              <a:avLst/>
              <a:gdLst/>
              <a:ahLst/>
              <a:cxnLst/>
              <a:rect l="l" t="t" r="r" b="b"/>
              <a:pathLst>
                <a:path w="3535680" h="1706880">
                  <a:moveTo>
                    <a:pt x="0" y="0"/>
                  </a:moveTo>
                  <a:lnTo>
                    <a:pt x="3535680" y="0"/>
                  </a:lnTo>
                  <a:lnTo>
                    <a:pt x="353568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48640" y="2011680"/>
            <a:ext cx="2651760" cy="1280160"/>
            <a:chOff x="0" y="0"/>
            <a:chExt cx="3535680" cy="17068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35680" cy="1706880"/>
            </a:xfrm>
            <a:custGeom>
              <a:avLst/>
              <a:gdLst/>
              <a:ahLst/>
              <a:cxnLst/>
              <a:rect l="l" t="t" r="r" b="b"/>
              <a:pathLst>
                <a:path w="3535680" h="1706880">
                  <a:moveTo>
                    <a:pt x="0" y="0"/>
                  </a:moveTo>
                  <a:lnTo>
                    <a:pt x="3535680" y="0"/>
                  </a:lnTo>
                  <a:lnTo>
                    <a:pt x="35356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39" r="-1193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353568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1차시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383280" y="2011680"/>
            <a:ext cx="14173200" cy="1280160"/>
            <a:chOff x="0" y="0"/>
            <a:chExt cx="18897600" cy="17068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897600" cy="1706880"/>
            </a:xfrm>
            <a:custGeom>
              <a:avLst/>
              <a:gdLst/>
              <a:ahLst/>
              <a:cxnLst/>
              <a:rect l="l" t="t" r="r" b="b"/>
              <a:pathLst>
                <a:path w="18897600" h="1706880">
                  <a:moveTo>
                    <a:pt x="0" y="0"/>
                  </a:moveTo>
                  <a:lnTo>
                    <a:pt x="18897600" y="0"/>
                  </a:lnTo>
                  <a:lnTo>
                    <a:pt x="188976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3566160" y="2011680"/>
            <a:ext cx="13807440" cy="1280160"/>
            <a:chOff x="0" y="0"/>
            <a:chExt cx="18409920" cy="17068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409920" cy="1706880"/>
            </a:xfrm>
            <a:custGeom>
              <a:avLst/>
              <a:gdLst/>
              <a:ahLst/>
              <a:cxnLst/>
              <a:rect l="l" t="t" r="r" b="b"/>
              <a:pathLst>
                <a:path w="18409920" h="1706880">
                  <a:moveTo>
                    <a:pt x="0" y="0"/>
                  </a:moveTo>
                  <a:lnTo>
                    <a:pt x="18409920" y="0"/>
                  </a:lnTo>
                  <a:lnTo>
                    <a:pt x="18409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160" b="-16016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84099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AI 도입 필요성 + 기본 원리 + 윤리 가이드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48640" y="3529584"/>
            <a:ext cx="2651760" cy="1280160"/>
            <a:chOff x="0" y="0"/>
            <a:chExt cx="3535680" cy="17068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535680" cy="1706880"/>
            </a:xfrm>
            <a:custGeom>
              <a:avLst/>
              <a:gdLst/>
              <a:ahLst/>
              <a:cxnLst/>
              <a:rect l="l" t="t" r="r" b="b"/>
              <a:pathLst>
                <a:path w="3535680" h="1706880">
                  <a:moveTo>
                    <a:pt x="0" y="0"/>
                  </a:moveTo>
                  <a:lnTo>
                    <a:pt x="3535680" y="0"/>
                  </a:lnTo>
                  <a:lnTo>
                    <a:pt x="353568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548640" y="3529584"/>
            <a:ext cx="2651760" cy="1280160"/>
            <a:chOff x="0" y="0"/>
            <a:chExt cx="3535680" cy="17068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535680" cy="1706880"/>
            </a:xfrm>
            <a:custGeom>
              <a:avLst/>
              <a:gdLst/>
              <a:ahLst/>
              <a:cxnLst/>
              <a:rect l="l" t="t" r="r" b="b"/>
              <a:pathLst>
                <a:path w="3535680" h="1706880">
                  <a:moveTo>
                    <a:pt x="0" y="0"/>
                  </a:moveTo>
                  <a:lnTo>
                    <a:pt x="3535680" y="0"/>
                  </a:lnTo>
                  <a:lnTo>
                    <a:pt x="35356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39" r="-1193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353568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2차시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383280" y="3529584"/>
            <a:ext cx="14173200" cy="1280160"/>
            <a:chOff x="0" y="0"/>
            <a:chExt cx="18897600" cy="17068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897600" cy="1706880"/>
            </a:xfrm>
            <a:custGeom>
              <a:avLst/>
              <a:gdLst/>
              <a:ahLst/>
              <a:cxnLst/>
              <a:rect l="l" t="t" r="r" b="b"/>
              <a:pathLst>
                <a:path w="18897600" h="1706880">
                  <a:moveTo>
                    <a:pt x="0" y="0"/>
                  </a:moveTo>
                  <a:lnTo>
                    <a:pt x="18897600" y="0"/>
                  </a:lnTo>
                  <a:lnTo>
                    <a:pt x="188976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3566160" y="3529584"/>
            <a:ext cx="13807440" cy="1280160"/>
            <a:chOff x="0" y="0"/>
            <a:chExt cx="18409920" cy="17068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409920" cy="1706880"/>
            </a:xfrm>
            <a:custGeom>
              <a:avLst/>
              <a:gdLst/>
              <a:ahLst/>
              <a:cxnLst/>
              <a:rect l="l" t="t" r="r" b="b"/>
              <a:pathLst>
                <a:path w="18409920" h="1706880">
                  <a:moveTo>
                    <a:pt x="0" y="0"/>
                  </a:moveTo>
                  <a:lnTo>
                    <a:pt x="18409920" y="0"/>
                  </a:lnTo>
                  <a:lnTo>
                    <a:pt x="18409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160" b="-16016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184099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민원 유형별 스크립트 → ChatGPT/Claude 프롬프트 실습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48640" y="5047488"/>
            <a:ext cx="2651760" cy="1280160"/>
            <a:chOff x="0" y="0"/>
            <a:chExt cx="3535680" cy="17068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535680" cy="1706880"/>
            </a:xfrm>
            <a:custGeom>
              <a:avLst/>
              <a:gdLst/>
              <a:ahLst/>
              <a:cxnLst/>
              <a:rect l="l" t="t" r="r" b="b"/>
              <a:pathLst>
                <a:path w="3535680" h="1706880">
                  <a:moveTo>
                    <a:pt x="0" y="0"/>
                  </a:moveTo>
                  <a:lnTo>
                    <a:pt x="3535680" y="0"/>
                  </a:lnTo>
                  <a:lnTo>
                    <a:pt x="353568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548640" y="5047488"/>
            <a:ext cx="2651760" cy="1280160"/>
            <a:chOff x="0" y="0"/>
            <a:chExt cx="3535680" cy="17068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535680" cy="1706880"/>
            </a:xfrm>
            <a:custGeom>
              <a:avLst/>
              <a:gdLst/>
              <a:ahLst/>
              <a:cxnLst/>
              <a:rect l="l" t="t" r="r" b="b"/>
              <a:pathLst>
                <a:path w="3535680" h="1706880">
                  <a:moveTo>
                    <a:pt x="0" y="0"/>
                  </a:moveTo>
                  <a:lnTo>
                    <a:pt x="3535680" y="0"/>
                  </a:lnTo>
                  <a:lnTo>
                    <a:pt x="35356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39" r="-11939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353568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3차시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383280" y="5047488"/>
            <a:ext cx="14173200" cy="1280160"/>
            <a:chOff x="0" y="0"/>
            <a:chExt cx="18897600" cy="17068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8897600" cy="1706880"/>
            </a:xfrm>
            <a:custGeom>
              <a:avLst/>
              <a:gdLst/>
              <a:ahLst/>
              <a:cxnLst/>
              <a:rect l="l" t="t" r="r" b="b"/>
              <a:pathLst>
                <a:path w="18897600" h="1706880">
                  <a:moveTo>
                    <a:pt x="0" y="0"/>
                  </a:moveTo>
                  <a:lnTo>
                    <a:pt x="18897600" y="0"/>
                  </a:lnTo>
                  <a:lnTo>
                    <a:pt x="188976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3566160" y="5047488"/>
            <a:ext cx="13807440" cy="1280160"/>
            <a:chOff x="0" y="0"/>
            <a:chExt cx="18409920" cy="17068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8409920" cy="1706880"/>
            </a:xfrm>
            <a:custGeom>
              <a:avLst/>
              <a:gdLst/>
              <a:ahLst/>
              <a:cxnLst/>
              <a:rect l="l" t="t" r="r" b="b"/>
              <a:pathLst>
                <a:path w="18409920" h="1706880">
                  <a:moveTo>
                    <a:pt x="0" y="0"/>
                  </a:moveTo>
                  <a:lnTo>
                    <a:pt x="18409920" y="0"/>
                  </a:lnTo>
                  <a:lnTo>
                    <a:pt x="18409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160" b="-16016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84099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클로바Note 음성 기록 + NotebookLM FAQ 자동 생성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48640" y="6565392"/>
            <a:ext cx="2651760" cy="1280160"/>
            <a:chOff x="0" y="0"/>
            <a:chExt cx="3535680" cy="17068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535680" cy="1706880"/>
            </a:xfrm>
            <a:custGeom>
              <a:avLst/>
              <a:gdLst/>
              <a:ahLst/>
              <a:cxnLst/>
              <a:rect l="l" t="t" r="r" b="b"/>
              <a:pathLst>
                <a:path w="3535680" h="1706880">
                  <a:moveTo>
                    <a:pt x="0" y="0"/>
                  </a:moveTo>
                  <a:lnTo>
                    <a:pt x="3535680" y="0"/>
                  </a:lnTo>
                  <a:lnTo>
                    <a:pt x="353568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548640" y="6565392"/>
            <a:ext cx="2651760" cy="1280160"/>
            <a:chOff x="0" y="0"/>
            <a:chExt cx="3535680" cy="17068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535680" cy="1706880"/>
            </a:xfrm>
            <a:custGeom>
              <a:avLst/>
              <a:gdLst/>
              <a:ahLst/>
              <a:cxnLst/>
              <a:rect l="l" t="t" r="r" b="b"/>
              <a:pathLst>
                <a:path w="3535680" h="1706880">
                  <a:moveTo>
                    <a:pt x="0" y="0"/>
                  </a:moveTo>
                  <a:lnTo>
                    <a:pt x="3535680" y="0"/>
                  </a:lnTo>
                  <a:lnTo>
                    <a:pt x="35356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39" r="-11939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353568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4차시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83280" y="6565392"/>
            <a:ext cx="14173200" cy="1280160"/>
            <a:chOff x="0" y="0"/>
            <a:chExt cx="18897600" cy="17068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8897600" cy="1706880"/>
            </a:xfrm>
            <a:custGeom>
              <a:avLst/>
              <a:gdLst/>
              <a:ahLst/>
              <a:cxnLst/>
              <a:rect l="l" t="t" r="r" b="b"/>
              <a:pathLst>
                <a:path w="18897600" h="1706880">
                  <a:moveTo>
                    <a:pt x="0" y="0"/>
                  </a:moveTo>
                  <a:lnTo>
                    <a:pt x="18897600" y="0"/>
                  </a:lnTo>
                  <a:lnTo>
                    <a:pt x="188976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3566160" y="6565392"/>
            <a:ext cx="13807440" cy="1280160"/>
            <a:chOff x="0" y="0"/>
            <a:chExt cx="18409920" cy="17068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8409920" cy="1706880"/>
            </a:xfrm>
            <a:custGeom>
              <a:avLst/>
              <a:gdLst/>
              <a:ahLst/>
              <a:cxnLst/>
              <a:rect l="l" t="t" r="r" b="b"/>
              <a:pathLst>
                <a:path w="18409920" h="1706880">
                  <a:moveTo>
                    <a:pt x="0" y="0"/>
                  </a:moveTo>
                  <a:lnTo>
                    <a:pt x="18409920" y="0"/>
                  </a:lnTo>
                  <a:lnTo>
                    <a:pt x="18409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160" b="-160160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184099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ChatGPT GPTs 무코딩 CS 챗봇 직접 제작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48640" y="8083296"/>
            <a:ext cx="2651760" cy="1280160"/>
            <a:chOff x="0" y="0"/>
            <a:chExt cx="3535680" cy="17068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535680" cy="1706880"/>
            </a:xfrm>
            <a:custGeom>
              <a:avLst/>
              <a:gdLst/>
              <a:ahLst/>
              <a:cxnLst/>
              <a:rect l="l" t="t" r="r" b="b"/>
              <a:pathLst>
                <a:path w="3535680" h="1706880">
                  <a:moveTo>
                    <a:pt x="0" y="0"/>
                  </a:moveTo>
                  <a:lnTo>
                    <a:pt x="3535680" y="0"/>
                  </a:lnTo>
                  <a:lnTo>
                    <a:pt x="353568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548640" y="8083296"/>
            <a:ext cx="2651760" cy="1280160"/>
            <a:chOff x="0" y="0"/>
            <a:chExt cx="3535680" cy="170688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535680" cy="1706880"/>
            </a:xfrm>
            <a:custGeom>
              <a:avLst/>
              <a:gdLst/>
              <a:ahLst/>
              <a:cxnLst/>
              <a:rect l="l" t="t" r="r" b="b"/>
              <a:pathLst>
                <a:path w="3535680" h="1706880">
                  <a:moveTo>
                    <a:pt x="0" y="0"/>
                  </a:moveTo>
                  <a:lnTo>
                    <a:pt x="3535680" y="0"/>
                  </a:lnTo>
                  <a:lnTo>
                    <a:pt x="35356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39" r="-11939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353568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5차시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383280" y="8083296"/>
            <a:ext cx="14173200" cy="1280160"/>
            <a:chOff x="0" y="0"/>
            <a:chExt cx="18897600" cy="170688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8897600" cy="1706880"/>
            </a:xfrm>
            <a:custGeom>
              <a:avLst/>
              <a:gdLst/>
              <a:ahLst/>
              <a:cxnLst/>
              <a:rect l="l" t="t" r="r" b="b"/>
              <a:pathLst>
                <a:path w="18897600" h="1706880">
                  <a:moveTo>
                    <a:pt x="0" y="0"/>
                  </a:moveTo>
                  <a:lnTo>
                    <a:pt x="18897600" y="0"/>
                  </a:lnTo>
                  <a:lnTo>
                    <a:pt x="188976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3566160" y="8083296"/>
            <a:ext cx="13807440" cy="1280160"/>
            <a:chOff x="0" y="0"/>
            <a:chExt cx="18409920" cy="17068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8409920" cy="1706880"/>
            </a:xfrm>
            <a:custGeom>
              <a:avLst/>
              <a:gdLst/>
              <a:ahLst/>
              <a:cxnLst/>
              <a:rect l="l" t="t" r="r" b="b"/>
              <a:pathLst>
                <a:path w="18409920" h="1706880">
                  <a:moveTo>
                    <a:pt x="0" y="0"/>
                  </a:moveTo>
                  <a:lnTo>
                    <a:pt x="18409920" y="0"/>
                  </a:lnTo>
                  <a:lnTo>
                    <a:pt x="18409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160" b="-160160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184099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전체 AI 도구 통합 + Action Plan 수립 + 발표</a:t>
              </a:r>
            </a:p>
          </p:txBody>
        </p:sp>
      </p:grpSp>
      <p:grpSp>
        <p:nvGrpSpPr>
          <p:cNvPr id="59" name="Group 17"/>
          <p:cNvGrpSpPr/>
          <p:nvPr/>
        </p:nvGrpSpPr>
        <p:grpSpPr>
          <a:xfrm>
            <a:off x="-12697" y="9604753"/>
            <a:ext cx="18313403" cy="720347"/>
            <a:chOff x="0" y="0"/>
            <a:chExt cx="24417871" cy="960463"/>
          </a:xfrm>
        </p:grpSpPr>
        <p:sp>
          <p:nvSpPr>
            <p:cNvPr id="60" name="Freeform 18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61" name="Group 19"/>
          <p:cNvGrpSpPr/>
          <p:nvPr/>
        </p:nvGrpSpPr>
        <p:grpSpPr>
          <a:xfrm>
            <a:off x="548640" y="9709785"/>
            <a:ext cx="10972800" cy="548640"/>
            <a:chOff x="0" y="0"/>
            <a:chExt cx="14630400" cy="731520"/>
          </a:xfrm>
        </p:grpSpPr>
        <p:sp>
          <p:nvSpPr>
            <p:cNvPr id="62" name="Freeform 20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63" name="TextBox 21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5차시 | AI 통합 적용 &amp; Action Plan</a:t>
              </a:r>
            </a:p>
          </p:txBody>
        </p:sp>
      </p:grpSp>
      <p:grpSp>
        <p:nvGrpSpPr>
          <p:cNvPr id="64" name="Group 22"/>
          <p:cNvGrpSpPr/>
          <p:nvPr/>
        </p:nvGrpSpPr>
        <p:grpSpPr>
          <a:xfrm>
            <a:off x="228600" y="9624403"/>
            <a:ext cx="17830800" cy="548640"/>
            <a:chOff x="0" y="0"/>
            <a:chExt cx="23774400" cy="731520"/>
          </a:xfrm>
        </p:grpSpPr>
        <p:sp>
          <p:nvSpPr>
            <p:cNvPr id="65" name="Freeform 23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66" name="TextBox 24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0263" y="842543"/>
            <a:ext cx="3500123" cy="537467"/>
            <a:chOff x="0" y="0"/>
            <a:chExt cx="4666831" cy="7166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6869" cy="716661"/>
            </a:xfrm>
            <a:custGeom>
              <a:avLst/>
              <a:gdLst/>
              <a:ahLst/>
              <a:cxnLst/>
              <a:rect l="l" t="t" r="r" b="b"/>
              <a:pathLst>
                <a:path w="4666869" h="716661">
                  <a:moveTo>
                    <a:pt x="0" y="0"/>
                  </a:moveTo>
                  <a:lnTo>
                    <a:pt x="4666869" y="0"/>
                  </a:lnTo>
                  <a:lnTo>
                    <a:pt x="466686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650882"/>
            </a:solidFill>
            <a:ln w="2540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822960" y="855240"/>
            <a:ext cx="3474720" cy="512064"/>
            <a:chOff x="0" y="0"/>
            <a:chExt cx="4632960" cy="6827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32960" cy="682752"/>
            </a:xfrm>
            <a:custGeom>
              <a:avLst/>
              <a:gdLst/>
              <a:ahLst/>
              <a:cxnLst/>
              <a:rect l="l" t="t" r="r" b="b"/>
              <a:pathLst>
                <a:path w="4632960" h="682752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219" b="-8221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463296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5차시-01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513608"/>
            <a:ext cx="16642080" cy="1316736"/>
            <a:chOff x="0" y="0"/>
            <a:chExt cx="22189440" cy="17556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9439" cy="1755648"/>
            </a:xfrm>
            <a:custGeom>
              <a:avLst/>
              <a:gdLst/>
              <a:ahLst/>
              <a:cxnLst/>
              <a:rect l="l" t="t" r="r" b="b"/>
              <a:pathLst>
                <a:path w="22189439" h="1755648">
                  <a:moveTo>
                    <a:pt x="0" y="0"/>
                  </a:moveTo>
                  <a:lnTo>
                    <a:pt x="22189439" y="0"/>
                  </a:lnTo>
                  <a:lnTo>
                    <a:pt x="221894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269" b="-19626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2189440" cy="1774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CS 업무 AI 통합 적용 실습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0263" y="2854223"/>
            <a:ext cx="2219963" cy="107699"/>
            <a:chOff x="0" y="0"/>
            <a:chExt cx="2959951" cy="1435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59989" cy="143637"/>
            </a:xfrm>
            <a:custGeom>
              <a:avLst/>
              <a:gdLst/>
              <a:ahLst/>
              <a:cxnLst/>
              <a:rect l="l" t="t" r="r" b="b"/>
              <a:pathLst>
                <a:path w="2959989" h="143637">
                  <a:moveTo>
                    <a:pt x="0" y="0"/>
                  </a:moveTo>
                  <a:lnTo>
                    <a:pt x="2959989" y="0"/>
                  </a:lnTo>
                  <a:lnTo>
                    <a:pt x="2959989" y="143637"/>
                  </a:lnTo>
                  <a:lnTo>
                    <a:pt x="0" y="14363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2960" y="3021225"/>
            <a:ext cx="16642080" cy="548640"/>
            <a:chOff x="0" y="0"/>
            <a:chExt cx="2218944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21894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rimo"/>
                  <a:ea typeface="Arimo"/>
                  <a:cs typeface="Arimo"/>
                  <a:sym typeface="Arimo"/>
                </a:rPr>
                <a:t>스크립트 → 기록 → FAQ → 챗봇 전체 파이프라인 완성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6607" y="3603241"/>
            <a:ext cx="8150857" cy="4804153"/>
            <a:chOff x="0" y="0"/>
            <a:chExt cx="10867809" cy="64055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67771" cy="6405499"/>
            </a:xfrm>
            <a:custGeom>
              <a:avLst/>
              <a:gdLst/>
              <a:ahLst/>
              <a:cxnLst/>
              <a:rect l="l" t="t" r="r" b="b"/>
              <a:pathLst>
                <a:path w="10867771" h="6405499">
                  <a:moveTo>
                    <a:pt x="0" y="0"/>
                  </a:moveTo>
                  <a:lnTo>
                    <a:pt x="10867771" y="0"/>
                  </a:lnTo>
                  <a:lnTo>
                    <a:pt x="1086777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10263" y="3596888"/>
            <a:ext cx="135131" cy="4816859"/>
            <a:chOff x="0" y="0"/>
            <a:chExt cx="180175" cy="642247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650882"/>
            </a:solidFill>
            <a:ln w="2540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152144" y="3847338"/>
            <a:ext cx="7680960" cy="548640"/>
            <a:chOff x="0" y="0"/>
            <a:chExt cx="1024128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🔗 AI 통합 CS 워크플로우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52144" y="4487418"/>
            <a:ext cx="7680960" cy="3730752"/>
            <a:chOff x="0" y="0"/>
            <a:chExt cx="10241280" cy="49743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41280" cy="4974336"/>
            </a:xfrm>
            <a:custGeom>
              <a:avLst/>
              <a:gdLst/>
              <a:ahLst/>
              <a:cxnLst/>
              <a:rect l="l" t="t" r="r" b="b"/>
              <a:pathLst>
                <a:path w="10241280" h="4974336">
                  <a:moveTo>
                    <a:pt x="0" y="0"/>
                  </a:moveTo>
                  <a:lnTo>
                    <a:pt x="10241280" y="0"/>
                  </a:lnTo>
                  <a:lnTo>
                    <a:pt x="1024128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18" r="-1231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024128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① 민원 접수 → AI로 유형 분류 (30초)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② 응대 스크립트 → AI 생성 후 맞춤 수정 (1분)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③ 상담 기록 → AI 자동 요약·구조화 (2분)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④ FAQ 업데이트 → 신규 패턴 AI 반영 (주 1회)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⑤ 챗봇 대응 → GPTs 자동 응답 + 담당자 연계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29087" y="3603241"/>
            <a:ext cx="8242297" cy="4804153"/>
            <a:chOff x="0" y="0"/>
            <a:chExt cx="10989729" cy="64055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89691" cy="6405499"/>
            </a:xfrm>
            <a:custGeom>
              <a:avLst/>
              <a:gdLst/>
              <a:ahLst/>
              <a:cxnLst/>
              <a:rect l="l" t="t" r="r" b="b"/>
              <a:pathLst>
                <a:path w="10989691" h="6405499">
                  <a:moveTo>
                    <a:pt x="0" y="0"/>
                  </a:moveTo>
                  <a:lnTo>
                    <a:pt x="10989691" y="0"/>
                  </a:lnTo>
                  <a:lnTo>
                    <a:pt x="1098969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222743" y="3596888"/>
            <a:ext cx="135131" cy="4816859"/>
            <a:chOff x="0" y="0"/>
            <a:chExt cx="180175" cy="642247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650882"/>
            </a:solidFill>
            <a:ln w="25400" cap="sq">
              <a:solidFill>
                <a:srgbClr val="047857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564624" y="3847338"/>
            <a:ext cx="7772400" cy="548640"/>
            <a:chOff x="0" y="0"/>
            <a:chExt cx="1036320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363200" cy="731520"/>
            </a:xfrm>
            <a:custGeom>
              <a:avLst/>
              <a:gdLst/>
              <a:ahLst/>
              <a:cxnLst/>
              <a:rect l="l" t="t" r="r" b="b"/>
              <a:pathLst>
                <a:path w="10363200" h="731520">
                  <a:moveTo>
                    <a:pt x="0" y="0"/>
                  </a:moveTo>
                  <a:lnTo>
                    <a:pt x="10363200" y="0"/>
                  </a:lnTo>
                  <a:lnTo>
                    <a:pt x="1036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038" b="-22603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103632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🎤 팀별 미니 사례 발표 가이드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64624" y="4487418"/>
            <a:ext cx="7772400" cy="3730752"/>
            <a:chOff x="0" y="0"/>
            <a:chExt cx="10363200" cy="497433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363200" cy="4974336"/>
            </a:xfrm>
            <a:custGeom>
              <a:avLst/>
              <a:gdLst/>
              <a:ahLst/>
              <a:cxnLst/>
              <a:rect l="l" t="t" r="r" b="b"/>
              <a:pathLst>
                <a:path w="10363200" h="4974336">
                  <a:moveTo>
                    <a:pt x="0" y="0"/>
                  </a:moveTo>
                  <a:lnTo>
                    <a:pt x="10363200" y="0"/>
                  </a:lnTo>
                  <a:lnTo>
                    <a:pt x="1036320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r="-1158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036320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발표 시간: 팀당 5분 (Q&amp;A 2분)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구성: 문제→AI 적용→결과→개선점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📌 발표 주제 예시: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   - 반복 민원 TOP 3 AI 분석 결과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   - GPTs 챗봇 직접 구현 시연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0263" y="8613248"/>
            <a:ext cx="17033243" cy="903227"/>
            <a:chOff x="0" y="0"/>
            <a:chExt cx="22710991" cy="120430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711029" cy="1204341"/>
            </a:xfrm>
            <a:custGeom>
              <a:avLst/>
              <a:gdLst/>
              <a:ahLst/>
              <a:cxnLst/>
              <a:rect l="l" t="t" r="r" b="b"/>
              <a:pathLst>
                <a:path w="22711029" h="1204341">
                  <a:moveTo>
                    <a:pt x="0" y="0"/>
                  </a:moveTo>
                  <a:lnTo>
                    <a:pt x="22711029" y="0"/>
                  </a:lnTo>
                  <a:lnTo>
                    <a:pt x="22711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F0FDFA"/>
            </a:solidFill>
            <a:ln w="2540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97280" y="8625945"/>
            <a:ext cx="16642080" cy="877824"/>
            <a:chOff x="0" y="0"/>
            <a:chExt cx="22189440" cy="117043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2189439" cy="1170432"/>
            </a:xfrm>
            <a:custGeom>
              <a:avLst/>
              <a:gdLst/>
              <a:ahLst/>
              <a:cxnLst/>
              <a:rect l="l" t="t" r="r" b="b"/>
              <a:pathLst>
                <a:path w="22189439" h="1170432">
                  <a:moveTo>
                    <a:pt x="0" y="0"/>
                  </a:moveTo>
                  <a:lnTo>
                    <a:pt x="22189439" y="0"/>
                  </a:lnTo>
                  <a:lnTo>
                    <a:pt x="221894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9403" b="-31940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22189440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65F46"/>
                  </a:solidFill>
                  <a:latin typeface="Arimo"/>
                  <a:ea typeface="Arimo"/>
                  <a:cs typeface="Arimo"/>
                  <a:sym typeface="Arimo"/>
                </a:rPr>
                <a:t>💡 팀 실습: 우리 팀의 가장 자주 발생하는 민원 1건을 선정해서 오늘 배운 AI 도구 3가지 이상을 적용한 해결 사례를 5분 발표 자료로 만들어보세요!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5차시-01 | CS 업무 AI 통합 적용 실습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48" name="AutoShape 48"/>
          <p:cNvSpPr/>
          <p:nvPr/>
        </p:nvSpPr>
        <p:spPr>
          <a:xfrm rot="6540">
            <a:off x="-792166" y="836190"/>
            <a:ext cx="6705552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CS 업무 전체 흐름 – AI 통합 시나리오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866900"/>
            <a:ext cx="3291840" cy="1097280"/>
            <a:chOff x="0" y="0"/>
            <a:chExt cx="4389120" cy="14630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0080" y="1866900"/>
            <a:ext cx="3291840" cy="1097280"/>
            <a:chOff x="0" y="0"/>
            <a:chExt cx="4389120" cy="14630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38912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① 민원 접수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14800" y="1866900"/>
            <a:ext cx="13533120" cy="1097280"/>
            <a:chOff x="0" y="0"/>
            <a:chExt cx="18044160" cy="14630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044161" cy="1463040"/>
            </a:xfrm>
            <a:custGeom>
              <a:avLst/>
              <a:gdLst/>
              <a:ahLst/>
              <a:cxnLst/>
              <a:rect l="l" t="t" r="r" b="b"/>
              <a:pathLst>
                <a:path w="18044161" h="1463040">
                  <a:moveTo>
                    <a:pt x="0" y="0"/>
                  </a:moveTo>
                  <a:lnTo>
                    <a:pt x="18044161" y="0"/>
                  </a:lnTo>
                  <a:lnTo>
                    <a:pt x="1804416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4297680" y="1866900"/>
            <a:ext cx="13167360" cy="1097280"/>
            <a:chOff x="0" y="0"/>
            <a:chExt cx="17556480" cy="14630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556480" cy="1463040"/>
            </a:xfrm>
            <a:custGeom>
              <a:avLst/>
              <a:gdLst/>
              <a:ahLst/>
              <a:cxnLst/>
              <a:rect l="l" t="t" r="r" b="b"/>
              <a:pathLst>
                <a:path w="17556480" h="1463040">
                  <a:moveTo>
                    <a:pt x="0" y="0"/>
                  </a:moveTo>
                  <a:lnTo>
                    <a:pt x="17556480" y="0"/>
                  </a:lnTo>
                  <a:lnTo>
                    <a:pt x="17556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17556480" cy="1453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📞 콜/방문 접수 시 클로바Note 자동 녹음·기록 시작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20240" y="2964180"/>
            <a:ext cx="1280160" cy="237744"/>
            <a:chOff x="0" y="0"/>
            <a:chExt cx="1706880" cy="3169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06880" cy="316992"/>
            </a:xfrm>
            <a:custGeom>
              <a:avLst/>
              <a:gdLst/>
              <a:ahLst/>
              <a:cxnLst/>
              <a:rect l="l" t="t" r="r" b="b"/>
              <a:pathLst>
                <a:path w="1706880" h="316992">
                  <a:moveTo>
                    <a:pt x="0" y="0"/>
                  </a:moveTo>
                  <a:lnTo>
                    <a:pt x="1706880" y="0"/>
                  </a:lnTo>
                  <a:lnTo>
                    <a:pt x="170688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919" b="-5491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1706880" cy="3169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↓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40080" y="3201924"/>
            <a:ext cx="3291840" cy="1097280"/>
            <a:chOff x="0" y="0"/>
            <a:chExt cx="4389120" cy="14630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40080" y="3201924"/>
            <a:ext cx="3291840" cy="1097280"/>
            <a:chOff x="0" y="0"/>
            <a:chExt cx="4389120" cy="14630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438912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② 응대 스크립트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114800" y="3201924"/>
            <a:ext cx="13533120" cy="1097280"/>
            <a:chOff x="0" y="0"/>
            <a:chExt cx="18044160" cy="14630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044161" cy="1463040"/>
            </a:xfrm>
            <a:custGeom>
              <a:avLst/>
              <a:gdLst/>
              <a:ahLst/>
              <a:cxnLst/>
              <a:rect l="l" t="t" r="r" b="b"/>
              <a:pathLst>
                <a:path w="18044161" h="1463040">
                  <a:moveTo>
                    <a:pt x="0" y="0"/>
                  </a:moveTo>
                  <a:lnTo>
                    <a:pt x="18044161" y="0"/>
                  </a:lnTo>
                  <a:lnTo>
                    <a:pt x="1804416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4297680" y="3201924"/>
            <a:ext cx="13167360" cy="1097280"/>
            <a:chOff x="0" y="0"/>
            <a:chExt cx="17556480" cy="14630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7556480" cy="1463040"/>
            </a:xfrm>
            <a:custGeom>
              <a:avLst/>
              <a:gdLst/>
              <a:ahLst/>
              <a:cxnLst/>
              <a:rect l="l" t="t" r="r" b="b"/>
              <a:pathLst>
                <a:path w="17556480" h="1463040">
                  <a:moveTo>
                    <a:pt x="0" y="0"/>
                  </a:moveTo>
                  <a:lnTo>
                    <a:pt x="17556480" y="0"/>
                  </a:lnTo>
                  <a:lnTo>
                    <a:pt x="17556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17556480" cy="1453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🤖 ChatGPT/Claude로 민원 유형별 맞춤 응대 문구 즉시 생성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920240" y="4299204"/>
            <a:ext cx="1280160" cy="237744"/>
            <a:chOff x="0" y="0"/>
            <a:chExt cx="1706880" cy="3169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706880" cy="316992"/>
            </a:xfrm>
            <a:custGeom>
              <a:avLst/>
              <a:gdLst/>
              <a:ahLst/>
              <a:cxnLst/>
              <a:rect l="l" t="t" r="r" b="b"/>
              <a:pathLst>
                <a:path w="1706880" h="316992">
                  <a:moveTo>
                    <a:pt x="0" y="0"/>
                  </a:moveTo>
                  <a:lnTo>
                    <a:pt x="1706880" y="0"/>
                  </a:lnTo>
                  <a:lnTo>
                    <a:pt x="170688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919" b="-54919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1706880" cy="3169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↓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0080" y="4536948"/>
            <a:ext cx="3291840" cy="1097280"/>
            <a:chOff x="0" y="0"/>
            <a:chExt cx="4389120" cy="14630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640080" y="4536948"/>
            <a:ext cx="3291840" cy="1097280"/>
            <a:chOff x="0" y="0"/>
            <a:chExt cx="4389120" cy="14630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438912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③ FAQ 챗봇 안내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114800" y="4536948"/>
            <a:ext cx="13533120" cy="1097280"/>
            <a:chOff x="0" y="0"/>
            <a:chExt cx="18044160" cy="14630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8044161" cy="1463040"/>
            </a:xfrm>
            <a:custGeom>
              <a:avLst/>
              <a:gdLst/>
              <a:ahLst/>
              <a:cxnLst/>
              <a:rect l="l" t="t" r="r" b="b"/>
              <a:pathLst>
                <a:path w="18044161" h="1463040">
                  <a:moveTo>
                    <a:pt x="0" y="0"/>
                  </a:moveTo>
                  <a:lnTo>
                    <a:pt x="18044161" y="0"/>
                  </a:lnTo>
                  <a:lnTo>
                    <a:pt x="1804416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4297680" y="4536948"/>
            <a:ext cx="13167360" cy="1097280"/>
            <a:chOff x="0" y="0"/>
            <a:chExt cx="17556480" cy="14630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7556480" cy="1463040"/>
            </a:xfrm>
            <a:custGeom>
              <a:avLst/>
              <a:gdLst/>
              <a:ahLst/>
              <a:cxnLst/>
              <a:rect l="l" t="t" r="r" b="b"/>
              <a:pathLst>
                <a:path w="17556480" h="1463040">
                  <a:moveTo>
                    <a:pt x="0" y="0"/>
                  </a:moveTo>
                  <a:lnTo>
                    <a:pt x="17556480" y="0"/>
                  </a:lnTo>
                  <a:lnTo>
                    <a:pt x="17556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9525"/>
              <a:ext cx="17556480" cy="1453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💬 GPTs 챗봇이 반복 문의 자동 응답 (24시간 가능)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920240" y="5634228"/>
            <a:ext cx="1280160" cy="237744"/>
            <a:chOff x="0" y="0"/>
            <a:chExt cx="1706880" cy="31699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706880" cy="316992"/>
            </a:xfrm>
            <a:custGeom>
              <a:avLst/>
              <a:gdLst/>
              <a:ahLst/>
              <a:cxnLst/>
              <a:rect l="l" t="t" r="r" b="b"/>
              <a:pathLst>
                <a:path w="1706880" h="316992">
                  <a:moveTo>
                    <a:pt x="0" y="0"/>
                  </a:moveTo>
                  <a:lnTo>
                    <a:pt x="1706880" y="0"/>
                  </a:lnTo>
                  <a:lnTo>
                    <a:pt x="170688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919" b="-54919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1706880" cy="3169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↓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0080" y="5871972"/>
            <a:ext cx="3291840" cy="1097280"/>
            <a:chOff x="0" y="0"/>
            <a:chExt cx="4389120" cy="14630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640080" y="5871972"/>
            <a:ext cx="3291840" cy="1097280"/>
            <a:chOff x="0" y="0"/>
            <a:chExt cx="4389120" cy="14630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438912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④ 상담 기록 자동화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114800" y="5871972"/>
            <a:ext cx="13533120" cy="1097280"/>
            <a:chOff x="0" y="0"/>
            <a:chExt cx="18044160" cy="14630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8044161" cy="1463040"/>
            </a:xfrm>
            <a:custGeom>
              <a:avLst/>
              <a:gdLst/>
              <a:ahLst/>
              <a:cxnLst/>
              <a:rect l="l" t="t" r="r" b="b"/>
              <a:pathLst>
                <a:path w="18044161" h="1463040">
                  <a:moveTo>
                    <a:pt x="0" y="0"/>
                  </a:moveTo>
                  <a:lnTo>
                    <a:pt x="18044161" y="0"/>
                  </a:lnTo>
                  <a:lnTo>
                    <a:pt x="1804416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4297680" y="5871972"/>
            <a:ext cx="13167360" cy="1097280"/>
            <a:chOff x="0" y="0"/>
            <a:chExt cx="17556480" cy="14630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7556480" cy="1463040"/>
            </a:xfrm>
            <a:custGeom>
              <a:avLst/>
              <a:gdLst/>
              <a:ahLst/>
              <a:cxnLst/>
              <a:rect l="l" t="t" r="r" b="b"/>
              <a:pathLst>
                <a:path w="17556480" h="1463040">
                  <a:moveTo>
                    <a:pt x="0" y="0"/>
                  </a:moveTo>
                  <a:lnTo>
                    <a:pt x="17556480" y="0"/>
                  </a:lnTo>
                  <a:lnTo>
                    <a:pt x="17556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9525"/>
              <a:ext cx="17556480" cy="1453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📝 음성→텍스트→AI 요약→표준 기록 자동 저장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920240" y="6969252"/>
            <a:ext cx="1280160" cy="237744"/>
            <a:chOff x="0" y="0"/>
            <a:chExt cx="1706880" cy="31699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706880" cy="316992"/>
            </a:xfrm>
            <a:custGeom>
              <a:avLst/>
              <a:gdLst/>
              <a:ahLst/>
              <a:cxnLst/>
              <a:rect l="l" t="t" r="r" b="b"/>
              <a:pathLst>
                <a:path w="1706880" h="316992">
                  <a:moveTo>
                    <a:pt x="0" y="0"/>
                  </a:moveTo>
                  <a:lnTo>
                    <a:pt x="1706880" y="0"/>
                  </a:lnTo>
                  <a:lnTo>
                    <a:pt x="170688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919" b="-54919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0"/>
              <a:ext cx="1706880" cy="3169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↓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40080" y="7206996"/>
            <a:ext cx="3291840" cy="1097280"/>
            <a:chOff x="0" y="0"/>
            <a:chExt cx="4389120" cy="14630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640080" y="7206996"/>
            <a:ext cx="3291840" cy="1097280"/>
            <a:chOff x="0" y="0"/>
            <a:chExt cx="4389120" cy="14630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438912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⑤ 결과 보고서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114800" y="7206996"/>
            <a:ext cx="13533120" cy="1097280"/>
            <a:chOff x="0" y="0"/>
            <a:chExt cx="18044160" cy="14630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8044161" cy="1463040"/>
            </a:xfrm>
            <a:custGeom>
              <a:avLst/>
              <a:gdLst/>
              <a:ahLst/>
              <a:cxnLst/>
              <a:rect l="l" t="t" r="r" b="b"/>
              <a:pathLst>
                <a:path w="18044161" h="1463040">
                  <a:moveTo>
                    <a:pt x="0" y="0"/>
                  </a:moveTo>
                  <a:lnTo>
                    <a:pt x="18044161" y="0"/>
                  </a:lnTo>
                  <a:lnTo>
                    <a:pt x="1804416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4297680" y="7206996"/>
            <a:ext cx="13167360" cy="1097280"/>
            <a:chOff x="0" y="0"/>
            <a:chExt cx="17556480" cy="14630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7556480" cy="1463040"/>
            </a:xfrm>
            <a:custGeom>
              <a:avLst/>
              <a:gdLst/>
              <a:ahLst/>
              <a:cxnLst/>
              <a:rect l="l" t="t" r="r" b="b"/>
              <a:pathLst>
                <a:path w="17556480" h="1463040">
                  <a:moveTo>
                    <a:pt x="0" y="0"/>
                  </a:moveTo>
                  <a:lnTo>
                    <a:pt x="17556480" y="0"/>
                  </a:lnTo>
                  <a:lnTo>
                    <a:pt x="17556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9525"/>
              <a:ext cx="17556480" cy="1453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📋 ChatGPT로 처리 결과 보고서 초안 5분 완성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920240" y="8304276"/>
            <a:ext cx="1280160" cy="237744"/>
            <a:chOff x="0" y="0"/>
            <a:chExt cx="1706880" cy="31699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706880" cy="316992"/>
            </a:xfrm>
            <a:custGeom>
              <a:avLst/>
              <a:gdLst/>
              <a:ahLst/>
              <a:cxnLst/>
              <a:rect l="l" t="t" r="r" b="b"/>
              <a:pathLst>
                <a:path w="1706880" h="316992">
                  <a:moveTo>
                    <a:pt x="0" y="0"/>
                  </a:moveTo>
                  <a:lnTo>
                    <a:pt x="1706880" y="0"/>
                  </a:lnTo>
                  <a:lnTo>
                    <a:pt x="170688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919" b="-54919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1706880" cy="3169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↓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40080" y="8542020"/>
            <a:ext cx="3291840" cy="1097280"/>
            <a:chOff x="0" y="0"/>
            <a:chExt cx="4389120" cy="14630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640080" y="8542020"/>
            <a:ext cx="3291840" cy="1097280"/>
            <a:chOff x="0" y="0"/>
            <a:chExt cx="4389120" cy="14630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389120" cy="1463040"/>
            </a:xfrm>
            <a:custGeom>
              <a:avLst/>
              <a:gdLst/>
              <a:ahLst/>
              <a:cxnLst/>
              <a:rect l="l" t="t" r="r" b="b"/>
              <a:pathLst>
                <a:path w="4389120" h="146304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438912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⑥ 민원 패턴 분석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4114800" y="8542020"/>
            <a:ext cx="13533120" cy="1097280"/>
            <a:chOff x="0" y="0"/>
            <a:chExt cx="18044160" cy="146304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8044161" cy="1463040"/>
            </a:xfrm>
            <a:custGeom>
              <a:avLst/>
              <a:gdLst/>
              <a:ahLst/>
              <a:cxnLst/>
              <a:rect l="l" t="t" r="r" b="b"/>
              <a:pathLst>
                <a:path w="18044161" h="1463040">
                  <a:moveTo>
                    <a:pt x="0" y="0"/>
                  </a:moveTo>
                  <a:lnTo>
                    <a:pt x="18044161" y="0"/>
                  </a:lnTo>
                  <a:lnTo>
                    <a:pt x="1804416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4297680" y="8542020"/>
            <a:ext cx="13167360" cy="1097280"/>
            <a:chOff x="0" y="0"/>
            <a:chExt cx="17556480" cy="146304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7556480" cy="1463040"/>
            </a:xfrm>
            <a:custGeom>
              <a:avLst/>
              <a:gdLst/>
              <a:ahLst/>
              <a:cxnLst/>
              <a:rect l="l" t="t" r="r" b="b"/>
              <a:pathLst>
                <a:path w="17556480" h="1463040">
                  <a:moveTo>
                    <a:pt x="0" y="0"/>
                  </a:moveTo>
                  <a:lnTo>
                    <a:pt x="17556480" y="0"/>
                  </a:lnTo>
                  <a:lnTo>
                    <a:pt x="17556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9525"/>
              <a:ext cx="17556480" cy="1453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📊 NotebookLM·AI로 반복 민원 패턴 분석 → FAQ 업데이트</a:t>
              </a:r>
            </a:p>
          </p:txBody>
        </p:sp>
      </p:grpSp>
      <p:grpSp>
        <p:nvGrpSpPr>
          <p:cNvPr id="84" name="Group 40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85" name="Freeform 41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86" name="Group 42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87" name="Freeform 4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8" name="TextBox 4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5차시-01 | CS 업무 AI 통합 적용 실습</a:t>
              </a:r>
            </a:p>
          </p:txBody>
        </p:sp>
      </p:grpSp>
      <p:grpSp>
        <p:nvGrpSpPr>
          <p:cNvPr id="89" name="Group 45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90" name="Freeform 46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91" name="TextBox 4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CS 업무별 AI 도구 최적 활용 가이드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790700"/>
            <a:ext cx="3474720" cy="731520"/>
            <a:chOff x="0" y="0"/>
            <a:chExt cx="4632960" cy="975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32960" cy="975360"/>
            </a:xfrm>
            <a:custGeom>
              <a:avLst/>
              <a:gdLst/>
              <a:ahLst/>
              <a:cxnLst/>
              <a:rect l="l" t="t" r="r" b="b"/>
              <a:pathLst>
                <a:path w="4632960" h="9753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0080" y="1790700"/>
            <a:ext cx="3474720" cy="731520"/>
            <a:chOff x="0" y="0"/>
            <a:chExt cx="4632960" cy="975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32960" cy="975360"/>
            </a:xfrm>
            <a:custGeom>
              <a:avLst/>
              <a:gdLst/>
              <a:ahLst/>
              <a:cxnLst/>
              <a:rect l="l" t="t" r="r" b="b"/>
              <a:pathLst>
                <a:path w="4632960" h="9753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53" b="-4255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4632960" cy="965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CS 업무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206240" y="1790700"/>
            <a:ext cx="4023360" cy="731520"/>
            <a:chOff x="0" y="0"/>
            <a:chExt cx="5364480" cy="9753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64480" cy="975360"/>
            </a:xfrm>
            <a:custGeom>
              <a:avLst/>
              <a:gdLst/>
              <a:ahLst/>
              <a:cxnLst/>
              <a:rect l="l" t="t" r="r" b="b"/>
              <a:pathLst>
                <a:path w="5364480" h="97536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4206240" y="1790700"/>
            <a:ext cx="4023360" cy="731520"/>
            <a:chOff x="0" y="0"/>
            <a:chExt cx="5364480" cy="9753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64480" cy="975360"/>
            </a:xfrm>
            <a:custGeom>
              <a:avLst/>
              <a:gdLst/>
              <a:ahLst/>
              <a:cxnLst/>
              <a:rect l="l" t="t" r="r" b="b"/>
              <a:pathLst>
                <a:path w="5364480" h="97536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5364480" cy="965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추천 AI 도구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321040" y="1790700"/>
            <a:ext cx="9326880" cy="731520"/>
            <a:chOff x="0" y="0"/>
            <a:chExt cx="12435840" cy="9753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435840" cy="975360"/>
            </a:xfrm>
            <a:custGeom>
              <a:avLst/>
              <a:gdLst/>
              <a:ahLst/>
              <a:cxnLst/>
              <a:rect l="l" t="t" r="r" b="b"/>
              <a:pathLst>
                <a:path w="12435840" h="975360">
                  <a:moveTo>
                    <a:pt x="0" y="0"/>
                  </a:moveTo>
                  <a:lnTo>
                    <a:pt x="12435840" y="0"/>
                  </a:lnTo>
                  <a:lnTo>
                    <a:pt x="124358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8321040" y="1790700"/>
            <a:ext cx="9326880" cy="731520"/>
            <a:chOff x="0" y="0"/>
            <a:chExt cx="12435840" cy="975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435840" cy="975360"/>
            </a:xfrm>
            <a:custGeom>
              <a:avLst/>
              <a:gdLst/>
              <a:ahLst/>
              <a:cxnLst/>
              <a:rect l="l" t="t" r="r" b="b"/>
              <a:pathLst>
                <a:path w="12435840" h="975360">
                  <a:moveTo>
                    <a:pt x="0" y="0"/>
                  </a:moveTo>
                  <a:lnTo>
                    <a:pt x="12435840" y="0"/>
                  </a:lnTo>
                  <a:lnTo>
                    <a:pt x="12435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434" b="-198434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12435840" cy="965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활용 방법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0080" y="2650236"/>
            <a:ext cx="3474720" cy="1024128"/>
            <a:chOff x="0" y="0"/>
            <a:chExt cx="4632960" cy="13655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632960" cy="1365504"/>
            </a:xfrm>
            <a:custGeom>
              <a:avLst/>
              <a:gdLst/>
              <a:ahLst/>
              <a:cxnLst/>
              <a:rect l="l" t="t" r="r" b="b"/>
              <a:pathLst>
                <a:path w="4632960" h="1365504">
                  <a:moveTo>
                    <a:pt x="0" y="0"/>
                  </a:moveTo>
                  <a:lnTo>
                    <a:pt x="4632960" y="0"/>
                  </a:lnTo>
                  <a:lnTo>
                    <a:pt x="463296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40080" y="2650236"/>
            <a:ext cx="3474720" cy="1024128"/>
            <a:chOff x="0" y="0"/>
            <a:chExt cx="4632960" cy="136550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632960" cy="1365504"/>
            </a:xfrm>
            <a:custGeom>
              <a:avLst/>
              <a:gdLst/>
              <a:ahLst/>
              <a:cxnLst/>
              <a:rect l="l" t="t" r="r" b="b"/>
              <a:pathLst>
                <a:path w="4632960" h="1365504">
                  <a:moveTo>
                    <a:pt x="0" y="0"/>
                  </a:moveTo>
                  <a:lnTo>
                    <a:pt x="4632960" y="0"/>
                  </a:lnTo>
                  <a:lnTo>
                    <a:pt x="46329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9" b="-1610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463296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민원 스크립트 작성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206240" y="2650236"/>
            <a:ext cx="4023360" cy="1024128"/>
            <a:chOff x="0" y="0"/>
            <a:chExt cx="5364480" cy="136550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364480" cy="1365504"/>
            </a:xfrm>
            <a:custGeom>
              <a:avLst/>
              <a:gdLst/>
              <a:ahLst/>
              <a:cxnLst/>
              <a:rect l="l" t="t" r="r" b="b"/>
              <a:pathLst>
                <a:path w="5364480" h="1365504">
                  <a:moveTo>
                    <a:pt x="0" y="0"/>
                  </a:moveTo>
                  <a:lnTo>
                    <a:pt x="5364480" y="0"/>
                  </a:lnTo>
                  <a:lnTo>
                    <a:pt x="536448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4389120" y="2650236"/>
            <a:ext cx="3657600" cy="1024128"/>
            <a:chOff x="0" y="0"/>
            <a:chExt cx="4876800" cy="136550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876800" cy="1365504"/>
            </a:xfrm>
            <a:custGeom>
              <a:avLst/>
              <a:gdLst/>
              <a:ahLst/>
              <a:cxnLst/>
              <a:rect l="l" t="t" r="r" b="b"/>
              <a:pathLst>
                <a:path w="4876800" h="1365504">
                  <a:moveTo>
                    <a:pt x="0" y="0"/>
                  </a:moveTo>
                  <a:lnTo>
                    <a:pt x="4876800" y="0"/>
                  </a:lnTo>
                  <a:lnTo>
                    <a:pt x="48768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589" b="-19589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487680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ChatGPT / Claude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321040" y="2650236"/>
            <a:ext cx="9326880" cy="1024128"/>
            <a:chOff x="0" y="0"/>
            <a:chExt cx="12435840" cy="136550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435840" cy="1365504"/>
            </a:xfrm>
            <a:custGeom>
              <a:avLst/>
              <a:gdLst/>
              <a:ahLst/>
              <a:cxnLst/>
              <a:rect l="l" t="t" r="r" b="b"/>
              <a:pathLst>
                <a:path w="12435840" h="1365504">
                  <a:moveTo>
                    <a:pt x="0" y="0"/>
                  </a:moveTo>
                  <a:lnTo>
                    <a:pt x="12435840" y="0"/>
                  </a:lnTo>
                  <a:lnTo>
                    <a:pt x="1243584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8503920" y="2650236"/>
            <a:ext cx="8961120" cy="1024128"/>
            <a:chOff x="0" y="0"/>
            <a:chExt cx="11948160" cy="136550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948160" cy="1365504"/>
            </a:xfrm>
            <a:custGeom>
              <a:avLst/>
              <a:gdLst/>
              <a:ahLst/>
              <a:cxnLst/>
              <a:rect l="l" t="t" r="r" b="b"/>
              <a:pathLst>
                <a:path w="11948160" h="1365504">
                  <a:moveTo>
                    <a:pt x="0" y="0"/>
                  </a:moveTo>
                  <a:lnTo>
                    <a:pt x="11948160" y="0"/>
                  </a:lnTo>
                  <a:lnTo>
                    <a:pt x="119481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194816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역할+상황+형식 프롬프트 입력 → 즉시 생성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0080" y="3820668"/>
            <a:ext cx="3474720" cy="1024128"/>
            <a:chOff x="0" y="0"/>
            <a:chExt cx="4632960" cy="136550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632960" cy="1365504"/>
            </a:xfrm>
            <a:custGeom>
              <a:avLst/>
              <a:gdLst/>
              <a:ahLst/>
              <a:cxnLst/>
              <a:rect l="l" t="t" r="r" b="b"/>
              <a:pathLst>
                <a:path w="4632960" h="1365504">
                  <a:moveTo>
                    <a:pt x="0" y="0"/>
                  </a:moveTo>
                  <a:lnTo>
                    <a:pt x="4632960" y="0"/>
                  </a:lnTo>
                  <a:lnTo>
                    <a:pt x="463296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40080" y="3820668"/>
            <a:ext cx="3474720" cy="1024128"/>
            <a:chOff x="0" y="0"/>
            <a:chExt cx="4632960" cy="136550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632960" cy="1365504"/>
            </a:xfrm>
            <a:custGeom>
              <a:avLst/>
              <a:gdLst/>
              <a:ahLst/>
              <a:cxnLst/>
              <a:rect l="l" t="t" r="r" b="b"/>
              <a:pathLst>
                <a:path w="4632960" h="1365504">
                  <a:moveTo>
                    <a:pt x="0" y="0"/>
                  </a:moveTo>
                  <a:lnTo>
                    <a:pt x="4632960" y="0"/>
                  </a:lnTo>
                  <a:lnTo>
                    <a:pt x="46329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9" b="-16109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463296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상담 음성 기록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206240" y="3820668"/>
            <a:ext cx="4023360" cy="1024128"/>
            <a:chOff x="0" y="0"/>
            <a:chExt cx="5364480" cy="136550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364480" cy="1365504"/>
            </a:xfrm>
            <a:custGeom>
              <a:avLst/>
              <a:gdLst/>
              <a:ahLst/>
              <a:cxnLst/>
              <a:rect l="l" t="t" r="r" b="b"/>
              <a:pathLst>
                <a:path w="5364480" h="1365504">
                  <a:moveTo>
                    <a:pt x="0" y="0"/>
                  </a:moveTo>
                  <a:lnTo>
                    <a:pt x="5364480" y="0"/>
                  </a:lnTo>
                  <a:lnTo>
                    <a:pt x="536448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4389120" y="3820668"/>
            <a:ext cx="3657600" cy="1024128"/>
            <a:chOff x="0" y="0"/>
            <a:chExt cx="4876800" cy="136550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876800" cy="1365504"/>
            </a:xfrm>
            <a:custGeom>
              <a:avLst/>
              <a:gdLst/>
              <a:ahLst/>
              <a:cxnLst/>
              <a:rect l="l" t="t" r="r" b="b"/>
              <a:pathLst>
                <a:path w="4876800" h="1365504">
                  <a:moveTo>
                    <a:pt x="0" y="0"/>
                  </a:moveTo>
                  <a:lnTo>
                    <a:pt x="4876800" y="0"/>
                  </a:lnTo>
                  <a:lnTo>
                    <a:pt x="48768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589" b="-19589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487680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0A7B83"/>
                  </a:solidFill>
                  <a:latin typeface="Mandali"/>
                  <a:ea typeface="Mandali"/>
                  <a:cs typeface="Mandali"/>
                  <a:sym typeface="Mandali"/>
                </a:rPr>
                <a:t>클로바Note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321040" y="3820668"/>
            <a:ext cx="9326880" cy="1024128"/>
            <a:chOff x="0" y="0"/>
            <a:chExt cx="12435840" cy="136550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435840" cy="1365504"/>
            </a:xfrm>
            <a:custGeom>
              <a:avLst/>
              <a:gdLst/>
              <a:ahLst/>
              <a:cxnLst/>
              <a:rect l="l" t="t" r="r" b="b"/>
              <a:pathLst>
                <a:path w="12435840" h="1365504">
                  <a:moveTo>
                    <a:pt x="0" y="0"/>
                  </a:moveTo>
                  <a:lnTo>
                    <a:pt x="12435840" y="0"/>
                  </a:lnTo>
                  <a:lnTo>
                    <a:pt x="1243584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8503920" y="3820668"/>
            <a:ext cx="8961120" cy="1024128"/>
            <a:chOff x="0" y="0"/>
            <a:chExt cx="11948160" cy="136550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948160" cy="1365504"/>
            </a:xfrm>
            <a:custGeom>
              <a:avLst/>
              <a:gdLst/>
              <a:ahLst/>
              <a:cxnLst/>
              <a:rect l="l" t="t" r="r" b="b"/>
              <a:pathLst>
                <a:path w="11948160" h="1365504">
                  <a:moveTo>
                    <a:pt x="0" y="0"/>
                  </a:moveTo>
                  <a:lnTo>
                    <a:pt x="11948160" y="0"/>
                  </a:lnTo>
                  <a:lnTo>
                    <a:pt x="119481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1194816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녹음 → 텍스트 자동 변환 → ChatGPT 요약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40080" y="4991100"/>
            <a:ext cx="3474720" cy="1024128"/>
            <a:chOff x="0" y="0"/>
            <a:chExt cx="4632960" cy="136550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632960" cy="1365504"/>
            </a:xfrm>
            <a:custGeom>
              <a:avLst/>
              <a:gdLst/>
              <a:ahLst/>
              <a:cxnLst/>
              <a:rect l="l" t="t" r="r" b="b"/>
              <a:pathLst>
                <a:path w="4632960" h="1365504">
                  <a:moveTo>
                    <a:pt x="0" y="0"/>
                  </a:moveTo>
                  <a:lnTo>
                    <a:pt x="4632960" y="0"/>
                  </a:lnTo>
                  <a:lnTo>
                    <a:pt x="463296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640080" y="4991100"/>
            <a:ext cx="3474720" cy="1024128"/>
            <a:chOff x="0" y="0"/>
            <a:chExt cx="4632960" cy="136550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632960" cy="1365504"/>
            </a:xfrm>
            <a:custGeom>
              <a:avLst/>
              <a:gdLst/>
              <a:ahLst/>
              <a:cxnLst/>
              <a:rect l="l" t="t" r="r" b="b"/>
              <a:pathLst>
                <a:path w="4632960" h="1365504">
                  <a:moveTo>
                    <a:pt x="0" y="0"/>
                  </a:moveTo>
                  <a:lnTo>
                    <a:pt x="4632960" y="0"/>
                  </a:lnTo>
                  <a:lnTo>
                    <a:pt x="46329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9" b="-16109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463296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FAQ 자동 생성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206240" y="4991100"/>
            <a:ext cx="4023360" cy="1024128"/>
            <a:chOff x="0" y="0"/>
            <a:chExt cx="5364480" cy="136550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364480" cy="1365504"/>
            </a:xfrm>
            <a:custGeom>
              <a:avLst/>
              <a:gdLst/>
              <a:ahLst/>
              <a:cxnLst/>
              <a:rect l="l" t="t" r="r" b="b"/>
              <a:pathLst>
                <a:path w="5364480" h="1365504">
                  <a:moveTo>
                    <a:pt x="0" y="0"/>
                  </a:moveTo>
                  <a:lnTo>
                    <a:pt x="5364480" y="0"/>
                  </a:lnTo>
                  <a:lnTo>
                    <a:pt x="536448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4389120" y="4991100"/>
            <a:ext cx="3657600" cy="1024128"/>
            <a:chOff x="0" y="0"/>
            <a:chExt cx="4876800" cy="136550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876800" cy="1365504"/>
            </a:xfrm>
            <a:custGeom>
              <a:avLst/>
              <a:gdLst/>
              <a:ahLst/>
              <a:cxnLst/>
              <a:rect l="l" t="t" r="r" b="b"/>
              <a:pathLst>
                <a:path w="4876800" h="1365504">
                  <a:moveTo>
                    <a:pt x="0" y="0"/>
                  </a:moveTo>
                  <a:lnTo>
                    <a:pt x="4876800" y="0"/>
                  </a:lnTo>
                  <a:lnTo>
                    <a:pt x="48768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589" b="-19589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487680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NotebookLM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321040" y="4991100"/>
            <a:ext cx="9326880" cy="1024128"/>
            <a:chOff x="0" y="0"/>
            <a:chExt cx="12435840" cy="136550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2435840" cy="1365504"/>
            </a:xfrm>
            <a:custGeom>
              <a:avLst/>
              <a:gdLst/>
              <a:ahLst/>
              <a:cxnLst/>
              <a:rect l="l" t="t" r="r" b="b"/>
              <a:pathLst>
                <a:path w="12435840" h="1365504">
                  <a:moveTo>
                    <a:pt x="0" y="0"/>
                  </a:moveTo>
                  <a:lnTo>
                    <a:pt x="12435840" y="0"/>
                  </a:lnTo>
                  <a:lnTo>
                    <a:pt x="1243584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8503920" y="4991100"/>
            <a:ext cx="8961120" cy="1024128"/>
            <a:chOff x="0" y="0"/>
            <a:chExt cx="11948160" cy="136550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1948160" cy="1365504"/>
            </a:xfrm>
            <a:custGeom>
              <a:avLst/>
              <a:gdLst/>
              <a:ahLst/>
              <a:cxnLst/>
              <a:rect l="l" t="t" r="r" b="b"/>
              <a:pathLst>
                <a:path w="11948160" h="1365504">
                  <a:moveTo>
                    <a:pt x="0" y="0"/>
                  </a:moveTo>
                  <a:lnTo>
                    <a:pt x="11948160" y="0"/>
                  </a:lnTo>
                  <a:lnTo>
                    <a:pt x="119481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1194816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민원 자료 업로드 → FAQ 10개 자동 생성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40080" y="6161532"/>
            <a:ext cx="3474720" cy="1024128"/>
            <a:chOff x="0" y="0"/>
            <a:chExt cx="4632960" cy="136550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632960" cy="1365504"/>
            </a:xfrm>
            <a:custGeom>
              <a:avLst/>
              <a:gdLst/>
              <a:ahLst/>
              <a:cxnLst/>
              <a:rect l="l" t="t" r="r" b="b"/>
              <a:pathLst>
                <a:path w="4632960" h="1365504">
                  <a:moveTo>
                    <a:pt x="0" y="0"/>
                  </a:moveTo>
                  <a:lnTo>
                    <a:pt x="4632960" y="0"/>
                  </a:lnTo>
                  <a:lnTo>
                    <a:pt x="463296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D05A00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640080" y="6161532"/>
            <a:ext cx="3474720" cy="1024128"/>
            <a:chOff x="0" y="0"/>
            <a:chExt cx="4632960" cy="136550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632960" cy="1365504"/>
            </a:xfrm>
            <a:custGeom>
              <a:avLst/>
              <a:gdLst/>
              <a:ahLst/>
              <a:cxnLst/>
              <a:rect l="l" t="t" r="r" b="b"/>
              <a:pathLst>
                <a:path w="4632960" h="1365504">
                  <a:moveTo>
                    <a:pt x="0" y="0"/>
                  </a:moveTo>
                  <a:lnTo>
                    <a:pt x="4632960" y="0"/>
                  </a:lnTo>
                  <a:lnTo>
                    <a:pt x="46329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9" b="-16109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463296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챗봇 구축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206240" y="6161532"/>
            <a:ext cx="4023360" cy="1024128"/>
            <a:chOff x="0" y="0"/>
            <a:chExt cx="5364480" cy="136550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364480" cy="1365504"/>
            </a:xfrm>
            <a:custGeom>
              <a:avLst/>
              <a:gdLst/>
              <a:ahLst/>
              <a:cxnLst/>
              <a:rect l="l" t="t" r="r" b="b"/>
              <a:pathLst>
                <a:path w="5364480" h="1365504">
                  <a:moveTo>
                    <a:pt x="0" y="0"/>
                  </a:moveTo>
                  <a:lnTo>
                    <a:pt x="5364480" y="0"/>
                  </a:lnTo>
                  <a:lnTo>
                    <a:pt x="536448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4389120" y="6161532"/>
            <a:ext cx="3657600" cy="1024128"/>
            <a:chOff x="0" y="0"/>
            <a:chExt cx="4876800" cy="136550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876800" cy="1365504"/>
            </a:xfrm>
            <a:custGeom>
              <a:avLst/>
              <a:gdLst/>
              <a:ahLst/>
              <a:cxnLst/>
              <a:rect l="l" t="t" r="r" b="b"/>
              <a:pathLst>
                <a:path w="4876800" h="1365504">
                  <a:moveTo>
                    <a:pt x="0" y="0"/>
                  </a:moveTo>
                  <a:lnTo>
                    <a:pt x="4876800" y="0"/>
                  </a:lnTo>
                  <a:lnTo>
                    <a:pt x="48768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589" b="-19589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487680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D05A00"/>
                  </a:solidFill>
                  <a:latin typeface="Mandali"/>
                  <a:ea typeface="Mandali"/>
                  <a:cs typeface="Mandali"/>
                  <a:sym typeface="Mandali"/>
                </a:rPr>
                <a:t>ChatGPT GPTs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321040" y="6161532"/>
            <a:ext cx="9326880" cy="1024128"/>
            <a:chOff x="0" y="0"/>
            <a:chExt cx="12435840" cy="136550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2435840" cy="1365504"/>
            </a:xfrm>
            <a:custGeom>
              <a:avLst/>
              <a:gdLst/>
              <a:ahLst/>
              <a:cxnLst/>
              <a:rect l="l" t="t" r="r" b="b"/>
              <a:pathLst>
                <a:path w="12435840" h="1365504">
                  <a:moveTo>
                    <a:pt x="0" y="0"/>
                  </a:moveTo>
                  <a:lnTo>
                    <a:pt x="12435840" y="0"/>
                  </a:lnTo>
                  <a:lnTo>
                    <a:pt x="1243584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8503920" y="6161532"/>
            <a:ext cx="8961120" cy="1024128"/>
            <a:chOff x="0" y="0"/>
            <a:chExt cx="11948160" cy="1365504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1948160" cy="1365504"/>
            </a:xfrm>
            <a:custGeom>
              <a:avLst/>
              <a:gdLst/>
              <a:ahLst/>
              <a:cxnLst/>
              <a:rect l="l" t="t" r="r" b="b"/>
              <a:pathLst>
                <a:path w="11948160" h="1365504">
                  <a:moveTo>
                    <a:pt x="0" y="0"/>
                  </a:moveTo>
                  <a:lnTo>
                    <a:pt x="11948160" y="0"/>
                  </a:lnTo>
                  <a:lnTo>
                    <a:pt x="119481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0"/>
              <a:ext cx="1194816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무코딩 설정 → Q&amp;A 업로드 → 링크 공유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40080" y="7331964"/>
            <a:ext cx="3474720" cy="1024128"/>
            <a:chOff x="0" y="0"/>
            <a:chExt cx="4632960" cy="1365504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4632960" cy="1365504"/>
            </a:xfrm>
            <a:custGeom>
              <a:avLst/>
              <a:gdLst/>
              <a:ahLst/>
              <a:cxnLst/>
              <a:rect l="l" t="t" r="r" b="b"/>
              <a:pathLst>
                <a:path w="4632960" h="1365504">
                  <a:moveTo>
                    <a:pt x="0" y="0"/>
                  </a:moveTo>
                  <a:lnTo>
                    <a:pt x="4632960" y="0"/>
                  </a:lnTo>
                  <a:lnTo>
                    <a:pt x="463296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640080" y="7331964"/>
            <a:ext cx="3474720" cy="1024128"/>
            <a:chOff x="0" y="0"/>
            <a:chExt cx="4632960" cy="136550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632960" cy="1365504"/>
            </a:xfrm>
            <a:custGeom>
              <a:avLst/>
              <a:gdLst/>
              <a:ahLst/>
              <a:cxnLst/>
              <a:rect l="l" t="t" r="r" b="b"/>
              <a:pathLst>
                <a:path w="4632960" h="1365504">
                  <a:moveTo>
                    <a:pt x="0" y="0"/>
                  </a:moveTo>
                  <a:lnTo>
                    <a:pt x="4632960" y="0"/>
                  </a:lnTo>
                  <a:lnTo>
                    <a:pt x="46329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9" b="-16109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0"/>
              <a:ext cx="463296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이메일·공문 초안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4206240" y="7331964"/>
            <a:ext cx="4023360" cy="1024128"/>
            <a:chOff x="0" y="0"/>
            <a:chExt cx="5364480" cy="136550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364480" cy="1365504"/>
            </a:xfrm>
            <a:custGeom>
              <a:avLst/>
              <a:gdLst/>
              <a:ahLst/>
              <a:cxnLst/>
              <a:rect l="l" t="t" r="r" b="b"/>
              <a:pathLst>
                <a:path w="5364480" h="1365504">
                  <a:moveTo>
                    <a:pt x="0" y="0"/>
                  </a:moveTo>
                  <a:lnTo>
                    <a:pt x="5364480" y="0"/>
                  </a:lnTo>
                  <a:lnTo>
                    <a:pt x="536448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4389120" y="7331964"/>
            <a:ext cx="3657600" cy="1024128"/>
            <a:chOff x="0" y="0"/>
            <a:chExt cx="4876800" cy="1365504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4876800" cy="1365504"/>
            </a:xfrm>
            <a:custGeom>
              <a:avLst/>
              <a:gdLst/>
              <a:ahLst/>
              <a:cxnLst/>
              <a:rect l="l" t="t" r="r" b="b"/>
              <a:pathLst>
                <a:path w="4876800" h="1365504">
                  <a:moveTo>
                    <a:pt x="0" y="0"/>
                  </a:moveTo>
                  <a:lnTo>
                    <a:pt x="4876800" y="0"/>
                  </a:lnTo>
                  <a:lnTo>
                    <a:pt x="48768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589" b="-19589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0"/>
              <a:ext cx="487680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5B3A8C"/>
                  </a:solidFill>
                  <a:latin typeface="Mandali"/>
                  <a:ea typeface="Mandali"/>
                  <a:cs typeface="Mandali"/>
                  <a:sym typeface="Mandali"/>
                </a:rPr>
                <a:t>Claude / ChatGPT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321040" y="7331964"/>
            <a:ext cx="9326880" cy="1024128"/>
            <a:chOff x="0" y="0"/>
            <a:chExt cx="12435840" cy="1365504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2435840" cy="1365504"/>
            </a:xfrm>
            <a:custGeom>
              <a:avLst/>
              <a:gdLst/>
              <a:ahLst/>
              <a:cxnLst/>
              <a:rect l="l" t="t" r="r" b="b"/>
              <a:pathLst>
                <a:path w="12435840" h="1365504">
                  <a:moveTo>
                    <a:pt x="0" y="0"/>
                  </a:moveTo>
                  <a:lnTo>
                    <a:pt x="12435840" y="0"/>
                  </a:lnTo>
                  <a:lnTo>
                    <a:pt x="1243584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8503920" y="7331964"/>
            <a:ext cx="8961120" cy="1024128"/>
            <a:chOff x="0" y="0"/>
            <a:chExt cx="11948160" cy="136550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1948160" cy="1365504"/>
            </a:xfrm>
            <a:custGeom>
              <a:avLst/>
              <a:gdLst/>
              <a:ahLst/>
              <a:cxnLst/>
              <a:rect l="l" t="t" r="r" b="b"/>
              <a:pathLst>
                <a:path w="11948160" h="1365504">
                  <a:moveTo>
                    <a:pt x="0" y="0"/>
                  </a:moveTo>
                  <a:lnTo>
                    <a:pt x="11948160" y="0"/>
                  </a:lnTo>
                  <a:lnTo>
                    <a:pt x="119481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0"/>
              <a:ext cx="1194816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목적+수신자+내용 입력 → 공식 문서 초안 생성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40080" y="8502396"/>
            <a:ext cx="3474720" cy="1024128"/>
            <a:chOff x="0" y="0"/>
            <a:chExt cx="4632960" cy="1365504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4632960" cy="1365504"/>
            </a:xfrm>
            <a:custGeom>
              <a:avLst/>
              <a:gdLst/>
              <a:ahLst/>
              <a:cxnLst/>
              <a:rect l="l" t="t" r="r" b="b"/>
              <a:pathLst>
                <a:path w="4632960" h="1365504">
                  <a:moveTo>
                    <a:pt x="0" y="0"/>
                  </a:moveTo>
                  <a:lnTo>
                    <a:pt x="4632960" y="0"/>
                  </a:lnTo>
                  <a:lnTo>
                    <a:pt x="463296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640080" y="8502396"/>
            <a:ext cx="3474720" cy="1024128"/>
            <a:chOff x="0" y="0"/>
            <a:chExt cx="4632960" cy="1365504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4632960" cy="1365504"/>
            </a:xfrm>
            <a:custGeom>
              <a:avLst/>
              <a:gdLst/>
              <a:ahLst/>
              <a:cxnLst/>
              <a:rect l="l" t="t" r="r" b="b"/>
              <a:pathLst>
                <a:path w="4632960" h="1365504">
                  <a:moveTo>
                    <a:pt x="0" y="0"/>
                  </a:moveTo>
                  <a:lnTo>
                    <a:pt x="4632960" y="0"/>
                  </a:lnTo>
                  <a:lnTo>
                    <a:pt x="46329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9" b="-16109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0"/>
              <a:ext cx="463296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보고서 작성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4206240" y="8502396"/>
            <a:ext cx="4023360" cy="1024128"/>
            <a:chOff x="0" y="0"/>
            <a:chExt cx="5364480" cy="136550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5364480" cy="1365504"/>
            </a:xfrm>
            <a:custGeom>
              <a:avLst/>
              <a:gdLst/>
              <a:ahLst/>
              <a:cxnLst/>
              <a:rect l="l" t="t" r="r" b="b"/>
              <a:pathLst>
                <a:path w="5364480" h="1365504">
                  <a:moveTo>
                    <a:pt x="0" y="0"/>
                  </a:moveTo>
                  <a:lnTo>
                    <a:pt x="5364480" y="0"/>
                  </a:lnTo>
                  <a:lnTo>
                    <a:pt x="536448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06" name="Group 106"/>
          <p:cNvGrpSpPr/>
          <p:nvPr/>
        </p:nvGrpSpPr>
        <p:grpSpPr>
          <a:xfrm>
            <a:off x="4389120" y="8502396"/>
            <a:ext cx="3657600" cy="1024128"/>
            <a:chOff x="0" y="0"/>
            <a:chExt cx="4876800" cy="1365504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4876800" cy="1365504"/>
            </a:xfrm>
            <a:custGeom>
              <a:avLst/>
              <a:gdLst/>
              <a:ahLst/>
              <a:cxnLst/>
              <a:rect l="l" t="t" r="r" b="b"/>
              <a:pathLst>
                <a:path w="4876800" h="1365504">
                  <a:moveTo>
                    <a:pt x="0" y="0"/>
                  </a:moveTo>
                  <a:lnTo>
                    <a:pt x="4876800" y="0"/>
                  </a:lnTo>
                  <a:lnTo>
                    <a:pt x="48768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589" b="-19589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0"/>
              <a:ext cx="487680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C0392B"/>
                  </a:solidFill>
                  <a:latin typeface="Mandali"/>
                  <a:ea typeface="Mandali"/>
                  <a:cs typeface="Mandali"/>
                  <a:sym typeface="Mandali"/>
                </a:rPr>
                <a:t>ChatGPT / Claude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321040" y="8502396"/>
            <a:ext cx="9326880" cy="1024128"/>
            <a:chOff x="0" y="0"/>
            <a:chExt cx="12435840" cy="1365504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12435840" cy="1365504"/>
            </a:xfrm>
            <a:custGeom>
              <a:avLst/>
              <a:gdLst/>
              <a:ahLst/>
              <a:cxnLst/>
              <a:rect l="l" t="t" r="r" b="b"/>
              <a:pathLst>
                <a:path w="12435840" h="1365504">
                  <a:moveTo>
                    <a:pt x="0" y="0"/>
                  </a:moveTo>
                  <a:lnTo>
                    <a:pt x="12435840" y="0"/>
                  </a:lnTo>
                  <a:lnTo>
                    <a:pt x="1243584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11" name="Group 111"/>
          <p:cNvGrpSpPr/>
          <p:nvPr/>
        </p:nvGrpSpPr>
        <p:grpSpPr>
          <a:xfrm>
            <a:off x="8503920" y="8502396"/>
            <a:ext cx="8961120" cy="1024128"/>
            <a:chOff x="0" y="0"/>
            <a:chExt cx="11948160" cy="1365504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11948160" cy="1365504"/>
            </a:xfrm>
            <a:custGeom>
              <a:avLst/>
              <a:gdLst/>
              <a:ahLst/>
              <a:cxnLst/>
              <a:rect l="l" t="t" r="r" b="b"/>
              <a:pathLst>
                <a:path w="11948160" h="1365504">
                  <a:moveTo>
                    <a:pt x="0" y="0"/>
                  </a:moveTo>
                  <a:lnTo>
                    <a:pt x="11948160" y="0"/>
                  </a:lnTo>
                  <a:lnTo>
                    <a:pt x="119481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0"/>
              <a:ext cx="1194816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상담 내용 요약 후 보고서 형식으로 자동 정리</a:t>
              </a:r>
            </a:p>
          </p:txBody>
        </p:sp>
      </p:grpSp>
      <p:grpSp>
        <p:nvGrpSpPr>
          <p:cNvPr id="114" name="Group 40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115" name="Freeform 41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116" name="Group 42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117" name="Freeform 4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18" name="TextBox 4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5차시-01 | CS 업무 AI 통합 적용 실습</a:t>
              </a:r>
            </a:p>
          </p:txBody>
        </p:sp>
      </p:grpSp>
      <p:grpSp>
        <p:nvGrpSpPr>
          <p:cNvPr id="119" name="Group 45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20" name="Freeform 46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21" name="TextBox 4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303020"/>
            <a:chOff x="0" y="0"/>
            <a:chExt cx="2438339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737360"/>
            </a:xfrm>
            <a:custGeom>
              <a:avLst/>
              <a:gdLst/>
              <a:ahLst/>
              <a:cxnLst/>
              <a:rect l="l" t="t" r="r" b="b"/>
              <a:pathLst>
                <a:path w="24383364" h="1737360">
                  <a:moveTo>
                    <a:pt x="0" y="0"/>
                  </a:moveTo>
                  <a:lnTo>
                    <a:pt x="24383364" y="0"/>
                  </a:lnTo>
                  <a:lnTo>
                    <a:pt x="2438336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4380" y="96012"/>
            <a:ext cx="16184880" cy="1097280"/>
            <a:chOff x="0" y="0"/>
            <a:chExt cx="21579840" cy="1463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579839" cy="1463040"/>
            </a:xfrm>
            <a:custGeom>
              <a:avLst/>
              <a:gdLst/>
              <a:ahLst/>
              <a:cxnLst/>
              <a:rect l="l" t="t" r="r" b="b"/>
              <a:pathLst>
                <a:path w="21579839" h="1463040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7404" b="-237404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57984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도구별 장단점 비교 — 무엇을, 언제 쓸 것인가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303020"/>
            <a:ext cx="18287543" cy="82296"/>
            <a:chOff x="0" y="0"/>
            <a:chExt cx="24383390" cy="1097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3364" cy="109728"/>
            </a:xfrm>
            <a:custGeom>
              <a:avLst/>
              <a:gdLst/>
              <a:ahLst/>
              <a:cxnLst/>
              <a:rect l="l" t="t" r="r" b="b"/>
              <a:pathLst>
                <a:path w="24383364" h="109728">
                  <a:moveTo>
                    <a:pt x="0" y="0"/>
                  </a:moveTo>
                  <a:lnTo>
                    <a:pt x="24383364" y="0"/>
                  </a:lnTo>
                  <a:lnTo>
                    <a:pt x="24383364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54380" y="1591056"/>
            <a:ext cx="2743200" cy="576072"/>
            <a:chOff x="0" y="0"/>
            <a:chExt cx="3657600" cy="7680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57600" cy="768096"/>
            </a:xfrm>
            <a:custGeom>
              <a:avLst/>
              <a:gdLst/>
              <a:ahLst/>
              <a:cxnLst/>
              <a:rect l="l" t="t" r="r" b="b"/>
              <a:pathLst>
                <a:path w="3657600" h="768096">
                  <a:moveTo>
                    <a:pt x="0" y="0"/>
                  </a:moveTo>
                  <a:lnTo>
                    <a:pt x="3657600" y="0"/>
                  </a:lnTo>
                  <a:lnTo>
                    <a:pt x="3657600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54380" y="1591056"/>
            <a:ext cx="2743200" cy="576072"/>
            <a:chOff x="0" y="0"/>
            <a:chExt cx="3657600" cy="7680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57600" cy="768096"/>
            </a:xfrm>
            <a:custGeom>
              <a:avLst/>
              <a:gdLst/>
              <a:ahLst/>
              <a:cxnLst/>
              <a:rect l="l" t="t" r="r" b="b"/>
              <a:pathLst>
                <a:path w="3657600" h="768096">
                  <a:moveTo>
                    <a:pt x="0" y="0"/>
                  </a:moveTo>
                  <a:lnTo>
                    <a:pt x="3657600" y="0"/>
                  </a:lnTo>
                  <a:lnTo>
                    <a:pt x="3657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785" b="-4278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3657600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도구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566160" y="1591056"/>
            <a:ext cx="4800600" cy="576072"/>
            <a:chOff x="0" y="0"/>
            <a:chExt cx="6400800" cy="7680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00800" cy="768096"/>
            </a:xfrm>
            <a:custGeom>
              <a:avLst/>
              <a:gdLst/>
              <a:ahLst/>
              <a:cxnLst/>
              <a:rect l="l" t="t" r="r" b="b"/>
              <a:pathLst>
                <a:path w="6400800" h="768096">
                  <a:moveTo>
                    <a:pt x="0" y="0"/>
                  </a:moveTo>
                  <a:lnTo>
                    <a:pt x="6400800" y="0"/>
                  </a:lnTo>
                  <a:lnTo>
                    <a:pt x="6400800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3566160" y="1591056"/>
            <a:ext cx="4800600" cy="576072"/>
            <a:chOff x="0" y="0"/>
            <a:chExt cx="6400800" cy="76809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00800" cy="768096"/>
            </a:xfrm>
            <a:custGeom>
              <a:avLst/>
              <a:gdLst/>
              <a:ahLst/>
              <a:cxnLst/>
              <a:rect l="l" t="t" r="r" b="b"/>
              <a:pathLst>
                <a:path w="6400800" h="768096">
                  <a:moveTo>
                    <a:pt x="0" y="0"/>
                  </a:moveTo>
                  <a:lnTo>
                    <a:pt x="6400800" y="0"/>
                  </a:lnTo>
                  <a:lnTo>
                    <a:pt x="6400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400800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장점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35340" y="1591056"/>
            <a:ext cx="4457700" cy="576072"/>
            <a:chOff x="0" y="0"/>
            <a:chExt cx="5943600" cy="7680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943600" cy="768096"/>
            </a:xfrm>
            <a:custGeom>
              <a:avLst/>
              <a:gdLst/>
              <a:ahLst/>
              <a:cxnLst/>
              <a:rect l="l" t="t" r="r" b="b"/>
              <a:pathLst>
                <a:path w="5943600" h="768096">
                  <a:moveTo>
                    <a:pt x="0" y="0"/>
                  </a:moveTo>
                  <a:lnTo>
                    <a:pt x="5943600" y="0"/>
                  </a:lnTo>
                  <a:lnTo>
                    <a:pt x="5943600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8435340" y="1591056"/>
            <a:ext cx="4457700" cy="576072"/>
            <a:chOff x="0" y="0"/>
            <a:chExt cx="5943600" cy="7680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43600" cy="768096"/>
            </a:xfrm>
            <a:custGeom>
              <a:avLst/>
              <a:gdLst/>
              <a:ahLst/>
              <a:cxnLst/>
              <a:rect l="l" t="t" r="r" b="b"/>
              <a:pathLst>
                <a:path w="5943600" h="768096">
                  <a:moveTo>
                    <a:pt x="0" y="0"/>
                  </a:moveTo>
                  <a:lnTo>
                    <a:pt x="5943600" y="0"/>
                  </a:lnTo>
                  <a:lnTo>
                    <a:pt x="5943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0777" b="-10077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5943600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한계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961620" y="1591056"/>
            <a:ext cx="4594860" cy="576072"/>
            <a:chOff x="0" y="0"/>
            <a:chExt cx="6126480" cy="76809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126480" cy="768096"/>
            </a:xfrm>
            <a:custGeom>
              <a:avLst/>
              <a:gdLst/>
              <a:ahLst/>
              <a:cxnLst/>
              <a:rect l="l" t="t" r="r" b="b"/>
              <a:pathLst>
                <a:path w="6126480" h="768096">
                  <a:moveTo>
                    <a:pt x="0" y="0"/>
                  </a:moveTo>
                  <a:lnTo>
                    <a:pt x="6126480" y="0"/>
                  </a:lnTo>
                  <a:lnTo>
                    <a:pt x="6126480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2961620" y="1591056"/>
            <a:ext cx="4594860" cy="576072"/>
            <a:chOff x="0" y="0"/>
            <a:chExt cx="6126480" cy="7680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126480" cy="768096"/>
            </a:xfrm>
            <a:custGeom>
              <a:avLst/>
              <a:gdLst/>
              <a:ahLst/>
              <a:cxnLst/>
              <a:rect l="l" t="t" r="r" b="b"/>
              <a:pathLst>
                <a:path w="6126480" h="768096">
                  <a:moveTo>
                    <a:pt x="0" y="0"/>
                  </a:moveTo>
                  <a:lnTo>
                    <a:pt x="6126480" y="0"/>
                  </a:lnTo>
                  <a:lnTo>
                    <a:pt x="61264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416" b="-10541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6126480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추천 상황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4380" y="2290572"/>
            <a:ext cx="2743200" cy="973836"/>
            <a:chOff x="0" y="0"/>
            <a:chExt cx="3657600" cy="12984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657600" cy="1298448"/>
            </a:xfrm>
            <a:custGeom>
              <a:avLst/>
              <a:gdLst/>
              <a:ahLst/>
              <a:cxnLst/>
              <a:rect l="l" t="t" r="r" b="b"/>
              <a:pathLst>
                <a:path w="3657600" h="1298448">
                  <a:moveTo>
                    <a:pt x="0" y="0"/>
                  </a:moveTo>
                  <a:lnTo>
                    <a:pt x="3657600" y="0"/>
                  </a:lnTo>
                  <a:lnTo>
                    <a:pt x="36576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217A46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54380" y="2290572"/>
            <a:ext cx="2743200" cy="973836"/>
            <a:chOff x="0" y="0"/>
            <a:chExt cx="3657600" cy="129844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657600" cy="1298448"/>
            </a:xfrm>
            <a:custGeom>
              <a:avLst/>
              <a:gdLst/>
              <a:ahLst/>
              <a:cxnLst/>
              <a:rect l="l" t="t" r="r" b="b"/>
              <a:pathLst>
                <a:path w="3657600" h="1298448">
                  <a:moveTo>
                    <a:pt x="0" y="0"/>
                  </a:moveTo>
                  <a:lnTo>
                    <a:pt x="3657600" y="0"/>
                  </a:lnTo>
                  <a:lnTo>
                    <a:pt x="365760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87" b="-488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3657600" cy="1317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ChatGPT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566160" y="2290572"/>
            <a:ext cx="4800600" cy="973836"/>
            <a:chOff x="0" y="0"/>
            <a:chExt cx="6400800" cy="129844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400800" cy="1298448"/>
            </a:xfrm>
            <a:custGeom>
              <a:avLst/>
              <a:gdLst/>
              <a:ahLst/>
              <a:cxnLst/>
              <a:rect l="l" t="t" r="r" b="b"/>
              <a:pathLst>
                <a:path w="6400800" h="1298448">
                  <a:moveTo>
                    <a:pt x="0" y="0"/>
                  </a:moveTo>
                  <a:lnTo>
                    <a:pt x="6400800" y="0"/>
                  </a:lnTo>
                  <a:lnTo>
                    <a:pt x="64008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3771900" y="2290572"/>
            <a:ext cx="4389120" cy="973836"/>
            <a:chOff x="0" y="0"/>
            <a:chExt cx="5852160" cy="12984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852160" cy="1298448"/>
            </a:xfrm>
            <a:custGeom>
              <a:avLst/>
              <a:gdLst/>
              <a:ahLst/>
              <a:cxnLst/>
              <a:rect l="l" t="t" r="r" b="b"/>
              <a:pathLst>
                <a:path w="5852160" h="1298448">
                  <a:moveTo>
                    <a:pt x="0" y="0"/>
                  </a:moveTo>
                  <a:lnTo>
                    <a:pt x="5852160" y="0"/>
                  </a:lnTo>
                  <a:lnTo>
                    <a:pt x="585216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819" b="-37819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585216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F4D33"/>
                  </a:solidFill>
                  <a:latin typeface="Arial"/>
                  <a:ea typeface="Arial"/>
                  <a:cs typeface="Arial"/>
                  <a:sym typeface="Arial"/>
                </a:rPr>
                <a:t>범용성 최고 — 스크립트·요약·FAQ 모두 처리, 가장 익숙한 화면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435340" y="2290572"/>
            <a:ext cx="4457700" cy="973836"/>
            <a:chOff x="0" y="0"/>
            <a:chExt cx="5943600" cy="129844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943600" cy="1298448"/>
            </a:xfrm>
            <a:custGeom>
              <a:avLst/>
              <a:gdLst/>
              <a:ahLst/>
              <a:cxnLst/>
              <a:rect l="l" t="t" r="r" b="b"/>
              <a:pathLst>
                <a:path w="5943600" h="1298448">
                  <a:moveTo>
                    <a:pt x="0" y="0"/>
                  </a:moveTo>
                  <a:lnTo>
                    <a:pt x="5943600" y="0"/>
                  </a:lnTo>
                  <a:lnTo>
                    <a:pt x="59436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FBF1F1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8641080" y="2290572"/>
            <a:ext cx="4046220" cy="973836"/>
            <a:chOff x="0" y="0"/>
            <a:chExt cx="5394960" cy="12984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394960" cy="1298448"/>
            </a:xfrm>
            <a:custGeom>
              <a:avLst/>
              <a:gdLst/>
              <a:ahLst/>
              <a:cxnLst/>
              <a:rect l="l" t="t" r="r" b="b"/>
              <a:pathLst>
                <a:path w="5394960" h="1298448">
                  <a:moveTo>
                    <a:pt x="0" y="0"/>
                  </a:moveTo>
                  <a:lnTo>
                    <a:pt x="5394960" y="0"/>
                  </a:lnTo>
                  <a:lnTo>
                    <a:pt x="539496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958" b="-30958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539496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7A3030"/>
                  </a:solidFill>
                  <a:latin typeface="Arial"/>
                  <a:ea typeface="Arial"/>
                  <a:cs typeface="Arial"/>
                  <a:sym typeface="Arial"/>
                </a:rPr>
                <a:t>무료 버전 사용량 제한, GPTs 제작은 Plus 필요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961620" y="2290572"/>
            <a:ext cx="4594860" cy="973836"/>
            <a:chOff x="0" y="0"/>
            <a:chExt cx="6126480" cy="129844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126480" cy="1298448"/>
            </a:xfrm>
            <a:custGeom>
              <a:avLst/>
              <a:gdLst/>
              <a:ahLst/>
              <a:cxnLst/>
              <a:rect l="l" t="t" r="r" b="b"/>
              <a:pathLst>
                <a:path w="6126480" h="1298448">
                  <a:moveTo>
                    <a:pt x="0" y="0"/>
                  </a:moveTo>
                  <a:lnTo>
                    <a:pt x="6126480" y="0"/>
                  </a:lnTo>
                  <a:lnTo>
                    <a:pt x="612648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3167360" y="2290572"/>
            <a:ext cx="4183380" cy="973836"/>
            <a:chOff x="0" y="0"/>
            <a:chExt cx="5577840" cy="129844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577840" cy="1298448"/>
            </a:xfrm>
            <a:custGeom>
              <a:avLst/>
              <a:gdLst/>
              <a:ahLst/>
              <a:cxnLst/>
              <a:rect l="l" t="t" r="r" b="b"/>
              <a:pathLst>
                <a:path w="5577840" h="1298448">
                  <a:moveTo>
                    <a:pt x="0" y="0"/>
                  </a:moveTo>
                  <a:lnTo>
                    <a:pt x="5577840" y="0"/>
                  </a:lnTo>
                  <a:lnTo>
                    <a:pt x="557784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703" b="-33703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557784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E3A5F"/>
                  </a:solidFill>
                  <a:latin typeface="Arial"/>
                  <a:ea typeface="Arial"/>
                  <a:cs typeface="Arial"/>
                  <a:sym typeface="Arial"/>
                </a:rPr>
                <a:t>CS 업무 전반의 기본 도구 — 가장 먼저 익히세요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54380" y="3346704"/>
            <a:ext cx="2743200" cy="973836"/>
            <a:chOff x="0" y="0"/>
            <a:chExt cx="3657600" cy="129844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657600" cy="1298448"/>
            </a:xfrm>
            <a:custGeom>
              <a:avLst/>
              <a:gdLst/>
              <a:ahLst/>
              <a:cxnLst/>
              <a:rect l="l" t="t" r="r" b="b"/>
              <a:pathLst>
                <a:path w="3657600" h="1298448">
                  <a:moveTo>
                    <a:pt x="0" y="0"/>
                  </a:moveTo>
                  <a:lnTo>
                    <a:pt x="3657600" y="0"/>
                  </a:lnTo>
                  <a:lnTo>
                    <a:pt x="36576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754380" y="3346704"/>
            <a:ext cx="2743200" cy="973836"/>
            <a:chOff x="0" y="0"/>
            <a:chExt cx="3657600" cy="129844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657600" cy="1298448"/>
            </a:xfrm>
            <a:custGeom>
              <a:avLst/>
              <a:gdLst/>
              <a:ahLst/>
              <a:cxnLst/>
              <a:rect l="l" t="t" r="r" b="b"/>
              <a:pathLst>
                <a:path w="3657600" h="1298448">
                  <a:moveTo>
                    <a:pt x="0" y="0"/>
                  </a:moveTo>
                  <a:lnTo>
                    <a:pt x="3657600" y="0"/>
                  </a:lnTo>
                  <a:lnTo>
                    <a:pt x="365760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87" b="-4887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3657600" cy="1317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Claude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566160" y="3346704"/>
            <a:ext cx="4800600" cy="973836"/>
            <a:chOff x="0" y="0"/>
            <a:chExt cx="6400800" cy="129844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400800" cy="1298448"/>
            </a:xfrm>
            <a:custGeom>
              <a:avLst/>
              <a:gdLst/>
              <a:ahLst/>
              <a:cxnLst/>
              <a:rect l="l" t="t" r="r" b="b"/>
              <a:pathLst>
                <a:path w="6400800" h="1298448">
                  <a:moveTo>
                    <a:pt x="0" y="0"/>
                  </a:moveTo>
                  <a:lnTo>
                    <a:pt x="6400800" y="0"/>
                  </a:lnTo>
                  <a:lnTo>
                    <a:pt x="64008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3771900" y="3346704"/>
            <a:ext cx="4389120" cy="973836"/>
            <a:chOff x="0" y="0"/>
            <a:chExt cx="5852160" cy="129844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852160" cy="1298448"/>
            </a:xfrm>
            <a:custGeom>
              <a:avLst/>
              <a:gdLst/>
              <a:ahLst/>
              <a:cxnLst/>
              <a:rect l="l" t="t" r="r" b="b"/>
              <a:pathLst>
                <a:path w="5852160" h="1298448">
                  <a:moveTo>
                    <a:pt x="0" y="0"/>
                  </a:moveTo>
                  <a:lnTo>
                    <a:pt x="5852160" y="0"/>
                  </a:lnTo>
                  <a:lnTo>
                    <a:pt x="585216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819" b="-37819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585216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F4D33"/>
                  </a:solidFill>
                  <a:latin typeface="Arial"/>
                  <a:ea typeface="Arial"/>
                  <a:cs typeface="Arial"/>
                  <a:sym typeface="Arial"/>
                </a:rPr>
                <a:t>긴 문서 한 번에 처리, 섬세한 공감 표현·보고서 품질 우수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435340" y="3346704"/>
            <a:ext cx="4457700" cy="973836"/>
            <a:chOff x="0" y="0"/>
            <a:chExt cx="5943600" cy="129844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943600" cy="1298448"/>
            </a:xfrm>
            <a:custGeom>
              <a:avLst/>
              <a:gdLst/>
              <a:ahLst/>
              <a:cxnLst/>
              <a:rect l="l" t="t" r="r" b="b"/>
              <a:pathLst>
                <a:path w="5943600" h="1298448">
                  <a:moveTo>
                    <a:pt x="0" y="0"/>
                  </a:moveTo>
                  <a:lnTo>
                    <a:pt x="5943600" y="0"/>
                  </a:lnTo>
                  <a:lnTo>
                    <a:pt x="59436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FBF1F1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8641080" y="3346704"/>
            <a:ext cx="4046220" cy="973836"/>
            <a:chOff x="0" y="0"/>
            <a:chExt cx="5394960" cy="129844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394960" cy="1298448"/>
            </a:xfrm>
            <a:custGeom>
              <a:avLst/>
              <a:gdLst/>
              <a:ahLst/>
              <a:cxnLst/>
              <a:rect l="l" t="t" r="r" b="b"/>
              <a:pathLst>
                <a:path w="5394960" h="1298448">
                  <a:moveTo>
                    <a:pt x="0" y="0"/>
                  </a:moveTo>
                  <a:lnTo>
                    <a:pt x="5394960" y="0"/>
                  </a:lnTo>
                  <a:lnTo>
                    <a:pt x="539496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958" b="-30958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539496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7A3030"/>
                  </a:solidFill>
                  <a:latin typeface="Arial"/>
                  <a:ea typeface="Arial"/>
                  <a:cs typeface="Arial"/>
                  <a:sym typeface="Arial"/>
                </a:rPr>
                <a:t>무료 버전 일일 사용량 제한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961620" y="3346704"/>
            <a:ext cx="4594860" cy="973836"/>
            <a:chOff x="0" y="0"/>
            <a:chExt cx="6126480" cy="129844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126480" cy="1298448"/>
            </a:xfrm>
            <a:custGeom>
              <a:avLst/>
              <a:gdLst/>
              <a:ahLst/>
              <a:cxnLst/>
              <a:rect l="l" t="t" r="r" b="b"/>
              <a:pathLst>
                <a:path w="6126480" h="1298448">
                  <a:moveTo>
                    <a:pt x="0" y="0"/>
                  </a:moveTo>
                  <a:lnTo>
                    <a:pt x="6126480" y="0"/>
                  </a:lnTo>
                  <a:lnTo>
                    <a:pt x="612648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3167360" y="3346704"/>
            <a:ext cx="4183380" cy="973836"/>
            <a:chOff x="0" y="0"/>
            <a:chExt cx="5577840" cy="129844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577840" cy="1298448"/>
            </a:xfrm>
            <a:custGeom>
              <a:avLst/>
              <a:gdLst/>
              <a:ahLst/>
              <a:cxnLst/>
              <a:rect l="l" t="t" r="r" b="b"/>
              <a:pathLst>
                <a:path w="5577840" h="1298448">
                  <a:moveTo>
                    <a:pt x="0" y="0"/>
                  </a:moveTo>
                  <a:lnTo>
                    <a:pt x="5577840" y="0"/>
                  </a:lnTo>
                  <a:lnTo>
                    <a:pt x="557784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703" b="-33703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9525"/>
              <a:ext cx="557784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E3A5F"/>
                  </a:solidFill>
                  <a:latin typeface="Arial"/>
                  <a:ea typeface="Arial"/>
                  <a:cs typeface="Arial"/>
                  <a:sym typeface="Arial"/>
                </a:rPr>
                <a:t>강성민원 공감언어, 보고서·공문 초안 작성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54380" y="4402836"/>
            <a:ext cx="2743200" cy="973836"/>
            <a:chOff x="0" y="0"/>
            <a:chExt cx="3657600" cy="129844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657600" cy="1298448"/>
            </a:xfrm>
            <a:custGeom>
              <a:avLst/>
              <a:gdLst/>
              <a:ahLst/>
              <a:cxnLst/>
              <a:rect l="l" t="t" r="r" b="b"/>
              <a:pathLst>
                <a:path w="3657600" h="1298448">
                  <a:moveTo>
                    <a:pt x="0" y="0"/>
                  </a:moveTo>
                  <a:lnTo>
                    <a:pt x="3657600" y="0"/>
                  </a:lnTo>
                  <a:lnTo>
                    <a:pt x="36576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0F7E84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754380" y="4402836"/>
            <a:ext cx="2743200" cy="973836"/>
            <a:chOff x="0" y="0"/>
            <a:chExt cx="3657600" cy="129844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657600" cy="1298448"/>
            </a:xfrm>
            <a:custGeom>
              <a:avLst/>
              <a:gdLst/>
              <a:ahLst/>
              <a:cxnLst/>
              <a:rect l="l" t="t" r="r" b="b"/>
              <a:pathLst>
                <a:path w="3657600" h="1298448">
                  <a:moveTo>
                    <a:pt x="0" y="0"/>
                  </a:moveTo>
                  <a:lnTo>
                    <a:pt x="3657600" y="0"/>
                  </a:lnTo>
                  <a:lnTo>
                    <a:pt x="365760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87" b="-4887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19050"/>
              <a:ext cx="3657600" cy="1317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Gemini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3566160" y="4402836"/>
            <a:ext cx="4800600" cy="973836"/>
            <a:chOff x="0" y="0"/>
            <a:chExt cx="6400800" cy="129844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400800" cy="1298448"/>
            </a:xfrm>
            <a:custGeom>
              <a:avLst/>
              <a:gdLst/>
              <a:ahLst/>
              <a:cxnLst/>
              <a:rect l="l" t="t" r="r" b="b"/>
              <a:pathLst>
                <a:path w="6400800" h="1298448">
                  <a:moveTo>
                    <a:pt x="0" y="0"/>
                  </a:moveTo>
                  <a:lnTo>
                    <a:pt x="6400800" y="0"/>
                  </a:lnTo>
                  <a:lnTo>
                    <a:pt x="64008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3771900" y="4402836"/>
            <a:ext cx="4389120" cy="973836"/>
            <a:chOff x="0" y="0"/>
            <a:chExt cx="5852160" cy="1298448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5852160" cy="1298448"/>
            </a:xfrm>
            <a:custGeom>
              <a:avLst/>
              <a:gdLst/>
              <a:ahLst/>
              <a:cxnLst/>
              <a:rect l="l" t="t" r="r" b="b"/>
              <a:pathLst>
                <a:path w="5852160" h="1298448">
                  <a:moveTo>
                    <a:pt x="0" y="0"/>
                  </a:moveTo>
                  <a:lnTo>
                    <a:pt x="5852160" y="0"/>
                  </a:lnTo>
                  <a:lnTo>
                    <a:pt x="585216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819" b="-37819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585216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F4D33"/>
                  </a:solidFill>
                  <a:latin typeface="Arial"/>
                  <a:ea typeface="Arial"/>
                  <a:cs typeface="Arial"/>
                  <a:sym typeface="Arial"/>
                </a:rPr>
                <a:t>실시간 검색 연동, Google 문서·Gmail과 무료 연동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435340" y="4402836"/>
            <a:ext cx="4457700" cy="973836"/>
            <a:chOff x="0" y="0"/>
            <a:chExt cx="5943600" cy="129844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5943600" cy="1298448"/>
            </a:xfrm>
            <a:custGeom>
              <a:avLst/>
              <a:gdLst/>
              <a:ahLst/>
              <a:cxnLst/>
              <a:rect l="l" t="t" r="r" b="b"/>
              <a:pathLst>
                <a:path w="5943600" h="1298448">
                  <a:moveTo>
                    <a:pt x="0" y="0"/>
                  </a:moveTo>
                  <a:lnTo>
                    <a:pt x="5943600" y="0"/>
                  </a:lnTo>
                  <a:lnTo>
                    <a:pt x="59436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FBF1F1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8641080" y="4402836"/>
            <a:ext cx="4046220" cy="973836"/>
            <a:chOff x="0" y="0"/>
            <a:chExt cx="5394960" cy="1298448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5394960" cy="1298448"/>
            </a:xfrm>
            <a:custGeom>
              <a:avLst/>
              <a:gdLst/>
              <a:ahLst/>
              <a:cxnLst/>
              <a:rect l="l" t="t" r="r" b="b"/>
              <a:pathLst>
                <a:path w="5394960" h="1298448">
                  <a:moveTo>
                    <a:pt x="0" y="0"/>
                  </a:moveTo>
                  <a:lnTo>
                    <a:pt x="5394960" y="0"/>
                  </a:lnTo>
                  <a:lnTo>
                    <a:pt x="539496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958" b="-30958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9525"/>
              <a:ext cx="539496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7A3030"/>
                  </a:solidFill>
                  <a:latin typeface="Arial"/>
                  <a:ea typeface="Arial"/>
                  <a:cs typeface="Arial"/>
                  <a:sym typeface="Arial"/>
                </a:rPr>
                <a:t>미세한 한국어 감성 표현은 상대적으로 약함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2961620" y="4402836"/>
            <a:ext cx="4594860" cy="973836"/>
            <a:chOff x="0" y="0"/>
            <a:chExt cx="6126480" cy="129844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126480" cy="1298448"/>
            </a:xfrm>
            <a:custGeom>
              <a:avLst/>
              <a:gdLst/>
              <a:ahLst/>
              <a:cxnLst/>
              <a:rect l="l" t="t" r="r" b="b"/>
              <a:pathLst>
                <a:path w="6126480" h="1298448">
                  <a:moveTo>
                    <a:pt x="0" y="0"/>
                  </a:moveTo>
                  <a:lnTo>
                    <a:pt x="6126480" y="0"/>
                  </a:lnTo>
                  <a:lnTo>
                    <a:pt x="612648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13167360" y="4402836"/>
            <a:ext cx="4183380" cy="973836"/>
            <a:chOff x="0" y="0"/>
            <a:chExt cx="5577840" cy="129844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577840" cy="1298448"/>
            </a:xfrm>
            <a:custGeom>
              <a:avLst/>
              <a:gdLst/>
              <a:ahLst/>
              <a:cxnLst/>
              <a:rect l="l" t="t" r="r" b="b"/>
              <a:pathLst>
                <a:path w="5577840" h="1298448">
                  <a:moveTo>
                    <a:pt x="0" y="0"/>
                  </a:moveTo>
                  <a:lnTo>
                    <a:pt x="5577840" y="0"/>
                  </a:lnTo>
                  <a:lnTo>
                    <a:pt x="557784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703" b="-33703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9525"/>
              <a:ext cx="557784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E3A5F"/>
                  </a:solidFill>
                  <a:latin typeface="Arial"/>
                  <a:ea typeface="Arial"/>
                  <a:cs typeface="Arial"/>
                  <a:sym typeface="Arial"/>
                </a:rPr>
                <a:t>이메일 답장 초안, 최신 정보 확인이 필요할 때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54380" y="5458968"/>
            <a:ext cx="2743200" cy="973836"/>
            <a:chOff x="0" y="0"/>
            <a:chExt cx="3657600" cy="129844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657600" cy="1298448"/>
            </a:xfrm>
            <a:custGeom>
              <a:avLst/>
              <a:gdLst/>
              <a:ahLst/>
              <a:cxnLst/>
              <a:rect l="l" t="t" r="r" b="b"/>
              <a:pathLst>
                <a:path w="3657600" h="1298448">
                  <a:moveTo>
                    <a:pt x="0" y="0"/>
                  </a:moveTo>
                  <a:lnTo>
                    <a:pt x="3657600" y="0"/>
                  </a:lnTo>
                  <a:lnTo>
                    <a:pt x="36576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C55A11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754380" y="5458968"/>
            <a:ext cx="2743200" cy="973836"/>
            <a:chOff x="0" y="0"/>
            <a:chExt cx="3657600" cy="1298448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657600" cy="1298448"/>
            </a:xfrm>
            <a:custGeom>
              <a:avLst/>
              <a:gdLst/>
              <a:ahLst/>
              <a:cxnLst/>
              <a:rect l="l" t="t" r="r" b="b"/>
              <a:pathLst>
                <a:path w="3657600" h="1298448">
                  <a:moveTo>
                    <a:pt x="0" y="0"/>
                  </a:moveTo>
                  <a:lnTo>
                    <a:pt x="3657600" y="0"/>
                  </a:lnTo>
                  <a:lnTo>
                    <a:pt x="365760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87" b="-4887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19050"/>
              <a:ext cx="3657600" cy="1317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클로바Note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3566160" y="5458968"/>
            <a:ext cx="4800600" cy="973836"/>
            <a:chOff x="0" y="0"/>
            <a:chExt cx="6400800" cy="1298448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6400800" cy="1298448"/>
            </a:xfrm>
            <a:custGeom>
              <a:avLst/>
              <a:gdLst/>
              <a:ahLst/>
              <a:cxnLst/>
              <a:rect l="l" t="t" r="r" b="b"/>
              <a:pathLst>
                <a:path w="6400800" h="1298448">
                  <a:moveTo>
                    <a:pt x="0" y="0"/>
                  </a:moveTo>
                  <a:lnTo>
                    <a:pt x="6400800" y="0"/>
                  </a:lnTo>
                  <a:lnTo>
                    <a:pt x="64008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3771900" y="5458968"/>
            <a:ext cx="4389120" cy="973836"/>
            <a:chOff x="0" y="0"/>
            <a:chExt cx="5852160" cy="1298448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5852160" cy="1298448"/>
            </a:xfrm>
            <a:custGeom>
              <a:avLst/>
              <a:gdLst/>
              <a:ahLst/>
              <a:cxnLst/>
              <a:rect l="l" t="t" r="r" b="b"/>
              <a:pathLst>
                <a:path w="5852160" h="1298448">
                  <a:moveTo>
                    <a:pt x="0" y="0"/>
                  </a:moveTo>
                  <a:lnTo>
                    <a:pt x="5852160" y="0"/>
                  </a:lnTo>
                  <a:lnTo>
                    <a:pt x="585216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819" b="-37819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9525"/>
              <a:ext cx="585216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F4D33"/>
                  </a:solidFill>
                  <a:latin typeface="Arial"/>
                  <a:ea typeface="Arial"/>
                  <a:cs typeface="Arial"/>
                  <a:sym typeface="Arial"/>
                </a:rPr>
                <a:t>한국어 음성인식 정확, 화자 분리·자동 요약, 무료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8435340" y="5458968"/>
            <a:ext cx="4457700" cy="973836"/>
            <a:chOff x="0" y="0"/>
            <a:chExt cx="5943600" cy="1298448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5943600" cy="1298448"/>
            </a:xfrm>
            <a:custGeom>
              <a:avLst/>
              <a:gdLst/>
              <a:ahLst/>
              <a:cxnLst/>
              <a:rect l="l" t="t" r="r" b="b"/>
              <a:pathLst>
                <a:path w="5943600" h="1298448">
                  <a:moveTo>
                    <a:pt x="0" y="0"/>
                  </a:moveTo>
                  <a:lnTo>
                    <a:pt x="5943600" y="0"/>
                  </a:lnTo>
                  <a:lnTo>
                    <a:pt x="59436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FBF1F1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8641080" y="5458968"/>
            <a:ext cx="4046220" cy="973836"/>
            <a:chOff x="0" y="0"/>
            <a:chExt cx="5394960" cy="1298448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5394960" cy="1298448"/>
            </a:xfrm>
            <a:custGeom>
              <a:avLst/>
              <a:gdLst/>
              <a:ahLst/>
              <a:cxnLst/>
              <a:rect l="l" t="t" r="r" b="b"/>
              <a:pathLst>
                <a:path w="5394960" h="1298448">
                  <a:moveTo>
                    <a:pt x="0" y="0"/>
                  </a:moveTo>
                  <a:lnTo>
                    <a:pt x="5394960" y="0"/>
                  </a:lnTo>
                  <a:lnTo>
                    <a:pt x="539496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958" b="-30958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9525"/>
              <a:ext cx="539496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7A3030"/>
                  </a:solidFill>
                  <a:latin typeface="Arial"/>
                  <a:ea typeface="Arial"/>
                  <a:cs typeface="Arial"/>
                  <a:sym typeface="Arial"/>
                </a:rPr>
                <a:t>녹음 전 고지 필수, 심화 요약은 ChatGPT 연계 필요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2961620" y="5458968"/>
            <a:ext cx="4594860" cy="973836"/>
            <a:chOff x="0" y="0"/>
            <a:chExt cx="6126480" cy="1298448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6126480" cy="1298448"/>
            </a:xfrm>
            <a:custGeom>
              <a:avLst/>
              <a:gdLst/>
              <a:ahLst/>
              <a:cxnLst/>
              <a:rect l="l" t="t" r="r" b="b"/>
              <a:pathLst>
                <a:path w="6126480" h="1298448">
                  <a:moveTo>
                    <a:pt x="0" y="0"/>
                  </a:moveTo>
                  <a:lnTo>
                    <a:pt x="6126480" y="0"/>
                  </a:lnTo>
                  <a:lnTo>
                    <a:pt x="612648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id="106" name="Group 106"/>
          <p:cNvGrpSpPr/>
          <p:nvPr/>
        </p:nvGrpSpPr>
        <p:grpSpPr>
          <a:xfrm>
            <a:off x="13167360" y="5458968"/>
            <a:ext cx="4183380" cy="973836"/>
            <a:chOff x="0" y="0"/>
            <a:chExt cx="5577840" cy="1298448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5577840" cy="1298448"/>
            </a:xfrm>
            <a:custGeom>
              <a:avLst/>
              <a:gdLst/>
              <a:ahLst/>
              <a:cxnLst/>
              <a:rect l="l" t="t" r="r" b="b"/>
              <a:pathLst>
                <a:path w="5577840" h="1298448">
                  <a:moveTo>
                    <a:pt x="0" y="0"/>
                  </a:moveTo>
                  <a:lnTo>
                    <a:pt x="5577840" y="0"/>
                  </a:lnTo>
                  <a:lnTo>
                    <a:pt x="557784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703" b="-33703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-9525"/>
              <a:ext cx="557784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E3A5F"/>
                  </a:solidFill>
                  <a:latin typeface="Arial"/>
                  <a:ea typeface="Arial"/>
                  <a:cs typeface="Arial"/>
                  <a:sym typeface="Arial"/>
                </a:rPr>
                <a:t>상담 녹취 → 텍스트 변환 (3차시 파이프라인 1단계)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754380" y="6515100"/>
            <a:ext cx="2743200" cy="973836"/>
            <a:chOff x="0" y="0"/>
            <a:chExt cx="3657600" cy="1298448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3657600" cy="1298448"/>
            </a:xfrm>
            <a:custGeom>
              <a:avLst/>
              <a:gdLst/>
              <a:ahLst/>
              <a:cxnLst/>
              <a:rect l="l" t="t" r="r" b="b"/>
              <a:pathLst>
                <a:path w="3657600" h="1298448">
                  <a:moveTo>
                    <a:pt x="0" y="0"/>
                  </a:moveTo>
                  <a:lnTo>
                    <a:pt x="3657600" y="0"/>
                  </a:lnTo>
                  <a:lnTo>
                    <a:pt x="36576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5B3E8E"/>
            </a:solidFill>
          </p:spPr>
        </p:sp>
      </p:grpSp>
      <p:grpSp>
        <p:nvGrpSpPr>
          <p:cNvPr id="111" name="Group 111"/>
          <p:cNvGrpSpPr/>
          <p:nvPr/>
        </p:nvGrpSpPr>
        <p:grpSpPr>
          <a:xfrm>
            <a:off x="754380" y="6515100"/>
            <a:ext cx="2743200" cy="973836"/>
            <a:chOff x="0" y="0"/>
            <a:chExt cx="3657600" cy="1298448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3657600" cy="1298448"/>
            </a:xfrm>
            <a:custGeom>
              <a:avLst/>
              <a:gdLst/>
              <a:ahLst/>
              <a:cxnLst/>
              <a:rect l="l" t="t" r="r" b="b"/>
              <a:pathLst>
                <a:path w="3657600" h="1298448">
                  <a:moveTo>
                    <a:pt x="0" y="0"/>
                  </a:moveTo>
                  <a:lnTo>
                    <a:pt x="3657600" y="0"/>
                  </a:lnTo>
                  <a:lnTo>
                    <a:pt x="365760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87" b="-4887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19050"/>
              <a:ext cx="3657600" cy="1317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NotebookLM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3566160" y="6515100"/>
            <a:ext cx="4800600" cy="973836"/>
            <a:chOff x="0" y="0"/>
            <a:chExt cx="6400800" cy="1298448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6400800" cy="1298448"/>
            </a:xfrm>
            <a:custGeom>
              <a:avLst/>
              <a:gdLst/>
              <a:ahLst/>
              <a:cxnLst/>
              <a:rect l="l" t="t" r="r" b="b"/>
              <a:pathLst>
                <a:path w="6400800" h="1298448">
                  <a:moveTo>
                    <a:pt x="0" y="0"/>
                  </a:moveTo>
                  <a:lnTo>
                    <a:pt x="6400800" y="0"/>
                  </a:lnTo>
                  <a:lnTo>
                    <a:pt x="64008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6" name="Group 116"/>
          <p:cNvGrpSpPr/>
          <p:nvPr/>
        </p:nvGrpSpPr>
        <p:grpSpPr>
          <a:xfrm>
            <a:off x="3771900" y="6515100"/>
            <a:ext cx="4389120" cy="973836"/>
            <a:chOff x="0" y="0"/>
            <a:chExt cx="5852160" cy="1298448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5852160" cy="1298448"/>
            </a:xfrm>
            <a:custGeom>
              <a:avLst/>
              <a:gdLst/>
              <a:ahLst/>
              <a:cxnLst/>
              <a:rect l="l" t="t" r="r" b="b"/>
              <a:pathLst>
                <a:path w="5852160" h="1298448">
                  <a:moveTo>
                    <a:pt x="0" y="0"/>
                  </a:moveTo>
                  <a:lnTo>
                    <a:pt x="5852160" y="0"/>
                  </a:lnTo>
                  <a:lnTo>
                    <a:pt x="585216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819" b="-37819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9525"/>
              <a:ext cx="585216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F4D33"/>
                  </a:solidFill>
                  <a:latin typeface="Arial"/>
                  <a:ea typeface="Arial"/>
                  <a:cs typeface="Arial"/>
                  <a:sym typeface="Arial"/>
                </a:rPr>
                <a:t>내 자료만으로 답변(환각 최소), 출처 인용 제공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8435340" y="6515100"/>
            <a:ext cx="4457700" cy="973836"/>
            <a:chOff x="0" y="0"/>
            <a:chExt cx="5943600" cy="1298448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5943600" cy="1298448"/>
            </a:xfrm>
            <a:custGeom>
              <a:avLst/>
              <a:gdLst/>
              <a:ahLst/>
              <a:cxnLst/>
              <a:rect l="l" t="t" r="r" b="b"/>
              <a:pathLst>
                <a:path w="5943600" h="1298448">
                  <a:moveTo>
                    <a:pt x="0" y="0"/>
                  </a:moveTo>
                  <a:lnTo>
                    <a:pt x="5943600" y="0"/>
                  </a:lnTo>
                  <a:lnTo>
                    <a:pt x="59436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FBF1F1"/>
            </a:solidFill>
          </p:spPr>
        </p:sp>
      </p:grpSp>
      <p:grpSp>
        <p:nvGrpSpPr>
          <p:cNvPr id="121" name="Group 121"/>
          <p:cNvGrpSpPr/>
          <p:nvPr/>
        </p:nvGrpSpPr>
        <p:grpSpPr>
          <a:xfrm>
            <a:off x="8641080" y="6515100"/>
            <a:ext cx="4046220" cy="973836"/>
            <a:chOff x="0" y="0"/>
            <a:chExt cx="5394960" cy="1298448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5394960" cy="1298448"/>
            </a:xfrm>
            <a:custGeom>
              <a:avLst/>
              <a:gdLst/>
              <a:ahLst/>
              <a:cxnLst/>
              <a:rect l="l" t="t" r="r" b="b"/>
              <a:pathLst>
                <a:path w="5394960" h="1298448">
                  <a:moveTo>
                    <a:pt x="0" y="0"/>
                  </a:moveTo>
                  <a:lnTo>
                    <a:pt x="5394960" y="0"/>
                  </a:lnTo>
                  <a:lnTo>
                    <a:pt x="539496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958" b="-30958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-9525"/>
              <a:ext cx="539496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7A3030"/>
                  </a:solidFill>
                  <a:latin typeface="Arial"/>
                  <a:ea typeface="Arial"/>
                  <a:cs typeface="Arial"/>
                  <a:sym typeface="Arial"/>
                </a:rPr>
                <a:t>업로드한 자료 범위 안에서만 답변 가능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2961620" y="6515100"/>
            <a:ext cx="4594860" cy="973836"/>
            <a:chOff x="0" y="0"/>
            <a:chExt cx="6126480" cy="1298448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6126480" cy="1298448"/>
            </a:xfrm>
            <a:custGeom>
              <a:avLst/>
              <a:gdLst/>
              <a:ahLst/>
              <a:cxnLst/>
              <a:rect l="l" t="t" r="r" b="b"/>
              <a:pathLst>
                <a:path w="6126480" h="1298448">
                  <a:moveTo>
                    <a:pt x="0" y="0"/>
                  </a:moveTo>
                  <a:lnTo>
                    <a:pt x="6126480" y="0"/>
                  </a:lnTo>
                  <a:lnTo>
                    <a:pt x="612648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id="126" name="Group 126"/>
          <p:cNvGrpSpPr/>
          <p:nvPr/>
        </p:nvGrpSpPr>
        <p:grpSpPr>
          <a:xfrm>
            <a:off x="13167360" y="6515100"/>
            <a:ext cx="4183380" cy="973836"/>
            <a:chOff x="0" y="0"/>
            <a:chExt cx="5577840" cy="1298448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5577840" cy="1298448"/>
            </a:xfrm>
            <a:custGeom>
              <a:avLst/>
              <a:gdLst/>
              <a:ahLst/>
              <a:cxnLst/>
              <a:rect l="l" t="t" r="r" b="b"/>
              <a:pathLst>
                <a:path w="5577840" h="1298448">
                  <a:moveTo>
                    <a:pt x="0" y="0"/>
                  </a:moveTo>
                  <a:lnTo>
                    <a:pt x="5577840" y="0"/>
                  </a:lnTo>
                  <a:lnTo>
                    <a:pt x="557784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703" b="-33703"/>
              </a:stretch>
            </a:blipFill>
          </p:spPr>
        </p:sp>
        <p:sp>
          <p:nvSpPr>
            <p:cNvPr id="128" name="TextBox 128"/>
            <p:cNvSpPr txBox="1"/>
            <p:nvPr/>
          </p:nvSpPr>
          <p:spPr>
            <a:xfrm>
              <a:off x="0" y="-9525"/>
              <a:ext cx="557784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E3A5F"/>
                  </a:solidFill>
                  <a:latin typeface="Arial"/>
                  <a:ea typeface="Arial"/>
                  <a:cs typeface="Arial"/>
                  <a:sym typeface="Arial"/>
                </a:rPr>
                <a:t>반복 민원 FAQ 자동 생성, 매뉴얼 기반 질의응답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754380" y="7571232"/>
            <a:ext cx="2743200" cy="973836"/>
            <a:chOff x="0" y="0"/>
            <a:chExt cx="3657600" cy="1298448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3657600" cy="1298448"/>
            </a:xfrm>
            <a:custGeom>
              <a:avLst/>
              <a:gdLst/>
              <a:ahLst/>
              <a:cxnLst/>
              <a:rect l="l" t="t" r="r" b="b"/>
              <a:pathLst>
                <a:path w="3657600" h="1298448">
                  <a:moveTo>
                    <a:pt x="0" y="0"/>
                  </a:moveTo>
                  <a:lnTo>
                    <a:pt x="3657600" y="0"/>
                  </a:lnTo>
                  <a:lnTo>
                    <a:pt x="36576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B03A3A"/>
            </a:solidFill>
          </p:spPr>
        </p:sp>
      </p:grpSp>
      <p:grpSp>
        <p:nvGrpSpPr>
          <p:cNvPr id="131" name="Group 131"/>
          <p:cNvGrpSpPr/>
          <p:nvPr/>
        </p:nvGrpSpPr>
        <p:grpSpPr>
          <a:xfrm>
            <a:off x="754380" y="7571232"/>
            <a:ext cx="2743200" cy="973836"/>
            <a:chOff x="0" y="0"/>
            <a:chExt cx="3657600" cy="1298448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3657600" cy="1298448"/>
            </a:xfrm>
            <a:custGeom>
              <a:avLst/>
              <a:gdLst/>
              <a:ahLst/>
              <a:cxnLst/>
              <a:rect l="l" t="t" r="r" b="b"/>
              <a:pathLst>
                <a:path w="3657600" h="1298448">
                  <a:moveTo>
                    <a:pt x="0" y="0"/>
                  </a:moveTo>
                  <a:lnTo>
                    <a:pt x="3657600" y="0"/>
                  </a:lnTo>
                  <a:lnTo>
                    <a:pt x="365760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87" b="-4887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-19050"/>
              <a:ext cx="3657600" cy="1317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ChatGPT GPTs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3566160" y="7571232"/>
            <a:ext cx="4800600" cy="973836"/>
            <a:chOff x="0" y="0"/>
            <a:chExt cx="6400800" cy="1298448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6400800" cy="1298448"/>
            </a:xfrm>
            <a:custGeom>
              <a:avLst/>
              <a:gdLst/>
              <a:ahLst/>
              <a:cxnLst/>
              <a:rect l="l" t="t" r="r" b="b"/>
              <a:pathLst>
                <a:path w="6400800" h="1298448">
                  <a:moveTo>
                    <a:pt x="0" y="0"/>
                  </a:moveTo>
                  <a:lnTo>
                    <a:pt x="6400800" y="0"/>
                  </a:lnTo>
                  <a:lnTo>
                    <a:pt x="64008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6" name="Group 136"/>
          <p:cNvGrpSpPr/>
          <p:nvPr/>
        </p:nvGrpSpPr>
        <p:grpSpPr>
          <a:xfrm>
            <a:off x="3771900" y="7571232"/>
            <a:ext cx="4389120" cy="973836"/>
            <a:chOff x="0" y="0"/>
            <a:chExt cx="5852160" cy="1298448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5852160" cy="1298448"/>
            </a:xfrm>
            <a:custGeom>
              <a:avLst/>
              <a:gdLst/>
              <a:ahLst/>
              <a:cxnLst/>
              <a:rect l="l" t="t" r="r" b="b"/>
              <a:pathLst>
                <a:path w="5852160" h="1298448">
                  <a:moveTo>
                    <a:pt x="0" y="0"/>
                  </a:moveTo>
                  <a:lnTo>
                    <a:pt x="5852160" y="0"/>
                  </a:lnTo>
                  <a:lnTo>
                    <a:pt x="585216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819" b="-37819"/>
              </a:stretch>
            </a:blipFill>
          </p:spPr>
        </p:sp>
        <p:sp>
          <p:nvSpPr>
            <p:cNvPr id="138" name="TextBox 138"/>
            <p:cNvSpPr txBox="1"/>
            <p:nvPr/>
          </p:nvSpPr>
          <p:spPr>
            <a:xfrm>
              <a:off x="0" y="-9525"/>
              <a:ext cx="585216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F4D33"/>
                  </a:solidFill>
                  <a:latin typeface="Arial"/>
                  <a:ea typeface="Arial"/>
                  <a:cs typeface="Arial"/>
                  <a:sym typeface="Arial"/>
                </a:rPr>
                <a:t>코딩 없이 맞춤 챗봇 제작, 링크 하나로 팀 공유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8435340" y="7571232"/>
            <a:ext cx="4457700" cy="973836"/>
            <a:chOff x="0" y="0"/>
            <a:chExt cx="5943600" cy="1298448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5943600" cy="1298448"/>
            </a:xfrm>
            <a:custGeom>
              <a:avLst/>
              <a:gdLst/>
              <a:ahLst/>
              <a:cxnLst/>
              <a:rect l="l" t="t" r="r" b="b"/>
              <a:pathLst>
                <a:path w="5943600" h="1298448">
                  <a:moveTo>
                    <a:pt x="0" y="0"/>
                  </a:moveTo>
                  <a:lnTo>
                    <a:pt x="5943600" y="0"/>
                  </a:lnTo>
                  <a:lnTo>
                    <a:pt x="594360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FBF1F1"/>
            </a:solidFill>
          </p:spPr>
        </p:sp>
      </p:grpSp>
      <p:grpSp>
        <p:nvGrpSpPr>
          <p:cNvPr id="141" name="Group 141"/>
          <p:cNvGrpSpPr/>
          <p:nvPr/>
        </p:nvGrpSpPr>
        <p:grpSpPr>
          <a:xfrm>
            <a:off x="8641080" y="7571232"/>
            <a:ext cx="4046220" cy="973836"/>
            <a:chOff x="0" y="0"/>
            <a:chExt cx="5394960" cy="1298448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5394960" cy="1298448"/>
            </a:xfrm>
            <a:custGeom>
              <a:avLst/>
              <a:gdLst/>
              <a:ahLst/>
              <a:cxnLst/>
              <a:rect l="l" t="t" r="r" b="b"/>
              <a:pathLst>
                <a:path w="5394960" h="1298448">
                  <a:moveTo>
                    <a:pt x="0" y="0"/>
                  </a:moveTo>
                  <a:lnTo>
                    <a:pt x="5394960" y="0"/>
                  </a:lnTo>
                  <a:lnTo>
                    <a:pt x="539496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958" b="-30958"/>
              </a:stretch>
            </a:blipFill>
          </p:spPr>
        </p:sp>
        <p:sp>
          <p:nvSpPr>
            <p:cNvPr id="143" name="TextBox 143"/>
            <p:cNvSpPr txBox="1"/>
            <p:nvPr/>
          </p:nvSpPr>
          <p:spPr>
            <a:xfrm>
              <a:off x="0" y="-9525"/>
              <a:ext cx="539496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7A3030"/>
                  </a:solidFill>
                  <a:latin typeface="Arial"/>
                  <a:ea typeface="Arial"/>
                  <a:cs typeface="Arial"/>
                  <a:sym typeface="Arial"/>
                </a:rPr>
                <a:t>제작자는 Plus 계정 필요, 외부 시스템 연동 제한</a:t>
              </a:r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12961620" y="7571232"/>
            <a:ext cx="4594860" cy="973836"/>
            <a:chOff x="0" y="0"/>
            <a:chExt cx="6126480" cy="1298448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6126480" cy="1298448"/>
            </a:xfrm>
            <a:custGeom>
              <a:avLst/>
              <a:gdLst/>
              <a:ahLst/>
              <a:cxnLst/>
              <a:rect l="l" t="t" r="r" b="b"/>
              <a:pathLst>
                <a:path w="6126480" h="1298448">
                  <a:moveTo>
                    <a:pt x="0" y="0"/>
                  </a:moveTo>
                  <a:lnTo>
                    <a:pt x="6126480" y="0"/>
                  </a:lnTo>
                  <a:lnTo>
                    <a:pt x="6126480" y="1298448"/>
                  </a:lnTo>
                  <a:lnTo>
                    <a:pt x="0" y="1298448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id="146" name="Group 146"/>
          <p:cNvGrpSpPr/>
          <p:nvPr/>
        </p:nvGrpSpPr>
        <p:grpSpPr>
          <a:xfrm>
            <a:off x="13167360" y="7571232"/>
            <a:ext cx="4183380" cy="973836"/>
            <a:chOff x="0" y="0"/>
            <a:chExt cx="5577840" cy="1298448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5577840" cy="1298448"/>
            </a:xfrm>
            <a:custGeom>
              <a:avLst/>
              <a:gdLst/>
              <a:ahLst/>
              <a:cxnLst/>
              <a:rect l="l" t="t" r="r" b="b"/>
              <a:pathLst>
                <a:path w="5577840" h="1298448">
                  <a:moveTo>
                    <a:pt x="0" y="0"/>
                  </a:moveTo>
                  <a:lnTo>
                    <a:pt x="5577840" y="0"/>
                  </a:lnTo>
                  <a:lnTo>
                    <a:pt x="5577840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703" b="-33703"/>
              </a:stretch>
            </a:blipFill>
          </p:spPr>
        </p:sp>
        <p:sp>
          <p:nvSpPr>
            <p:cNvPr id="148" name="TextBox 148"/>
            <p:cNvSpPr txBox="1"/>
            <p:nvPr/>
          </p:nvSpPr>
          <p:spPr>
            <a:xfrm>
              <a:off x="0" y="-9525"/>
              <a:ext cx="5577840" cy="1307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E3A5F"/>
                  </a:solidFill>
                  <a:latin typeface="Arial"/>
                  <a:ea typeface="Arial"/>
                  <a:cs typeface="Arial"/>
                  <a:sym typeface="Arial"/>
                </a:rPr>
                <a:t>기관 안내·민원 응답 챗봇 (4차시 결과물 운영)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754380" y="8709660"/>
            <a:ext cx="16802100" cy="754380"/>
            <a:chOff x="0" y="0"/>
            <a:chExt cx="22402800" cy="1005840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22402800" cy="1005840"/>
            </a:xfrm>
            <a:custGeom>
              <a:avLst/>
              <a:gdLst/>
              <a:ahLst/>
              <a:cxnLst/>
              <a:rect l="l" t="t" r="r" b="b"/>
              <a:pathLst>
                <a:path w="22402800" h="1005840">
                  <a:moveTo>
                    <a:pt x="0" y="0"/>
                  </a:moveTo>
                  <a:lnTo>
                    <a:pt x="22402800" y="0"/>
                  </a:lnTo>
                  <a:lnTo>
                    <a:pt x="2240280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51" name="Group 151"/>
          <p:cNvGrpSpPr/>
          <p:nvPr/>
        </p:nvGrpSpPr>
        <p:grpSpPr>
          <a:xfrm>
            <a:off x="754380" y="8709660"/>
            <a:ext cx="16802100" cy="754380"/>
            <a:chOff x="0" y="0"/>
            <a:chExt cx="22402800" cy="1005840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22402800" cy="1005840"/>
            </a:xfrm>
            <a:custGeom>
              <a:avLst/>
              <a:gdLst/>
              <a:ahLst/>
              <a:cxnLst/>
              <a:rect l="l" t="t" r="r" b="b"/>
              <a:pathLst>
                <a:path w="22402800" h="1005840">
                  <a:moveTo>
                    <a:pt x="0" y="0"/>
                  </a:moveTo>
                  <a:lnTo>
                    <a:pt x="22402800" y="0"/>
                  </a:lnTo>
                  <a:lnTo>
                    <a:pt x="2240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83984" b="-383984"/>
              </a:stretch>
            </a:blipFill>
          </p:spPr>
        </p:sp>
        <p:sp>
          <p:nvSpPr>
            <p:cNvPr id="153" name="TextBox 153"/>
            <p:cNvSpPr txBox="1"/>
            <p:nvPr/>
          </p:nvSpPr>
          <p:spPr>
            <a:xfrm>
              <a:off x="0" y="-28575"/>
              <a:ext cx="22402800" cy="1034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 b="1">
                  <a:solidFill>
                    <a:srgbClr val="C9A8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발표 팁  </a:t>
              </a:r>
              <a:r>
                <a:rPr lang="en-US" sz="187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팀 발표에서 “왜 이 도구를 선택했는가”의 근거를 이 표에서 찾아 말해보세요 — 도구는 다 쓰는 게 아니라 골라 쓰는 것입니다</a:t>
              </a:r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0" y="9710928"/>
            <a:ext cx="18287543" cy="576072"/>
            <a:chOff x="0" y="0"/>
            <a:chExt cx="24383390" cy="768096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24383364" cy="768096"/>
            </a:xfrm>
            <a:custGeom>
              <a:avLst/>
              <a:gdLst/>
              <a:ahLst/>
              <a:cxnLst/>
              <a:rect l="l" t="t" r="r" b="b"/>
              <a:pathLst>
                <a:path w="24383364" h="768096">
                  <a:moveTo>
                    <a:pt x="0" y="0"/>
                  </a:moveTo>
                  <a:lnTo>
                    <a:pt x="24383364" y="0"/>
                  </a:lnTo>
                  <a:lnTo>
                    <a:pt x="24383364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56" name="Group 156"/>
          <p:cNvGrpSpPr/>
          <p:nvPr/>
        </p:nvGrpSpPr>
        <p:grpSpPr>
          <a:xfrm>
            <a:off x="754380" y="9710928"/>
            <a:ext cx="8915400" cy="576072"/>
            <a:chOff x="0" y="0"/>
            <a:chExt cx="11887200" cy="768096"/>
          </a:xfrm>
        </p:grpSpPr>
        <p:sp>
          <p:nvSpPr>
            <p:cNvPr id="157" name="Freeform 157"/>
            <p:cNvSpPr/>
            <p:nvPr/>
          </p:nvSpPr>
          <p:spPr>
            <a:xfrm>
              <a:off x="0" y="0"/>
              <a:ext cx="11887200" cy="768096"/>
            </a:xfrm>
            <a:custGeom>
              <a:avLst/>
              <a:gdLst/>
              <a:ahLst/>
              <a:cxnLst/>
              <a:rect l="l" t="t" r="r" b="b"/>
              <a:pathLst>
                <a:path w="11887200" h="768096">
                  <a:moveTo>
                    <a:pt x="0" y="0"/>
                  </a:moveTo>
                  <a:lnTo>
                    <a:pt x="11887200" y="0"/>
                  </a:lnTo>
                  <a:lnTo>
                    <a:pt x="11887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1554" b="-251554"/>
              </a:stretch>
            </a:blipFill>
          </p:spPr>
        </p:sp>
        <p:sp>
          <p:nvSpPr>
            <p:cNvPr id="158" name="TextBox 158"/>
            <p:cNvSpPr txBox="1"/>
            <p:nvPr/>
          </p:nvSpPr>
          <p:spPr>
            <a:xfrm>
              <a:off x="0" y="-9525"/>
              <a:ext cx="118872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5차시 | AI 도구별 장단점 비교</a:t>
              </a:r>
            </a:p>
          </p:txBody>
        </p:sp>
      </p:grpSp>
      <p:grpSp>
        <p:nvGrpSpPr>
          <p:cNvPr id="159" name="Group 159"/>
          <p:cNvGrpSpPr/>
          <p:nvPr/>
        </p:nvGrpSpPr>
        <p:grpSpPr>
          <a:xfrm>
            <a:off x="9326880" y="9710928"/>
            <a:ext cx="8229600" cy="576072"/>
            <a:chOff x="0" y="0"/>
            <a:chExt cx="10972800" cy="768096"/>
          </a:xfrm>
        </p:grpSpPr>
        <p:sp>
          <p:nvSpPr>
            <p:cNvPr id="160" name="Freeform 160"/>
            <p:cNvSpPr/>
            <p:nvPr/>
          </p:nvSpPr>
          <p:spPr>
            <a:xfrm>
              <a:off x="0" y="0"/>
              <a:ext cx="10972800" cy="768096"/>
            </a:xfrm>
            <a:custGeom>
              <a:avLst/>
              <a:gdLst/>
              <a:ahLst/>
              <a:cxnLst/>
              <a:rect l="l" t="t" r="r" b="b"/>
              <a:pathLst>
                <a:path w="10972800" h="768096">
                  <a:moveTo>
                    <a:pt x="0" y="0"/>
                  </a:moveTo>
                  <a:lnTo>
                    <a:pt x="10972800" y="0"/>
                  </a:lnTo>
                  <a:lnTo>
                    <a:pt x="10972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61" name="TextBox 161"/>
            <p:cNvSpPr txBox="1"/>
            <p:nvPr/>
          </p:nvSpPr>
          <p:spPr>
            <a:xfrm>
              <a:off x="0" y="-9525"/>
              <a:ext cx="109728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ko-KR" alt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㈜얼라이언스코리아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부산여자대학교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DX교육운영센터</a:t>
              </a:r>
              <a:endParaRPr lang="en-US" sz="1575" dirty="0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14300"/>
            <a:ext cx="18500798" cy="10287000"/>
            <a:chOff x="0" y="0"/>
            <a:chExt cx="2466773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67718" cy="13716000"/>
            </a:xfrm>
            <a:custGeom>
              <a:avLst/>
              <a:gdLst/>
              <a:ahLst/>
              <a:cxnLst/>
              <a:rect l="l" t="t" r="r" b="b"/>
              <a:pathLst>
                <a:path w="24667718" h="13716000">
                  <a:moveTo>
                    <a:pt x="0" y="0"/>
                  </a:moveTo>
                  <a:lnTo>
                    <a:pt x="24667718" y="0"/>
                  </a:lnTo>
                  <a:lnTo>
                    <a:pt x="24667718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팀별 현장 적용 미니 사례 발표 가이드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920240"/>
            <a:ext cx="17007840" cy="768096"/>
            <a:chOff x="0" y="0"/>
            <a:chExt cx="22677120" cy="1024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77120" cy="1024128"/>
            </a:xfrm>
            <a:custGeom>
              <a:avLst/>
              <a:gdLst/>
              <a:ahLst/>
              <a:cxnLst/>
              <a:rect l="l" t="t" r="r" b="b"/>
              <a:pathLst>
                <a:path w="22677120" h="1024128">
                  <a:moveTo>
                    <a:pt x="0" y="0"/>
                  </a:moveTo>
                  <a:lnTo>
                    <a:pt x="22677120" y="0"/>
                  </a:lnTo>
                  <a:lnTo>
                    <a:pt x="22677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22960" y="1920240"/>
            <a:ext cx="16642080" cy="768096"/>
            <a:chOff x="0" y="0"/>
            <a:chExt cx="22189440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189439" cy="1024128"/>
            </a:xfrm>
            <a:custGeom>
              <a:avLst/>
              <a:gdLst/>
              <a:ahLst/>
              <a:cxnLst/>
              <a:rect l="l" t="t" r="r" b="b"/>
              <a:pathLst>
                <a:path w="22189439" h="1024128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75" b="-37217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218944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🎤 각 팀은 5분 이내로 아래 발표 구조에 따라 발표합니다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0" y="2889504"/>
            <a:ext cx="914400" cy="1188720"/>
            <a:chOff x="0" y="0"/>
            <a:chExt cx="1219200" cy="15849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584960"/>
            </a:xfrm>
            <a:custGeom>
              <a:avLst/>
              <a:gdLst/>
              <a:ahLst/>
              <a:cxnLst/>
              <a:rect l="l" t="t" r="r" b="b"/>
              <a:pathLst>
                <a:path w="1219200" h="158496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40080" y="2889504"/>
            <a:ext cx="914400" cy="1188720"/>
            <a:chOff x="0" y="0"/>
            <a:chExt cx="1219200" cy="15849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9200" cy="1584960"/>
            </a:xfrm>
            <a:custGeom>
              <a:avLst/>
              <a:gdLst/>
              <a:ahLst/>
              <a:cxnLst/>
              <a:rect l="l" t="t" r="r" b="b"/>
              <a:pathLst>
                <a:path w="1219200" h="158496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r="-116794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1219200" cy="1575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37360" y="2889504"/>
            <a:ext cx="4572000" cy="1188720"/>
            <a:chOff x="0" y="0"/>
            <a:chExt cx="6096000" cy="15849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096000" cy="1584960"/>
            </a:xfrm>
            <a:custGeom>
              <a:avLst/>
              <a:gdLst/>
              <a:ahLst/>
              <a:cxnLst/>
              <a:rect l="l" t="t" r="r" b="b"/>
              <a:pathLst>
                <a:path w="6096000" h="1584960">
                  <a:moveTo>
                    <a:pt x="0" y="0"/>
                  </a:moveTo>
                  <a:lnTo>
                    <a:pt x="6096000" y="0"/>
                  </a:lnTo>
                  <a:lnTo>
                    <a:pt x="6096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828800" y="2889504"/>
            <a:ext cx="4389120" cy="1188720"/>
            <a:chOff x="0" y="0"/>
            <a:chExt cx="5852160" cy="15849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52160" cy="1584960"/>
            </a:xfrm>
            <a:custGeom>
              <a:avLst/>
              <a:gdLst/>
              <a:ahLst/>
              <a:cxnLst/>
              <a:rect l="l" t="t" r="r" b="b"/>
              <a:pathLst>
                <a:path w="5852160" h="1584960">
                  <a:moveTo>
                    <a:pt x="0" y="0"/>
                  </a:moveTo>
                  <a:lnTo>
                    <a:pt x="5852160" y="0"/>
                  </a:lnTo>
                  <a:lnTo>
                    <a:pt x="58521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44" b="-21944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5852160" cy="1575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5B3A8C"/>
                  </a:solidFill>
                  <a:latin typeface="Mandali"/>
                  <a:ea typeface="Mandali"/>
                  <a:cs typeface="Mandali"/>
                  <a:sym typeface="Mandali"/>
                </a:rPr>
                <a:t>우리 팀이 선택한 민원 유형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92240" y="2889504"/>
            <a:ext cx="11155680" cy="1188720"/>
            <a:chOff x="0" y="0"/>
            <a:chExt cx="14874240" cy="15849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874239" cy="1584960"/>
            </a:xfrm>
            <a:custGeom>
              <a:avLst/>
              <a:gdLst/>
              <a:ahLst/>
              <a:cxnLst/>
              <a:rect l="l" t="t" r="r" b="b"/>
              <a:pathLst>
                <a:path w="14874239" h="1584960">
                  <a:moveTo>
                    <a:pt x="0" y="0"/>
                  </a:moveTo>
                  <a:lnTo>
                    <a:pt x="14874239" y="0"/>
                  </a:lnTo>
                  <a:lnTo>
                    <a:pt x="14874239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675120" y="2889504"/>
            <a:ext cx="10789920" cy="1188720"/>
            <a:chOff x="0" y="0"/>
            <a:chExt cx="14386560" cy="15849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386561" cy="1584960"/>
            </a:xfrm>
            <a:custGeom>
              <a:avLst/>
              <a:gdLst/>
              <a:ahLst/>
              <a:cxnLst/>
              <a:rect l="l" t="t" r="r" b="b"/>
              <a:pathLst>
                <a:path w="14386561" h="1584960">
                  <a:moveTo>
                    <a:pt x="0" y="0"/>
                  </a:moveTo>
                  <a:lnTo>
                    <a:pt x="14386561" y="0"/>
                  </a:lnTo>
                  <a:lnTo>
                    <a:pt x="143865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864" b="-12686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14386560" cy="1575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가장 자주 발생하거나 처리가 어려운 민원 1가지 소개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0080" y="4229100"/>
            <a:ext cx="914400" cy="1188720"/>
            <a:chOff x="0" y="0"/>
            <a:chExt cx="1219200" cy="15849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19200" cy="1584960"/>
            </a:xfrm>
            <a:custGeom>
              <a:avLst/>
              <a:gdLst/>
              <a:ahLst/>
              <a:cxnLst/>
              <a:rect l="l" t="t" r="r" b="b"/>
              <a:pathLst>
                <a:path w="1219200" h="158496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40080" y="4229100"/>
            <a:ext cx="914400" cy="1188720"/>
            <a:chOff x="0" y="0"/>
            <a:chExt cx="1219200" cy="15849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19200" cy="1584960"/>
            </a:xfrm>
            <a:custGeom>
              <a:avLst/>
              <a:gdLst/>
              <a:ahLst/>
              <a:cxnLst/>
              <a:rect l="l" t="t" r="r" b="b"/>
              <a:pathLst>
                <a:path w="1219200" h="158496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r="-11679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1219200" cy="1575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37360" y="4229100"/>
            <a:ext cx="4572000" cy="1188720"/>
            <a:chOff x="0" y="0"/>
            <a:chExt cx="6096000" cy="15849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096000" cy="1584960"/>
            </a:xfrm>
            <a:custGeom>
              <a:avLst/>
              <a:gdLst/>
              <a:ahLst/>
              <a:cxnLst/>
              <a:rect l="l" t="t" r="r" b="b"/>
              <a:pathLst>
                <a:path w="6096000" h="1584960">
                  <a:moveTo>
                    <a:pt x="0" y="0"/>
                  </a:moveTo>
                  <a:lnTo>
                    <a:pt x="6096000" y="0"/>
                  </a:lnTo>
                  <a:lnTo>
                    <a:pt x="6096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828800" y="4229100"/>
            <a:ext cx="4389120" cy="1188720"/>
            <a:chOff x="0" y="0"/>
            <a:chExt cx="5852160" cy="15849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852160" cy="1584960"/>
            </a:xfrm>
            <a:custGeom>
              <a:avLst/>
              <a:gdLst/>
              <a:ahLst/>
              <a:cxnLst/>
              <a:rect l="l" t="t" r="r" b="b"/>
              <a:pathLst>
                <a:path w="5852160" h="1584960">
                  <a:moveTo>
                    <a:pt x="0" y="0"/>
                  </a:moveTo>
                  <a:lnTo>
                    <a:pt x="5852160" y="0"/>
                  </a:lnTo>
                  <a:lnTo>
                    <a:pt x="58521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44" b="-2194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9525"/>
              <a:ext cx="5852160" cy="1575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5B3A8C"/>
                  </a:solidFill>
                  <a:latin typeface="Mandali"/>
                  <a:ea typeface="Mandali"/>
                  <a:cs typeface="Mandali"/>
                  <a:sym typeface="Mandali"/>
                </a:rPr>
                <a:t>AI 활용 방법 시연 (또는 설명)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92240" y="4229100"/>
            <a:ext cx="11155680" cy="1188720"/>
            <a:chOff x="0" y="0"/>
            <a:chExt cx="14874240" cy="15849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874239" cy="1584960"/>
            </a:xfrm>
            <a:custGeom>
              <a:avLst/>
              <a:gdLst/>
              <a:ahLst/>
              <a:cxnLst/>
              <a:rect l="l" t="t" r="r" b="b"/>
              <a:pathLst>
                <a:path w="14874239" h="1584960">
                  <a:moveTo>
                    <a:pt x="0" y="0"/>
                  </a:moveTo>
                  <a:lnTo>
                    <a:pt x="14874239" y="0"/>
                  </a:lnTo>
                  <a:lnTo>
                    <a:pt x="14874239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675120" y="4229100"/>
            <a:ext cx="10789920" cy="1188720"/>
            <a:chOff x="0" y="0"/>
            <a:chExt cx="14386560" cy="15849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4386561" cy="1584960"/>
            </a:xfrm>
            <a:custGeom>
              <a:avLst/>
              <a:gdLst/>
              <a:ahLst/>
              <a:cxnLst/>
              <a:rect l="l" t="t" r="r" b="b"/>
              <a:pathLst>
                <a:path w="14386561" h="1584960">
                  <a:moveTo>
                    <a:pt x="0" y="0"/>
                  </a:moveTo>
                  <a:lnTo>
                    <a:pt x="14386561" y="0"/>
                  </a:lnTo>
                  <a:lnTo>
                    <a:pt x="143865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864" b="-126864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9525"/>
              <a:ext cx="14386560" cy="1575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ChatGPT/GPTs/클로바Note 중 1가지 이상 실제 사용 방법 발표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0080" y="5600700"/>
            <a:ext cx="914400" cy="1188720"/>
            <a:chOff x="0" y="0"/>
            <a:chExt cx="1219200" cy="15849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00" cy="1584960"/>
            </a:xfrm>
            <a:custGeom>
              <a:avLst/>
              <a:gdLst/>
              <a:ahLst/>
              <a:cxnLst/>
              <a:rect l="l" t="t" r="r" b="b"/>
              <a:pathLst>
                <a:path w="1219200" h="158496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640080" y="5600700"/>
            <a:ext cx="914400" cy="1188720"/>
            <a:chOff x="0" y="0"/>
            <a:chExt cx="1219200" cy="158496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219200" cy="1584960"/>
            </a:xfrm>
            <a:custGeom>
              <a:avLst/>
              <a:gdLst/>
              <a:ahLst/>
              <a:cxnLst/>
              <a:rect l="l" t="t" r="r" b="b"/>
              <a:pathLst>
                <a:path w="1219200" h="158496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r="-116794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9525"/>
              <a:ext cx="1219200" cy="1575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3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737360" y="5600700"/>
            <a:ext cx="4572000" cy="1188720"/>
            <a:chOff x="0" y="0"/>
            <a:chExt cx="6096000" cy="158496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096000" cy="1584960"/>
            </a:xfrm>
            <a:custGeom>
              <a:avLst/>
              <a:gdLst/>
              <a:ahLst/>
              <a:cxnLst/>
              <a:rect l="l" t="t" r="r" b="b"/>
              <a:pathLst>
                <a:path w="6096000" h="1584960">
                  <a:moveTo>
                    <a:pt x="0" y="0"/>
                  </a:moveTo>
                  <a:lnTo>
                    <a:pt x="6096000" y="0"/>
                  </a:lnTo>
                  <a:lnTo>
                    <a:pt x="6096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828800" y="5600700"/>
            <a:ext cx="4389120" cy="1188720"/>
            <a:chOff x="0" y="0"/>
            <a:chExt cx="5852160" cy="158496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852160" cy="1584960"/>
            </a:xfrm>
            <a:custGeom>
              <a:avLst/>
              <a:gdLst/>
              <a:ahLst/>
              <a:cxnLst/>
              <a:rect l="l" t="t" r="r" b="b"/>
              <a:pathLst>
                <a:path w="5852160" h="1584960">
                  <a:moveTo>
                    <a:pt x="0" y="0"/>
                  </a:moveTo>
                  <a:lnTo>
                    <a:pt x="5852160" y="0"/>
                  </a:lnTo>
                  <a:lnTo>
                    <a:pt x="58521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44" b="-21944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9525"/>
              <a:ext cx="5852160" cy="1575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5B3A8C"/>
                  </a:solidFill>
                  <a:latin typeface="Mandali"/>
                  <a:ea typeface="Mandali"/>
                  <a:cs typeface="Mandali"/>
                  <a:sym typeface="Mandali"/>
                </a:rPr>
                <a:t>AI 도입 전·후 비교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492240" y="5600700"/>
            <a:ext cx="11155680" cy="1188720"/>
            <a:chOff x="0" y="0"/>
            <a:chExt cx="14874240" cy="15849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4874239" cy="1584960"/>
            </a:xfrm>
            <a:custGeom>
              <a:avLst/>
              <a:gdLst/>
              <a:ahLst/>
              <a:cxnLst/>
              <a:rect l="l" t="t" r="r" b="b"/>
              <a:pathLst>
                <a:path w="14874239" h="1584960">
                  <a:moveTo>
                    <a:pt x="0" y="0"/>
                  </a:moveTo>
                  <a:lnTo>
                    <a:pt x="14874239" y="0"/>
                  </a:lnTo>
                  <a:lnTo>
                    <a:pt x="14874239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6675120" y="5600700"/>
            <a:ext cx="10789920" cy="1188720"/>
            <a:chOff x="0" y="0"/>
            <a:chExt cx="14386560" cy="158496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4386561" cy="1584960"/>
            </a:xfrm>
            <a:custGeom>
              <a:avLst/>
              <a:gdLst/>
              <a:ahLst/>
              <a:cxnLst/>
              <a:rect l="l" t="t" r="r" b="b"/>
              <a:pathLst>
                <a:path w="14386561" h="1584960">
                  <a:moveTo>
                    <a:pt x="0" y="0"/>
                  </a:moveTo>
                  <a:lnTo>
                    <a:pt x="14386561" y="0"/>
                  </a:lnTo>
                  <a:lnTo>
                    <a:pt x="143865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864" b="-126864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9525"/>
              <a:ext cx="14386560" cy="1575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기존 처리 방식 vs AI 활용 후 달라진 점 (시간·품질·편의성)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40080" y="6972300"/>
            <a:ext cx="914400" cy="1188720"/>
            <a:chOff x="0" y="0"/>
            <a:chExt cx="1219200" cy="158496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19200" cy="1584960"/>
            </a:xfrm>
            <a:custGeom>
              <a:avLst/>
              <a:gdLst/>
              <a:ahLst/>
              <a:cxnLst/>
              <a:rect l="l" t="t" r="r" b="b"/>
              <a:pathLst>
                <a:path w="1219200" h="158496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640080" y="6972300"/>
            <a:ext cx="914400" cy="1188720"/>
            <a:chOff x="0" y="0"/>
            <a:chExt cx="1219200" cy="158496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219200" cy="1584960"/>
            </a:xfrm>
            <a:custGeom>
              <a:avLst/>
              <a:gdLst/>
              <a:ahLst/>
              <a:cxnLst/>
              <a:rect l="l" t="t" r="r" b="b"/>
              <a:pathLst>
                <a:path w="1219200" h="1584960">
                  <a:moveTo>
                    <a:pt x="0" y="0"/>
                  </a:moveTo>
                  <a:lnTo>
                    <a:pt x="1219200" y="0"/>
                  </a:lnTo>
                  <a:lnTo>
                    <a:pt x="12192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r="-116794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9525"/>
              <a:ext cx="1219200" cy="1575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4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737360" y="6972300"/>
            <a:ext cx="4572000" cy="1188720"/>
            <a:chOff x="0" y="0"/>
            <a:chExt cx="6096000" cy="158496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096000" cy="1584960"/>
            </a:xfrm>
            <a:custGeom>
              <a:avLst/>
              <a:gdLst/>
              <a:ahLst/>
              <a:cxnLst/>
              <a:rect l="l" t="t" r="r" b="b"/>
              <a:pathLst>
                <a:path w="6096000" h="1584960">
                  <a:moveTo>
                    <a:pt x="0" y="0"/>
                  </a:moveTo>
                  <a:lnTo>
                    <a:pt x="6096000" y="0"/>
                  </a:lnTo>
                  <a:lnTo>
                    <a:pt x="6096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828800" y="6972300"/>
            <a:ext cx="4389120" cy="1188720"/>
            <a:chOff x="0" y="0"/>
            <a:chExt cx="5852160" cy="158496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852160" cy="1584960"/>
            </a:xfrm>
            <a:custGeom>
              <a:avLst/>
              <a:gdLst/>
              <a:ahLst/>
              <a:cxnLst/>
              <a:rect l="l" t="t" r="r" b="b"/>
              <a:pathLst>
                <a:path w="5852160" h="1584960">
                  <a:moveTo>
                    <a:pt x="0" y="0"/>
                  </a:moveTo>
                  <a:lnTo>
                    <a:pt x="5852160" y="0"/>
                  </a:lnTo>
                  <a:lnTo>
                    <a:pt x="58521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44" b="-21944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9525"/>
              <a:ext cx="5852160" cy="1575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5B3A8C"/>
                  </a:solidFill>
                  <a:latin typeface="Mandali"/>
                  <a:ea typeface="Mandali"/>
                  <a:cs typeface="Mandali"/>
                  <a:sym typeface="Mandali"/>
                </a:rPr>
                <a:t>현장 적용 계획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492240" y="6972300"/>
            <a:ext cx="11155680" cy="1188720"/>
            <a:chOff x="0" y="0"/>
            <a:chExt cx="14874240" cy="158496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4874239" cy="1584960"/>
            </a:xfrm>
            <a:custGeom>
              <a:avLst/>
              <a:gdLst/>
              <a:ahLst/>
              <a:cxnLst/>
              <a:rect l="l" t="t" r="r" b="b"/>
              <a:pathLst>
                <a:path w="14874239" h="1584960">
                  <a:moveTo>
                    <a:pt x="0" y="0"/>
                  </a:moveTo>
                  <a:lnTo>
                    <a:pt x="14874239" y="0"/>
                  </a:lnTo>
                  <a:lnTo>
                    <a:pt x="14874239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6675120" y="6972300"/>
            <a:ext cx="10789920" cy="1188720"/>
            <a:chOff x="0" y="0"/>
            <a:chExt cx="14386560" cy="158496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4386561" cy="1584960"/>
            </a:xfrm>
            <a:custGeom>
              <a:avLst/>
              <a:gdLst/>
              <a:ahLst/>
              <a:cxnLst/>
              <a:rect l="l" t="t" r="r" b="b"/>
              <a:pathLst>
                <a:path w="14386561" h="1584960">
                  <a:moveTo>
                    <a:pt x="0" y="0"/>
                  </a:moveTo>
                  <a:lnTo>
                    <a:pt x="14386561" y="0"/>
                  </a:lnTo>
                  <a:lnTo>
                    <a:pt x="143865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864" b="-126864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9525"/>
              <a:ext cx="14386560" cy="1575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돌아가서 실제로 적용할 수 있는 구체적인 실행 방안 1가지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62446" y="8395716"/>
            <a:ext cx="17007840" cy="1280160"/>
            <a:chOff x="0" y="0"/>
            <a:chExt cx="22677120" cy="170688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677120" cy="1706880"/>
            </a:xfrm>
            <a:custGeom>
              <a:avLst/>
              <a:gdLst/>
              <a:ahLst/>
              <a:cxnLst/>
              <a:rect l="l" t="t" r="r" b="b"/>
              <a:pathLst>
                <a:path w="22677120" h="1706880">
                  <a:moveTo>
                    <a:pt x="0" y="0"/>
                  </a:moveTo>
                  <a:lnTo>
                    <a:pt x="22677120" y="0"/>
                  </a:lnTo>
                  <a:lnTo>
                    <a:pt x="2267712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685800" y="8481060"/>
            <a:ext cx="16642080" cy="548640"/>
            <a:chOff x="0" y="0"/>
            <a:chExt cx="22189440" cy="73152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9525"/>
              <a:ext cx="2218944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 dirty="0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📋 </a:t>
              </a:r>
              <a:r>
                <a:rPr lang="en-US" sz="2400" spc="9" dirty="0" err="1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발표</a:t>
              </a:r>
              <a:r>
                <a:rPr lang="en-US" sz="2400" spc="9" dirty="0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400" spc="9" dirty="0" err="1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평가</a:t>
              </a:r>
              <a:r>
                <a:rPr lang="en-US" sz="2400" spc="9" dirty="0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400" spc="9" dirty="0" err="1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기준</a:t>
              </a:r>
              <a:r>
                <a:rPr lang="en-US" sz="2400" spc="9" dirty="0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 (</a:t>
              </a:r>
              <a:r>
                <a:rPr lang="en-US" sz="2400" spc="9" dirty="0" err="1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청중</a:t>
              </a:r>
              <a:r>
                <a:rPr lang="en-US" sz="2400" spc="9" dirty="0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400" spc="9" dirty="0" err="1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투표</a:t>
              </a:r>
              <a:r>
                <a:rPr lang="en-US" sz="2400" spc="9" dirty="0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)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85800" y="8478447"/>
            <a:ext cx="17051382" cy="1035885"/>
            <a:chOff x="0" y="-649660"/>
            <a:chExt cx="22735176" cy="138118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7617097" y="-649660"/>
              <a:ext cx="15118079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spc="9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현장</a:t>
              </a:r>
              <a:r>
                <a:rPr lang="en-US" sz="2400" spc="9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400" spc="9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적용</a:t>
              </a:r>
              <a:r>
                <a:rPr lang="en-US" sz="2400" spc="9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400" spc="9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가능성</a:t>
              </a:r>
              <a:r>
                <a:rPr lang="en-US" sz="2400" spc="9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40%   |   AI </a:t>
              </a:r>
              <a:r>
                <a:rPr lang="en-US" sz="2400" spc="9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활용의</a:t>
              </a:r>
              <a:r>
                <a:rPr lang="en-US" sz="2400" spc="9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400" spc="9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창의성</a:t>
              </a:r>
              <a:r>
                <a:rPr lang="en-US" sz="2400" spc="9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30%   |   </a:t>
              </a:r>
              <a:r>
                <a:rPr lang="en-US" sz="2400" spc="9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발표</a:t>
              </a:r>
              <a:r>
                <a:rPr lang="en-US" sz="2400" spc="9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400" spc="9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내용의</a:t>
              </a:r>
              <a:r>
                <a:rPr lang="en-US" sz="2400" spc="9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400" spc="9" dirty="0" err="1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명확성</a:t>
              </a:r>
              <a:r>
                <a:rPr lang="en-US" sz="2400" spc="9" dirty="0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 30%</a:t>
              </a:r>
            </a:p>
          </p:txBody>
        </p:sp>
      </p:grpSp>
      <p:grpSp>
        <p:nvGrpSpPr>
          <p:cNvPr id="82" name="Group 154"/>
          <p:cNvGrpSpPr/>
          <p:nvPr/>
        </p:nvGrpSpPr>
        <p:grpSpPr>
          <a:xfrm>
            <a:off x="0" y="9710928"/>
            <a:ext cx="18287543" cy="576072"/>
            <a:chOff x="0" y="0"/>
            <a:chExt cx="24383390" cy="768096"/>
          </a:xfrm>
        </p:grpSpPr>
        <p:sp>
          <p:nvSpPr>
            <p:cNvPr id="83" name="Freeform 155"/>
            <p:cNvSpPr/>
            <p:nvPr/>
          </p:nvSpPr>
          <p:spPr>
            <a:xfrm>
              <a:off x="0" y="0"/>
              <a:ext cx="24383364" cy="768096"/>
            </a:xfrm>
            <a:custGeom>
              <a:avLst/>
              <a:gdLst/>
              <a:ahLst/>
              <a:cxnLst/>
              <a:rect l="l" t="t" r="r" b="b"/>
              <a:pathLst>
                <a:path w="24383364" h="768096">
                  <a:moveTo>
                    <a:pt x="0" y="0"/>
                  </a:moveTo>
                  <a:lnTo>
                    <a:pt x="24383364" y="0"/>
                  </a:lnTo>
                  <a:lnTo>
                    <a:pt x="24383364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84" name="Group 156"/>
          <p:cNvGrpSpPr/>
          <p:nvPr/>
        </p:nvGrpSpPr>
        <p:grpSpPr>
          <a:xfrm>
            <a:off x="754380" y="9710928"/>
            <a:ext cx="8915400" cy="576072"/>
            <a:chOff x="0" y="0"/>
            <a:chExt cx="11887200" cy="768096"/>
          </a:xfrm>
        </p:grpSpPr>
        <p:sp>
          <p:nvSpPr>
            <p:cNvPr id="85" name="Freeform 157"/>
            <p:cNvSpPr/>
            <p:nvPr/>
          </p:nvSpPr>
          <p:spPr>
            <a:xfrm>
              <a:off x="0" y="0"/>
              <a:ext cx="11887200" cy="768096"/>
            </a:xfrm>
            <a:custGeom>
              <a:avLst/>
              <a:gdLst/>
              <a:ahLst/>
              <a:cxnLst/>
              <a:rect l="l" t="t" r="r" b="b"/>
              <a:pathLst>
                <a:path w="11887200" h="768096">
                  <a:moveTo>
                    <a:pt x="0" y="0"/>
                  </a:moveTo>
                  <a:lnTo>
                    <a:pt x="11887200" y="0"/>
                  </a:lnTo>
                  <a:lnTo>
                    <a:pt x="11887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554" b="-251554"/>
              </a:stretch>
            </a:blipFill>
          </p:spPr>
        </p:sp>
        <p:sp>
          <p:nvSpPr>
            <p:cNvPr id="86" name="TextBox 158"/>
            <p:cNvSpPr txBox="1"/>
            <p:nvPr/>
          </p:nvSpPr>
          <p:spPr>
            <a:xfrm>
              <a:off x="0" y="-9525"/>
              <a:ext cx="118872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5차시 | AI 도구별 장단점 비교</a:t>
              </a:r>
            </a:p>
          </p:txBody>
        </p:sp>
      </p:grpSp>
      <p:grpSp>
        <p:nvGrpSpPr>
          <p:cNvPr id="87" name="Group 159"/>
          <p:cNvGrpSpPr/>
          <p:nvPr/>
        </p:nvGrpSpPr>
        <p:grpSpPr>
          <a:xfrm>
            <a:off x="9326880" y="9710928"/>
            <a:ext cx="8229600" cy="576072"/>
            <a:chOff x="0" y="0"/>
            <a:chExt cx="10972800" cy="768096"/>
          </a:xfrm>
        </p:grpSpPr>
        <p:sp>
          <p:nvSpPr>
            <p:cNvPr id="88" name="Freeform 160"/>
            <p:cNvSpPr/>
            <p:nvPr/>
          </p:nvSpPr>
          <p:spPr>
            <a:xfrm>
              <a:off x="0" y="0"/>
              <a:ext cx="10972800" cy="768096"/>
            </a:xfrm>
            <a:custGeom>
              <a:avLst/>
              <a:gdLst/>
              <a:ahLst/>
              <a:cxnLst/>
              <a:rect l="l" t="t" r="r" b="b"/>
              <a:pathLst>
                <a:path w="10972800" h="768096">
                  <a:moveTo>
                    <a:pt x="0" y="0"/>
                  </a:moveTo>
                  <a:lnTo>
                    <a:pt x="10972800" y="0"/>
                  </a:lnTo>
                  <a:lnTo>
                    <a:pt x="10972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89" name="TextBox 161"/>
            <p:cNvSpPr txBox="1"/>
            <p:nvPr/>
          </p:nvSpPr>
          <p:spPr>
            <a:xfrm>
              <a:off x="0" y="-9525"/>
              <a:ext cx="1097280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9"/>
                </a:lnSpc>
              </a:pPr>
              <a:r>
                <a:rPr lang="ko-KR" alt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㈜얼라이언스코리아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부산여자대학교</a:t>
              </a:r>
              <a:r>
                <a:rPr lang="en-US" sz="1575" dirty="0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75" dirty="0" err="1">
                  <a:solidFill>
                    <a:srgbClr val="DCE6F2"/>
                  </a:solidFill>
                  <a:latin typeface="Arial"/>
                  <a:ea typeface="Arial"/>
                  <a:cs typeface="Arial"/>
                  <a:sym typeface="Arial"/>
                </a:rPr>
                <a:t>DX교육운영센터</a:t>
              </a:r>
              <a:endParaRPr lang="en-US" sz="1575" dirty="0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0263" y="842543"/>
            <a:ext cx="3500123" cy="537467"/>
            <a:chOff x="0" y="0"/>
            <a:chExt cx="4666831" cy="7166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6869" cy="716661"/>
            </a:xfrm>
            <a:custGeom>
              <a:avLst/>
              <a:gdLst/>
              <a:ahLst/>
              <a:cxnLst/>
              <a:rect l="l" t="t" r="r" b="b"/>
              <a:pathLst>
                <a:path w="4666869" h="716661">
                  <a:moveTo>
                    <a:pt x="0" y="0"/>
                  </a:moveTo>
                  <a:lnTo>
                    <a:pt x="4666869" y="0"/>
                  </a:lnTo>
                  <a:lnTo>
                    <a:pt x="466686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650882"/>
            </a:solidFill>
            <a:ln w="2540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822960" y="855240"/>
            <a:ext cx="3474720" cy="512064"/>
            <a:chOff x="0" y="0"/>
            <a:chExt cx="4632960" cy="6827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32960" cy="682752"/>
            </a:xfrm>
            <a:custGeom>
              <a:avLst/>
              <a:gdLst/>
              <a:ahLst/>
              <a:cxnLst/>
              <a:rect l="l" t="t" r="r" b="b"/>
              <a:pathLst>
                <a:path w="4632960" h="682752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219" b="-8221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463296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5차시-02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513608"/>
            <a:ext cx="16642080" cy="1316736"/>
            <a:chOff x="0" y="0"/>
            <a:chExt cx="22189440" cy="17556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9439" cy="1755648"/>
            </a:xfrm>
            <a:custGeom>
              <a:avLst/>
              <a:gdLst/>
              <a:ahLst/>
              <a:cxnLst/>
              <a:rect l="l" t="t" r="r" b="b"/>
              <a:pathLst>
                <a:path w="22189439" h="1755648">
                  <a:moveTo>
                    <a:pt x="0" y="0"/>
                  </a:moveTo>
                  <a:lnTo>
                    <a:pt x="22189439" y="0"/>
                  </a:lnTo>
                  <a:lnTo>
                    <a:pt x="221894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269" b="-19626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2189440" cy="1774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Action Plan 작성 및 제출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0263" y="2854223"/>
            <a:ext cx="2219963" cy="107699"/>
            <a:chOff x="0" y="0"/>
            <a:chExt cx="2959951" cy="1435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59989" cy="143637"/>
            </a:xfrm>
            <a:custGeom>
              <a:avLst/>
              <a:gdLst/>
              <a:ahLst/>
              <a:cxnLst/>
              <a:rect l="l" t="t" r="r" b="b"/>
              <a:pathLst>
                <a:path w="2959989" h="143637">
                  <a:moveTo>
                    <a:pt x="0" y="0"/>
                  </a:moveTo>
                  <a:lnTo>
                    <a:pt x="2959989" y="0"/>
                  </a:lnTo>
                  <a:lnTo>
                    <a:pt x="2959989" y="143637"/>
                  </a:lnTo>
                  <a:lnTo>
                    <a:pt x="0" y="14363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2960" y="3035513"/>
            <a:ext cx="16642080" cy="548640"/>
            <a:chOff x="0" y="0"/>
            <a:chExt cx="2218944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89439" cy="731520"/>
            </a:xfrm>
            <a:custGeom>
              <a:avLst/>
              <a:gdLst/>
              <a:ahLst/>
              <a:cxnLst/>
              <a:rect l="l" t="t" r="r" b="b"/>
              <a:pathLst>
                <a:path w="22189439" h="731520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046" b="-54104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21894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Arimo"/>
                  <a:ea typeface="Arimo"/>
                  <a:cs typeface="Arimo"/>
                  <a:sym typeface="Arimo"/>
                </a:rPr>
                <a:t>현업 즉시 적용을 위한 개인별 3개월 실행 계획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6607" y="3581800"/>
            <a:ext cx="8150857" cy="4804153"/>
            <a:chOff x="0" y="0"/>
            <a:chExt cx="10867809" cy="64055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67771" cy="6405499"/>
            </a:xfrm>
            <a:custGeom>
              <a:avLst/>
              <a:gdLst/>
              <a:ahLst/>
              <a:cxnLst/>
              <a:rect l="l" t="t" r="r" b="b"/>
              <a:pathLst>
                <a:path w="10867771" h="6405499">
                  <a:moveTo>
                    <a:pt x="0" y="0"/>
                  </a:moveTo>
                  <a:lnTo>
                    <a:pt x="10867771" y="0"/>
                  </a:lnTo>
                  <a:lnTo>
                    <a:pt x="1086777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10263" y="3575456"/>
            <a:ext cx="135131" cy="4816859"/>
            <a:chOff x="0" y="0"/>
            <a:chExt cx="180175" cy="642247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650882"/>
            </a:solidFill>
            <a:ln w="2540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152144" y="3825897"/>
            <a:ext cx="7680960" cy="548640"/>
            <a:chOff x="0" y="0"/>
            <a:chExt cx="1024128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📌 Action Plan 작성 5요소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52144" y="4465977"/>
            <a:ext cx="7680960" cy="3730752"/>
            <a:chOff x="0" y="0"/>
            <a:chExt cx="10241280" cy="49743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41280" cy="4974336"/>
            </a:xfrm>
            <a:custGeom>
              <a:avLst/>
              <a:gdLst/>
              <a:ahLst/>
              <a:cxnLst/>
              <a:rect l="l" t="t" r="r" b="b"/>
              <a:pathLst>
                <a:path w="10241280" h="4974336">
                  <a:moveTo>
                    <a:pt x="0" y="0"/>
                  </a:moveTo>
                  <a:lnTo>
                    <a:pt x="10241280" y="0"/>
                  </a:lnTo>
                  <a:lnTo>
                    <a:pt x="1024128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18" r="-1231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024128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① 목표 (What): SMART 형식 목표 1가지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② 이유 (Why): 현업 문제와 연결된 근거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③ 방법 (How): 사용할 AI 도구 &amp; 프로세스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④ 일정 (When): 주차별 3개월 세부 계획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⑤ 성과 (KPI): 측정 가능한 목표 수치 설정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29087" y="3581800"/>
            <a:ext cx="8242297" cy="4804153"/>
            <a:chOff x="0" y="0"/>
            <a:chExt cx="10989729" cy="64055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89691" cy="6405499"/>
            </a:xfrm>
            <a:custGeom>
              <a:avLst/>
              <a:gdLst/>
              <a:ahLst/>
              <a:cxnLst/>
              <a:rect l="l" t="t" r="r" b="b"/>
              <a:pathLst>
                <a:path w="10989691" h="6405499">
                  <a:moveTo>
                    <a:pt x="0" y="0"/>
                  </a:moveTo>
                  <a:lnTo>
                    <a:pt x="10989691" y="0"/>
                  </a:lnTo>
                  <a:lnTo>
                    <a:pt x="10989691" y="6405499"/>
                  </a:lnTo>
                  <a:lnTo>
                    <a:pt x="0" y="6405499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222743" y="3571456"/>
            <a:ext cx="135131" cy="4816859"/>
            <a:chOff x="0" y="0"/>
            <a:chExt cx="180175" cy="642247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0213" cy="6422517"/>
            </a:xfrm>
            <a:custGeom>
              <a:avLst/>
              <a:gdLst/>
              <a:ahLst/>
              <a:cxnLst/>
              <a:rect l="l" t="t" r="r" b="b"/>
              <a:pathLst>
                <a:path w="180213" h="6422517">
                  <a:moveTo>
                    <a:pt x="0" y="0"/>
                  </a:moveTo>
                  <a:lnTo>
                    <a:pt x="180213" y="0"/>
                  </a:lnTo>
                  <a:lnTo>
                    <a:pt x="180213" y="6422517"/>
                  </a:lnTo>
                  <a:lnTo>
                    <a:pt x="0" y="6422517"/>
                  </a:lnTo>
                  <a:close/>
                </a:path>
              </a:pathLst>
            </a:custGeom>
            <a:solidFill>
              <a:srgbClr val="650882"/>
            </a:solidFill>
            <a:ln w="25400" cap="sq">
              <a:solidFill>
                <a:srgbClr val="047857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564624" y="3825897"/>
            <a:ext cx="7772400" cy="548640"/>
            <a:chOff x="0" y="0"/>
            <a:chExt cx="1036320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363200" cy="731520"/>
            </a:xfrm>
            <a:custGeom>
              <a:avLst/>
              <a:gdLst/>
              <a:ahLst/>
              <a:cxnLst/>
              <a:rect l="l" t="t" r="r" b="b"/>
              <a:pathLst>
                <a:path w="10363200" h="731520">
                  <a:moveTo>
                    <a:pt x="0" y="0"/>
                  </a:moveTo>
                  <a:lnTo>
                    <a:pt x="10363200" y="0"/>
                  </a:lnTo>
                  <a:lnTo>
                    <a:pt x="1036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038" b="-22603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103632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A3A5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🗓️ 3개월 Action Plan 예시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64624" y="4465977"/>
            <a:ext cx="7772400" cy="3730752"/>
            <a:chOff x="0" y="0"/>
            <a:chExt cx="10363200" cy="497433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363200" cy="4974336"/>
            </a:xfrm>
            <a:custGeom>
              <a:avLst/>
              <a:gdLst/>
              <a:ahLst/>
              <a:cxnLst/>
              <a:rect l="l" t="t" r="r" b="b"/>
              <a:pathLst>
                <a:path w="10363200" h="4974336">
                  <a:moveTo>
                    <a:pt x="0" y="0"/>
                  </a:moveTo>
                  <a:lnTo>
                    <a:pt x="10363200" y="0"/>
                  </a:lnTo>
                  <a:lnTo>
                    <a:pt x="10363200" y="4974336"/>
                  </a:lnTo>
                  <a:lnTo>
                    <a:pt x="0" y="4974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r="-1158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0363200" cy="4983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1개월차: ChatGPT로 민원 스크립트 3종 완성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1개월차: 상담 기록 AI 요약 파이프라인 구축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2개월차: 환자 FAQ 50개 AI 자동 생성·검토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2개월차: GPTs 챗봇 초안 구현 및 팀 내 테스트</a:t>
              </a:r>
            </a:p>
            <a:p>
              <a:pPr marL="482600" lvl="1" indent="-2413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3개월차: 챗봇 정식 배포 &amp; KPI 측정 보고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0263" y="8563232"/>
            <a:ext cx="17033243" cy="903227"/>
            <a:chOff x="0" y="0"/>
            <a:chExt cx="22710991" cy="120430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711029" cy="1204341"/>
            </a:xfrm>
            <a:custGeom>
              <a:avLst/>
              <a:gdLst/>
              <a:ahLst/>
              <a:cxnLst/>
              <a:rect l="l" t="t" r="r" b="b"/>
              <a:pathLst>
                <a:path w="22711029" h="1204341">
                  <a:moveTo>
                    <a:pt x="0" y="0"/>
                  </a:moveTo>
                  <a:lnTo>
                    <a:pt x="22711029" y="0"/>
                  </a:lnTo>
                  <a:lnTo>
                    <a:pt x="22711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F0FDFA"/>
            </a:solidFill>
            <a:ln w="2540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97280" y="8575939"/>
            <a:ext cx="16642080" cy="877824"/>
            <a:chOff x="0" y="0"/>
            <a:chExt cx="22189440" cy="117043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2189439" cy="1170432"/>
            </a:xfrm>
            <a:custGeom>
              <a:avLst/>
              <a:gdLst/>
              <a:ahLst/>
              <a:cxnLst/>
              <a:rect l="l" t="t" r="r" b="b"/>
              <a:pathLst>
                <a:path w="22189439" h="1170432">
                  <a:moveTo>
                    <a:pt x="0" y="0"/>
                  </a:moveTo>
                  <a:lnTo>
                    <a:pt x="22189439" y="0"/>
                  </a:lnTo>
                  <a:lnTo>
                    <a:pt x="221894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9403" b="-31940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22189440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65F46"/>
                  </a:solidFill>
                  <a:latin typeface="Arimo"/>
                  <a:ea typeface="Arimo"/>
                  <a:cs typeface="Arimo"/>
                  <a:sym typeface="Arimo"/>
                </a:rPr>
                <a:t>📋 제출 안내: 오늘 교육 수료 후  Action Plan을 작성해서 강사 이메일(topjjk@naver.com)로 제출해주세요. 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5차시-02 | Action Plan 작성 및 제출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 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48" name="AutoShape 48"/>
          <p:cNvSpPr/>
          <p:nvPr/>
        </p:nvSpPr>
        <p:spPr>
          <a:xfrm rot="6540">
            <a:off x="-792166" y="836190"/>
            <a:ext cx="6705552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 dirty="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Action Plan </a:t>
              </a:r>
              <a:r>
                <a:rPr lang="en-US" sz="4400" spc="17" dirty="0" err="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작성</a:t>
              </a:r>
              <a:r>
                <a:rPr lang="en-US" sz="4400" spc="17" dirty="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4400" spc="17" dirty="0" err="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양식</a:t>
              </a:r>
              <a:endParaRPr lang="en-US" sz="4400" spc="17" dirty="0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920240"/>
            <a:ext cx="17007840" cy="731520"/>
            <a:chOff x="0" y="0"/>
            <a:chExt cx="22677120" cy="975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77120" cy="975360"/>
            </a:xfrm>
            <a:custGeom>
              <a:avLst/>
              <a:gdLst/>
              <a:ahLst/>
              <a:cxnLst/>
              <a:rect l="l" t="t" r="r" b="b"/>
              <a:pathLst>
                <a:path w="22677120" h="975360">
                  <a:moveTo>
                    <a:pt x="0" y="0"/>
                  </a:moveTo>
                  <a:lnTo>
                    <a:pt x="22677120" y="0"/>
                  </a:lnTo>
                  <a:lnTo>
                    <a:pt x="226771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22960" y="1920240"/>
            <a:ext cx="16642080" cy="731520"/>
            <a:chOff x="0" y="0"/>
            <a:chExt cx="22189440" cy="975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189439" cy="975360"/>
            </a:xfrm>
            <a:custGeom>
              <a:avLst/>
              <a:gdLst/>
              <a:ahLst/>
              <a:cxnLst/>
              <a:rect l="l" t="t" r="r" b="b"/>
              <a:pathLst>
                <a:path w="22189439" h="975360">
                  <a:moveTo>
                    <a:pt x="0" y="0"/>
                  </a:moveTo>
                  <a:lnTo>
                    <a:pt x="22189439" y="0"/>
                  </a:lnTo>
                  <a:lnTo>
                    <a:pt x="221894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3284" b="-39328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22189440" cy="965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spc="9" dirty="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📋 </a:t>
              </a:r>
              <a:r>
                <a:rPr lang="en-US" sz="2499" spc="9" dirty="0" err="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아래</a:t>
              </a:r>
              <a:r>
                <a:rPr lang="en-US" sz="2499" spc="9" dirty="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499" spc="9" dirty="0" err="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양식을</a:t>
              </a:r>
              <a:r>
                <a:rPr lang="en-US" sz="2499" spc="9" dirty="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ko-KR" altLang="en-US" sz="2499" spc="9" dirty="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작성해보세요</a:t>
              </a:r>
              <a:r>
                <a:rPr lang="en-US" altLang="ko-KR" sz="2499" spc="9" dirty="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.</a:t>
              </a:r>
              <a:endParaRPr lang="en-US" sz="2499" spc="9" dirty="0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0" y="2834640"/>
            <a:ext cx="5120640" cy="950976"/>
            <a:chOff x="0" y="0"/>
            <a:chExt cx="6827520" cy="12679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27520" cy="1267968"/>
            </a:xfrm>
            <a:custGeom>
              <a:avLst/>
              <a:gdLst/>
              <a:ahLst/>
              <a:cxnLst/>
              <a:rect l="l" t="t" r="r" b="b"/>
              <a:pathLst>
                <a:path w="6827520" h="1267968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22960" y="2834640"/>
            <a:ext cx="4846320" cy="950976"/>
            <a:chOff x="0" y="0"/>
            <a:chExt cx="6461760" cy="12679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61760" cy="1267968"/>
            </a:xfrm>
            <a:custGeom>
              <a:avLst/>
              <a:gdLst/>
              <a:ahLst/>
              <a:cxnLst/>
              <a:rect l="l" t="t" r="r" b="b"/>
              <a:pathLst>
                <a:path w="6461760" h="1267968">
                  <a:moveTo>
                    <a:pt x="0" y="0"/>
                  </a:moveTo>
                  <a:lnTo>
                    <a:pt x="6461760" y="0"/>
                  </a:lnTo>
                  <a:lnTo>
                    <a:pt x="6461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298" b="-4929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646176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 dirty="0" err="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이름</a:t>
              </a:r>
              <a:endParaRPr lang="en-US" sz="2300" spc="8" dirty="0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43600" y="2834640"/>
            <a:ext cx="11704320" cy="950976"/>
            <a:chOff x="0" y="0"/>
            <a:chExt cx="15605760" cy="126796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605761" cy="1267968"/>
            </a:xfrm>
            <a:custGeom>
              <a:avLst/>
              <a:gdLst/>
              <a:ahLst/>
              <a:cxnLst/>
              <a:rect l="l" t="t" r="r" b="b"/>
              <a:pathLst>
                <a:path w="15605761" h="1267968">
                  <a:moveTo>
                    <a:pt x="0" y="0"/>
                  </a:moveTo>
                  <a:lnTo>
                    <a:pt x="15605761" y="0"/>
                  </a:lnTo>
                  <a:lnTo>
                    <a:pt x="1560576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6126480" y="3236976"/>
            <a:ext cx="11338560" cy="548640"/>
            <a:chOff x="0" y="0"/>
            <a:chExt cx="1511808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118080" cy="731520"/>
            </a:xfrm>
            <a:custGeom>
              <a:avLst/>
              <a:gdLst/>
              <a:ahLst/>
              <a:cxnLst/>
              <a:rect l="l" t="t" r="r" b="b"/>
              <a:pathLst>
                <a:path w="15118080" h="731520">
                  <a:moveTo>
                    <a:pt x="0" y="0"/>
                  </a:moveTo>
                  <a:lnTo>
                    <a:pt x="15118080" y="0"/>
                  </a:lnTo>
                  <a:lnTo>
                    <a:pt x="1511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2690" b="-35269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1511808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spc="7">
                  <a:solidFill>
                    <a:srgbClr val="DDE3EA"/>
                  </a:solidFill>
                  <a:latin typeface="Mandali"/>
                  <a:ea typeface="Mandali"/>
                  <a:cs typeface="Mandali"/>
                  <a:sym typeface="Mandali"/>
                </a:rPr>
                <a:t>_______________________________________________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0080" y="3924300"/>
            <a:ext cx="5120640" cy="950976"/>
            <a:chOff x="0" y="0"/>
            <a:chExt cx="6827520" cy="126796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27520" cy="1267968"/>
            </a:xfrm>
            <a:custGeom>
              <a:avLst/>
              <a:gdLst/>
              <a:ahLst/>
              <a:cxnLst/>
              <a:rect l="l" t="t" r="r" b="b"/>
              <a:pathLst>
                <a:path w="6827520" h="1267968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822960" y="3924300"/>
            <a:ext cx="4846320" cy="950976"/>
            <a:chOff x="0" y="0"/>
            <a:chExt cx="6461760" cy="126796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461760" cy="1267968"/>
            </a:xfrm>
            <a:custGeom>
              <a:avLst/>
              <a:gdLst/>
              <a:ahLst/>
              <a:cxnLst/>
              <a:rect l="l" t="t" r="r" b="b"/>
              <a:pathLst>
                <a:path w="6461760" h="1267968">
                  <a:moveTo>
                    <a:pt x="0" y="0"/>
                  </a:moveTo>
                  <a:lnTo>
                    <a:pt x="6461760" y="0"/>
                  </a:lnTo>
                  <a:lnTo>
                    <a:pt x="6461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298" b="-49298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646176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가장 도움이 된 AI 도구 1가지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43600" y="3924300"/>
            <a:ext cx="11704320" cy="950976"/>
            <a:chOff x="0" y="0"/>
            <a:chExt cx="15605760" cy="126796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605761" cy="1267968"/>
            </a:xfrm>
            <a:custGeom>
              <a:avLst/>
              <a:gdLst/>
              <a:ahLst/>
              <a:cxnLst/>
              <a:rect l="l" t="t" r="r" b="b"/>
              <a:pathLst>
                <a:path w="15605761" h="1267968">
                  <a:moveTo>
                    <a:pt x="0" y="0"/>
                  </a:moveTo>
                  <a:lnTo>
                    <a:pt x="15605761" y="0"/>
                  </a:lnTo>
                  <a:lnTo>
                    <a:pt x="1560576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126480" y="4326636"/>
            <a:ext cx="11338560" cy="548640"/>
            <a:chOff x="0" y="0"/>
            <a:chExt cx="15118080" cy="7315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118080" cy="731520"/>
            </a:xfrm>
            <a:custGeom>
              <a:avLst/>
              <a:gdLst/>
              <a:ahLst/>
              <a:cxnLst/>
              <a:rect l="l" t="t" r="r" b="b"/>
              <a:pathLst>
                <a:path w="15118080" h="731520">
                  <a:moveTo>
                    <a:pt x="0" y="0"/>
                  </a:moveTo>
                  <a:lnTo>
                    <a:pt x="15118080" y="0"/>
                  </a:lnTo>
                  <a:lnTo>
                    <a:pt x="1511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2690" b="-352690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511808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spc="7">
                  <a:solidFill>
                    <a:srgbClr val="DDE3EA"/>
                  </a:solidFill>
                  <a:latin typeface="Mandali"/>
                  <a:ea typeface="Mandali"/>
                  <a:cs typeface="Mandali"/>
                  <a:sym typeface="Mandali"/>
                </a:rPr>
                <a:t>_______________________________________________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0080" y="5094732"/>
            <a:ext cx="5120640" cy="950976"/>
            <a:chOff x="0" y="0"/>
            <a:chExt cx="6827520" cy="126796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827520" cy="1267968"/>
            </a:xfrm>
            <a:custGeom>
              <a:avLst/>
              <a:gdLst/>
              <a:ahLst/>
              <a:cxnLst/>
              <a:rect l="l" t="t" r="r" b="b"/>
              <a:pathLst>
                <a:path w="6827520" h="1267968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822960" y="5094732"/>
            <a:ext cx="4846320" cy="950976"/>
            <a:chOff x="0" y="0"/>
            <a:chExt cx="6461760" cy="126796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461760" cy="1267968"/>
            </a:xfrm>
            <a:custGeom>
              <a:avLst/>
              <a:gdLst/>
              <a:ahLst/>
              <a:cxnLst/>
              <a:rect l="l" t="t" r="r" b="b"/>
              <a:pathLst>
                <a:path w="6461760" h="1267968">
                  <a:moveTo>
                    <a:pt x="0" y="0"/>
                  </a:moveTo>
                  <a:lnTo>
                    <a:pt x="6461760" y="0"/>
                  </a:lnTo>
                  <a:lnTo>
                    <a:pt x="6461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298" b="-49298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646176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내일 당장 적용할 AI 활용 방법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943600" y="5094732"/>
            <a:ext cx="11704320" cy="950976"/>
            <a:chOff x="0" y="0"/>
            <a:chExt cx="15605760" cy="126796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5605761" cy="1267968"/>
            </a:xfrm>
            <a:custGeom>
              <a:avLst/>
              <a:gdLst/>
              <a:ahLst/>
              <a:cxnLst/>
              <a:rect l="l" t="t" r="r" b="b"/>
              <a:pathLst>
                <a:path w="15605761" h="1267968">
                  <a:moveTo>
                    <a:pt x="0" y="0"/>
                  </a:moveTo>
                  <a:lnTo>
                    <a:pt x="15605761" y="0"/>
                  </a:lnTo>
                  <a:lnTo>
                    <a:pt x="1560576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126480" y="5497068"/>
            <a:ext cx="11338560" cy="548640"/>
            <a:chOff x="0" y="0"/>
            <a:chExt cx="15118080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5118080" cy="731520"/>
            </a:xfrm>
            <a:custGeom>
              <a:avLst/>
              <a:gdLst/>
              <a:ahLst/>
              <a:cxnLst/>
              <a:rect l="l" t="t" r="r" b="b"/>
              <a:pathLst>
                <a:path w="15118080" h="731520">
                  <a:moveTo>
                    <a:pt x="0" y="0"/>
                  </a:moveTo>
                  <a:lnTo>
                    <a:pt x="15118080" y="0"/>
                  </a:lnTo>
                  <a:lnTo>
                    <a:pt x="1511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2690" b="-35269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1511808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spc="7">
                  <a:solidFill>
                    <a:srgbClr val="DDE3EA"/>
                  </a:solidFill>
                  <a:latin typeface="Mandali"/>
                  <a:ea typeface="Mandali"/>
                  <a:cs typeface="Mandali"/>
                  <a:sym typeface="Mandali"/>
                </a:rPr>
                <a:t>_______________________________________________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0080" y="6265164"/>
            <a:ext cx="5120640" cy="950976"/>
            <a:chOff x="0" y="0"/>
            <a:chExt cx="6827520" cy="126796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827520" cy="1267968"/>
            </a:xfrm>
            <a:custGeom>
              <a:avLst/>
              <a:gdLst/>
              <a:ahLst/>
              <a:cxnLst/>
              <a:rect l="l" t="t" r="r" b="b"/>
              <a:pathLst>
                <a:path w="6827520" h="1267968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822960" y="6265164"/>
            <a:ext cx="4846320" cy="950976"/>
            <a:chOff x="0" y="0"/>
            <a:chExt cx="6461760" cy="126796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461760" cy="1267968"/>
            </a:xfrm>
            <a:custGeom>
              <a:avLst/>
              <a:gdLst/>
              <a:ahLst/>
              <a:cxnLst/>
              <a:rect l="l" t="t" r="r" b="b"/>
              <a:pathLst>
                <a:path w="6461760" h="1267968">
                  <a:moveTo>
                    <a:pt x="0" y="0"/>
                  </a:moveTo>
                  <a:lnTo>
                    <a:pt x="6461760" y="0"/>
                  </a:lnTo>
                  <a:lnTo>
                    <a:pt x="6461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298" b="-49298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646176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1개월 내 구체적 실행 목표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943600" y="6265164"/>
            <a:ext cx="11704320" cy="950976"/>
            <a:chOff x="0" y="0"/>
            <a:chExt cx="15605760" cy="126796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5605761" cy="1267968"/>
            </a:xfrm>
            <a:custGeom>
              <a:avLst/>
              <a:gdLst/>
              <a:ahLst/>
              <a:cxnLst/>
              <a:rect l="l" t="t" r="r" b="b"/>
              <a:pathLst>
                <a:path w="15605761" h="1267968">
                  <a:moveTo>
                    <a:pt x="0" y="0"/>
                  </a:moveTo>
                  <a:lnTo>
                    <a:pt x="15605761" y="0"/>
                  </a:lnTo>
                  <a:lnTo>
                    <a:pt x="1560576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6126480" y="6667500"/>
            <a:ext cx="11338560" cy="548640"/>
            <a:chOff x="0" y="0"/>
            <a:chExt cx="15118080" cy="731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5118080" cy="731520"/>
            </a:xfrm>
            <a:custGeom>
              <a:avLst/>
              <a:gdLst/>
              <a:ahLst/>
              <a:cxnLst/>
              <a:rect l="l" t="t" r="r" b="b"/>
              <a:pathLst>
                <a:path w="15118080" h="731520">
                  <a:moveTo>
                    <a:pt x="0" y="0"/>
                  </a:moveTo>
                  <a:lnTo>
                    <a:pt x="15118080" y="0"/>
                  </a:lnTo>
                  <a:lnTo>
                    <a:pt x="1511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2690" b="-352690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1511808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spc="7">
                  <a:solidFill>
                    <a:srgbClr val="DDE3EA"/>
                  </a:solidFill>
                  <a:latin typeface="Mandali"/>
                  <a:ea typeface="Mandali"/>
                  <a:cs typeface="Mandali"/>
                  <a:sym typeface="Mandali"/>
                </a:rPr>
                <a:t>_______________________________________________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40080" y="7353300"/>
            <a:ext cx="5120640" cy="950976"/>
            <a:chOff x="0" y="0"/>
            <a:chExt cx="6827520" cy="126796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827520" cy="1267968"/>
            </a:xfrm>
            <a:custGeom>
              <a:avLst/>
              <a:gdLst/>
              <a:ahLst/>
              <a:cxnLst/>
              <a:rect l="l" t="t" r="r" b="b"/>
              <a:pathLst>
                <a:path w="6827520" h="1267968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822960" y="7353300"/>
            <a:ext cx="4846320" cy="950976"/>
            <a:chOff x="0" y="0"/>
            <a:chExt cx="6461760" cy="126796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461760" cy="1267968"/>
            </a:xfrm>
            <a:custGeom>
              <a:avLst/>
              <a:gdLst/>
              <a:ahLst/>
              <a:cxnLst/>
              <a:rect l="l" t="t" r="r" b="b"/>
              <a:pathLst>
                <a:path w="6461760" h="1267968">
                  <a:moveTo>
                    <a:pt x="0" y="0"/>
                  </a:moveTo>
                  <a:lnTo>
                    <a:pt x="6461760" y="0"/>
                  </a:lnTo>
                  <a:lnTo>
                    <a:pt x="6461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298" b="-49298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646176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3개월 후 기대 변화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943600" y="7353300"/>
            <a:ext cx="11704320" cy="950976"/>
            <a:chOff x="0" y="0"/>
            <a:chExt cx="15605760" cy="126796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5605761" cy="1267968"/>
            </a:xfrm>
            <a:custGeom>
              <a:avLst/>
              <a:gdLst/>
              <a:ahLst/>
              <a:cxnLst/>
              <a:rect l="l" t="t" r="r" b="b"/>
              <a:pathLst>
                <a:path w="15605761" h="1267968">
                  <a:moveTo>
                    <a:pt x="0" y="0"/>
                  </a:moveTo>
                  <a:lnTo>
                    <a:pt x="15605761" y="0"/>
                  </a:lnTo>
                  <a:lnTo>
                    <a:pt x="1560576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6126480" y="7755636"/>
            <a:ext cx="11338560" cy="548640"/>
            <a:chOff x="0" y="0"/>
            <a:chExt cx="15118080" cy="7315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5118080" cy="731520"/>
            </a:xfrm>
            <a:custGeom>
              <a:avLst/>
              <a:gdLst/>
              <a:ahLst/>
              <a:cxnLst/>
              <a:rect l="l" t="t" r="r" b="b"/>
              <a:pathLst>
                <a:path w="15118080" h="731520">
                  <a:moveTo>
                    <a:pt x="0" y="0"/>
                  </a:moveTo>
                  <a:lnTo>
                    <a:pt x="15118080" y="0"/>
                  </a:lnTo>
                  <a:lnTo>
                    <a:pt x="1511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2690" b="-35269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1511808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spc="7">
                  <a:solidFill>
                    <a:srgbClr val="DDE3EA"/>
                  </a:solidFill>
                  <a:latin typeface="Mandali"/>
                  <a:ea typeface="Mandali"/>
                  <a:cs typeface="Mandali"/>
                  <a:sym typeface="Mandali"/>
                </a:rPr>
                <a:t>_______________________________________________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40080" y="8496300"/>
            <a:ext cx="5120640" cy="950976"/>
            <a:chOff x="0" y="0"/>
            <a:chExt cx="6827520" cy="126796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827520" cy="1267968"/>
            </a:xfrm>
            <a:custGeom>
              <a:avLst/>
              <a:gdLst/>
              <a:ahLst/>
              <a:cxnLst/>
              <a:rect l="l" t="t" r="r" b="b"/>
              <a:pathLst>
                <a:path w="6827520" h="1267968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822960" y="8496300"/>
            <a:ext cx="4846320" cy="950976"/>
            <a:chOff x="0" y="0"/>
            <a:chExt cx="6461760" cy="126796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461760" cy="1267968"/>
            </a:xfrm>
            <a:custGeom>
              <a:avLst/>
              <a:gdLst/>
              <a:ahLst/>
              <a:cxnLst/>
              <a:rect l="l" t="t" r="r" b="b"/>
              <a:pathLst>
                <a:path w="6461760" h="1267968">
                  <a:moveTo>
                    <a:pt x="0" y="0"/>
                  </a:moveTo>
                  <a:lnTo>
                    <a:pt x="6461760" y="0"/>
                  </a:lnTo>
                  <a:lnTo>
                    <a:pt x="6461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298" b="-49298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646176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어려운 점 / 추가 지원 요청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943600" y="8496300"/>
            <a:ext cx="11704320" cy="950976"/>
            <a:chOff x="0" y="0"/>
            <a:chExt cx="15605760" cy="126796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5605761" cy="1267968"/>
            </a:xfrm>
            <a:custGeom>
              <a:avLst/>
              <a:gdLst/>
              <a:ahLst/>
              <a:cxnLst/>
              <a:rect l="l" t="t" r="r" b="b"/>
              <a:pathLst>
                <a:path w="15605761" h="1267968">
                  <a:moveTo>
                    <a:pt x="0" y="0"/>
                  </a:moveTo>
                  <a:lnTo>
                    <a:pt x="15605761" y="0"/>
                  </a:lnTo>
                  <a:lnTo>
                    <a:pt x="1560576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6126480" y="8898636"/>
            <a:ext cx="11338560" cy="548640"/>
            <a:chOff x="0" y="0"/>
            <a:chExt cx="15118080" cy="7315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5118080" cy="731520"/>
            </a:xfrm>
            <a:custGeom>
              <a:avLst/>
              <a:gdLst/>
              <a:ahLst/>
              <a:cxnLst/>
              <a:rect l="l" t="t" r="r" b="b"/>
              <a:pathLst>
                <a:path w="15118080" h="731520">
                  <a:moveTo>
                    <a:pt x="0" y="0"/>
                  </a:moveTo>
                  <a:lnTo>
                    <a:pt x="15118080" y="0"/>
                  </a:lnTo>
                  <a:lnTo>
                    <a:pt x="1511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2690" b="-352690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1511808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spc="7">
                  <a:solidFill>
                    <a:srgbClr val="DDE3EA"/>
                  </a:solidFill>
                  <a:latin typeface="Mandali"/>
                  <a:ea typeface="Mandali"/>
                  <a:cs typeface="Mandali"/>
                  <a:sym typeface="Mandali"/>
                </a:rPr>
                <a:t>_______________________________________________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40080" y="9875520"/>
            <a:ext cx="17007840" cy="402336"/>
            <a:chOff x="0" y="0"/>
            <a:chExt cx="22677120" cy="53644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677120" cy="536448"/>
            </a:xfrm>
            <a:custGeom>
              <a:avLst/>
              <a:gdLst/>
              <a:ahLst/>
              <a:cxnLst/>
              <a:rect l="l" t="t" r="r" b="b"/>
              <a:pathLst>
                <a:path w="22677120" h="536448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id="77" name="Freeform 77"/>
          <p:cNvSpPr/>
          <p:nvPr/>
        </p:nvSpPr>
        <p:spPr>
          <a:xfrm>
            <a:off x="822960" y="9875520"/>
            <a:ext cx="16642079" cy="402336"/>
          </a:xfrm>
          <a:custGeom>
            <a:avLst/>
            <a:gdLst/>
            <a:ahLst/>
            <a:cxnLst/>
            <a:rect l="l" t="t" r="r" b="b"/>
            <a:pathLst>
              <a:path w="22189439" h="536448">
                <a:moveTo>
                  <a:pt x="0" y="0"/>
                </a:moveTo>
                <a:lnTo>
                  <a:pt x="22189439" y="0"/>
                </a:lnTo>
                <a:lnTo>
                  <a:pt x="22189439" y="536448"/>
                </a:lnTo>
                <a:lnTo>
                  <a:pt x="0" y="536448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755972" b="-755972"/>
            </a:stretch>
          </a:blipFill>
        </p:spPr>
      </p:sp>
      <p:grpSp>
        <p:nvGrpSpPr>
          <p:cNvPr id="79" name="Group 40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80" name="Freeform 41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81" name="Group 42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82" name="Freeform 4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3" name="TextBox 4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5차시-02 | Action Plan 작성 및 제출</a:t>
              </a:r>
            </a:p>
          </p:txBody>
        </p:sp>
      </p:grpSp>
      <p:grpSp>
        <p:nvGrpSpPr>
          <p:cNvPr id="84" name="Group 45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85" name="Freeform 46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86" name="TextBox 4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 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수료 후 지속 활용 로드맵 – 4단계 실행 계획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2011680"/>
            <a:ext cx="3986784" cy="7132320"/>
            <a:chOff x="0" y="0"/>
            <a:chExt cx="5315712" cy="95097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15712" cy="9509760"/>
            </a:xfrm>
            <a:custGeom>
              <a:avLst/>
              <a:gdLst/>
              <a:ahLst/>
              <a:cxnLst/>
              <a:rect l="l" t="t" r="r" b="b"/>
              <a:pathLst>
                <a:path w="5315712" h="9509760">
                  <a:moveTo>
                    <a:pt x="0" y="0"/>
                  </a:moveTo>
                  <a:lnTo>
                    <a:pt x="5315712" y="0"/>
                  </a:lnTo>
                  <a:lnTo>
                    <a:pt x="5315712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0080" y="2011680"/>
            <a:ext cx="3986784" cy="822960"/>
            <a:chOff x="0" y="0"/>
            <a:chExt cx="5315712" cy="10972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15712" cy="1097280"/>
            </a:xfrm>
            <a:custGeom>
              <a:avLst/>
              <a:gdLst/>
              <a:ahLst/>
              <a:cxnLst/>
              <a:rect l="l" t="t" r="r" b="b"/>
              <a:pathLst>
                <a:path w="5315712" h="1097280">
                  <a:moveTo>
                    <a:pt x="0" y="0"/>
                  </a:moveTo>
                  <a:lnTo>
                    <a:pt x="5315712" y="0"/>
                  </a:lnTo>
                  <a:lnTo>
                    <a:pt x="5315712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40080" y="2011680"/>
            <a:ext cx="3986784" cy="822960"/>
            <a:chOff x="0" y="0"/>
            <a:chExt cx="5315712" cy="10972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315712" cy="1097280"/>
            </a:xfrm>
            <a:custGeom>
              <a:avLst/>
              <a:gdLst/>
              <a:ahLst/>
              <a:cxnLst/>
              <a:rect l="l" t="t" r="r" b="b"/>
              <a:pathLst>
                <a:path w="5315712" h="1097280">
                  <a:moveTo>
                    <a:pt x="0" y="0"/>
                  </a:moveTo>
                  <a:lnTo>
                    <a:pt x="5315712" y="0"/>
                  </a:lnTo>
                  <a:lnTo>
                    <a:pt x="53157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94" b="-44394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315712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1단계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" y="2962656"/>
            <a:ext cx="3657600" cy="548640"/>
            <a:chOff x="0" y="0"/>
            <a:chExt cx="48768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A7B83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822960" y="2962656"/>
            <a:ext cx="3657600" cy="548640"/>
            <a:chOff x="0" y="0"/>
            <a:chExt cx="4876800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48768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1~2주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22960" y="3657600"/>
            <a:ext cx="3657600" cy="694944"/>
            <a:chOff x="0" y="0"/>
            <a:chExt cx="4876800" cy="92659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552" b="-5255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487680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0A7B83"/>
                  </a:solidFill>
                  <a:latin typeface="Mandali"/>
                  <a:ea typeface="Mandali"/>
                  <a:cs typeface="Mandali"/>
                  <a:sym typeface="Mandali"/>
                </a:rPr>
                <a:t>즉시 적용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73757" y="4538472"/>
            <a:ext cx="3530603" cy="64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• 클로바Note로 상담 기록 시작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3757" y="5379720"/>
            <a:ext cx="3530603" cy="64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• ChatGPT 스크립트 1개 활용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3757" y="6220968"/>
            <a:ext cx="3530603" cy="64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• 동료 1명과 도구 공유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626864" y="4937760"/>
            <a:ext cx="365760" cy="694944"/>
            <a:chOff x="0" y="0"/>
            <a:chExt cx="487680" cy="9265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87680" cy="926592"/>
            </a:xfrm>
            <a:custGeom>
              <a:avLst/>
              <a:gdLst/>
              <a:ahLst/>
              <a:cxnLst/>
              <a:rect l="l" t="t" r="r" b="b"/>
              <a:pathLst>
                <a:path w="487680" h="926592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776" r="-193776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48768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→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992624" y="2011680"/>
            <a:ext cx="3986784" cy="7132320"/>
            <a:chOff x="0" y="0"/>
            <a:chExt cx="5315712" cy="95097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315712" cy="9509760"/>
            </a:xfrm>
            <a:custGeom>
              <a:avLst/>
              <a:gdLst/>
              <a:ahLst/>
              <a:cxnLst/>
              <a:rect l="l" t="t" r="r" b="b"/>
              <a:pathLst>
                <a:path w="5315712" h="9509760">
                  <a:moveTo>
                    <a:pt x="0" y="0"/>
                  </a:moveTo>
                  <a:lnTo>
                    <a:pt x="5315712" y="0"/>
                  </a:lnTo>
                  <a:lnTo>
                    <a:pt x="5315712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4992624" y="2011680"/>
            <a:ext cx="3986784" cy="822960"/>
            <a:chOff x="0" y="0"/>
            <a:chExt cx="5315712" cy="10972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315712" cy="1097280"/>
            </a:xfrm>
            <a:custGeom>
              <a:avLst/>
              <a:gdLst/>
              <a:ahLst/>
              <a:cxnLst/>
              <a:rect l="l" t="t" r="r" b="b"/>
              <a:pathLst>
                <a:path w="5315712" h="1097280">
                  <a:moveTo>
                    <a:pt x="0" y="0"/>
                  </a:moveTo>
                  <a:lnTo>
                    <a:pt x="5315712" y="0"/>
                  </a:lnTo>
                  <a:lnTo>
                    <a:pt x="5315712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4992624" y="2011680"/>
            <a:ext cx="3986784" cy="822960"/>
            <a:chOff x="0" y="0"/>
            <a:chExt cx="5315712" cy="10972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15712" cy="1097280"/>
            </a:xfrm>
            <a:custGeom>
              <a:avLst/>
              <a:gdLst/>
              <a:ahLst/>
              <a:cxnLst/>
              <a:rect l="l" t="t" r="r" b="b"/>
              <a:pathLst>
                <a:path w="5315712" h="1097280">
                  <a:moveTo>
                    <a:pt x="0" y="0"/>
                  </a:moveTo>
                  <a:lnTo>
                    <a:pt x="5315712" y="0"/>
                  </a:lnTo>
                  <a:lnTo>
                    <a:pt x="53157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94" b="-44394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5315712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2단계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175504" y="2962656"/>
            <a:ext cx="3657600" cy="548640"/>
            <a:chOff x="0" y="0"/>
            <a:chExt cx="4876800" cy="7315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5175504" y="2962656"/>
            <a:ext cx="3657600" cy="548640"/>
            <a:chOff x="0" y="0"/>
            <a:chExt cx="4876800" cy="7315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48768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1개월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175504" y="3657600"/>
            <a:ext cx="3657600" cy="694944"/>
            <a:chOff x="0" y="0"/>
            <a:chExt cx="4876800" cy="92659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552" b="-52552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487680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업무 루틴화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226301" y="4538472"/>
            <a:ext cx="3530603" cy="64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• AI 기록 → 요약 흐름 일상화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26301" y="5379720"/>
            <a:ext cx="3530603" cy="64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• 팀 FAQ 10개 완성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26301" y="6220968"/>
            <a:ext cx="3530603" cy="64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• GPTs 챗봇 팀 내 운영 시작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8979408" y="4937760"/>
            <a:ext cx="365760" cy="694944"/>
            <a:chOff x="0" y="0"/>
            <a:chExt cx="487680" cy="92659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87680" cy="926592"/>
            </a:xfrm>
            <a:custGeom>
              <a:avLst/>
              <a:gdLst/>
              <a:ahLst/>
              <a:cxnLst/>
              <a:rect l="l" t="t" r="r" b="b"/>
              <a:pathLst>
                <a:path w="487680" h="926592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776" r="-19377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48768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345168" y="2011680"/>
            <a:ext cx="3986784" cy="7132320"/>
            <a:chOff x="0" y="0"/>
            <a:chExt cx="5315712" cy="950976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315712" cy="9509760"/>
            </a:xfrm>
            <a:custGeom>
              <a:avLst/>
              <a:gdLst/>
              <a:ahLst/>
              <a:cxnLst/>
              <a:rect l="l" t="t" r="r" b="b"/>
              <a:pathLst>
                <a:path w="5315712" h="9509760">
                  <a:moveTo>
                    <a:pt x="0" y="0"/>
                  </a:moveTo>
                  <a:lnTo>
                    <a:pt x="5315712" y="0"/>
                  </a:lnTo>
                  <a:lnTo>
                    <a:pt x="5315712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9345168" y="2011680"/>
            <a:ext cx="3986784" cy="822960"/>
            <a:chOff x="0" y="0"/>
            <a:chExt cx="5315712" cy="10972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315712" cy="1097280"/>
            </a:xfrm>
            <a:custGeom>
              <a:avLst/>
              <a:gdLst/>
              <a:ahLst/>
              <a:cxnLst/>
              <a:rect l="l" t="t" r="r" b="b"/>
              <a:pathLst>
                <a:path w="5315712" h="1097280">
                  <a:moveTo>
                    <a:pt x="0" y="0"/>
                  </a:moveTo>
                  <a:lnTo>
                    <a:pt x="5315712" y="0"/>
                  </a:lnTo>
                  <a:lnTo>
                    <a:pt x="5315712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9345168" y="2011680"/>
            <a:ext cx="3986784" cy="822960"/>
            <a:chOff x="0" y="0"/>
            <a:chExt cx="5315712" cy="109728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315712" cy="1097280"/>
            </a:xfrm>
            <a:custGeom>
              <a:avLst/>
              <a:gdLst/>
              <a:ahLst/>
              <a:cxnLst/>
              <a:rect l="l" t="t" r="r" b="b"/>
              <a:pathLst>
                <a:path w="5315712" h="1097280">
                  <a:moveTo>
                    <a:pt x="0" y="0"/>
                  </a:moveTo>
                  <a:lnTo>
                    <a:pt x="5315712" y="0"/>
                  </a:lnTo>
                  <a:lnTo>
                    <a:pt x="53157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94" b="-44394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9525"/>
              <a:ext cx="5315712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3단계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528048" y="2962656"/>
            <a:ext cx="3657600" cy="548640"/>
            <a:chOff x="0" y="0"/>
            <a:chExt cx="4876800" cy="7315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9528048" y="2962656"/>
            <a:ext cx="3657600" cy="548640"/>
            <a:chOff x="0" y="0"/>
            <a:chExt cx="4876800" cy="73152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48768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2~3개월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528048" y="3657600"/>
            <a:ext cx="3657600" cy="694944"/>
            <a:chOff x="0" y="0"/>
            <a:chExt cx="4876800" cy="92659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552" b="-52552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487680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1A7A4A"/>
                  </a:solidFill>
                  <a:latin typeface="Mandali"/>
                  <a:ea typeface="Mandali"/>
                  <a:cs typeface="Mandali"/>
                  <a:sym typeface="Mandali"/>
                </a:rPr>
                <a:t>시스템 고도화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9578845" y="4538472"/>
            <a:ext cx="3530603" cy="64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• 민원 패턴 분석 보고서 작성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578845" y="5379720"/>
            <a:ext cx="3530603" cy="64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• 기관 맞춤 FAQ 30개로 확장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578845" y="6220968"/>
            <a:ext cx="3530603" cy="64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• 챗봇 오류·업데이트 주기 설정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3331952" y="4937760"/>
            <a:ext cx="365760" cy="694944"/>
            <a:chOff x="0" y="0"/>
            <a:chExt cx="487680" cy="92659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87680" cy="926592"/>
            </a:xfrm>
            <a:custGeom>
              <a:avLst/>
              <a:gdLst/>
              <a:ahLst/>
              <a:cxnLst/>
              <a:rect l="l" t="t" r="r" b="b"/>
              <a:pathLst>
                <a:path w="487680" h="926592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776" r="-193776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0"/>
              <a:ext cx="48768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C9A84C"/>
                  </a:solidFill>
                  <a:latin typeface="Mandali"/>
                  <a:ea typeface="Mandali"/>
                  <a:cs typeface="Mandali"/>
                  <a:sym typeface="Mandali"/>
                </a:rPr>
                <a:t>→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3697712" y="2011680"/>
            <a:ext cx="3986784" cy="7132320"/>
            <a:chOff x="0" y="0"/>
            <a:chExt cx="5315712" cy="950976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315712" cy="9509760"/>
            </a:xfrm>
            <a:custGeom>
              <a:avLst/>
              <a:gdLst/>
              <a:ahLst/>
              <a:cxnLst/>
              <a:rect l="l" t="t" r="r" b="b"/>
              <a:pathLst>
                <a:path w="5315712" h="9509760">
                  <a:moveTo>
                    <a:pt x="0" y="0"/>
                  </a:moveTo>
                  <a:lnTo>
                    <a:pt x="5315712" y="0"/>
                  </a:lnTo>
                  <a:lnTo>
                    <a:pt x="5315712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13697712" y="2011680"/>
            <a:ext cx="3986784" cy="822960"/>
            <a:chOff x="0" y="0"/>
            <a:chExt cx="5315712" cy="109728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315712" cy="1097280"/>
            </a:xfrm>
            <a:custGeom>
              <a:avLst/>
              <a:gdLst/>
              <a:ahLst/>
              <a:cxnLst/>
              <a:rect l="l" t="t" r="r" b="b"/>
              <a:pathLst>
                <a:path w="5315712" h="1097280">
                  <a:moveTo>
                    <a:pt x="0" y="0"/>
                  </a:moveTo>
                  <a:lnTo>
                    <a:pt x="5315712" y="0"/>
                  </a:lnTo>
                  <a:lnTo>
                    <a:pt x="5315712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13697712" y="2011680"/>
            <a:ext cx="3986784" cy="822960"/>
            <a:chOff x="0" y="0"/>
            <a:chExt cx="5315712" cy="109728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5315712" cy="1097280"/>
            </a:xfrm>
            <a:custGeom>
              <a:avLst/>
              <a:gdLst/>
              <a:ahLst/>
              <a:cxnLst/>
              <a:rect l="l" t="t" r="r" b="b"/>
              <a:pathLst>
                <a:path w="5315712" h="1097280">
                  <a:moveTo>
                    <a:pt x="0" y="0"/>
                  </a:moveTo>
                  <a:lnTo>
                    <a:pt x="5315712" y="0"/>
                  </a:lnTo>
                  <a:lnTo>
                    <a:pt x="53157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94" b="-44394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5315712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4단계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3880592" y="2962656"/>
            <a:ext cx="3657600" cy="548640"/>
            <a:chOff x="0" y="0"/>
            <a:chExt cx="4876800" cy="73152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5B3A8C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13880592" y="2962656"/>
            <a:ext cx="3657600" cy="548640"/>
            <a:chOff x="0" y="0"/>
            <a:chExt cx="4876800" cy="73152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9525"/>
              <a:ext cx="48768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6개월+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3880592" y="3657600"/>
            <a:ext cx="3657600" cy="694944"/>
            <a:chOff x="0" y="0"/>
            <a:chExt cx="4876800" cy="92659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552" b="-52552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9525"/>
              <a:ext cx="487680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spc="10">
                  <a:solidFill>
                    <a:srgbClr val="5B3A8C"/>
                  </a:solidFill>
                  <a:latin typeface="Mandali"/>
                  <a:ea typeface="Mandali"/>
                  <a:cs typeface="Mandali"/>
                  <a:sym typeface="Mandali"/>
                </a:rPr>
                <a:t>조직 확산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13931389" y="4538472"/>
            <a:ext cx="3530603" cy="64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• 부서 전체 AI 도구 표준화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3931389" y="5379720"/>
            <a:ext cx="3530603" cy="64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• AI 활용 성과 보고서 제출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3931389" y="6220968"/>
            <a:ext cx="3530603" cy="64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8">
                <a:solidFill>
                  <a:srgbClr val="1A2533"/>
                </a:solidFill>
                <a:latin typeface="Mandali"/>
                <a:ea typeface="Mandali"/>
                <a:cs typeface="Mandali"/>
                <a:sym typeface="Mandali"/>
              </a:rPr>
              <a:t>• 신규 직원 온보딩 AI 교육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655320" y="8631936"/>
            <a:ext cx="17007840" cy="512064"/>
            <a:chOff x="0" y="0"/>
            <a:chExt cx="22677120" cy="682752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22677120" cy="682752"/>
            </a:xfrm>
            <a:custGeom>
              <a:avLst/>
              <a:gdLst/>
              <a:ahLst/>
              <a:cxnLst/>
              <a:rect l="l" t="t" r="r" b="b"/>
              <a:pathLst>
                <a:path w="22677120" h="682752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D2340"/>
            </a:solidFill>
          </p:spPr>
        </p:sp>
      </p:grpSp>
      <p:grpSp>
        <p:nvGrpSpPr>
          <p:cNvPr id="92" name="Group 92"/>
          <p:cNvGrpSpPr/>
          <p:nvPr/>
        </p:nvGrpSpPr>
        <p:grpSpPr>
          <a:xfrm>
            <a:off x="838200" y="8631936"/>
            <a:ext cx="16642080" cy="512064"/>
            <a:chOff x="0" y="0"/>
            <a:chExt cx="22189440" cy="68275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22189439" cy="682752"/>
            </a:xfrm>
            <a:custGeom>
              <a:avLst/>
              <a:gdLst/>
              <a:ahLst/>
              <a:cxnLst/>
              <a:rect l="l" t="t" r="r" b="b"/>
              <a:pathLst>
                <a:path w="22189439" h="682752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9525"/>
              <a:ext cx="2218944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💡 핵심: 완벽한 시스템이 목표가 아닙니다. 오늘 배운 도구 1개를 내일 업무에 실제로 써보는 것이 시작입니다.</a:t>
              </a:r>
            </a:p>
          </p:txBody>
        </p:sp>
      </p:grpSp>
      <p:grpSp>
        <p:nvGrpSpPr>
          <p:cNvPr id="95" name="Group 40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96" name="Freeform 41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97" name="Group 42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98" name="Freeform 4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99" name="TextBox 4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5차시-02 | Action Plan 작성 및 제출</a:t>
              </a:r>
            </a:p>
          </p:txBody>
        </p:sp>
      </p:grpSp>
      <p:grpSp>
        <p:nvGrpSpPr>
          <p:cNvPr id="100" name="Group 45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101" name="Freeform 46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02" name="TextBox 4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 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AI 도입 자주 묻는 질문(FAQ)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45920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2011680"/>
            <a:ext cx="914400" cy="1316736"/>
            <a:chOff x="0" y="0"/>
            <a:chExt cx="1219200" cy="17556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19200" cy="1755648"/>
            </a:xfrm>
            <a:custGeom>
              <a:avLst/>
              <a:gdLst/>
              <a:ahLst/>
              <a:cxnLst/>
              <a:rect l="l" t="t" r="r" b="b"/>
              <a:pathLst>
                <a:path w="1219200" h="1755648">
                  <a:moveTo>
                    <a:pt x="0" y="0"/>
                  </a:moveTo>
                  <a:lnTo>
                    <a:pt x="1219200" y="0"/>
                  </a:lnTo>
                  <a:lnTo>
                    <a:pt x="12192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0080" y="2011680"/>
            <a:ext cx="914400" cy="1316736"/>
            <a:chOff x="0" y="0"/>
            <a:chExt cx="1219200" cy="17556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9200" cy="1755648"/>
            </a:xfrm>
            <a:custGeom>
              <a:avLst/>
              <a:gdLst/>
              <a:ahLst/>
              <a:cxnLst/>
              <a:rect l="l" t="t" r="r" b="b"/>
              <a:pathLst>
                <a:path w="1219200" h="1755648">
                  <a:moveTo>
                    <a:pt x="0" y="0"/>
                  </a:moveTo>
                  <a:lnTo>
                    <a:pt x="1219200" y="0"/>
                  </a:lnTo>
                  <a:lnTo>
                    <a:pt x="12192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757" r="-13475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219200" cy="1746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Q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37360" y="2011680"/>
            <a:ext cx="15910560" cy="548640"/>
            <a:chOff x="0" y="0"/>
            <a:chExt cx="2121408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214080" cy="731520"/>
            </a:xfrm>
            <a:custGeom>
              <a:avLst/>
              <a:gdLst/>
              <a:ahLst/>
              <a:cxnLst/>
              <a:rect l="l" t="t" r="r" b="b"/>
              <a:pathLst>
                <a:path w="21214080" h="731520">
                  <a:moveTo>
                    <a:pt x="0" y="0"/>
                  </a:moveTo>
                  <a:lnTo>
                    <a:pt x="21214080" y="0"/>
                  </a:lnTo>
                  <a:lnTo>
                    <a:pt x="212140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920240" y="2011680"/>
            <a:ext cx="15544800" cy="548640"/>
            <a:chOff x="0" y="0"/>
            <a:chExt cx="207264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26400" cy="731520"/>
            </a:xfrm>
            <a:custGeom>
              <a:avLst/>
              <a:gdLst/>
              <a:ahLst/>
              <a:cxnLst/>
              <a:rect l="l" t="t" r="r" b="b"/>
              <a:pathLst>
                <a:path w="20726400" h="73152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2072640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AI를 쓰면 내 직업이 없어지나요?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37360" y="2560320"/>
            <a:ext cx="15910560" cy="694944"/>
            <a:chOff x="0" y="0"/>
            <a:chExt cx="21214080" cy="9265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214080" cy="926592"/>
            </a:xfrm>
            <a:custGeom>
              <a:avLst/>
              <a:gdLst/>
              <a:ahLst/>
              <a:cxnLst/>
              <a:rect l="l" t="t" r="r" b="b"/>
              <a:pathLst>
                <a:path w="21214080" h="926592">
                  <a:moveTo>
                    <a:pt x="0" y="0"/>
                  </a:moveTo>
                  <a:lnTo>
                    <a:pt x="21214080" y="0"/>
                  </a:lnTo>
                  <a:lnTo>
                    <a:pt x="212140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920240" y="2560320"/>
            <a:ext cx="15544800" cy="694944"/>
            <a:chOff x="0" y="0"/>
            <a:chExt cx="20726400" cy="92659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726400" cy="926592"/>
            </a:xfrm>
            <a:custGeom>
              <a:avLst/>
              <a:gdLst/>
              <a:ahLst/>
              <a:cxnLst/>
              <a:rect l="l" t="t" r="r" b="b"/>
              <a:pathLst>
                <a:path w="20726400" h="926592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5849" b="-38584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2072640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→ 아니요. AI는 반복적이고 기계적인 업무를 보조합니다. 공감·판단·관계가 필요한 업무는 사람이 담당합니다.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0080" y="3621024"/>
            <a:ext cx="914400" cy="1316736"/>
            <a:chOff x="0" y="0"/>
            <a:chExt cx="1219200" cy="17556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" cy="1755648"/>
            </a:xfrm>
            <a:custGeom>
              <a:avLst/>
              <a:gdLst/>
              <a:ahLst/>
              <a:cxnLst/>
              <a:rect l="l" t="t" r="r" b="b"/>
              <a:pathLst>
                <a:path w="1219200" h="1755648">
                  <a:moveTo>
                    <a:pt x="0" y="0"/>
                  </a:moveTo>
                  <a:lnTo>
                    <a:pt x="1219200" y="0"/>
                  </a:lnTo>
                  <a:lnTo>
                    <a:pt x="12192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40080" y="3621024"/>
            <a:ext cx="914400" cy="1316736"/>
            <a:chOff x="0" y="0"/>
            <a:chExt cx="1219200" cy="17556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" cy="1755648"/>
            </a:xfrm>
            <a:custGeom>
              <a:avLst/>
              <a:gdLst/>
              <a:ahLst/>
              <a:cxnLst/>
              <a:rect l="l" t="t" r="r" b="b"/>
              <a:pathLst>
                <a:path w="1219200" h="1755648">
                  <a:moveTo>
                    <a:pt x="0" y="0"/>
                  </a:moveTo>
                  <a:lnTo>
                    <a:pt x="1219200" y="0"/>
                  </a:lnTo>
                  <a:lnTo>
                    <a:pt x="12192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757" r="-13475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1219200" cy="1746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Q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737360" y="3621024"/>
            <a:ext cx="15910560" cy="548640"/>
            <a:chOff x="0" y="0"/>
            <a:chExt cx="2121408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214080" cy="731520"/>
            </a:xfrm>
            <a:custGeom>
              <a:avLst/>
              <a:gdLst/>
              <a:ahLst/>
              <a:cxnLst/>
              <a:rect l="l" t="t" r="r" b="b"/>
              <a:pathLst>
                <a:path w="21214080" h="731520">
                  <a:moveTo>
                    <a:pt x="0" y="0"/>
                  </a:moveTo>
                  <a:lnTo>
                    <a:pt x="21214080" y="0"/>
                  </a:lnTo>
                  <a:lnTo>
                    <a:pt x="212140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920240" y="3621024"/>
            <a:ext cx="15544800" cy="548640"/>
            <a:chOff x="0" y="0"/>
            <a:chExt cx="20726400" cy="7315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726400" cy="731520"/>
            </a:xfrm>
            <a:custGeom>
              <a:avLst/>
              <a:gdLst/>
              <a:ahLst/>
              <a:cxnLst/>
              <a:rect l="l" t="t" r="r" b="b"/>
              <a:pathLst>
                <a:path w="20726400" h="73152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2072640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컴퓨터를 잘 못해도 쓸 수 있나요?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37360" y="4169664"/>
            <a:ext cx="15910560" cy="694944"/>
            <a:chOff x="0" y="0"/>
            <a:chExt cx="21214080" cy="92659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214080" cy="926592"/>
            </a:xfrm>
            <a:custGeom>
              <a:avLst/>
              <a:gdLst/>
              <a:ahLst/>
              <a:cxnLst/>
              <a:rect l="l" t="t" r="r" b="b"/>
              <a:pathLst>
                <a:path w="21214080" h="926592">
                  <a:moveTo>
                    <a:pt x="0" y="0"/>
                  </a:moveTo>
                  <a:lnTo>
                    <a:pt x="21214080" y="0"/>
                  </a:lnTo>
                  <a:lnTo>
                    <a:pt x="212140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920240" y="4169664"/>
            <a:ext cx="15544800" cy="694944"/>
            <a:chOff x="0" y="0"/>
            <a:chExt cx="20726400" cy="9265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726400" cy="926592"/>
            </a:xfrm>
            <a:custGeom>
              <a:avLst/>
              <a:gdLst/>
              <a:ahLst/>
              <a:cxnLst/>
              <a:rect l="l" t="t" r="r" b="b"/>
              <a:pathLst>
                <a:path w="20726400" h="926592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5849" b="-385849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2072640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→ 네. 이번 과정에서 다룬 도구는 모두 스마트폰·브라우저만으로 사용 가능하며 코딩이 전혀 필요 없습니다.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0080" y="5230368"/>
            <a:ext cx="914400" cy="1316736"/>
            <a:chOff x="0" y="0"/>
            <a:chExt cx="1219200" cy="175564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19200" cy="1755648"/>
            </a:xfrm>
            <a:custGeom>
              <a:avLst/>
              <a:gdLst/>
              <a:ahLst/>
              <a:cxnLst/>
              <a:rect l="l" t="t" r="r" b="b"/>
              <a:pathLst>
                <a:path w="1219200" h="1755648">
                  <a:moveTo>
                    <a:pt x="0" y="0"/>
                  </a:moveTo>
                  <a:lnTo>
                    <a:pt x="1219200" y="0"/>
                  </a:lnTo>
                  <a:lnTo>
                    <a:pt x="12192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40080" y="5230368"/>
            <a:ext cx="914400" cy="1316736"/>
            <a:chOff x="0" y="0"/>
            <a:chExt cx="1219200" cy="17556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19200" cy="1755648"/>
            </a:xfrm>
            <a:custGeom>
              <a:avLst/>
              <a:gdLst/>
              <a:ahLst/>
              <a:cxnLst/>
              <a:rect l="l" t="t" r="r" b="b"/>
              <a:pathLst>
                <a:path w="1219200" h="1755648">
                  <a:moveTo>
                    <a:pt x="0" y="0"/>
                  </a:moveTo>
                  <a:lnTo>
                    <a:pt x="1219200" y="0"/>
                  </a:lnTo>
                  <a:lnTo>
                    <a:pt x="12192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757" r="-13475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9525"/>
              <a:ext cx="1219200" cy="1746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Q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737360" y="5230368"/>
            <a:ext cx="15910560" cy="548640"/>
            <a:chOff x="0" y="0"/>
            <a:chExt cx="21214080" cy="7315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214080" cy="731520"/>
            </a:xfrm>
            <a:custGeom>
              <a:avLst/>
              <a:gdLst/>
              <a:ahLst/>
              <a:cxnLst/>
              <a:rect l="l" t="t" r="r" b="b"/>
              <a:pathLst>
                <a:path w="21214080" h="731520">
                  <a:moveTo>
                    <a:pt x="0" y="0"/>
                  </a:moveTo>
                  <a:lnTo>
                    <a:pt x="21214080" y="0"/>
                  </a:lnTo>
                  <a:lnTo>
                    <a:pt x="212140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920240" y="5230368"/>
            <a:ext cx="15544800" cy="548640"/>
            <a:chOff x="0" y="0"/>
            <a:chExt cx="20726400" cy="7315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726400" cy="731520"/>
            </a:xfrm>
            <a:custGeom>
              <a:avLst/>
              <a:gdLst/>
              <a:ahLst/>
              <a:cxnLst/>
              <a:rect l="l" t="t" r="r" b="b"/>
              <a:pathLst>
                <a:path w="20726400" h="73152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9525"/>
              <a:ext cx="2072640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비용이 많이 드나요?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737360" y="5779008"/>
            <a:ext cx="15910560" cy="694944"/>
            <a:chOff x="0" y="0"/>
            <a:chExt cx="21214080" cy="92659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214080" cy="926592"/>
            </a:xfrm>
            <a:custGeom>
              <a:avLst/>
              <a:gdLst/>
              <a:ahLst/>
              <a:cxnLst/>
              <a:rect l="l" t="t" r="r" b="b"/>
              <a:pathLst>
                <a:path w="21214080" h="926592">
                  <a:moveTo>
                    <a:pt x="0" y="0"/>
                  </a:moveTo>
                  <a:lnTo>
                    <a:pt x="21214080" y="0"/>
                  </a:lnTo>
                  <a:lnTo>
                    <a:pt x="212140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920240" y="5779008"/>
            <a:ext cx="15544800" cy="694944"/>
            <a:chOff x="0" y="0"/>
            <a:chExt cx="20726400" cy="92659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0726400" cy="926592"/>
            </a:xfrm>
            <a:custGeom>
              <a:avLst/>
              <a:gdLst/>
              <a:ahLst/>
              <a:cxnLst/>
              <a:rect l="l" t="t" r="r" b="b"/>
              <a:pathLst>
                <a:path w="20726400" h="926592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5849" b="-385849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2072640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→ ChatGPT 무료 버전, Claude 무료 버전, Gemini, 클로바Note, NotebookLM 모두 무료로 시작할 수 있습니다.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40080" y="6839712"/>
            <a:ext cx="914400" cy="1316736"/>
            <a:chOff x="0" y="0"/>
            <a:chExt cx="1219200" cy="175564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19200" cy="1755648"/>
            </a:xfrm>
            <a:custGeom>
              <a:avLst/>
              <a:gdLst/>
              <a:ahLst/>
              <a:cxnLst/>
              <a:rect l="l" t="t" r="r" b="b"/>
              <a:pathLst>
                <a:path w="1219200" h="1755648">
                  <a:moveTo>
                    <a:pt x="0" y="0"/>
                  </a:moveTo>
                  <a:lnTo>
                    <a:pt x="1219200" y="0"/>
                  </a:lnTo>
                  <a:lnTo>
                    <a:pt x="12192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640080" y="6839712"/>
            <a:ext cx="914400" cy="1316736"/>
            <a:chOff x="0" y="0"/>
            <a:chExt cx="1219200" cy="175564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19200" cy="1755648"/>
            </a:xfrm>
            <a:custGeom>
              <a:avLst/>
              <a:gdLst/>
              <a:ahLst/>
              <a:cxnLst/>
              <a:rect l="l" t="t" r="r" b="b"/>
              <a:pathLst>
                <a:path w="1219200" h="1755648">
                  <a:moveTo>
                    <a:pt x="0" y="0"/>
                  </a:moveTo>
                  <a:lnTo>
                    <a:pt x="1219200" y="0"/>
                  </a:lnTo>
                  <a:lnTo>
                    <a:pt x="12192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757" r="-134757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9525"/>
              <a:ext cx="1219200" cy="1746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Q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737360" y="6839712"/>
            <a:ext cx="15910560" cy="548640"/>
            <a:chOff x="0" y="0"/>
            <a:chExt cx="21214080" cy="7315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1214080" cy="731520"/>
            </a:xfrm>
            <a:custGeom>
              <a:avLst/>
              <a:gdLst/>
              <a:ahLst/>
              <a:cxnLst/>
              <a:rect l="l" t="t" r="r" b="b"/>
              <a:pathLst>
                <a:path w="21214080" h="731520">
                  <a:moveTo>
                    <a:pt x="0" y="0"/>
                  </a:moveTo>
                  <a:lnTo>
                    <a:pt x="21214080" y="0"/>
                  </a:lnTo>
                  <a:lnTo>
                    <a:pt x="212140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920240" y="6839712"/>
            <a:ext cx="15544800" cy="548640"/>
            <a:chOff x="0" y="0"/>
            <a:chExt cx="20726400" cy="7315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0726400" cy="731520"/>
            </a:xfrm>
            <a:custGeom>
              <a:avLst/>
              <a:gdLst/>
              <a:ahLst/>
              <a:cxnLst/>
              <a:rect l="l" t="t" r="r" b="b"/>
              <a:pathLst>
                <a:path w="20726400" h="73152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9525"/>
              <a:ext cx="2072640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환자 정보가 AI에 저장되지 않나요?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737360" y="7388352"/>
            <a:ext cx="15910560" cy="694944"/>
            <a:chOff x="0" y="0"/>
            <a:chExt cx="21214080" cy="92659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1214080" cy="926592"/>
            </a:xfrm>
            <a:custGeom>
              <a:avLst/>
              <a:gdLst/>
              <a:ahLst/>
              <a:cxnLst/>
              <a:rect l="l" t="t" r="r" b="b"/>
              <a:pathLst>
                <a:path w="21214080" h="926592">
                  <a:moveTo>
                    <a:pt x="0" y="0"/>
                  </a:moveTo>
                  <a:lnTo>
                    <a:pt x="21214080" y="0"/>
                  </a:lnTo>
                  <a:lnTo>
                    <a:pt x="212140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920240" y="7388352"/>
            <a:ext cx="15544800" cy="694944"/>
            <a:chOff x="0" y="0"/>
            <a:chExt cx="20726400" cy="92659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0726400" cy="926592"/>
            </a:xfrm>
            <a:custGeom>
              <a:avLst/>
              <a:gdLst/>
              <a:ahLst/>
              <a:cxnLst/>
              <a:rect l="l" t="t" r="r" b="b"/>
              <a:pathLst>
                <a:path w="20726400" h="926592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5849" b="-385849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2072640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→ 개인정보를 입력하지 않으면 됩니다. 상황은 익명화하여 입력하는 것이 원칙입니다.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40080" y="8449056"/>
            <a:ext cx="914400" cy="1316736"/>
            <a:chOff x="0" y="0"/>
            <a:chExt cx="1219200" cy="175564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219200" cy="1755648"/>
            </a:xfrm>
            <a:custGeom>
              <a:avLst/>
              <a:gdLst/>
              <a:ahLst/>
              <a:cxnLst/>
              <a:rect l="l" t="t" r="r" b="b"/>
              <a:pathLst>
                <a:path w="1219200" h="1755648">
                  <a:moveTo>
                    <a:pt x="0" y="0"/>
                  </a:moveTo>
                  <a:lnTo>
                    <a:pt x="1219200" y="0"/>
                  </a:lnTo>
                  <a:lnTo>
                    <a:pt x="12192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640080" y="8449056"/>
            <a:ext cx="914400" cy="1316736"/>
            <a:chOff x="0" y="0"/>
            <a:chExt cx="1219200" cy="175564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219200" cy="1755648"/>
            </a:xfrm>
            <a:custGeom>
              <a:avLst/>
              <a:gdLst/>
              <a:ahLst/>
              <a:cxnLst/>
              <a:rect l="l" t="t" r="r" b="b"/>
              <a:pathLst>
                <a:path w="1219200" h="1755648">
                  <a:moveTo>
                    <a:pt x="0" y="0"/>
                  </a:moveTo>
                  <a:lnTo>
                    <a:pt x="1219200" y="0"/>
                  </a:lnTo>
                  <a:lnTo>
                    <a:pt x="12192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757" r="-134757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9525"/>
              <a:ext cx="1219200" cy="1746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spc="12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Q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737360" y="8449056"/>
            <a:ext cx="15910560" cy="548640"/>
            <a:chOff x="0" y="0"/>
            <a:chExt cx="21214080" cy="7315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1214080" cy="731520"/>
            </a:xfrm>
            <a:custGeom>
              <a:avLst/>
              <a:gdLst/>
              <a:ahLst/>
              <a:cxnLst/>
              <a:rect l="l" t="t" r="r" b="b"/>
              <a:pathLst>
                <a:path w="21214080" h="731520">
                  <a:moveTo>
                    <a:pt x="0" y="0"/>
                  </a:moveTo>
                  <a:lnTo>
                    <a:pt x="21214080" y="0"/>
                  </a:lnTo>
                  <a:lnTo>
                    <a:pt x="212140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1920240" y="8449056"/>
            <a:ext cx="15544800" cy="548640"/>
            <a:chOff x="0" y="0"/>
            <a:chExt cx="20726400" cy="73152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0726400" cy="731520"/>
            </a:xfrm>
            <a:custGeom>
              <a:avLst/>
              <a:gdLst/>
              <a:ahLst/>
              <a:cxnLst/>
              <a:rect l="l" t="t" r="r" b="b"/>
              <a:pathLst>
                <a:path w="20726400" h="73152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9525"/>
              <a:ext cx="2072640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E3A5F"/>
                  </a:solidFill>
                  <a:latin typeface="Mandali"/>
                  <a:ea typeface="Mandali"/>
                  <a:cs typeface="Mandali"/>
                  <a:sym typeface="Mandali"/>
                </a:rPr>
                <a:t>AI가 틀린 답변을 할 수 있나요?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737360" y="8997696"/>
            <a:ext cx="15910560" cy="694944"/>
            <a:chOff x="0" y="0"/>
            <a:chExt cx="21214080" cy="92659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1214080" cy="926592"/>
            </a:xfrm>
            <a:custGeom>
              <a:avLst/>
              <a:gdLst/>
              <a:ahLst/>
              <a:cxnLst/>
              <a:rect l="l" t="t" r="r" b="b"/>
              <a:pathLst>
                <a:path w="21214080" h="926592">
                  <a:moveTo>
                    <a:pt x="0" y="0"/>
                  </a:moveTo>
                  <a:lnTo>
                    <a:pt x="21214080" y="0"/>
                  </a:lnTo>
                  <a:lnTo>
                    <a:pt x="212140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1920240" y="8997696"/>
            <a:ext cx="15544800" cy="694944"/>
            <a:chOff x="0" y="0"/>
            <a:chExt cx="20726400" cy="926592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0726400" cy="926592"/>
            </a:xfrm>
            <a:custGeom>
              <a:avLst/>
              <a:gdLst/>
              <a:ahLst/>
              <a:cxnLst/>
              <a:rect l="l" t="t" r="r" b="b"/>
              <a:pathLst>
                <a:path w="20726400" h="926592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5849" b="-385849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0"/>
              <a:ext cx="2072640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spc="8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→ 네, 가능합니다. 그래서 AI가 생성한 모든 내용은 반드시 담당자가 확인·수정 후 사용해야 합니다.</a:t>
              </a:r>
            </a:p>
          </p:txBody>
        </p:sp>
      </p:grpSp>
      <p:grpSp>
        <p:nvGrpSpPr>
          <p:cNvPr id="84" name="Group 40"/>
          <p:cNvGrpSpPr/>
          <p:nvPr/>
        </p:nvGrpSpPr>
        <p:grpSpPr>
          <a:xfrm>
            <a:off x="-12697" y="9579359"/>
            <a:ext cx="18313403" cy="720347"/>
            <a:chOff x="0" y="0"/>
            <a:chExt cx="24417871" cy="960463"/>
          </a:xfrm>
        </p:grpSpPr>
        <p:sp>
          <p:nvSpPr>
            <p:cNvPr id="85" name="Freeform 41"/>
            <p:cNvSpPr/>
            <p:nvPr/>
          </p:nvSpPr>
          <p:spPr>
            <a:xfrm>
              <a:off x="0" y="0"/>
              <a:ext cx="24417910" cy="960501"/>
            </a:xfrm>
            <a:custGeom>
              <a:avLst/>
              <a:gdLst/>
              <a:ahLst/>
              <a:cxnLst/>
              <a:rect l="l" t="t" r="r" b="b"/>
              <a:pathLst>
                <a:path w="24417910" h="960501">
                  <a:moveTo>
                    <a:pt x="0" y="0"/>
                  </a:moveTo>
                  <a:lnTo>
                    <a:pt x="24417910" y="0"/>
                  </a:lnTo>
                  <a:lnTo>
                    <a:pt x="244179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A3A5C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id="86" name="Group 42"/>
          <p:cNvGrpSpPr/>
          <p:nvPr/>
        </p:nvGrpSpPr>
        <p:grpSpPr>
          <a:xfrm>
            <a:off x="548640" y="9646920"/>
            <a:ext cx="10972800" cy="548640"/>
            <a:chOff x="0" y="0"/>
            <a:chExt cx="14630400" cy="731520"/>
          </a:xfrm>
        </p:grpSpPr>
        <p:sp>
          <p:nvSpPr>
            <p:cNvPr id="87" name="Freeform 4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8" name="TextBox 44"/>
            <p:cNvSpPr txBox="1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ECDE8"/>
                  </a:solidFill>
                  <a:latin typeface="Arimo"/>
                  <a:ea typeface="Arimo"/>
                  <a:cs typeface="Arimo"/>
                  <a:sym typeface="Arimo"/>
                </a:rPr>
                <a:t>5차시-02 | Action Plan 작성 및 제출</a:t>
              </a:r>
            </a:p>
          </p:txBody>
        </p:sp>
      </p:grpSp>
      <p:grpSp>
        <p:nvGrpSpPr>
          <p:cNvPr id="89" name="Group 45"/>
          <p:cNvGrpSpPr/>
          <p:nvPr/>
        </p:nvGrpSpPr>
        <p:grpSpPr>
          <a:xfrm>
            <a:off x="0" y="9646920"/>
            <a:ext cx="17830800" cy="548640"/>
            <a:chOff x="0" y="0"/>
            <a:chExt cx="23774400" cy="731520"/>
          </a:xfrm>
        </p:grpSpPr>
        <p:sp>
          <p:nvSpPr>
            <p:cNvPr id="90" name="Freeform 46"/>
            <p:cNvSpPr/>
            <p:nvPr/>
          </p:nvSpPr>
          <p:spPr>
            <a:xfrm>
              <a:off x="0" y="0"/>
              <a:ext cx="23774400" cy="731520"/>
            </a:xfrm>
            <a:custGeom>
              <a:avLst/>
              <a:gdLst/>
              <a:ahLst/>
              <a:cxnLst/>
              <a:rect l="l" t="t" r="r" b="b"/>
              <a:pathLst>
                <a:path w="23774400" h="731520">
                  <a:moveTo>
                    <a:pt x="0" y="0"/>
                  </a:moveTo>
                  <a:lnTo>
                    <a:pt x="23774400" y="0"/>
                  </a:lnTo>
                  <a:lnTo>
                    <a:pt x="2377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91" name="TextBox 47"/>
            <p:cNvSpPr txBox="1"/>
            <p:nvPr/>
          </p:nvSpPr>
          <p:spPr>
            <a:xfrm>
              <a:off x="0" y="-19050"/>
              <a:ext cx="23774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ko-KR" alt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㈜얼라이언스코리아 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|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부산여자대학교</a:t>
              </a:r>
              <a:r>
                <a:rPr lang="en-US" sz="1700" dirty="0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700" dirty="0" err="1">
                  <a:solidFill>
                    <a:srgbClr val="8DB8D8"/>
                  </a:solidFill>
                  <a:latin typeface="Arimo"/>
                  <a:ea typeface="Arimo"/>
                  <a:cs typeface="Arimo"/>
                  <a:sym typeface="Arimo"/>
                </a:rPr>
                <a:t>DX교육운영센터</a:t>
              </a:r>
              <a:endParaRPr lang="en-US" sz="1700" dirty="0">
                <a:solidFill>
                  <a:srgbClr val="8DB8D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0"/>
            <a:ext cx="17190720" cy="1645920"/>
            <a:chOff x="0" y="0"/>
            <a:chExt cx="22920960" cy="2194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920961" cy="2194560"/>
            </a:xfrm>
            <a:custGeom>
              <a:avLst/>
              <a:gdLst/>
              <a:ahLst/>
              <a:cxnLst/>
              <a:rect l="l" t="t" r="r" b="b"/>
              <a:pathLst>
                <a:path w="22920961" h="2194560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510" b="-1535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9209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spc="1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전체 과정 자기 평가 체크리스트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673638"/>
            <a:ext cx="18288000" cy="91440"/>
            <a:chOff x="0" y="0"/>
            <a:chExt cx="24384000" cy="121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080" y="1765078"/>
            <a:ext cx="1499616" cy="2211038"/>
            <a:chOff x="0" y="0"/>
            <a:chExt cx="1999488" cy="32186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99488" cy="3218688"/>
            </a:xfrm>
            <a:custGeom>
              <a:avLst/>
              <a:gdLst/>
              <a:ahLst/>
              <a:cxnLst/>
              <a:rect l="l" t="t" r="r" b="b"/>
              <a:pathLst>
                <a:path w="1999488" h="3218688">
                  <a:moveTo>
                    <a:pt x="0" y="0"/>
                  </a:moveTo>
                  <a:lnTo>
                    <a:pt x="1999488" y="0"/>
                  </a:lnTo>
                  <a:lnTo>
                    <a:pt x="1999488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0080" y="1877092"/>
            <a:ext cx="1499616" cy="2099024"/>
            <a:chOff x="0" y="0"/>
            <a:chExt cx="1999488" cy="32186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99488" cy="3218688"/>
            </a:xfrm>
            <a:custGeom>
              <a:avLst/>
              <a:gdLst/>
              <a:ahLst/>
              <a:cxnLst/>
              <a:rect l="l" t="t" r="r" b="b"/>
              <a:pathLst>
                <a:path w="1999488" h="3218688">
                  <a:moveTo>
                    <a:pt x="0" y="0"/>
                  </a:moveTo>
                  <a:lnTo>
                    <a:pt x="1999488" y="0"/>
                  </a:lnTo>
                  <a:lnTo>
                    <a:pt x="1999488" y="3218688"/>
                  </a:lnTo>
                  <a:lnTo>
                    <a:pt x="0" y="3218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6537" r="-15653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999488" cy="30967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 dirty="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1차시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286000" y="1778508"/>
            <a:ext cx="694944" cy="621792"/>
            <a:chOff x="0" y="0"/>
            <a:chExt cx="926592" cy="8290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2286000" y="1869948"/>
            <a:ext cx="694944" cy="621792"/>
            <a:chOff x="0" y="0"/>
            <a:chExt cx="926592" cy="8290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r="-6479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926592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163824" y="1714500"/>
            <a:ext cx="14484096" cy="804672"/>
            <a:chOff x="0" y="0"/>
            <a:chExt cx="19312128" cy="10728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312128" cy="1072896"/>
            </a:xfrm>
            <a:custGeom>
              <a:avLst/>
              <a:gdLst/>
              <a:ahLst/>
              <a:cxnLst/>
              <a:rect l="l" t="t" r="r" b="b"/>
              <a:pathLst>
                <a:path w="19312128" h="1072896">
                  <a:moveTo>
                    <a:pt x="0" y="0"/>
                  </a:moveTo>
                  <a:lnTo>
                    <a:pt x="19312128" y="0"/>
                  </a:lnTo>
                  <a:lnTo>
                    <a:pt x="1931212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3346704" y="1714500"/>
            <a:ext cx="14118336" cy="804672"/>
            <a:chOff x="0" y="0"/>
            <a:chExt cx="18824448" cy="10728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8824448" cy="1072896"/>
            </a:xfrm>
            <a:custGeom>
              <a:avLst/>
              <a:gdLst/>
              <a:ahLst/>
              <a:cxnLst/>
              <a:rect l="l" t="t" r="r" b="b"/>
              <a:pathLst>
                <a:path w="18824448" h="1072896">
                  <a:moveTo>
                    <a:pt x="0" y="0"/>
                  </a:moveTo>
                  <a:lnTo>
                    <a:pt x="18824448" y="0"/>
                  </a:lnTo>
                  <a:lnTo>
                    <a:pt x="188244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1873" b="-29187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18824448" cy="1063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AI 도입 전후 CS 업무 변화를 설명할 수 있다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286000" y="2476500"/>
            <a:ext cx="694944" cy="621792"/>
            <a:chOff x="0" y="0"/>
            <a:chExt cx="926592" cy="8290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2286000" y="2567940"/>
            <a:ext cx="694944" cy="621792"/>
            <a:chOff x="0" y="0"/>
            <a:chExt cx="926592" cy="82905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r="-6479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926592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163824" y="2476500"/>
            <a:ext cx="14484096" cy="804672"/>
            <a:chOff x="0" y="0"/>
            <a:chExt cx="19312128" cy="10728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312128" cy="1072896"/>
            </a:xfrm>
            <a:custGeom>
              <a:avLst/>
              <a:gdLst/>
              <a:ahLst/>
              <a:cxnLst/>
              <a:rect l="l" t="t" r="r" b="b"/>
              <a:pathLst>
                <a:path w="19312128" h="1072896">
                  <a:moveTo>
                    <a:pt x="0" y="0"/>
                  </a:moveTo>
                  <a:lnTo>
                    <a:pt x="19312128" y="0"/>
                  </a:lnTo>
                  <a:lnTo>
                    <a:pt x="1931212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3346704" y="2476500"/>
            <a:ext cx="14118336" cy="804672"/>
            <a:chOff x="0" y="0"/>
            <a:chExt cx="18824448" cy="10728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824448" cy="1072896"/>
            </a:xfrm>
            <a:custGeom>
              <a:avLst/>
              <a:gdLst/>
              <a:ahLst/>
              <a:cxnLst/>
              <a:rect l="l" t="t" r="r" b="b"/>
              <a:pathLst>
                <a:path w="18824448" h="1072896">
                  <a:moveTo>
                    <a:pt x="0" y="0"/>
                  </a:moveTo>
                  <a:lnTo>
                    <a:pt x="18824448" y="0"/>
                  </a:lnTo>
                  <a:lnTo>
                    <a:pt x="188244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1873" b="-291873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18824448" cy="1063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생성형 AI의 기본 작동 원리를 이해한다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286000" y="3281172"/>
            <a:ext cx="694944" cy="621792"/>
            <a:chOff x="0" y="0"/>
            <a:chExt cx="926592" cy="82905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2286000" y="3284220"/>
            <a:ext cx="694944" cy="621792"/>
            <a:chOff x="0" y="0"/>
            <a:chExt cx="926592" cy="82905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r="-64797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926592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163824" y="3208020"/>
            <a:ext cx="14484096" cy="804672"/>
            <a:chOff x="0" y="0"/>
            <a:chExt cx="19312128" cy="107289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312128" cy="1072896"/>
            </a:xfrm>
            <a:custGeom>
              <a:avLst/>
              <a:gdLst/>
              <a:ahLst/>
              <a:cxnLst/>
              <a:rect l="l" t="t" r="r" b="b"/>
              <a:pathLst>
                <a:path w="19312128" h="1072896">
                  <a:moveTo>
                    <a:pt x="0" y="0"/>
                  </a:moveTo>
                  <a:lnTo>
                    <a:pt x="19312128" y="0"/>
                  </a:lnTo>
                  <a:lnTo>
                    <a:pt x="1931212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3346704" y="3208020"/>
            <a:ext cx="14118336" cy="804672"/>
            <a:chOff x="0" y="0"/>
            <a:chExt cx="18824448" cy="107289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8824448" cy="1072896"/>
            </a:xfrm>
            <a:custGeom>
              <a:avLst/>
              <a:gdLst/>
              <a:ahLst/>
              <a:cxnLst/>
              <a:rect l="l" t="t" r="r" b="b"/>
              <a:pathLst>
                <a:path w="18824448" h="1072896">
                  <a:moveTo>
                    <a:pt x="0" y="0"/>
                  </a:moveTo>
                  <a:lnTo>
                    <a:pt x="18824448" y="0"/>
                  </a:lnTo>
                  <a:lnTo>
                    <a:pt x="188244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1873" b="-291873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9525"/>
              <a:ext cx="18824448" cy="1063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AI 활용 윤리 및 환자정보 보호 원칙을 안다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0080" y="3976116"/>
            <a:ext cx="1499616" cy="1609344"/>
            <a:chOff x="0" y="0"/>
            <a:chExt cx="1999488" cy="21457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999488" cy="2145792"/>
            </a:xfrm>
            <a:custGeom>
              <a:avLst/>
              <a:gdLst/>
              <a:ahLst/>
              <a:cxnLst/>
              <a:rect l="l" t="t" r="r" b="b"/>
              <a:pathLst>
                <a:path w="1999488" h="2145792">
                  <a:moveTo>
                    <a:pt x="0" y="0"/>
                  </a:moveTo>
                  <a:lnTo>
                    <a:pt x="1999488" y="0"/>
                  </a:lnTo>
                  <a:lnTo>
                    <a:pt x="19994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625275" y="3864102"/>
            <a:ext cx="1499616" cy="1609344"/>
            <a:chOff x="0" y="0"/>
            <a:chExt cx="1999488" cy="214579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999488" cy="2145792"/>
            </a:xfrm>
            <a:custGeom>
              <a:avLst/>
              <a:gdLst/>
              <a:ahLst/>
              <a:cxnLst/>
              <a:rect l="l" t="t" r="r" b="b"/>
              <a:pathLst>
                <a:path w="1999488" h="2145792">
                  <a:moveTo>
                    <a:pt x="0" y="0"/>
                  </a:moveTo>
                  <a:lnTo>
                    <a:pt x="1999488" y="0"/>
                  </a:lnTo>
                  <a:lnTo>
                    <a:pt x="199948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691" r="-87691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1999488" cy="2145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2차시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286000" y="3997452"/>
            <a:ext cx="694944" cy="621792"/>
            <a:chOff x="0" y="0"/>
            <a:chExt cx="926592" cy="82905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2286000" y="4088892"/>
            <a:ext cx="694944" cy="621792"/>
            <a:chOff x="0" y="0"/>
            <a:chExt cx="926592" cy="82905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r="-64797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926592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163824" y="3997452"/>
            <a:ext cx="14484096" cy="804672"/>
            <a:chOff x="0" y="0"/>
            <a:chExt cx="19312128" cy="107289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9312128" cy="1072896"/>
            </a:xfrm>
            <a:custGeom>
              <a:avLst/>
              <a:gdLst/>
              <a:ahLst/>
              <a:cxnLst/>
              <a:rect l="l" t="t" r="r" b="b"/>
              <a:pathLst>
                <a:path w="19312128" h="1072896">
                  <a:moveTo>
                    <a:pt x="0" y="0"/>
                  </a:moveTo>
                  <a:lnTo>
                    <a:pt x="19312128" y="0"/>
                  </a:lnTo>
                  <a:lnTo>
                    <a:pt x="1931212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3346704" y="3997452"/>
            <a:ext cx="14118336" cy="804672"/>
            <a:chOff x="0" y="0"/>
            <a:chExt cx="18824448" cy="107289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8824448" cy="1072896"/>
            </a:xfrm>
            <a:custGeom>
              <a:avLst/>
              <a:gdLst/>
              <a:ahLst/>
              <a:cxnLst/>
              <a:rect l="l" t="t" r="r" b="b"/>
              <a:pathLst>
                <a:path w="18824448" h="1072896">
                  <a:moveTo>
                    <a:pt x="0" y="0"/>
                  </a:moveTo>
                  <a:lnTo>
                    <a:pt x="18824448" y="0"/>
                  </a:lnTo>
                  <a:lnTo>
                    <a:pt x="188244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1873" b="-29187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9525"/>
              <a:ext cx="18824448" cy="1063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민원 유형을 분류하고 AI 시나리오를 설계할 수 있다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286000" y="4802124"/>
            <a:ext cx="694944" cy="621792"/>
            <a:chOff x="0" y="0"/>
            <a:chExt cx="926592" cy="82905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2286000" y="4893564"/>
            <a:ext cx="694944" cy="621792"/>
            <a:chOff x="0" y="0"/>
            <a:chExt cx="926592" cy="82905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r="-64797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926592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163824" y="4802124"/>
            <a:ext cx="14484096" cy="804672"/>
            <a:chOff x="0" y="0"/>
            <a:chExt cx="19312128" cy="107289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9312128" cy="1072896"/>
            </a:xfrm>
            <a:custGeom>
              <a:avLst/>
              <a:gdLst/>
              <a:ahLst/>
              <a:cxnLst/>
              <a:rect l="l" t="t" r="r" b="b"/>
              <a:pathLst>
                <a:path w="19312128" h="1072896">
                  <a:moveTo>
                    <a:pt x="0" y="0"/>
                  </a:moveTo>
                  <a:lnTo>
                    <a:pt x="19312128" y="0"/>
                  </a:lnTo>
                  <a:lnTo>
                    <a:pt x="1931212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3346704" y="4802124"/>
            <a:ext cx="14118336" cy="804672"/>
            <a:chOff x="0" y="0"/>
            <a:chExt cx="18824448" cy="107289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8824448" cy="1072896"/>
            </a:xfrm>
            <a:custGeom>
              <a:avLst/>
              <a:gdLst/>
              <a:ahLst/>
              <a:cxnLst/>
              <a:rect l="l" t="t" r="r" b="b"/>
              <a:pathLst>
                <a:path w="18824448" h="1072896">
                  <a:moveTo>
                    <a:pt x="0" y="0"/>
                  </a:moveTo>
                  <a:lnTo>
                    <a:pt x="18824448" y="0"/>
                  </a:lnTo>
                  <a:lnTo>
                    <a:pt x="188244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1873" b="-291873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9525"/>
              <a:ext cx="18824448" cy="1063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강성 민원 3단계 응대 스크립트를 생성할 수 있다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40080" y="5585460"/>
            <a:ext cx="1499616" cy="1609344"/>
            <a:chOff x="0" y="0"/>
            <a:chExt cx="1999488" cy="214579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999488" cy="2145792"/>
            </a:xfrm>
            <a:custGeom>
              <a:avLst/>
              <a:gdLst/>
              <a:ahLst/>
              <a:cxnLst/>
              <a:rect l="l" t="t" r="r" b="b"/>
              <a:pathLst>
                <a:path w="1999488" h="2145792">
                  <a:moveTo>
                    <a:pt x="0" y="0"/>
                  </a:moveTo>
                  <a:lnTo>
                    <a:pt x="1999488" y="0"/>
                  </a:lnTo>
                  <a:lnTo>
                    <a:pt x="19994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640080" y="5585460"/>
            <a:ext cx="1499616" cy="1609344"/>
            <a:chOff x="0" y="0"/>
            <a:chExt cx="1999488" cy="214579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999488" cy="2145792"/>
            </a:xfrm>
            <a:custGeom>
              <a:avLst/>
              <a:gdLst/>
              <a:ahLst/>
              <a:cxnLst/>
              <a:rect l="l" t="t" r="r" b="b"/>
              <a:pathLst>
                <a:path w="1999488" h="2145792">
                  <a:moveTo>
                    <a:pt x="0" y="0"/>
                  </a:moveTo>
                  <a:lnTo>
                    <a:pt x="1999488" y="0"/>
                  </a:lnTo>
                  <a:lnTo>
                    <a:pt x="199948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691" r="-87691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1999488" cy="2145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3차시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2286000" y="5606796"/>
            <a:ext cx="694944" cy="621792"/>
            <a:chOff x="0" y="0"/>
            <a:chExt cx="926592" cy="82905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2286000" y="5698236"/>
            <a:ext cx="694944" cy="621792"/>
            <a:chOff x="0" y="0"/>
            <a:chExt cx="926592" cy="82905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r="-64797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926592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3163824" y="5606796"/>
            <a:ext cx="14484096" cy="804672"/>
            <a:chOff x="0" y="0"/>
            <a:chExt cx="19312128" cy="107289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9312128" cy="1072896"/>
            </a:xfrm>
            <a:custGeom>
              <a:avLst/>
              <a:gdLst/>
              <a:ahLst/>
              <a:cxnLst/>
              <a:rect l="l" t="t" r="r" b="b"/>
              <a:pathLst>
                <a:path w="19312128" h="1072896">
                  <a:moveTo>
                    <a:pt x="0" y="0"/>
                  </a:moveTo>
                  <a:lnTo>
                    <a:pt x="19312128" y="0"/>
                  </a:lnTo>
                  <a:lnTo>
                    <a:pt x="1931212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3346704" y="5606796"/>
            <a:ext cx="14118336" cy="804672"/>
            <a:chOff x="0" y="0"/>
            <a:chExt cx="18824448" cy="107289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8824448" cy="1072896"/>
            </a:xfrm>
            <a:custGeom>
              <a:avLst/>
              <a:gdLst/>
              <a:ahLst/>
              <a:cxnLst/>
              <a:rect l="l" t="t" r="r" b="b"/>
              <a:pathLst>
                <a:path w="18824448" h="1072896">
                  <a:moveTo>
                    <a:pt x="0" y="0"/>
                  </a:moveTo>
                  <a:lnTo>
                    <a:pt x="18824448" y="0"/>
                  </a:lnTo>
                  <a:lnTo>
                    <a:pt x="188244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1873" b="-291873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9525"/>
              <a:ext cx="18824448" cy="1063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클로바Note로 음성을 텍스트로 변환할 수 있다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2286000" y="6411468"/>
            <a:ext cx="694944" cy="621792"/>
            <a:chOff x="0" y="0"/>
            <a:chExt cx="926592" cy="82905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2286000" y="6502908"/>
            <a:ext cx="694944" cy="621792"/>
            <a:chOff x="0" y="0"/>
            <a:chExt cx="926592" cy="82905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r="-64797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0"/>
              <a:ext cx="926592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3163824" y="6411468"/>
            <a:ext cx="14484096" cy="804672"/>
            <a:chOff x="0" y="0"/>
            <a:chExt cx="19312128" cy="1072896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9312128" cy="1072896"/>
            </a:xfrm>
            <a:custGeom>
              <a:avLst/>
              <a:gdLst/>
              <a:ahLst/>
              <a:cxnLst/>
              <a:rect l="l" t="t" r="r" b="b"/>
              <a:pathLst>
                <a:path w="19312128" h="1072896">
                  <a:moveTo>
                    <a:pt x="0" y="0"/>
                  </a:moveTo>
                  <a:lnTo>
                    <a:pt x="19312128" y="0"/>
                  </a:lnTo>
                  <a:lnTo>
                    <a:pt x="1931212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3346704" y="6411468"/>
            <a:ext cx="14118336" cy="804672"/>
            <a:chOff x="0" y="0"/>
            <a:chExt cx="18824448" cy="1072896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8824448" cy="1072896"/>
            </a:xfrm>
            <a:custGeom>
              <a:avLst/>
              <a:gdLst/>
              <a:ahLst/>
              <a:cxnLst/>
              <a:rect l="l" t="t" r="r" b="b"/>
              <a:pathLst>
                <a:path w="18824448" h="1072896">
                  <a:moveTo>
                    <a:pt x="0" y="0"/>
                  </a:moveTo>
                  <a:lnTo>
                    <a:pt x="18824448" y="0"/>
                  </a:lnTo>
                  <a:lnTo>
                    <a:pt x="188244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1873" b="-291873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9525"/>
              <a:ext cx="18824448" cy="1063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ChatGPT로 상담 내용을 요약·기록할 수 있다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640080" y="7194804"/>
            <a:ext cx="1499616" cy="1609344"/>
            <a:chOff x="0" y="0"/>
            <a:chExt cx="1999488" cy="2145792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999488" cy="2145792"/>
            </a:xfrm>
            <a:custGeom>
              <a:avLst/>
              <a:gdLst/>
              <a:ahLst/>
              <a:cxnLst/>
              <a:rect l="l" t="t" r="r" b="b"/>
              <a:pathLst>
                <a:path w="1999488" h="2145792">
                  <a:moveTo>
                    <a:pt x="0" y="0"/>
                  </a:moveTo>
                  <a:lnTo>
                    <a:pt x="1999488" y="0"/>
                  </a:lnTo>
                  <a:lnTo>
                    <a:pt x="19994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640080" y="7194804"/>
            <a:ext cx="1499616" cy="1517904"/>
            <a:chOff x="0" y="0"/>
            <a:chExt cx="1999488" cy="2145792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999488" cy="2145792"/>
            </a:xfrm>
            <a:custGeom>
              <a:avLst/>
              <a:gdLst/>
              <a:ahLst/>
              <a:cxnLst/>
              <a:rect l="l" t="t" r="r" b="b"/>
              <a:pathLst>
                <a:path w="1999488" h="2145792">
                  <a:moveTo>
                    <a:pt x="0" y="0"/>
                  </a:moveTo>
                  <a:lnTo>
                    <a:pt x="1999488" y="0"/>
                  </a:lnTo>
                  <a:lnTo>
                    <a:pt x="199948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691" r="-87691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0"/>
              <a:ext cx="1999488" cy="2145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 dirty="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4차시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2286000" y="7216140"/>
            <a:ext cx="694944" cy="621792"/>
            <a:chOff x="0" y="0"/>
            <a:chExt cx="926592" cy="829056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2286000" y="7307580"/>
            <a:ext cx="694944" cy="621792"/>
            <a:chOff x="0" y="0"/>
            <a:chExt cx="926592" cy="829056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r="-64797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0"/>
              <a:ext cx="926592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3163824" y="7216140"/>
            <a:ext cx="14484096" cy="804672"/>
            <a:chOff x="0" y="0"/>
            <a:chExt cx="19312128" cy="1072896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9312128" cy="1072896"/>
            </a:xfrm>
            <a:custGeom>
              <a:avLst/>
              <a:gdLst/>
              <a:ahLst/>
              <a:cxnLst/>
              <a:rect l="l" t="t" r="r" b="b"/>
              <a:pathLst>
                <a:path w="19312128" h="1072896">
                  <a:moveTo>
                    <a:pt x="0" y="0"/>
                  </a:moveTo>
                  <a:lnTo>
                    <a:pt x="19312128" y="0"/>
                  </a:lnTo>
                  <a:lnTo>
                    <a:pt x="1931212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06" name="Group 106"/>
          <p:cNvGrpSpPr/>
          <p:nvPr/>
        </p:nvGrpSpPr>
        <p:grpSpPr>
          <a:xfrm>
            <a:off x="3346704" y="7216140"/>
            <a:ext cx="14118336" cy="804672"/>
            <a:chOff x="0" y="0"/>
            <a:chExt cx="18824448" cy="1072896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18824448" cy="1072896"/>
            </a:xfrm>
            <a:custGeom>
              <a:avLst/>
              <a:gdLst/>
              <a:ahLst/>
              <a:cxnLst/>
              <a:rect l="l" t="t" r="r" b="b"/>
              <a:pathLst>
                <a:path w="18824448" h="1072896">
                  <a:moveTo>
                    <a:pt x="0" y="0"/>
                  </a:moveTo>
                  <a:lnTo>
                    <a:pt x="18824448" y="0"/>
                  </a:lnTo>
                  <a:lnTo>
                    <a:pt x="188244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1873" b="-291873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9525"/>
              <a:ext cx="18824448" cy="1063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GPTs 챗봇을 무코딩으로 직접 제작할 수 있다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2286000" y="8020812"/>
            <a:ext cx="694944" cy="621792"/>
            <a:chOff x="0" y="0"/>
            <a:chExt cx="926592" cy="829056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1" name="Group 111"/>
          <p:cNvGrpSpPr/>
          <p:nvPr/>
        </p:nvGrpSpPr>
        <p:grpSpPr>
          <a:xfrm>
            <a:off x="2286000" y="8112252"/>
            <a:ext cx="694944" cy="621792"/>
            <a:chOff x="0" y="0"/>
            <a:chExt cx="926592" cy="829056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r="-64797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0"/>
              <a:ext cx="926592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3163824" y="8020812"/>
            <a:ext cx="14484096" cy="804672"/>
            <a:chOff x="0" y="0"/>
            <a:chExt cx="19312128" cy="1072896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19312128" cy="1072896"/>
            </a:xfrm>
            <a:custGeom>
              <a:avLst/>
              <a:gdLst/>
              <a:ahLst/>
              <a:cxnLst/>
              <a:rect l="l" t="t" r="r" b="b"/>
              <a:pathLst>
                <a:path w="19312128" h="1072896">
                  <a:moveTo>
                    <a:pt x="0" y="0"/>
                  </a:moveTo>
                  <a:lnTo>
                    <a:pt x="19312128" y="0"/>
                  </a:lnTo>
                  <a:lnTo>
                    <a:pt x="1931212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6" name="Group 116"/>
          <p:cNvGrpSpPr/>
          <p:nvPr/>
        </p:nvGrpSpPr>
        <p:grpSpPr>
          <a:xfrm>
            <a:off x="3346704" y="8020812"/>
            <a:ext cx="14118336" cy="804672"/>
            <a:chOff x="0" y="0"/>
            <a:chExt cx="18824448" cy="1072896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8824448" cy="1072896"/>
            </a:xfrm>
            <a:custGeom>
              <a:avLst/>
              <a:gdLst/>
              <a:ahLst/>
              <a:cxnLst/>
              <a:rect l="l" t="t" r="r" b="b"/>
              <a:pathLst>
                <a:path w="18824448" h="1072896">
                  <a:moveTo>
                    <a:pt x="0" y="0"/>
                  </a:moveTo>
                  <a:lnTo>
                    <a:pt x="18824448" y="0"/>
                  </a:lnTo>
                  <a:lnTo>
                    <a:pt x="188244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1873" b="-291873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9525"/>
              <a:ext cx="18824448" cy="1063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Q&amp;A 데이터를 업로드하고 테스트할 수 있다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640080" y="8804148"/>
            <a:ext cx="1499616" cy="1609344"/>
            <a:chOff x="0" y="0"/>
            <a:chExt cx="1999488" cy="2145792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999488" cy="2145792"/>
            </a:xfrm>
            <a:custGeom>
              <a:avLst/>
              <a:gdLst/>
              <a:ahLst/>
              <a:cxnLst/>
              <a:rect l="l" t="t" r="r" b="b"/>
              <a:pathLst>
                <a:path w="1999488" h="2145792">
                  <a:moveTo>
                    <a:pt x="0" y="0"/>
                  </a:moveTo>
                  <a:lnTo>
                    <a:pt x="1999488" y="0"/>
                  </a:lnTo>
                  <a:lnTo>
                    <a:pt x="19994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21" name="Group 121"/>
          <p:cNvGrpSpPr/>
          <p:nvPr/>
        </p:nvGrpSpPr>
        <p:grpSpPr>
          <a:xfrm>
            <a:off x="640080" y="8804148"/>
            <a:ext cx="1499616" cy="1609344"/>
            <a:chOff x="0" y="0"/>
            <a:chExt cx="1999488" cy="2145792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1999488" cy="2145792"/>
            </a:xfrm>
            <a:custGeom>
              <a:avLst/>
              <a:gdLst/>
              <a:ahLst/>
              <a:cxnLst/>
              <a:rect l="l" t="t" r="r" b="b"/>
              <a:pathLst>
                <a:path w="1999488" h="2145792">
                  <a:moveTo>
                    <a:pt x="0" y="0"/>
                  </a:moveTo>
                  <a:lnTo>
                    <a:pt x="1999488" y="0"/>
                  </a:lnTo>
                  <a:lnTo>
                    <a:pt x="199948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691" r="-87691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0"/>
              <a:ext cx="1999488" cy="1688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spc="8" dirty="0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5차시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2286000" y="8825484"/>
            <a:ext cx="694944" cy="621792"/>
            <a:chOff x="0" y="0"/>
            <a:chExt cx="926592" cy="829056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6" name="Group 126"/>
          <p:cNvGrpSpPr/>
          <p:nvPr/>
        </p:nvGrpSpPr>
        <p:grpSpPr>
          <a:xfrm>
            <a:off x="2286000" y="8916924"/>
            <a:ext cx="694944" cy="621792"/>
            <a:chOff x="0" y="0"/>
            <a:chExt cx="926592" cy="829056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r="-64797"/>
              </a:stretch>
            </a:blipFill>
          </p:spPr>
        </p:sp>
        <p:sp>
          <p:nvSpPr>
            <p:cNvPr id="128" name="TextBox 128"/>
            <p:cNvSpPr txBox="1"/>
            <p:nvPr/>
          </p:nvSpPr>
          <p:spPr>
            <a:xfrm>
              <a:off x="0" y="0"/>
              <a:ext cx="926592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3163824" y="8825484"/>
            <a:ext cx="14484096" cy="804672"/>
            <a:chOff x="0" y="0"/>
            <a:chExt cx="19312128" cy="1072896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19312128" cy="1072896"/>
            </a:xfrm>
            <a:custGeom>
              <a:avLst/>
              <a:gdLst/>
              <a:ahLst/>
              <a:cxnLst/>
              <a:rect l="l" t="t" r="r" b="b"/>
              <a:pathLst>
                <a:path w="19312128" h="1072896">
                  <a:moveTo>
                    <a:pt x="0" y="0"/>
                  </a:moveTo>
                  <a:lnTo>
                    <a:pt x="19312128" y="0"/>
                  </a:lnTo>
                  <a:lnTo>
                    <a:pt x="1931212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31" name="Group 131"/>
          <p:cNvGrpSpPr/>
          <p:nvPr/>
        </p:nvGrpSpPr>
        <p:grpSpPr>
          <a:xfrm>
            <a:off x="3346704" y="8825484"/>
            <a:ext cx="14118336" cy="804672"/>
            <a:chOff x="0" y="0"/>
            <a:chExt cx="18824448" cy="1072896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18824448" cy="1072896"/>
            </a:xfrm>
            <a:custGeom>
              <a:avLst/>
              <a:gdLst/>
              <a:ahLst/>
              <a:cxnLst/>
              <a:rect l="l" t="t" r="r" b="b"/>
              <a:pathLst>
                <a:path w="18824448" h="1072896">
                  <a:moveTo>
                    <a:pt x="0" y="0"/>
                  </a:moveTo>
                  <a:lnTo>
                    <a:pt x="18824448" y="0"/>
                  </a:lnTo>
                  <a:lnTo>
                    <a:pt x="188244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1873" b="-291873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9525"/>
              <a:ext cx="18824448" cy="1063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CS 업무 전체 흐름에 AI를 연결할 수 있다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2286000" y="9630156"/>
            <a:ext cx="694944" cy="621792"/>
            <a:chOff x="0" y="0"/>
            <a:chExt cx="926592" cy="829056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6" name="Group 136"/>
          <p:cNvGrpSpPr/>
          <p:nvPr/>
        </p:nvGrpSpPr>
        <p:grpSpPr>
          <a:xfrm>
            <a:off x="2286000" y="9721596"/>
            <a:ext cx="694944" cy="621792"/>
            <a:chOff x="0" y="0"/>
            <a:chExt cx="926592" cy="829056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926592" cy="829056"/>
            </a:xfrm>
            <a:custGeom>
              <a:avLst/>
              <a:gdLst/>
              <a:ahLst/>
              <a:cxnLst/>
              <a:rect l="l" t="t" r="r" b="b"/>
              <a:pathLst>
                <a:path w="926592" h="829056">
                  <a:moveTo>
                    <a:pt x="0" y="0"/>
                  </a:moveTo>
                  <a:lnTo>
                    <a:pt x="926592" y="0"/>
                  </a:lnTo>
                  <a:lnTo>
                    <a:pt x="92659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797" r="-64797"/>
              </a:stretch>
            </a:blipFill>
          </p:spPr>
        </p:sp>
        <p:sp>
          <p:nvSpPr>
            <p:cNvPr id="138" name="TextBox 138"/>
            <p:cNvSpPr txBox="1"/>
            <p:nvPr/>
          </p:nvSpPr>
          <p:spPr>
            <a:xfrm>
              <a:off x="0" y="0"/>
              <a:ext cx="926592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spc="10">
                  <a:solidFill>
                    <a:srgbClr val="6B7A8D"/>
                  </a:solidFill>
                  <a:latin typeface="Mandali"/>
                  <a:ea typeface="Mandali"/>
                  <a:cs typeface="Mandali"/>
                  <a:sym typeface="Mandali"/>
                </a:rPr>
                <a:t>□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3163824" y="9630156"/>
            <a:ext cx="14484096" cy="804672"/>
            <a:chOff x="0" y="0"/>
            <a:chExt cx="19312128" cy="1072896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19312128" cy="1072896"/>
            </a:xfrm>
            <a:custGeom>
              <a:avLst/>
              <a:gdLst/>
              <a:ahLst/>
              <a:cxnLst/>
              <a:rect l="l" t="t" r="r" b="b"/>
              <a:pathLst>
                <a:path w="19312128" h="1072896">
                  <a:moveTo>
                    <a:pt x="0" y="0"/>
                  </a:moveTo>
                  <a:lnTo>
                    <a:pt x="19312128" y="0"/>
                  </a:lnTo>
                  <a:lnTo>
                    <a:pt x="1931212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1" name="Group 141"/>
          <p:cNvGrpSpPr/>
          <p:nvPr/>
        </p:nvGrpSpPr>
        <p:grpSpPr>
          <a:xfrm>
            <a:off x="3346704" y="9630156"/>
            <a:ext cx="14118336" cy="804672"/>
            <a:chOff x="0" y="0"/>
            <a:chExt cx="18824448" cy="1072896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18824448" cy="1072896"/>
            </a:xfrm>
            <a:custGeom>
              <a:avLst/>
              <a:gdLst/>
              <a:ahLst/>
              <a:cxnLst/>
              <a:rect l="l" t="t" r="r" b="b"/>
              <a:pathLst>
                <a:path w="18824448" h="1072896">
                  <a:moveTo>
                    <a:pt x="0" y="0"/>
                  </a:moveTo>
                  <a:lnTo>
                    <a:pt x="18824448" y="0"/>
                  </a:lnTo>
                  <a:lnTo>
                    <a:pt x="1882444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1873" b="-291873"/>
              </a:stretch>
            </a:blipFill>
          </p:spPr>
        </p:sp>
        <p:sp>
          <p:nvSpPr>
            <p:cNvPr id="143" name="TextBox 143"/>
            <p:cNvSpPr txBox="1"/>
            <p:nvPr/>
          </p:nvSpPr>
          <p:spPr>
            <a:xfrm>
              <a:off x="0" y="9525"/>
              <a:ext cx="18824448" cy="1063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1A2533"/>
                  </a:solidFill>
                  <a:latin typeface="Mandali"/>
                  <a:ea typeface="Mandali"/>
                  <a:cs typeface="Mandali"/>
                  <a:sym typeface="Mandali"/>
                </a:rPr>
                <a:t>Action Plan을 구체적으로 작성할 수 있다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8945</Words>
  <Application>Microsoft Office PowerPoint</Application>
  <PresentationFormat>사용자 지정</PresentationFormat>
  <Paragraphs>1488</Paragraphs>
  <Slides>73</Slides>
  <Notes>51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73</vt:i4>
      </vt:variant>
    </vt:vector>
  </HeadingPairs>
  <TitlesOfParts>
    <vt:vector size="87" baseType="lpstr">
      <vt:lpstr>Calibri (MS)</vt:lpstr>
      <vt:lpstr>Mandali</vt:lpstr>
      <vt:lpstr>210 도시락</vt:lpstr>
      <vt:lpstr>Calibri</vt:lpstr>
      <vt:lpstr>Arial Italics</vt:lpstr>
      <vt:lpstr>Arimo Bold</vt:lpstr>
      <vt:lpstr>Courier New</vt:lpstr>
      <vt:lpstr>Calibri (MS) Italics</vt:lpstr>
      <vt:lpstr>Arial</vt:lpstr>
      <vt:lpstr>Calibri (MS) Bold</vt:lpstr>
      <vt:lpstr>Arial Bold</vt:lpstr>
      <vt:lpstr>TDTD와이드</vt:lpstr>
      <vt:lpstr>Arimo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[6/13] CS반 | AI기반 고객응대·민원처리 CS 실무 과정</dc:title>
  <dc:creator>백정원</dc:creator>
  <cp:lastModifiedBy>USER</cp:lastModifiedBy>
  <cp:revision>26</cp:revision>
  <dcterms:created xsi:type="dcterms:W3CDTF">2006-08-16T00:00:00Z</dcterms:created>
  <dcterms:modified xsi:type="dcterms:W3CDTF">2026-06-16T05:40:58Z</dcterms:modified>
  <dc:identifier>DAHMUSCZ7iw</dc:identifier>
</cp:coreProperties>
</file>